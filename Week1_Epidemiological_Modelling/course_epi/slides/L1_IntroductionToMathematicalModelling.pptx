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embeddedFontLst>
    <p:embeddedFont>
      <p:font typeface="Constantia"/>
      <p:regular r:id="rId61"/>
      <p:bold r:id="rId62"/>
      <p:italic r:id="rId63"/>
      <p:boldItalic r:id="rId64"/>
    </p:embeddedFont>
    <p:embeddedFont>
      <p:font typeface="PT Sans Narrow"/>
      <p:regular r:id="rId65"/>
      <p:bold r:id="rId66"/>
    </p:embeddedFont>
    <p:embeddedFont>
      <p:font typeface="Corbel"/>
      <p:regular r:id="rId67"/>
      <p:bold r:id="rId68"/>
      <p:italic r:id="rId69"/>
      <p:boldItalic r:id="rId70"/>
    </p:embeddedFont>
    <p:embeddedFont>
      <p:font typeface="Open Sans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0ED0C1-373A-46DD-9BB7-0C2C2B71AC09}">
  <a:tblStyle styleId="{2D0ED0C1-373A-46DD-9BB7-0C2C2B71AC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italic.fntdata"/><Relationship Id="rId72" Type="http://schemas.openxmlformats.org/officeDocument/2006/relationships/font" Target="fonts/OpenSans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74" Type="http://schemas.openxmlformats.org/officeDocument/2006/relationships/font" Target="fonts/OpenSans-bold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regular.fntdata"/><Relationship Id="rId70" Type="http://schemas.openxmlformats.org/officeDocument/2006/relationships/font" Target="fonts/Corbel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Constantia-bold.fntdata"/><Relationship Id="rId61" Type="http://schemas.openxmlformats.org/officeDocument/2006/relationships/font" Target="fonts/Constantia-regular.fntdata"/><Relationship Id="rId20" Type="http://schemas.openxmlformats.org/officeDocument/2006/relationships/slide" Target="slides/slide14.xml"/><Relationship Id="rId64" Type="http://schemas.openxmlformats.org/officeDocument/2006/relationships/font" Target="fonts/Constantia-boldItalic.fntdata"/><Relationship Id="rId63" Type="http://schemas.openxmlformats.org/officeDocument/2006/relationships/font" Target="fonts/Constantia-italic.fntdata"/><Relationship Id="rId22" Type="http://schemas.openxmlformats.org/officeDocument/2006/relationships/slide" Target="slides/slide16.xml"/><Relationship Id="rId66" Type="http://schemas.openxmlformats.org/officeDocument/2006/relationships/font" Target="fonts/PTSansNarrow-bold.fntdata"/><Relationship Id="rId21" Type="http://schemas.openxmlformats.org/officeDocument/2006/relationships/slide" Target="slides/slide15.xml"/><Relationship Id="rId65" Type="http://schemas.openxmlformats.org/officeDocument/2006/relationships/font" Target="fonts/PTSansNarrow-regular.fntdata"/><Relationship Id="rId24" Type="http://schemas.openxmlformats.org/officeDocument/2006/relationships/slide" Target="slides/slide18.xml"/><Relationship Id="rId68" Type="http://schemas.openxmlformats.org/officeDocument/2006/relationships/font" Target="fonts/Corbel-bold.fntdata"/><Relationship Id="rId23" Type="http://schemas.openxmlformats.org/officeDocument/2006/relationships/slide" Target="slides/slide17.xml"/><Relationship Id="rId67" Type="http://schemas.openxmlformats.org/officeDocument/2006/relationships/font" Target="fonts/Corbel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Corbel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46ab6e53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46ab6e5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485f4b94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485f4b94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46ab6e5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46ab6e5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46ab6e53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46ab6e53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46ab6e5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46ab6e5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46ab6e53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46ab6e53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46ab6e53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46ab6e5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46ab6e53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46ab6e53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46ab6e53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46ab6e53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46ab6e53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46ab6e53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46ab6e53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46ab6e53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46ab6e53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46ab6e53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46ab6e53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46ab6e53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485f4b94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485f4b94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46ab6e53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46ab6e53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485f4b94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485f4b94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d77a779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d77a779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485f4b94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485f4b94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485f4b9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485f4b9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485f4b94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485f4b94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485f4b94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485f4b9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485f4b94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485f4b94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485f4b94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485f4b94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485f4b94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485f4b94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485f4b94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485f4b94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485f4b94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485f4b94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b348831a7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b348831a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485f4b94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485f4b94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485f4b94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485f4b94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b348831a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6b348831a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b348831a7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6b348831a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b348831a7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6b348831a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b348831a7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b348831a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b348831a7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6b348831a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d77a779f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d77a779f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6d77a779f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6d77a779f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d77a779f7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6d77a779f7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d77a779f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6d77a779f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6d77a779f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6d77a779f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6d77a779f7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6d77a779f7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e55de56d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e55de56d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449c7586e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449c7586e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6d77a779f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6d77a779f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d77a779f7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6d77a779f7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d77a779f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6d77a779f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d77a779f7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6d77a779f7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d77a779f7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6d77a779f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6e55de56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6e55de56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e55de56d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6e55de56d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e55de56d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6e55de56d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633154bc5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633154bc5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633154bc5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633154bc5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633154bc5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633154bc5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Font typeface="Constantia"/>
              <a:buNone/>
              <a:defRPr sz="5400">
                <a:latin typeface="Constantia"/>
                <a:ea typeface="Constantia"/>
                <a:cs typeface="Constantia"/>
                <a:sym typeface="Constant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rbel"/>
              <a:buNone/>
              <a:defRPr sz="2400"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Corbel"/>
              <a:buNone/>
              <a:defRPr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 sz="1400">
                <a:latin typeface="Corbel"/>
                <a:ea typeface="Corbel"/>
                <a:cs typeface="Corbel"/>
                <a:sym typeface="Corbel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 sz="1400">
                <a:latin typeface="Corbel"/>
                <a:ea typeface="Corbel"/>
                <a:cs typeface="Corbel"/>
                <a:sym typeface="Corbel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Constantia"/>
              <a:buNone/>
              <a:defRPr sz="24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onstantia"/>
              <a:buNone/>
              <a:defRPr sz="4200">
                <a:latin typeface="Constantia"/>
                <a:ea typeface="Constantia"/>
                <a:cs typeface="Constantia"/>
                <a:sym typeface="Constant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rbel"/>
              <a:buNone/>
              <a:defRPr sz="2100"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rbel"/>
              <a:buNone/>
              <a:defRPr sz="2400">
                <a:latin typeface="Corbel"/>
                <a:ea typeface="Corbel"/>
                <a:cs typeface="Corbel"/>
                <a:sym typeface="Corbel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orbel"/>
              <a:buNone/>
              <a:defRPr b="1" sz="36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783725" y="1827975"/>
            <a:ext cx="75330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5"/>
                </a:solidFill>
                <a:latin typeface="Corbel"/>
                <a:ea typeface="Corbel"/>
                <a:cs typeface="Corbel"/>
                <a:sym typeface="Corbel"/>
              </a:rPr>
              <a:t>Introduction to Mathematical Modelling of Infectious Diseases</a:t>
            </a:r>
            <a:endParaRPr sz="3500">
              <a:solidFill>
                <a:schemeClr val="accent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Dr. </a:t>
            </a:r>
            <a:r>
              <a:rPr lang="en"/>
              <a:t>Oscar Cortés</a:t>
            </a:r>
            <a:r>
              <a:rPr lang="en">
                <a:latin typeface="Corbel"/>
                <a:ea typeface="Corbel"/>
                <a:cs typeface="Corbel"/>
                <a:sym typeface="Corbel"/>
              </a:rPr>
              <a:t> &amp; Dr. Jair Andrade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8" name="Google Shape;68;p13" title="PDU_full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025" y="4432025"/>
            <a:ext cx="2691024" cy="4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75" y="4432025"/>
            <a:ext cx="2086155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103" y="3438295"/>
            <a:ext cx="306732" cy="20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Outline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" name="Google Shape;76;p14"/>
          <p:cNvSpPr txBox="1"/>
          <p:nvPr>
            <p:ph idx="4294967295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Why do we care?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is a </a:t>
            </a:r>
            <a:r>
              <a:rPr lang="en"/>
              <a:t>mathematical</a:t>
            </a:r>
            <a:r>
              <a:rPr lang="en"/>
              <a:t> model?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can these models be useful?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brief introduction to the SIR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2114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Why do we care?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burden of infectious diseases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0" y="4343100"/>
            <a:ext cx="821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AutoNum type="arabicPeriod"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Editorial,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Lancet. Infect. Dis.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AutoNum type="arabicPeriod"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Zhang et al., P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LOS Negl Trop Dis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2025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AutoNum type="arabicPeriod"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Ribeiro dos Santos 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Nat. Med.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2025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AutoNum type="arabicPeriod"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Khalil 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Lancet. Infect. Dis.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2018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04725" y="1372488"/>
            <a:ext cx="35457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249 million malaria cases and 608,000 deaths in 2022</a:t>
            </a:r>
            <a:r>
              <a:rPr baseline="30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026950" y="1372500"/>
            <a:ext cx="35457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2.8 billion people live at risk of arboviral infection (dengue, chikungunya, Zika, …)</a:t>
            </a:r>
            <a:r>
              <a:rPr baseline="30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04725" y="2902575"/>
            <a:ext cx="35457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59 million dengue cases and 29,000 deaths in 2021</a:t>
            </a:r>
            <a:r>
              <a:rPr baseline="30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026950" y="2902575"/>
            <a:ext cx="35457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Shigellosis (leading cause of diarrhoeal disease) causes 200,000 deaths annually</a:t>
            </a:r>
            <a:r>
              <a:rPr baseline="30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An unequal issue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100" y="1152425"/>
            <a:ext cx="7237804" cy="36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78200" y="2992550"/>
            <a:ext cx="2281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Number of years of full health lost to infectious disease in 2023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Roser, Ritchie &amp; Spooner, Our World in Data,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12050" y="1912775"/>
            <a:ext cx="2313600" cy="1015800"/>
          </a:xfrm>
          <a:prstGeom prst="rect">
            <a:avLst/>
          </a:prstGeom>
          <a:solidFill>
            <a:srgbClr val="EFEFEF">
              <a:alpha val="5848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DALYs (Disability-Adjusted Life Years)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Is it getting any better?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75" y="1162644"/>
            <a:ext cx="7548150" cy="341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Roser, Ritchie &amp; Spooner, Our World in Data,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882000" y="831650"/>
            <a:ext cx="712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Total disease burden by cause worldwide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1002250" y="1947650"/>
            <a:ext cx="1720200" cy="538800"/>
          </a:xfrm>
          <a:prstGeom prst="rect">
            <a:avLst/>
          </a:prstGeom>
          <a:solidFill>
            <a:srgbClr val="EFEFEF">
              <a:alpha val="754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~50% in 1990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5796325" y="1716200"/>
            <a:ext cx="1720200" cy="538800"/>
          </a:xfrm>
          <a:prstGeom prst="rect">
            <a:avLst/>
          </a:prstGeom>
          <a:solidFill>
            <a:srgbClr val="EFEFEF">
              <a:alpha val="754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~30% in 2023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398850" y="2878800"/>
            <a:ext cx="2088600" cy="939000"/>
          </a:xfrm>
          <a:prstGeom prst="rect">
            <a:avLst/>
          </a:prstGeom>
          <a:solidFill>
            <a:srgbClr val="EFEFEF">
              <a:alpha val="754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YES!</a:t>
            </a:r>
            <a:endParaRPr sz="49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75" y="1162650"/>
            <a:ext cx="7548149" cy="341410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Is it getting any better?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Roser, Ritchie &amp; Spooner, Our World in Data,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882000" y="831650"/>
            <a:ext cx="712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Total disease burden by cause in </a:t>
            </a: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high-income countries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725" y="1162650"/>
            <a:ext cx="7548149" cy="341410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Is it getting any better?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Roser, Ritchie &amp; Spooner, Our World in Data,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226500" y="8316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Total disease burden by cause in </a:t>
            </a: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lang="en" sz="1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 and middle-income countries (LMICs)</a:t>
            </a:r>
            <a:endParaRPr sz="1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398850" y="2878800"/>
            <a:ext cx="2088600" cy="939000"/>
          </a:xfrm>
          <a:prstGeom prst="rect">
            <a:avLst/>
          </a:prstGeom>
          <a:solidFill>
            <a:srgbClr val="EFEFEF">
              <a:alpha val="754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YES!</a:t>
            </a:r>
            <a:endParaRPr sz="49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New challenges arise!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00" y="864125"/>
            <a:ext cx="7980806" cy="394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INRB Ebola Bundibugyo dashboard, https://inrb-umie.github.io/BDBV2026-Epidemic_Dashboard/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5967900" y="554425"/>
            <a:ext cx="250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New outbreaks occur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 title="369_208_f1.jpeg"/>
          <p:cNvPicPr preferRelativeResize="0"/>
          <p:nvPr/>
        </p:nvPicPr>
        <p:blipFill rotWithShape="1">
          <a:blip r:embed="rId3">
            <a:alphaModFix/>
          </a:blip>
          <a:srcRect b="42762" l="0" r="0" t="0"/>
          <a:stretch/>
        </p:blipFill>
        <p:spPr>
          <a:xfrm>
            <a:off x="1948988" y="1459338"/>
            <a:ext cx="5075424" cy="242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Salje 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Science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2020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5715000" y="554425"/>
            <a:ext cx="27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New pathogens emerge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534650" y="3883200"/>
            <a:ext cx="607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SARS-CoV-2 cases and deaths in France, Mar-May 2020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Lefrancq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Nature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2025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5715000" y="554425"/>
            <a:ext cx="276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Pathogens evolve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and become more transmissible, 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evade vaccines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1" name="Google Shape;151;p23"/>
          <p:cNvGrpSpPr/>
          <p:nvPr/>
        </p:nvGrpSpPr>
        <p:grpSpPr>
          <a:xfrm>
            <a:off x="2908400" y="1017612"/>
            <a:ext cx="3140750" cy="3666100"/>
            <a:chOff x="2908400" y="1017612"/>
            <a:chExt cx="3140750" cy="3666100"/>
          </a:xfrm>
        </p:grpSpPr>
        <p:pic>
          <p:nvPicPr>
            <p:cNvPr id="152" name="Google Shape;152;p23" title="41586_2024_8309_Fig1_HTML.png"/>
            <p:cNvPicPr preferRelativeResize="0"/>
            <p:nvPr/>
          </p:nvPicPr>
          <p:blipFill rotWithShape="1">
            <a:blip r:embed="rId3">
              <a:alphaModFix/>
            </a:blip>
            <a:srcRect b="0" l="0" r="75225" t="35786"/>
            <a:stretch/>
          </p:blipFill>
          <p:spPr>
            <a:xfrm>
              <a:off x="2924250" y="1017612"/>
              <a:ext cx="3124900" cy="366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3"/>
            <p:cNvSpPr/>
            <p:nvPr/>
          </p:nvSpPr>
          <p:spPr>
            <a:xfrm>
              <a:off x="2908400" y="1134275"/>
              <a:ext cx="174600" cy="26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4" title="gr4_lrg.jpg"/>
          <p:cNvPicPr preferRelativeResize="0"/>
          <p:nvPr/>
        </p:nvPicPr>
        <p:blipFill rotWithShape="1">
          <a:blip r:embed="rId3">
            <a:alphaModFix/>
          </a:blip>
          <a:srcRect b="33108" l="0" r="0" t="21841"/>
          <a:stretch/>
        </p:blipFill>
        <p:spPr>
          <a:xfrm>
            <a:off x="2804825" y="938300"/>
            <a:ext cx="3534374" cy="40161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Marshall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Lancet Infect. Dis.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2026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5715000" y="554425"/>
            <a:ext cx="2762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Pathogens evolve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and become resistant to treatments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56875" y="2065713"/>
            <a:ext cx="2587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Antimicrobial resistant (AMR) is on the rise in </a:t>
            </a:r>
            <a:r>
              <a:rPr i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Shigella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in the UK across all demographic groups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Gavi, the Vaccine Alliance,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7" name="Google Shape;167;p25" title="chart03-proportion-children-fully-protected-meas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400" y="932463"/>
            <a:ext cx="3236950" cy="383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5715000" y="554425"/>
            <a:ext cx="276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Vaccine hesitancy is on the rise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9" name="Google Shape;169;p25" title="chart02-number-lives-saved-vaccination-1974-20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48" y="932477"/>
            <a:ext cx="3236963" cy="3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25" y="1281113"/>
            <a:ext cx="8866488" cy="313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2850400" y="1293325"/>
            <a:ext cx="596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Measles cases in the US </a:t>
            </a:r>
            <a:b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Our World in Data, 2026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Ryan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PLOS Negl. Trop. Dis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2019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5715000" y="554425"/>
            <a:ext cx="276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Anthropogenic climate change is a thing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8" name="Google Shape;178;p26" title="pntd.0007213.g002.png"/>
          <p:cNvPicPr preferRelativeResize="0"/>
          <p:nvPr/>
        </p:nvPicPr>
        <p:blipFill rotWithShape="1">
          <a:blip r:embed="rId3">
            <a:alphaModFix/>
          </a:blip>
          <a:srcRect b="83060" l="9223" r="0" t="0"/>
          <a:stretch/>
        </p:blipFill>
        <p:spPr>
          <a:xfrm>
            <a:off x="1874513" y="1293313"/>
            <a:ext cx="6392582" cy="1446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 title="pntd.0007213.g002.png"/>
          <p:cNvPicPr preferRelativeResize="0"/>
          <p:nvPr/>
        </p:nvPicPr>
        <p:blipFill rotWithShape="1">
          <a:blip r:embed="rId3">
            <a:alphaModFix/>
          </a:blip>
          <a:srcRect b="0" l="7317" r="1906" t="83060"/>
          <a:stretch/>
        </p:blipFill>
        <p:spPr>
          <a:xfrm>
            <a:off x="1874513" y="2739791"/>
            <a:ext cx="6392582" cy="1446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 title="pntd.0007213.g002.png"/>
          <p:cNvPicPr preferRelativeResize="0"/>
          <p:nvPr/>
        </p:nvPicPr>
        <p:blipFill rotWithShape="1">
          <a:blip r:embed="rId3">
            <a:alphaModFix/>
          </a:blip>
          <a:srcRect b="10955" l="0" r="90015" t="56126"/>
          <a:stretch/>
        </p:blipFill>
        <p:spPr>
          <a:xfrm>
            <a:off x="876899" y="1313775"/>
            <a:ext cx="668177" cy="267122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909888" y="4025450"/>
            <a:ext cx="742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Number of months of the year during which </a:t>
            </a:r>
            <a:r>
              <a:rPr i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Aedes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mosquitoes can transmit dengue virus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1961700" y="2279938"/>
            <a:ext cx="52206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Mathematical models can help us be better prepared to tackle these threats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2114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What is a mathematical model?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What is a mathematical model?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398100" y="1400950"/>
            <a:ext cx="2949900" cy="14352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An abstract description of a concrete system using mathematical concepts and language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5797100" y="1400950"/>
            <a:ext cx="2949900" cy="14352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Putting lines through dots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3511950" y="1862351"/>
            <a:ext cx="2120100" cy="4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2064300" y="3340575"/>
            <a:ext cx="5015400" cy="14352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Finding ways in which mathematical functions can help us represent, and thus understand complex ecological systems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7" name="Google Shape;197;p28"/>
          <p:cNvCxnSpPr/>
          <p:nvPr/>
        </p:nvCxnSpPr>
        <p:spPr>
          <a:xfrm flipH="1" rot="10800000">
            <a:off x="3063650" y="2267550"/>
            <a:ext cx="1265100" cy="973800"/>
          </a:xfrm>
          <a:prstGeom prst="straightConnector1">
            <a:avLst/>
          </a:prstGeom>
          <a:noFill/>
          <a:ln cap="flat" cmpd="sng" w="28575">
            <a:solidFill>
              <a:srgbClr val="4DB6A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8"/>
          <p:cNvCxnSpPr/>
          <p:nvPr/>
        </p:nvCxnSpPr>
        <p:spPr>
          <a:xfrm rot="10800000">
            <a:off x="4802099" y="2267550"/>
            <a:ext cx="1265100" cy="973800"/>
          </a:xfrm>
          <a:prstGeom prst="straightConnector1">
            <a:avLst/>
          </a:prstGeom>
          <a:noFill/>
          <a:ln cap="flat" cmpd="sng" w="28575">
            <a:solidFill>
              <a:srgbClr val="4DB6AC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Mathematical models of infectious diseases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A model is a </a:t>
            </a:r>
            <a:r>
              <a:rPr lang="en">
                <a:solidFill>
                  <a:srgbClr val="4DB6AC"/>
                </a:solidFill>
              </a:rPr>
              <a:t>mathematical representation of a system</a:t>
            </a:r>
            <a:endParaRPr>
              <a:solidFill>
                <a:srgbClr val="4DB6AC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Simplified representation of reality, constructed based on various </a:t>
            </a:r>
            <a:r>
              <a:rPr lang="en" sz="1800">
                <a:solidFill>
                  <a:srgbClr val="4DB6AC"/>
                </a:solidFill>
              </a:rPr>
              <a:t>assumptions</a:t>
            </a:r>
            <a:r>
              <a:rPr lang="en" sz="1800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Good models allow us to </a:t>
            </a:r>
            <a:r>
              <a:rPr lang="en" sz="1800">
                <a:solidFill>
                  <a:srgbClr val="4DB6AC"/>
                </a:solidFill>
              </a:rPr>
              <a:t>gain insight</a:t>
            </a:r>
            <a:r>
              <a:rPr lang="en" sz="1800">
                <a:solidFill>
                  <a:srgbClr val="000000"/>
                </a:solidFill>
              </a:rPr>
              <a:t> into the system or the processes that we are modelling that go beyond the assumptions we used to create it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</a:rPr>
              <a:t>Can </a:t>
            </a:r>
            <a:r>
              <a:rPr lang="en">
                <a:solidFill>
                  <a:srgbClr val="000000"/>
                </a:solidFill>
              </a:rPr>
              <a:t>range</a:t>
            </a:r>
            <a:r>
              <a:rPr lang="en" sz="1800">
                <a:solidFill>
                  <a:srgbClr val="000000"/>
                </a:solidFill>
              </a:rPr>
              <a:t> from very simple to very realistic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9" title="noun-stick-figure-cat-2505082.png"/>
          <p:cNvPicPr preferRelativeResize="0"/>
          <p:nvPr/>
        </p:nvPicPr>
        <p:blipFill rotWithShape="1">
          <a:blip r:embed="rId3">
            <a:alphaModFix/>
          </a:blip>
          <a:srcRect b="15548" l="0" r="0" t="0"/>
          <a:stretch/>
        </p:blipFill>
        <p:spPr>
          <a:xfrm>
            <a:off x="1455000" y="3572625"/>
            <a:ext cx="1446149" cy="12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0675" y="3469749"/>
            <a:ext cx="951324" cy="142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0087" y="3417163"/>
            <a:ext cx="2140488" cy="14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1550" y="3923675"/>
            <a:ext cx="413975" cy="4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4050" y="3891500"/>
            <a:ext cx="413975" cy="4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266325"/>
            <a:ext cx="6414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“All models are wrong but some are useful” </a:t>
            </a:r>
            <a:endParaRPr sz="2700">
              <a:solidFill>
                <a:srgbClr val="000000"/>
              </a:solidFill>
            </a:endParaRPr>
          </a:p>
          <a:p>
            <a:pPr indent="45720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</a:rPr>
              <a:t>- George Box</a:t>
            </a:r>
            <a:endParaRPr sz="2700"/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0"/>
          <p:cNvPicPr preferRelativeResize="0"/>
          <p:nvPr/>
        </p:nvPicPr>
        <p:blipFill rotWithShape="1">
          <a:blip r:embed="rId3">
            <a:alphaModFix/>
          </a:blip>
          <a:srcRect b="0" l="-4270" r="4270" t="0"/>
          <a:stretch/>
        </p:blipFill>
        <p:spPr>
          <a:xfrm>
            <a:off x="6769150" y="1409800"/>
            <a:ext cx="1367100" cy="2055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311700" y="2114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How can mathematical models be useful in infectious diseases?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How can mathematical models be useful? (for infectious diseases)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26" name="Google Shape;226;p32" title="347_aaa4339_f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300" y="1277925"/>
            <a:ext cx="6159424" cy="376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Heesterbeek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Science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2015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33"/>
          <p:cNvGrpSpPr/>
          <p:nvPr/>
        </p:nvGrpSpPr>
        <p:grpSpPr>
          <a:xfrm>
            <a:off x="298100" y="1017625"/>
            <a:ext cx="3177125" cy="3666100"/>
            <a:chOff x="298100" y="1017625"/>
            <a:chExt cx="3177125" cy="3666100"/>
          </a:xfrm>
        </p:grpSpPr>
        <p:pic>
          <p:nvPicPr>
            <p:cNvPr id="233" name="Google Shape;233;p33" title="41586_2024_8309_Fig1_HTML.png"/>
            <p:cNvPicPr preferRelativeResize="0"/>
            <p:nvPr/>
          </p:nvPicPr>
          <p:blipFill rotWithShape="1">
            <a:blip r:embed="rId3">
              <a:alphaModFix/>
            </a:blip>
            <a:srcRect b="0" l="0" r="75225" t="35786"/>
            <a:stretch/>
          </p:blipFill>
          <p:spPr>
            <a:xfrm>
              <a:off x="350325" y="1017625"/>
              <a:ext cx="3124900" cy="366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33"/>
            <p:cNvSpPr/>
            <p:nvPr/>
          </p:nvSpPr>
          <p:spPr>
            <a:xfrm>
              <a:off x="298100" y="1127000"/>
              <a:ext cx="254400" cy="269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5" name="Google Shape;235;p33"/>
          <p:cNvSpPr/>
          <p:nvPr/>
        </p:nvSpPr>
        <p:spPr>
          <a:xfrm>
            <a:off x="189050" y="996125"/>
            <a:ext cx="3461100" cy="38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33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From fundamental science…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Lefrancq 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Nature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2025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8" name="Google Shape;238;p33" title="41586_2024_8309_Fig4_HTML.png"/>
          <p:cNvPicPr preferRelativeResize="0"/>
          <p:nvPr/>
        </p:nvPicPr>
        <p:blipFill rotWithShape="1">
          <a:blip r:embed="rId4">
            <a:alphaModFix/>
          </a:blip>
          <a:srcRect b="74831" l="0" r="0" t="0"/>
          <a:stretch/>
        </p:blipFill>
        <p:spPr>
          <a:xfrm>
            <a:off x="0" y="1594250"/>
            <a:ext cx="9144000" cy="247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1047750" y="4123275"/>
            <a:ext cx="70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Identification of key mutations that increase the fitness of SARS-CoV-2 and define new lineages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… to directly informing policy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45" name="Google Shape;24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00" y="937950"/>
            <a:ext cx="3659202" cy="2053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34"/>
          <p:cNvGrpSpPr/>
          <p:nvPr/>
        </p:nvGrpSpPr>
        <p:grpSpPr>
          <a:xfrm>
            <a:off x="3195625" y="1502925"/>
            <a:ext cx="5948377" cy="3640575"/>
            <a:chOff x="3195625" y="1502925"/>
            <a:chExt cx="5948377" cy="3640575"/>
          </a:xfrm>
        </p:grpSpPr>
        <p:pic>
          <p:nvPicPr>
            <p:cNvPr id="247" name="Google Shape;247;p34"/>
            <p:cNvPicPr preferRelativeResize="0"/>
            <p:nvPr/>
          </p:nvPicPr>
          <p:blipFill rotWithShape="1">
            <a:blip r:embed="rId4">
              <a:alphaModFix/>
            </a:blip>
            <a:srcRect b="0" l="10080" r="0" t="0"/>
            <a:stretch/>
          </p:blipFill>
          <p:spPr>
            <a:xfrm>
              <a:off x="3795449" y="1502925"/>
              <a:ext cx="5348548" cy="3640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34"/>
            <p:cNvPicPr preferRelativeResize="0"/>
            <p:nvPr/>
          </p:nvPicPr>
          <p:blipFill rotWithShape="1">
            <a:blip r:embed="rId4">
              <a:alphaModFix/>
            </a:blip>
            <a:srcRect b="0" l="0" r="0" t="15441"/>
            <a:stretch/>
          </p:blipFill>
          <p:spPr>
            <a:xfrm>
              <a:off x="3195625" y="2064950"/>
              <a:ext cx="5948377" cy="3078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Models can help to…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54" name="Google Shape;254;p35"/>
          <p:cNvGrpSpPr/>
          <p:nvPr/>
        </p:nvGrpSpPr>
        <p:grpSpPr>
          <a:xfrm>
            <a:off x="1458244" y="1483216"/>
            <a:ext cx="6056912" cy="2317497"/>
            <a:chOff x="559575" y="961675"/>
            <a:chExt cx="3918049" cy="1499125"/>
          </a:xfrm>
        </p:grpSpPr>
        <p:pic>
          <p:nvPicPr>
            <p:cNvPr id="255" name="Google Shape;255;p35" title="pnas.2308221120fig01.jpg"/>
            <p:cNvPicPr preferRelativeResize="0"/>
            <p:nvPr/>
          </p:nvPicPr>
          <p:blipFill rotWithShape="1">
            <a:blip r:embed="rId3">
              <a:alphaModFix/>
            </a:blip>
            <a:srcRect b="66664" l="0" r="0" t="0"/>
            <a:stretch/>
          </p:blipFill>
          <p:spPr>
            <a:xfrm>
              <a:off x="559575" y="961675"/>
              <a:ext cx="3918049" cy="1314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35" title="pnas.2308221120fig01.jpg"/>
            <p:cNvPicPr preferRelativeResize="0"/>
            <p:nvPr/>
          </p:nvPicPr>
          <p:blipFill rotWithShape="1">
            <a:blip r:embed="rId3">
              <a:alphaModFix/>
            </a:blip>
            <a:srcRect b="0" l="0" r="0" t="95308"/>
            <a:stretch/>
          </p:blipFill>
          <p:spPr>
            <a:xfrm>
              <a:off x="559575" y="2275825"/>
              <a:ext cx="3918049" cy="184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35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O’Driscoll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PNAS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2023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4500750" y="683475"/>
            <a:ext cx="380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…understand how pathogens affect individuals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909350" y="3861575"/>
            <a:ext cx="715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Evolution of maternally-derived antibodies against the four dengue viruses throughout the first year of life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Models can help to…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Cortes-Azuero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Lancet Infec. Dis.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2025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4155725" y="683475"/>
            <a:ext cx="41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…evaluate risk at demographic levels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945250" y="4047050"/>
            <a:ext cx="715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Risk of severe disease and death following chikungunya virus infection according to sex and age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8" name="Google Shape;268;p36"/>
          <p:cNvGrpSpPr/>
          <p:nvPr/>
        </p:nvGrpSpPr>
        <p:grpSpPr>
          <a:xfrm>
            <a:off x="1248380" y="1096431"/>
            <a:ext cx="6476646" cy="2950627"/>
            <a:chOff x="1135950" y="1093600"/>
            <a:chExt cx="6016951" cy="2741200"/>
          </a:xfrm>
        </p:grpSpPr>
        <p:pic>
          <p:nvPicPr>
            <p:cNvPr id="269" name="Google Shape;269;p36" title="gr3_lrg.jpg"/>
            <p:cNvPicPr preferRelativeResize="0"/>
            <p:nvPr/>
          </p:nvPicPr>
          <p:blipFill rotWithShape="1">
            <a:blip r:embed="rId3">
              <a:alphaModFix/>
            </a:blip>
            <a:srcRect b="54427" l="52957" r="0" t="0"/>
            <a:stretch/>
          </p:blipFill>
          <p:spPr>
            <a:xfrm>
              <a:off x="1135950" y="1145175"/>
              <a:ext cx="2772849" cy="2471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36" title="gr3_lrg.jpg"/>
            <p:cNvPicPr preferRelativeResize="0"/>
            <p:nvPr/>
          </p:nvPicPr>
          <p:blipFill rotWithShape="1">
            <a:blip r:embed="rId3">
              <a:alphaModFix/>
            </a:blip>
            <a:srcRect b="0" l="0" r="47595" t="50889"/>
            <a:stretch/>
          </p:blipFill>
          <p:spPr>
            <a:xfrm>
              <a:off x="4064000" y="1145175"/>
              <a:ext cx="3088901" cy="266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36" title="gr3_lrg.jpg"/>
            <p:cNvPicPr preferRelativeResize="0"/>
            <p:nvPr/>
          </p:nvPicPr>
          <p:blipFill rotWithShape="1">
            <a:blip r:embed="rId3">
              <a:alphaModFix/>
            </a:blip>
            <a:srcRect b="0" l="57889" r="0" t="92227"/>
            <a:stretch/>
          </p:blipFill>
          <p:spPr>
            <a:xfrm>
              <a:off x="1426675" y="3413349"/>
              <a:ext cx="2482125" cy="421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36"/>
            <p:cNvSpPr/>
            <p:nvPr/>
          </p:nvSpPr>
          <p:spPr>
            <a:xfrm>
              <a:off x="1361725" y="1093600"/>
              <a:ext cx="190500" cy="190500"/>
            </a:xfrm>
            <a:prstGeom prst="rect">
              <a:avLst/>
            </a:prstGeom>
            <a:solidFill>
              <a:schemeClr val="lt1"/>
            </a:solidFill>
            <a:ln cap="flat" cmpd="sng" w="102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400" lIns="98400" spcFirstLastPara="1" rIns="98400" wrap="square" tIns="9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6"/>
            <p:cNvSpPr/>
            <p:nvPr/>
          </p:nvSpPr>
          <p:spPr>
            <a:xfrm>
              <a:off x="4391450" y="1093600"/>
              <a:ext cx="190500" cy="190500"/>
            </a:xfrm>
            <a:prstGeom prst="rect">
              <a:avLst/>
            </a:prstGeom>
            <a:solidFill>
              <a:schemeClr val="lt1"/>
            </a:solidFill>
            <a:ln cap="flat" cmpd="sng" w="102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400" lIns="98400" spcFirstLastPara="1" rIns="98400" wrap="square" tIns="9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Models can help to…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Poonganavan 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Lancet Planet. Health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2024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3810000" y="683475"/>
            <a:ext cx="449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…evaluate risk at large population scales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1" name="Google Shape;281;p37" title="gr1_lr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325" y="1102850"/>
            <a:ext cx="5863352" cy="302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 txBox="1"/>
          <p:nvPr/>
        </p:nvSpPr>
        <p:spPr>
          <a:xfrm>
            <a:off x="962450" y="4123275"/>
            <a:ext cx="70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Risk of importation of dengue virus to Africa and ecological suitability using flight and environmental data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Models can help to…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Funk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Epidemics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2018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3810000" y="683475"/>
            <a:ext cx="449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…inform resource allocation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115800" y="1052550"/>
            <a:ext cx="369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Forecasts of weekly incidence in Liberia during the Ebola virus outbreak in West Africa 2013-2016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1" name="Google Shape;291;p38" title="1-s2.0-S1755436516300445-gr2_lr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6525" y="1052555"/>
            <a:ext cx="4919752" cy="409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Models can help to…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93000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Whittaker 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Nat. Comms.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2025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3810000" y="683475"/>
            <a:ext cx="449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…design intervention strategies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4749425" y="1279000"/>
            <a:ext cx="369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Potential impact of broadly protective sarbecovirus vaccines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0" name="Google Shape;300;p39" title="41467_2025_63399_Fig2_HTML.png"/>
          <p:cNvPicPr preferRelativeResize="0"/>
          <p:nvPr/>
        </p:nvPicPr>
        <p:blipFill rotWithShape="1">
          <a:blip r:embed="rId3">
            <a:alphaModFix/>
          </a:blip>
          <a:srcRect b="9232" l="0" r="69854" t="3842"/>
          <a:stretch/>
        </p:blipFill>
        <p:spPr>
          <a:xfrm>
            <a:off x="2579575" y="810575"/>
            <a:ext cx="2075148" cy="42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39"/>
          <p:cNvGrpSpPr/>
          <p:nvPr/>
        </p:nvGrpSpPr>
        <p:grpSpPr>
          <a:xfrm>
            <a:off x="296325" y="810575"/>
            <a:ext cx="2248930" cy="4332927"/>
            <a:chOff x="296325" y="810575"/>
            <a:chExt cx="2248930" cy="4332927"/>
          </a:xfrm>
        </p:grpSpPr>
        <p:pic>
          <p:nvPicPr>
            <p:cNvPr id="302" name="Google Shape;302;p39" title="41467_2025_63399_Fig1_HTML.png"/>
            <p:cNvPicPr preferRelativeResize="0"/>
            <p:nvPr/>
          </p:nvPicPr>
          <p:blipFill rotWithShape="1">
            <a:blip r:embed="rId4">
              <a:alphaModFix/>
            </a:blip>
            <a:srcRect b="8492" l="0" r="68531" t="0"/>
            <a:stretch/>
          </p:blipFill>
          <p:spPr>
            <a:xfrm>
              <a:off x="337275" y="810578"/>
              <a:ext cx="2207980" cy="4332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39"/>
            <p:cNvSpPr/>
            <p:nvPr/>
          </p:nvSpPr>
          <p:spPr>
            <a:xfrm>
              <a:off x="296325" y="810575"/>
              <a:ext cx="211800" cy="19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04" name="Google Shape;304;p39"/>
          <p:cNvGrpSpPr/>
          <p:nvPr/>
        </p:nvGrpSpPr>
        <p:grpSpPr>
          <a:xfrm>
            <a:off x="4965225" y="2017900"/>
            <a:ext cx="4092225" cy="2515974"/>
            <a:chOff x="4965225" y="2017900"/>
            <a:chExt cx="4092225" cy="2515974"/>
          </a:xfrm>
        </p:grpSpPr>
        <p:pic>
          <p:nvPicPr>
            <p:cNvPr id="305" name="Google Shape;305;p39" title="41467_2025_63399_Fig4_HTML.png"/>
            <p:cNvPicPr preferRelativeResize="0"/>
            <p:nvPr/>
          </p:nvPicPr>
          <p:blipFill rotWithShape="1">
            <a:blip r:embed="rId5">
              <a:alphaModFix/>
            </a:blip>
            <a:srcRect b="4770" l="33006" r="32450" t="57817"/>
            <a:stretch/>
          </p:blipFill>
          <p:spPr>
            <a:xfrm>
              <a:off x="5381500" y="2071000"/>
              <a:ext cx="3259675" cy="222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39" title="41467_2025_63399_Fig4_HTML.png"/>
            <p:cNvPicPr preferRelativeResize="0"/>
            <p:nvPr/>
          </p:nvPicPr>
          <p:blipFill rotWithShape="1">
            <a:blip r:embed="rId5">
              <a:alphaModFix/>
            </a:blip>
            <a:srcRect b="0" l="24293" r="21116" t="96185"/>
            <a:stretch/>
          </p:blipFill>
          <p:spPr>
            <a:xfrm>
              <a:off x="4965225" y="4353275"/>
              <a:ext cx="4092225" cy="18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9"/>
            <p:cNvSpPr/>
            <p:nvPr/>
          </p:nvSpPr>
          <p:spPr>
            <a:xfrm>
              <a:off x="5411600" y="2017900"/>
              <a:ext cx="148200" cy="180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8" name="Google Shape;308;p39"/>
            <p:cNvSpPr/>
            <p:nvPr/>
          </p:nvSpPr>
          <p:spPr>
            <a:xfrm>
              <a:off x="8562600" y="2017900"/>
              <a:ext cx="148200" cy="180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311700" y="2114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How can I start?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SIR model, where it all began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51" y="1465250"/>
            <a:ext cx="3047150" cy="252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 txBox="1"/>
          <p:nvPr/>
        </p:nvSpPr>
        <p:spPr>
          <a:xfrm>
            <a:off x="388050" y="3958125"/>
            <a:ext cx="237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En’ko, 1898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2" name="Google Shape;32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0925" y="1117600"/>
            <a:ext cx="2073825" cy="298167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1"/>
          <p:cNvSpPr txBox="1"/>
          <p:nvPr/>
        </p:nvSpPr>
        <p:spPr>
          <a:xfrm>
            <a:off x="6724750" y="1266325"/>
            <a:ext cx="21075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Ross, 1911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Evaluated the impact of vector control on malaria elimination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SIR model, where it all began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9" name="Google Shape;329;p4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McKendrick and Kermack, 1926</a:t>
            </a:r>
            <a:endParaRPr/>
          </a:p>
        </p:txBody>
      </p:sp>
      <p:pic>
        <p:nvPicPr>
          <p:cNvPr id="330" name="Google Shape;3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350" y="1266325"/>
            <a:ext cx="4072949" cy="305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3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rbel"/>
                <a:ea typeface="Corbel"/>
                <a:cs typeface="Corbel"/>
                <a:sym typeface="Corbel"/>
              </a:rPr>
              <a:t>From population to compartments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36" name="Google Shape;33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735" y="13933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535" y="25717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835" y="15545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285" y="323468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647" y="200118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910" y="147330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460" y="27316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960" y="222739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585" y="332699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85" y="27316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3010" y="15545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410" y="25717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310" y="38609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060" y="3860956"/>
            <a:ext cx="820286" cy="9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rbel"/>
                <a:ea typeface="Corbel"/>
                <a:cs typeface="Corbel"/>
                <a:sym typeface="Corbel"/>
              </a:rPr>
              <a:t>From population to compartments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55" name="Google Shape;3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735" y="13933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535" y="25717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8835" y="15545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285" y="323468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6647" y="200118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910" y="147330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460" y="27316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960" y="222739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585" y="332699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685" y="27316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3010" y="15545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6410" y="25717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2310" y="38609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7060" y="3860956"/>
            <a:ext cx="820286" cy="9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/>
          <p:nvPr/>
        </p:nvSpPr>
        <p:spPr>
          <a:xfrm>
            <a:off x="6217700" y="1482850"/>
            <a:ext cx="2661600" cy="3508800"/>
          </a:xfrm>
          <a:prstGeom prst="rect">
            <a:avLst/>
          </a:prstGeom>
          <a:noFill/>
          <a:ln cap="flat" cmpd="sng" w="19050">
            <a:solidFill>
              <a:srgbClr val="184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5"/>
          <p:cNvSpPr/>
          <p:nvPr/>
        </p:nvSpPr>
        <p:spPr>
          <a:xfrm>
            <a:off x="3160325" y="1482925"/>
            <a:ext cx="2661600" cy="3508800"/>
          </a:xfrm>
          <a:prstGeom prst="rect">
            <a:avLst/>
          </a:prstGeom>
          <a:noFill/>
          <a:ln cap="flat" cmpd="sng" w="19050">
            <a:solidFill>
              <a:srgbClr val="184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5"/>
          <p:cNvSpPr/>
          <p:nvPr/>
        </p:nvSpPr>
        <p:spPr>
          <a:xfrm>
            <a:off x="233725" y="1482925"/>
            <a:ext cx="2661600" cy="3508800"/>
          </a:xfrm>
          <a:prstGeom prst="rect">
            <a:avLst/>
          </a:prstGeom>
          <a:noFill/>
          <a:ln cap="flat" cmpd="sng" w="19050">
            <a:solidFill>
              <a:srgbClr val="1846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5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rbel"/>
                <a:ea typeface="Corbel"/>
                <a:cs typeface="Corbel"/>
                <a:sym typeface="Corbel"/>
              </a:rPr>
              <a:t>From population to compartments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77" name="Google Shape;3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7160" y="163428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9185" y="25717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9385" y="155455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1922" y="395620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6647" y="200118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1635" y="177098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10" y="3956206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1110" y="279523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185" y="332699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0" y="2492031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035" y="16601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4385" y="31053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0747" y="2708444"/>
            <a:ext cx="820286" cy="9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7060" y="3860956"/>
            <a:ext cx="820286" cy="9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5"/>
          <p:cNvSpPr/>
          <p:nvPr/>
        </p:nvSpPr>
        <p:spPr>
          <a:xfrm>
            <a:off x="414622" y="847625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5"/>
          <p:cNvSpPr/>
          <p:nvPr/>
        </p:nvSpPr>
        <p:spPr>
          <a:xfrm>
            <a:off x="3417422" y="847625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5"/>
          <p:cNvSpPr/>
          <p:nvPr/>
        </p:nvSpPr>
        <p:spPr>
          <a:xfrm>
            <a:off x="6542572" y="847625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5"/>
          <p:cNvSpPr txBox="1"/>
          <p:nvPr/>
        </p:nvSpPr>
        <p:spPr>
          <a:xfrm>
            <a:off x="827650" y="928325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Susceptible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45"/>
          <p:cNvSpPr txBox="1"/>
          <p:nvPr/>
        </p:nvSpPr>
        <p:spPr>
          <a:xfrm>
            <a:off x="3973313" y="886975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Infected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45"/>
          <p:cNvSpPr txBox="1"/>
          <p:nvPr/>
        </p:nvSpPr>
        <p:spPr>
          <a:xfrm>
            <a:off x="6966588" y="886975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Recovered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6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Compartmental model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1290200" y="1766100"/>
            <a:ext cx="1606800" cy="1611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46"/>
          <p:cNvSpPr/>
          <p:nvPr/>
        </p:nvSpPr>
        <p:spPr>
          <a:xfrm>
            <a:off x="3625838" y="1766100"/>
            <a:ext cx="1606800" cy="1611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46"/>
          <p:cNvSpPr/>
          <p:nvPr/>
        </p:nvSpPr>
        <p:spPr>
          <a:xfrm>
            <a:off x="5963025" y="1766100"/>
            <a:ext cx="1606800" cy="1611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46"/>
          <p:cNvSpPr txBox="1"/>
          <p:nvPr/>
        </p:nvSpPr>
        <p:spPr>
          <a:xfrm>
            <a:off x="1752125" y="1855275"/>
            <a:ext cx="1250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6" name="Google Shape;406;p46"/>
          <p:cNvSpPr txBox="1"/>
          <p:nvPr/>
        </p:nvSpPr>
        <p:spPr>
          <a:xfrm>
            <a:off x="4228868" y="1855275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I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7" name="Google Shape;407;p46"/>
          <p:cNvSpPr txBox="1"/>
          <p:nvPr/>
        </p:nvSpPr>
        <p:spPr>
          <a:xfrm>
            <a:off x="6415200" y="1855275"/>
            <a:ext cx="926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Compartmental model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3" name="Google Shape;413;p47"/>
          <p:cNvSpPr/>
          <p:nvPr/>
        </p:nvSpPr>
        <p:spPr>
          <a:xfrm>
            <a:off x="1290200" y="1766100"/>
            <a:ext cx="1606800" cy="1611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47"/>
          <p:cNvSpPr/>
          <p:nvPr/>
        </p:nvSpPr>
        <p:spPr>
          <a:xfrm>
            <a:off x="3625838" y="1766100"/>
            <a:ext cx="1606800" cy="1611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47"/>
          <p:cNvSpPr/>
          <p:nvPr/>
        </p:nvSpPr>
        <p:spPr>
          <a:xfrm>
            <a:off x="5963025" y="1766100"/>
            <a:ext cx="1606800" cy="1611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47"/>
          <p:cNvSpPr txBox="1"/>
          <p:nvPr/>
        </p:nvSpPr>
        <p:spPr>
          <a:xfrm>
            <a:off x="1752125" y="1855275"/>
            <a:ext cx="1250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7" name="Google Shape;417;p47"/>
          <p:cNvSpPr txBox="1"/>
          <p:nvPr/>
        </p:nvSpPr>
        <p:spPr>
          <a:xfrm>
            <a:off x="4228868" y="1855275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I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8" name="Google Shape;418;p47"/>
          <p:cNvSpPr txBox="1"/>
          <p:nvPr/>
        </p:nvSpPr>
        <p:spPr>
          <a:xfrm>
            <a:off x="6415200" y="1855275"/>
            <a:ext cx="926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3019478" y="2469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7"/>
          <p:cNvSpPr/>
          <p:nvPr/>
        </p:nvSpPr>
        <p:spPr>
          <a:xfrm>
            <a:off x="5355891" y="2469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7"/>
          <p:cNvSpPr txBox="1"/>
          <p:nvPr/>
        </p:nvSpPr>
        <p:spPr>
          <a:xfrm>
            <a:off x="2980338" y="1690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β</a:t>
            </a:r>
            <a:endParaRPr sz="4000"/>
          </a:p>
        </p:txBody>
      </p:sp>
      <p:sp>
        <p:nvSpPr>
          <p:cNvPr id="422" name="Google Shape;422;p47"/>
          <p:cNvSpPr txBox="1"/>
          <p:nvPr/>
        </p:nvSpPr>
        <p:spPr>
          <a:xfrm>
            <a:off x="5261275" y="1690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Ɣ</a:t>
            </a:r>
            <a:endParaRPr sz="4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idx="1" type="body"/>
          </p:nvPr>
        </p:nvSpPr>
        <p:spPr>
          <a:xfrm>
            <a:off x="1638600" y="13936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4DB6AC"/>
                </a:solidFill>
              </a:rPr>
              <a:t>transmission coefficient</a:t>
            </a:r>
            <a:r>
              <a:rPr lang="en"/>
              <a:t> (i.e. the probability of an infectious contact between two members of the population)</a:t>
            </a:r>
            <a:endParaRPr/>
          </a:p>
        </p:txBody>
      </p:sp>
      <p:sp>
        <p:nvSpPr>
          <p:cNvPr id="428" name="Google Shape;428;p48"/>
          <p:cNvSpPr txBox="1"/>
          <p:nvPr/>
        </p:nvSpPr>
        <p:spPr>
          <a:xfrm>
            <a:off x="734563" y="139367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β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429" name="Google Shape;429;p48"/>
          <p:cNvSpPr txBox="1"/>
          <p:nvPr/>
        </p:nvSpPr>
        <p:spPr>
          <a:xfrm>
            <a:off x="734575" y="27529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Ɣ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430" name="Google Shape;430;p48"/>
          <p:cNvSpPr txBox="1"/>
          <p:nvPr>
            <p:ph idx="1" type="body"/>
          </p:nvPr>
        </p:nvSpPr>
        <p:spPr>
          <a:xfrm>
            <a:off x="1722975" y="287262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DB6AC"/>
                </a:solidFill>
              </a:rPr>
              <a:t>Recovery rate</a:t>
            </a:r>
            <a:r>
              <a:rPr lang="en"/>
              <a:t> (1/γ is the duration of infectiousness)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From compartments to equations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36" name="Google Shape;436;p49" title="Screenshot 2025-07-07 at 19.21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488" y="1410675"/>
            <a:ext cx="3207024" cy="24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9"/>
          <p:cNvSpPr/>
          <p:nvPr/>
        </p:nvSpPr>
        <p:spPr>
          <a:xfrm>
            <a:off x="519797" y="1571450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9"/>
          <p:cNvSpPr txBox="1"/>
          <p:nvPr/>
        </p:nvSpPr>
        <p:spPr>
          <a:xfrm>
            <a:off x="932825" y="1652150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Susceptible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9" name="Google Shape;439;p49"/>
          <p:cNvSpPr/>
          <p:nvPr/>
        </p:nvSpPr>
        <p:spPr>
          <a:xfrm>
            <a:off x="519797" y="2410588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9"/>
          <p:cNvSpPr txBox="1"/>
          <p:nvPr/>
        </p:nvSpPr>
        <p:spPr>
          <a:xfrm>
            <a:off x="1118375" y="2491275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Infected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" name="Google Shape;441;p49"/>
          <p:cNvSpPr/>
          <p:nvPr/>
        </p:nvSpPr>
        <p:spPr>
          <a:xfrm>
            <a:off x="608072" y="3249725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9"/>
          <p:cNvSpPr txBox="1"/>
          <p:nvPr/>
        </p:nvSpPr>
        <p:spPr>
          <a:xfrm>
            <a:off x="1030100" y="3330400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Recovered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From compartments to equations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8" name="Google Shape;448;p50"/>
          <p:cNvSpPr/>
          <p:nvPr/>
        </p:nvSpPr>
        <p:spPr>
          <a:xfrm>
            <a:off x="519797" y="1571450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0"/>
          <p:cNvSpPr txBox="1"/>
          <p:nvPr/>
        </p:nvSpPr>
        <p:spPr>
          <a:xfrm>
            <a:off x="932825" y="1652150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Susceptible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0" name="Google Shape;450;p50"/>
          <p:cNvSpPr/>
          <p:nvPr/>
        </p:nvSpPr>
        <p:spPr>
          <a:xfrm>
            <a:off x="519797" y="2410588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0"/>
          <p:cNvSpPr txBox="1"/>
          <p:nvPr/>
        </p:nvSpPr>
        <p:spPr>
          <a:xfrm>
            <a:off x="1118375" y="2491275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Infected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p50"/>
          <p:cNvSpPr/>
          <p:nvPr/>
        </p:nvSpPr>
        <p:spPr>
          <a:xfrm>
            <a:off x="608072" y="3249725"/>
            <a:ext cx="2299800" cy="533700"/>
          </a:xfrm>
          <a:prstGeom prst="rect">
            <a:avLst/>
          </a:prstGeom>
          <a:solidFill>
            <a:srgbClr val="6EBDC8">
              <a:alpha val="894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0"/>
          <p:cNvSpPr txBox="1"/>
          <p:nvPr/>
        </p:nvSpPr>
        <p:spPr>
          <a:xfrm>
            <a:off x="1030100" y="3330400"/>
            <a:ext cx="1789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Recovered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" name="Google Shape;454;p50"/>
          <p:cNvSpPr/>
          <p:nvPr/>
        </p:nvSpPr>
        <p:spPr>
          <a:xfrm>
            <a:off x="6192100" y="1302100"/>
            <a:ext cx="2640300" cy="3607200"/>
          </a:xfrm>
          <a:prstGeom prst="roundRect">
            <a:avLst>
              <a:gd fmla="val 16667" name="adj"/>
            </a:avLst>
          </a:prstGeom>
          <a:solidFill>
            <a:srgbClr val="4DB6AC">
              <a:alpha val="68019"/>
            </a:srgbClr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5" name="Google Shape;455;p50"/>
          <p:cNvSpPr txBox="1"/>
          <p:nvPr/>
        </p:nvSpPr>
        <p:spPr>
          <a:xfrm>
            <a:off x="6206500" y="1389575"/>
            <a:ext cx="2611500" cy="2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rbel"/>
                <a:ea typeface="Corbel"/>
                <a:cs typeface="Corbel"/>
                <a:sym typeface="Corbel"/>
              </a:rPr>
              <a:t>Key assumptions:</a:t>
            </a:r>
            <a:endParaRPr sz="16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rbel"/>
              <a:ea typeface="Corbel"/>
              <a:cs typeface="Corbel"/>
              <a:sym typeface="Corbe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rbel"/>
              <a:buChar char="●"/>
            </a:pPr>
            <a:r>
              <a:rPr lang="en" sz="1600">
                <a:latin typeface="Corbel"/>
                <a:ea typeface="Corbel"/>
                <a:cs typeface="Corbel"/>
                <a:sym typeface="Corbel"/>
              </a:rPr>
              <a:t>Constant population size (no birth or death)</a:t>
            </a:r>
            <a:endParaRPr sz="1600">
              <a:latin typeface="Corbel"/>
              <a:ea typeface="Corbel"/>
              <a:cs typeface="Corbel"/>
              <a:sym typeface="Corbe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rbel"/>
              <a:buChar char="●"/>
            </a:pPr>
            <a:r>
              <a:rPr lang="en" sz="1600">
                <a:latin typeface="Corbel"/>
                <a:ea typeface="Corbel"/>
                <a:cs typeface="Corbel"/>
                <a:sym typeface="Corbel"/>
              </a:rPr>
              <a:t>Recovery is permanent (fully immunising)</a:t>
            </a:r>
            <a:endParaRPr sz="1600">
              <a:latin typeface="Corbel"/>
              <a:ea typeface="Corbel"/>
              <a:cs typeface="Corbel"/>
              <a:sym typeface="Corbe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rbel"/>
              <a:buChar char="●"/>
            </a:pPr>
            <a:r>
              <a:rPr lang="en" sz="1600">
                <a:latin typeface="Corbel"/>
                <a:ea typeface="Corbel"/>
                <a:cs typeface="Corbel"/>
                <a:sym typeface="Corbel"/>
              </a:rPr>
              <a:t>People mix uniformly (mass action)</a:t>
            </a:r>
            <a:endParaRPr sz="1600">
              <a:latin typeface="Corbel"/>
              <a:ea typeface="Corbel"/>
              <a:cs typeface="Corbel"/>
              <a:sym typeface="Corbe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rbel"/>
              <a:buChar char="●"/>
            </a:pPr>
            <a:r>
              <a:rPr lang="en" sz="1600">
                <a:latin typeface="Corbel"/>
                <a:ea typeface="Corbel"/>
                <a:cs typeface="Corbel"/>
                <a:sym typeface="Corbel"/>
              </a:rPr>
              <a:t>Infectious when infected</a:t>
            </a:r>
            <a:endParaRPr sz="16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56" name="Google Shape;456;p50" title="Screenshot 2025-07-07 at 19.21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488" y="1410675"/>
            <a:ext cx="3207024" cy="244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basic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2" name="Google Shape;462;p51"/>
          <p:cNvSpPr txBox="1"/>
          <p:nvPr>
            <p:ph idx="1" type="body"/>
          </p:nvPr>
        </p:nvSpPr>
        <p:spPr>
          <a:xfrm>
            <a:off x="1638600" y="13936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</a:t>
            </a:r>
            <a:r>
              <a:rPr lang="en"/>
              <a:t> </a:t>
            </a:r>
            <a:r>
              <a:rPr lang="en">
                <a:solidFill>
                  <a:srgbClr val="4DB6AC"/>
                </a:solidFill>
              </a:rPr>
              <a:t>number of people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 single infected person will go on to infect in a</a:t>
            </a:r>
            <a:r>
              <a:rPr lang="en"/>
              <a:t> </a:t>
            </a:r>
            <a:r>
              <a:rPr lang="en">
                <a:solidFill>
                  <a:srgbClr val="4DB6AC"/>
                </a:solidFill>
              </a:rPr>
              <a:t>completely susceptible population</a:t>
            </a:r>
            <a:endParaRPr>
              <a:solidFill>
                <a:srgbClr val="4DB6AC"/>
              </a:solidFill>
            </a:endParaRPr>
          </a:p>
        </p:txBody>
      </p:sp>
      <p:sp>
        <p:nvSpPr>
          <p:cNvPr id="463" name="Google Shape;463;p51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R0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464" name="Google Shape;464;p51"/>
          <p:cNvSpPr/>
          <p:nvPr/>
        </p:nvSpPr>
        <p:spPr>
          <a:xfrm>
            <a:off x="1490175" y="3102450"/>
            <a:ext cx="556800" cy="563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5" name="Google Shape;465;p51"/>
          <p:cNvSpPr/>
          <p:nvPr/>
        </p:nvSpPr>
        <p:spPr>
          <a:xfrm>
            <a:off x="2620075" y="2413450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6" name="Google Shape;466;p51"/>
          <p:cNvSpPr/>
          <p:nvPr/>
        </p:nvSpPr>
        <p:spPr>
          <a:xfrm>
            <a:off x="3539625" y="267102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7" name="Google Shape;467;p51"/>
          <p:cNvSpPr/>
          <p:nvPr/>
        </p:nvSpPr>
        <p:spPr>
          <a:xfrm>
            <a:off x="3054775" y="310245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8" name="Google Shape;468;p51"/>
          <p:cNvSpPr/>
          <p:nvPr/>
        </p:nvSpPr>
        <p:spPr>
          <a:xfrm>
            <a:off x="2718425" y="3737425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9" name="Google Shape;469;p51"/>
          <p:cNvSpPr/>
          <p:nvPr/>
        </p:nvSpPr>
        <p:spPr>
          <a:xfrm>
            <a:off x="3539625" y="36841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0" name="Google Shape;470;p51"/>
          <p:cNvSpPr/>
          <p:nvPr/>
        </p:nvSpPr>
        <p:spPr>
          <a:xfrm>
            <a:off x="4174600" y="31210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1" name="Google Shape;471;p51"/>
          <p:cNvSpPr/>
          <p:nvPr/>
        </p:nvSpPr>
        <p:spPr>
          <a:xfrm>
            <a:off x="4234200" y="23392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2" name="Google Shape;472;p51"/>
          <p:cNvSpPr/>
          <p:nvPr/>
        </p:nvSpPr>
        <p:spPr>
          <a:xfrm>
            <a:off x="4360825" y="385887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73" name="Google Shape;473;p51"/>
          <p:cNvCxnSpPr>
            <a:stCxn id="464" idx="7"/>
            <a:endCxn id="465" idx="3"/>
          </p:cNvCxnSpPr>
          <p:nvPr/>
        </p:nvCxnSpPr>
        <p:spPr>
          <a:xfrm flipH="1" rot="10800000">
            <a:off x="1965434" y="2894214"/>
            <a:ext cx="736200" cy="2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p51"/>
          <p:cNvCxnSpPr>
            <a:endCxn id="468" idx="2"/>
          </p:cNvCxnSpPr>
          <p:nvPr/>
        </p:nvCxnSpPr>
        <p:spPr>
          <a:xfrm>
            <a:off x="1926125" y="3621775"/>
            <a:ext cx="792300" cy="3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51"/>
          <p:cNvSpPr txBox="1"/>
          <p:nvPr/>
        </p:nvSpPr>
        <p:spPr>
          <a:xfrm>
            <a:off x="5561050" y="2984525"/>
            <a:ext cx="18498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R0 = 2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basic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1" name="Google Shape;481;p52"/>
          <p:cNvSpPr txBox="1"/>
          <p:nvPr>
            <p:ph idx="1" type="body"/>
          </p:nvPr>
        </p:nvSpPr>
        <p:spPr>
          <a:xfrm>
            <a:off x="1638600" y="13936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4DB6AC"/>
                </a:solidFill>
              </a:rPr>
              <a:t>number of people</a:t>
            </a:r>
            <a:r>
              <a:rPr lang="en"/>
              <a:t> a single infected person will go on to infect in a </a:t>
            </a:r>
            <a:r>
              <a:rPr lang="en">
                <a:solidFill>
                  <a:srgbClr val="4DB6AC"/>
                </a:solidFill>
              </a:rPr>
              <a:t>completely susceptible population</a:t>
            </a:r>
            <a:endParaRPr>
              <a:solidFill>
                <a:srgbClr val="4DB6AC"/>
              </a:solidFill>
            </a:endParaRPr>
          </a:p>
        </p:txBody>
      </p:sp>
      <p:sp>
        <p:nvSpPr>
          <p:cNvPr id="482" name="Google Shape;482;p52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R0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483" name="Google Shape;483;p52"/>
          <p:cNvSpPr/>
          <p:nvPr/>
        </p:nvSpPr>
        <p:spPr>
          <a:xfrm>
            <a:off x="1490175" y="3121000"/>
            <a:ext cx="556800" cy="563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52"/>
          <p:cNvSpPr/>
          <p:nvPr/>
        </p:nvSpPr>
        <p:spPr>
          <a:xfrm>
            <a:off x="2620075" y="2432000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5" name="Google Shape;485;p52"/>
          <p:cNvSpPr/>
          <p:nvPr/>
        </p:nvSpPr>
        <p:spPr>
          <a:xfrm>
            <a:off x="3539625" y="268957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6" name="Google Shape;486;p52"/>
          <p:cNvSpPr/>
          <p:nvPr/>
        </p:nvSpPr>
        <p:spPr>
          <a:xfrm>
            <a:off x="3054775" y="31210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52"/>
          <p:cNvSpPr/>
          <p:nvPr/>
        </p:nvSpPr>
        <p:spPr>
          <a:xfrm>
            <a:off x="2718425" y="3755975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p52"/>
          <p:cNvSpPr/>
          <p:nvPr/>
        </p:nvSpPr>
        <p:spPr>
          <a:xfrm>
            <a:off x="3539625" y="3684100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p52"/>
          <p:cNvSpPr/>
          <p:nvPr/>
        </p:nvSpPr>
        <p:spPr>
          <a:xfrm>
            <a:off x="4174600" y="31210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p52"/>
          <p:cNvSpPr/>
          <p:nvPr/>
        </p:nvSpPr>
        <p:spPr>
          <a:xfrm>
            <a:off x="4234200" y="23392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1" name="Google Shape;491;p52"/>
          <p:cNvSpPr/>
          <p:nvPr/>
        </p:nvSpPr>
        <p:spPr>
          <a:xfrm>
            <a:off x="4360825" y="385887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92" name="Google Shape;492;p52"/>
          <p:cNvCxnSpPr>
            <a:stCxn id="483" idx="7"/>
            <a:endCxn id="484" idx="3"/>
          </p:cNvCxnSpPr>
          <p:nvPr/>
        </p:nvCxnSpPr>
        <p:spPr>
          <a:xfrm flipH="1" rot="10800000">
            <a:off x="1965434" y="2912764"/>
            <a:ext cx="736200" cy="2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52"/>
          <p:cNvCxnSpPr>
            <a:endCxn id="487" idx="2"/>
          </p:cNvCxnSpPr>
          <p:nvPr/>
        </p:nvCxnSpPr>
        <p:spPr>
          <a:xfrm>
            <a:off x="1926125" y="3640325"/>
            <a:ext cx="792300" cy="3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52"/>
          <p:cNvSpPr txBox="1"/>
          <p:nvPr/>
        </p:nvSpPr>
        <p:spPr>
          <a:xfrm>
            <a:off x="5561050" y="2984525"/>
            <a:ext cx="18498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R0 = 3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95" name="Google Shape;495;p52"/>
          <p:cNvCxnSpPr>
            <a:endCxn id="488" idx="2"/>
          </p:cNvCxnSpPr>
          <p:nvPr/>
        </p:nvCxnSpPr>
        <p:spPr>
          <a:xfrm>
            <a:off x="2004225" y="3539050"/>
            <a:ext cx="1535400" cy="4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basic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1" name="Google Shape;501;p53"/>
          <p:cNvSpPr txBox="1"/>
          <p:nvPr>
            <p:ph idx="1" type="body"/>
          </p:nvPr>
        </p:nvSpPr>
        <p:spPr>
          <a:xfrm>
            <a:off x="1638600" y="13936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4DB6AC"/>
                </a:solidFill>
              </a:rPr>
              <a:t>number of people</a:t>
            </a:r>
            <a:r>
              <a:rPr lang="en"/>
              <a:t> a single infected person will go on to infect in a </a:t>
            </a:r>
            <a:r>
              <a:rPr lang="en">
                <a:solidFill>
                  <a:srgbClr val="4DB6AC"/>
                </a:solidFill>
              </a:rPr>
              <a:t>completely susceptible population</a:t>
            </a:r>
            <a:endParaRPr>
              <a:solidFill>
                <a:srgbClr val="4DB6AC"/>
              </a:solidFill>
            </a:endParaRPr>
          </a:p>
        </p:txBody>
      </p:sp>
      <p:sp>
        <p:nvSpPr>
          <p:cNvPr id="502" name="Google Shape;502;p53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R0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503" name="Google Shape;503;p53"/>
          <p:cNvSpPr/>
          <p:nvPr/>
        </p:nvSpPr>
        <p:spPr>
          <a:xfrm>
            <a:off x="1490175" y="3121000"/>
            <a:ext cx="556800" cy="563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4" name="Google Shape;504;p53"/>
          <p:cNvSpPr/>
          <p:nvPr/>
        </p:nvSpPr>
        <p:spPr>
          <a:xfrm>
            <a:off x="2620075" y="2432000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5" name="Google Shape;505;p53"/>
          <p:cNvSpPr/>
          <p:nvPr/>
        </p:nvSpPr>
        <p:spPr>
          <a:xfrm>
            <a:off x="3539625" y="268957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53"/>
          <p:cNvSpPr/>
          <p:nvPr/>
        </p:nvSpPr>
        <p:spPr>
          <a:xfrm>
            <a:off x="3054775" y="31210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53"/>
          <p:cNvSpPr/>
          <p:nvPr/>
        </p:nvSpPr>
        <p:spPr>
          <a:xfrm>
            <a:off x="2718425" y="3755975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p53"/>
          <p:cNvSpPr/>
          <p:nvPr/>
        </p:nvSpPr>
        <p:spPr>
          <a:xfrm>
            <a:off x="3539625" y="3684100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p53"/>
          <p:cNvSpPr/>
          <p:nvPr/>
        </p:nvSpPr>
        <p:spPr>
          <a:xfrm>
            <a:off x="4174600" y="31210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p53"/>
          <p:cNvSpPr/>
          <p:nvPr/>
        </p:nvSpPr>
        <p:spPr>
          <a:xfrm>
            <a:off x="4234200" y="23392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53"/>
          <p:cNvSpPr/>
          <p:nvPr/>
        </p:nvSpPr>
        <p:spPr>
          <a:xfrm>
            <a:off x="4360825" y="385887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2" name="Google Shape;512;p53"/>
          <p:cNvCxnSpPr>
            <a:stCxn id="503" idx="7"/>
            <a:endCxn id="504" idx="3"/>
          </p:cNvCxnSpPr>
          <p:nvPr/>
        </p:nvCxnSpPr>
        <p:spPr>
          <a:xfrm flipH="1" rot="10800000">
            <a:off x="1965434" y="2912764"/>
            <a:ext cx="736200" cy="2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53"/>
          <p:cNvCxnSpPr>
            <a:endCxn id="507" idx="2"/>
          </p:cNvCxnSpPr>
          <p:nvPr/>
        </p:nvCxnSpPr>
        <p:spPr>
          <a:xfrm>
            <a:off x="1926125" y="3640325"/>
            <a:ext cx="792300" cy="3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p53"/>
          <p:cNvSpPr txBox="1"/>
          <p:nvPr/>
        </p:nvSpPr>
        <p:spPr>
          <a:xfrm>
            <a:off x="5561050" y="2984525"/>
            <a:ext cx="18498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R0 = 3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5" name="Google Shape;515;p53"/>
          <p:cNvCxnSpPr>
            <a:endCxn id="508" idx="2"/>
          </p:cNvCxnSpPr>
          <p:nvPr/>
        </p:nvCxnSpPr>
        <p:spPr>
          <a:xfrm>
            <a:off x="2004225" y="3539050"/>
            <a:ext cx="1535400" cy="4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6" name="Google Shape;516;p53"/>
          <p:cNvSpPr txBox="1"/>
          <p:nvPr>
            <p:ph idx="1" type="body"/>
          </p:nvPr>
        </p:nvSpPr>
        <p:spPr>
          <a:xfrm>
            <a:off x="5485675" y="2148200"/>
            <a:ext cx="3391500" cy="4965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is pathogen &amp; setting specific</a:t>
            </a:r>
            <a:endParaRPr>
              <a:solidFill>
                <a:srgbClr val="4DB6AC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4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R0 for multiple pathogens</a:t>
            </a:r>
            <a:endParaRPr/>
          </a:p>
        </p:txBody>
      </p:sp>
      <p:graphicFrame>
        <p:nvGraphicFramePr>
          <p:cNvPr id="522" name="Google Shape;522;p54"/>
          <p:cNvGraphicFramePr/>
          <p:nvPr/>
        </p:nvGraphicFramePr>
        <p:xfrm>
          <a:off x="2297000" y="131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{2D0ED0C1-373A-46DD-9BB7-0C2C2B71AC09}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Pathogen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R0</a:t>
                      </a:r>
                      <a:endParaRPr b="1"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Cholera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Dengue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Influenza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Measles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SARS-COV-2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3" name="Google Shape;523;p54"/>
          <p:cNvSpPr/>
          <p:nvPr/>
        </p:nvSpPr>
        <p:spPr>
          <a:xfrm rot="742999">
            <a:off x="5418650" y="2012875"/>
            <a:ext cx="773694" cy="12191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DB6AC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4DB6AC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5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R0 for multiple pathogens</a:t>
            </a:r>
            <a:endParaRPr/>
          </a:p>
        </p:txBody>
      </p:sp>
      <p:graphicFrame>
        <p:nvGraphicFramePr>
          <p:cNvPr id="529" name="Google Shape;529;p55"/>
          <p:cNvGraphicFramePr/>
          <p:nvPr/>
        </p:nvGraphicFramePr>
        <p:xfrm>
          <a:off x="2449400" y="131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{2D0ED0C1-373A-46DD-9BB7-0C2C2B71AC09}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Pathogen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R0</a:t>
                      </a:r>
                      <a:endParaRPr b="1"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Cholera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2.6, 4 - 15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Dengue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1.3 - 6.3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Influenza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1.5 - 2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Measles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16-18, 11-12, 5-6, 14-15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2.7, 1.2, 2.2-3.6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SARS-COV-2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 1.5 - 4 (ancestral variant)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6"/>
          <p:cNvSpPr/>
          <p:nvPr/>
        </p:nvSpPr>
        <p:spPr>
          <a:xfrm>
            <a:off x="753950" y="2353850"/>
            <a:ext cx="7257000" cy="1930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56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basic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6" name="Google Shape;536;p56"/>
          <p:cNvSpPr txBox="1"/>
          <p:nvPr>
            <p:ph idx="1" type="body"/>
          </p:nvPr>
        </p:nvSpPr>
        <p:spPr>
          <a:xfrm>
            <a:off x="1490175" y="15620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</a:t>
            </a:r>
            <a:r>
              <a:rPr lang="en"/>
              <a:t> </a:t>
            </a:r>
            <a:r>
              <a:rPr lang="en">
                <a:solidFill>
                  <a:srgbClr val="4DB6AC"/>
                </a:solidFill>
              </a:rPr>
              <a:t>number of people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 single infected person will go on to infect in a</a:t>
            </a:r>
            <a:r>
              <a:rPr lang="en"/>
              <a:t> </a:t>
            </a:r>
            <a:r>
              <a:rPr lang="en">
                <a:solidFill>
                  <a:srgbClr val="4DB6AC"/>
                </a:solidFill>
              </a:rPr>
              <a:t>completely susceptible population</a:t>
            </a:r>
            <a:endParaRPr>
              <a:solidFill>
                <a:srgbClr val="4DB6A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37" name="Google Shape;537;p56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R0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538" name="Google Shape;538;p56"/>
          <p:cNvSpPr txBox="1"/>
          <p:nvPr/>
        </p:nvSpPr>
        <p:spPr>
          <a:xfrm>
            <a:off x="852950" y="2471400"/>
            <a:ext cx="7158000" cy="17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We can calculate R0 as: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R0 = β/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ɣ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time-varying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4" name="Google Shape;544;p57"/>
          <p:cNvSpPr txBox="1"/>
          <p:nvPr>
            <p:ph idx="1" type="body"/>
          </p:nvPr>
        </p:nvSpPr>
        <p:spPr>
          <a:xfrm>
            <a:off x="1490175" y="15620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</a:t>
            </a:r>
            <a:r>
              <a:rPr lang="en"/>
              <a:t> </a:t>
            </a:r>
            <a:r>
              <a:rPr lang="en">
                <a:solidFill>
                  <a:srgbClr val="4DB6AC"/>
                </a:solidFill>
              </a:rPr>
              <a:t>number of people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 single infected person will infect</a:t>
            </a:r>
            <a:r>
              <a:rPr lang="en"/>
              <a:t> </a:t>
            </a:r>
            <a:r>
              <a:rPr lang="en">
                <a:solidFill>
                  <a:schemeClr val="accent5"/>
                </a:solidFill>
              </a:rPr>
              <a:t>at time 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45" name="Google Shape;545;p57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Rt</a:t>
            </a:r>
            <a:endParaRPr sz="4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time-varying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1" name="Google Shape;551;p58"/>
          <p:cNvSpPr txBox="1"/>
          <p:nvPr>
            <p:ph idx="1" type="body"/>
          </p:nvPr>
        </p:nvSpPr>
        <p:spPr>
          <a:xfrm>
            <a:off x="1490175" y="15620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</a:t>
            </a:r>
            <a:r>
              <a:rPr lang="en"/>
              <a:t> </a:t>
            </a:r>
            <a:r>
              <a:rPr lang="en">
                <a:solidFill>
                  <a:srgbClr val="4DB6AC"/>
                </a:solidFill>
              </a:rPr>
              <a:t>number of people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 single infected person will infect</a:t>
            </a:r>
            <a:r>
              <a:rPr lang="en"/>
              <a:t> </a:t>
            </a:r>
            <a:r>
              <a:rPr lang="en">
                <a:solidFill>
                  <a:schemeClr val="accent5"/>
                </a:solidFill>
              </a:rPr>
              <a:t>at time 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52" name="Google Shape;552;p58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Rt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553" name="Google Shape;553;p58"/>
          <p:cNvSpPr/>
          <p:nvPr/>
        </p:nvSpPr>
        <p:spPr>
          <a:xfrm>
            <a:off x="1490175" y="3102450"/>
            <a:ext cx="556800" cy="563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4" name="Google Shape;554;p58"/>
          <p:cNvSpPr/>
          <p:nvPr/>
        </p:nvSpPr>
        <p:spPr>
          <a:xfrm>
            <a:off x="2620075" y="2413450"/>
            <a:ext cx="556800" cy="5631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5" name="Google Shape;555;p58"/>
          <p:cNvSpPr/>
          <p:nvPr/>
        </p:nvSpPr>
        <p:spPr>
          <a:xfrm>
            <a:off x="3539625" y="267102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6" name="Google Shape;556;p58"/>
          <p:cNvSpPr/>
          <p:nvPr/>
        </p:nvSpPr>
        <p:spPr>
          <a:xfrm>
            <a:off x="3054775" y="310245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7" name="Google Shape;557;p58"/>
          <p:cNvSpPr/>
          <p:nvPr/>
        </p:nvSpPr>
        <p:spPr>
          <a:xfrm>
            <a:off x="2718425" y="3737425"/>
            <a:ext cx="556800" cy="5631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8" name="Google Shape;558;p58"/>
          <p:cNvSpPr/>
          <p:nvPr/>
        </p:nvSpPr>
        <p:spPr>
          <a:xfrm>
            <a:off x="3539625" y="36841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58"/>
          <p:cNvSpPr/>
          <p:nvPr/>
        </p:nvSpPr>
        <p:spPr>
          <a:xfrm>
            <a:off x="4174600" y="31210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58"/>
          <p:cNvSpPr/>
          <p:nvPr/>
        </p:nvSpPr>
        <p:spPr>
          <a:xfrm>
            <a:off x="4234200" y="2339200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1" name="Google Shape;561;p58"/>
          <p:cNvSpPr/>
          <p:nvPr/>
        </p:nvSpPr>
        <p:spPr>
          <a:xfrm>
            <a:off x="4360825" y="3858875"/>
            <a:ext cx="556800" cy="563100"/>
          </a:xfrm>
          <a:prstGeom prst="ellipse">
            <a:avLst/>
          </a:prstGeom>
          <a:solidFill>
            <a:srgbClr val="4DB6AC"/>
          </a:solidFill>
          <a:ln cap="flat" cmpd="sng" w="95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2" name="Google Shape;562;p58"/>
          <p:cNvCxnSpPr>
            <a:stCxn id="553" idx="7"/>
            <a:endCxn id="554" idx="3"/>
          </p:cNvCxnSpPr>
          <p:nvPr/>
        </p:nvCxnSpPr>
        <p:spPr>
          <a:xfrm flipH="1" rot="10800000">
            <a:off x="1965434" y="2894214"/>
            <a:ext cx="736200" cy="2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58"/>
          <p:cNvCxnSpPr>
            <a:endCxn id="557" idx="2"/>
          </p:cNvCxnSpPr>
          <p:nvPr/>
        </p:nvCxnSpPr>
        <p:spPr>
          <a:xfrm>
            <a:off x="1926125" y="3621775"/>
            <a:ext cx="792300" cy="3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58"/>
          <p:cNvSpPr/>
          <p:nvPr/>
        </p:nvSpPr>
        <p:spPr>
          <a:xfrm>
            <a:off x="1926125" y="3501775"/>
            <a:ext cx="649500" cy="637200"/>
          </a:xfrm>
          <a:prstGeom prst="mathMultiply">
            <a:avLst>
              <a:gd fmla="val 23520" name="adj1"/>
            </a:avLst>
          </a:prstGeom>
          <a:solidFill>
            <a:srgbClr val="CC0000"/>
          </a:solidFill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58"/>
          <p:cNvSpPr txBox="1"/>
          <p:nvPr/>
        </p:nvSpPr>
        <p:spPr>
          <a:xfrm>
            <a:off x="5561050" y="2984525"/>
            <a:ext cx="18498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Rt = 1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9"/>
          <p:cNvSpPr/>
          <p:nvPr/>
        </p:nvSpPr>
        <p:spPr>
          <a:xfrm>
            <a:off x="753950" y="2353850"/>
            <a:ext cx="7257000" cy="1930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1" name="Google Shape;571;p59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time-varying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2" name="Google Shape;572;p59"/>
          <p:cNvSpPr txBox="1"/>
          <p:nvPr>
            <p:ph idx="1" type="body"/>
          </p:nvPr>
        </p:nvSpPr>
        <p:spPr>
          <a:xfrm>
            <a:off x="1490175" y="15620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</a:t>
            </a:r>
            <a:r>
              <a:rPr lang="en"/>
              <a:t> </a:t>
            </a:r>
            <a:r>
              <a:rPr lang="en">
                <a:solidFill>
                  <a:srgbClr val="4DB6AC"/>
                </a:solidFill>
              </a:rPr>
              <a:t>number of people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 single infected person will infect</a:t>
            </a:r>
            <a:r>
              <a:rPr lang="en"/>
              <a:t> </a:t>
            </a:r>
            <a:r>
              <a:rPr lang="en">
                <a:solidFill>
                  <a:schemeClr val="accent5"/>
                </a:solidFill>
              </a:rPr>
              <a:t>at time 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73" name="Google Shape;573;p59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Rt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574" name="Google Shape;574;p59"/>
          <p:cNvSpPr txBox="1"/>
          <p:nvPr/>
        </p:nvSpPr>
        <p:spPr>
          <a:xfrm>
            <a:off x="852950" y="2471400"/>
            <a:ext cx="7516800" cy="17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We can calculate Rt by: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Rt = R0 x s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Where S is the proportion of the population who are still susceptible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0"/>
          <p:cNvSpPr/>
          <p:nvPr/>
        </p:nvSpPr>
        <p:spPr>
          <a:xfrm>
            <a:off x="753950" y="2353850"/>
            <a:ext cx="7257000" cy="22149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p60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The time-varying reproduction number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1" name="Google Shape;581;p60"/>
          <p:cNvSpPr txBox="1"/>
          <p:nvPr>
            <p:ph idx="1" type="body"/>
          </p:nvPr>
        </p:nvSpPr>
        <p:spPr>
          <a:xfrm>
            <a:off x="1490175" y="1562075"/>
            <a:ext cx="71937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</a:t>
            </a:r>
            <a:r>
              <a:rPr lang="en"/>
              <a:t> </a:t>
            </a:r>
            <a:r>
              <a:rPr lang="en">
                <a:solidFill>
                  <a:srgbClr val="0097A7"/>
                </a:solidFill>
              </a:rPr>
              <a:t>number of people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 single infected person will infect</a:t>
            </a:r>
            <a:r>
              <a:rPr lang="en"/>
              <a:t> </a:t>
            </a:r>
            <a:r>
              <a:rPr lang="en">
                <a:solidFill>
                  <a:srgbClr val="0097A7"/>
                </a:solidFill>
              </a:rPr>
              <a:t>at time t</a:t>
            </a:r>
            <a:endParaRPr>
              <a:solidFill>
                <a:srgbClr val="0097A7"/>
              </a:solidFill>
            </a:endParaRPr>
          </a:p>
        </p:txBody>
      </p:sp>
      <p:sp>
        <p:nvSpPr>
          <p:cNvPr id="582" name="Google Shape;582;p60"/>
          <p:cNvSpPr txBox="1"/>
          <p:nvPr/>
        </p:nvSpPr>
        <p:spPr>
          <a:xfrm>
            <a:off x="549800" y="1393675"/>
            <a:ext cx="86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Rt</a:t>
            </a:r>
            <a:endParaRPr sz="4000">
              <a:solidFill>
                <a:schemeClr val="accent3"/>
              </a:solidFill>
            </a:endParaRPr>
          </a:p>
        </p:txBody>
      </p:sp>
      <p:sp>
        <p:nvSpPr>
          <p:cNvPr id="583" name="Google Shape;583;p60"/>
          <p:cNvSpPr txBox="1"/>
          <p:nvPr/>
        </p:nvSpPr>
        <p:spPr>
          <a:xfrm>
            <a:off x="868400" y="2415725"/>
            <a:ext cx="7028100" cy="17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At the </a:t>
            </a:r>
            <a:r>
              <a:rPr lang="en"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beginning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of an novel epidemic </a:t>
            </a:r>
            <a:r>
              <a:rPr lang="en" sz="1800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Rt = R0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as everyone is susceptible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Then, for immunising infections, infections will decrease the susceptible population and Rt will decrease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lang="en" sz="180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Rt &gt; 1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, the epidemic will continue to </a:t>
            </a:r>
            <a:r>
              <a:rPr lang="en" sz="180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grow</a:t>
            </a:r>
            <a:endParaRPr sz="1800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lang="en" sz="180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Rt &lt; 1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, the epidemic will begin to </a:t>
            </a:r>
            <a:r>
              <a:rPr lang="en" sz="180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decline</a:t>
            </a:r>
            <a:endParaRPr sz="1800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1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Definitions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9" name="Google Shape;589;p6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Generation time: </a:t>
            </a:r>
            <a:r>
              <a:rPr lang="en">
                <a:solidFill>
                  <a:srgbClr val="000000"/>
                </a:solidFill>
              </a:rPr>
              <a:t>Time between the </a:t>
            </a:r>
            <a:r>
              <a:rPr lang="en">
                <a:solidFill>
                  <a:srgbClr val="0097A7"/>
                </a:solidFill>
              </a:rPr>
              <a:t>time of infection in subsequent generations</a:t>
            </a:r>
            <a:r>
              <a:rPr lang="en">
                <a:solidFill>
                  <a:srgbClr val="000000"/>
                </a:solidFill>
              </a:rPr>
              <a:t> of infection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Serial interval: </a:t>
            </a:r>
            <a:r>
              <a:rPr lang="en">
                <a:solidFill>
                  <a:srgbClr val="000000"/>
                </a:solidFill>
              </a:rPr>
              <a:t>Time between </a:t>
            </a:r>
            <a:r>
              <a:rPr lang="en">
                <a:solidFill>
                  <a:srgbClr val="0097A7"/>
                </a:solidFill>
              </a:rPr>
              <a:t>symptom onset in subsequent generations of cases </a:t>
            </a:r>
            <a:r>
              <a:rPr lang="en">
                <a:solidFill>
                  <a:srgbClr val="000000"/>
                </a:solidFill>
              </a:rPr>
              <a:t>(often used as a proxy for generation time)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Incubation period: </a:t>
            </a:r>
            <a:r>
              <a:rPr lang="en">
                <a:solidFill>
                  <a:srgbClr val="000000"/>
                </a:solidFill>
              </a:rPr>
              <a:t>Time between </a:t>
            </a:r>
            <a:r>
              <a:rPr lang="en">
                <a:solidFill>
                  <a:srgbClr val="0097A7"/>
                </a:solidFill>
              </a:rPr>
              <a:t>infection and symptom onset</a:t>
            </a:r>
            <a:endParaRPr>
              <a:solidFill>
                <a:srgbClr val="0097A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Latent period: </a:t>
            </a:r>
            <a:r>
              <a:rPr lang="en">
                <a:solidFill>
                  <a:srgbClr val="000000"/>
                </a:solidFill>
              </a:rPr>
              <a:t>Time between </a:t>
            </a:r>
            <a:r>
              <a:rPr lang="en">
                <a:solidFill>
                  <a:srgbClr val="0097A7"/>
                </a:solidFill>
              </a:rPr>
              <a:t>infection and becoming infectious</a:t>
            </a:r>
            <a:endParaRPr>
              <a:solidFill>
                <a:srgbClr val="0097A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2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Herd immunity threshold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5" name="Google Shape;595;p6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97A7"/>
                </a:solidFill>
              </a:rPr>
              <a:t>Herd immunity threshold</a:t>
            </a:r>
            <a:r>
              <a:rPr lang="en">
                <a:solidFill>
                  <a:srgbClr val="000000"/>
                </a:solidFill>
              </a:rPr>
              <a:t>: the level of immunity in a population above which a pathogen cannot invade and persist in </a:t>
            </a:r>
            <a:r>
              <a:rPr lang="en">
                <a:solidFill>
                  <a:srgbClr val="000000"/>
                </a:solidFill>
              </a:rPr>
              <a:t>the population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3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Herd immunity threshold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1" name="Google Shape;601;p6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7A7"/>
                </a:solidFill>
              </a:rPr>
              <a:t>Herd immunity threshold</a:t>
            </a:r>
            <a:r>
              <a:rPr lang="en">
                <a:solidFill>
                  <a:srgbClr val="000000"/>
                </a:solidFill>
              </a:rPr>
              <a:t>: the level of immunity in a population above which a pathogen cannot invade and persist in the population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We need s (population susceptible) to be small enough that cases would decline rather than increase…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4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Extensions to the SIR framework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7" name="Google Shape;607;p64"/>
          <p:cNvSpPr txBox="1"/>
          <p:nvPr/>
        </p:nvSpPr>
        <p:spPr>
          <a:xfrm>
            <a:off x="639525" y="1472225"/>
            <a:ext cx="78399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Many diseases have a </a:t>
            </a:r>
            <a:r>
              <a:rPr lang="en" sz="1800">
                <a:solidFill>
                  <a:srgbClr val="0097A7"/>
                </a:solidFill>
                <a:latin typeface="Open Sans"/>
                <a:ea typeface="Open Sans"/>
                <a:cs typeface="Open Sans"/>
                <a:sym typeface="Open Sans"/>
              </a:rPr>
              <a:t>latent period 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(time between being infected and becoming infectious)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" name="Google Shape;608;p64"/>
          <p:cNvSpPr/>
          <p:nvPr/>
        </p:nvSpPr>
        <p:spPr>
          <a:xfrm>
            <a:off x="147200" y="2528100"/>
            <a:ext cx="1606800" cy="1611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64"/>
          <p:cNvSpPr/>
          <p:nvPr/>
        </p:nvSpPr>
        <p:spPr>
          <a:xfrm>
            <a:off x="4692638" y="2528100"/>
            <a:ext cx="1606800" cy="1611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0" name="Google Shape;610;p64"/>
          <p:cNvSpPr/>
          <p:nvPr/>
        </p:nvSpPr>
        <p:spPr>
          <a:xfrm>
            <a:off x="7182225" y="2528100"/>
            <a:ext cx="1606800" cy="1611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p64"/>
          <p:cNvSpPr txBox="1"/>
          <p:nvPr/>
        </p:nvSpPr>
        <p:spPr>
          <a:xfrm>
            <a:off x="609125" y="2617275"/>
            <a:ext cx="1250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2" name="Google Shape;612;p64"/>
          <p:cNvSpPr txBox="1"/>
          <p:nvPr/>
        </p:nvSpPr>
        <p:spPr>
          <a:xfrm>
            <a:off x="5295668" y="2617275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I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3" name="Google Shape;613;p64"/>
          <p:cNvSpPr txBox="1"/>
          <p:nvPr/>
        </p:nvSpPr>
        <p:spPr>
          <a:xfrm>
            <a:off x="7634400" y="2617275"/>
            <a:ext cx="926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4" name="Google Shape;614;p64"/>
          <p:cNvSpPr/>
          <p:nvPr/>
        </p:nvSpPr>
        <p:spPr>
          <a:xfrm>
            <a:off x="1876478" y="3231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64"/>
          <p:cNvSpPr/>
          <p:nvPr/>
        </p:nvSpPr>
        <p:spPr>
          <a:xfrm>
            <a:off x="6498891" y="3231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4"/>
          <p:cNvSpPr txBox="1"/>
          <p:nvPr/>
        </p:nvSpPr>
        <p:spPr>
          <a:xfrm>
            <a:off x="1837338" y="2452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β</a:t>
            </a:r>
            <a:endParaRPr sz="4000"/>
          </a:p>
        </p:txBody>
      </p:sp>
      <p:sp>
        <p:nvSpPr>
          <p:cNvPr id="617" name="Google Shape;617;p64"/>
          <p:cNvSpPr txBox="1"/>
          <p:nvPr/>
        </p:nvSpPr>
        <p:spPr>
          <a:xfrm>
            <a:off x="6404275" y="2452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Ɣ</a:t>
            </a:r>
            <a:endParaRPr sz="4000"/>
          </a:p>
        </p:txBody>
      </p:sp>
      <p:sp>
        <p:nvSpPr>
          <p:cNvPr id="618" name="Google Shape;618;p64"/>
          <p:cNvSpPr/>
          <p:nvPr/>
        </p:nvSpPr>
        <p:spPr>
          <a:xfrm>
            <a:off x="2418300" y="2541075"/>
            <a:ext cx="1606800" cy="16113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64"/>
          <p:cNvSpPr txBox="1"/>
          <p:nvPr/>
        </p:nvSpPr>
        <p:spPr>
          <a:xfrm>
            <a:off x="2868931" y="2630250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E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0" name="Google Shape;620;p64"/>
          <p:cNvSpPr/>
          <p:nvPr/>
        </p:nvSpPr>
        <p:spPr>
          <a:xfrm>
            <a:off x="4162478" y="3231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4"/>
          <p:cNvSpPr txBox="1"/>
          <p:nvPr/>
        </p:nvSpPr>
        <p:spPr>
          <a:xfrm>
            <a:off x="4123338" y="2452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𝜎</a:t>
            </a:r>
            <a:endParaRPr sz="4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5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Extensions to the SIR framework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7" name="Google Shape;627;p65"/>
          <p:cNvSpPr txBox="1"/>
          <p:nvPr/>
        </p:nvSpPr>
        <p:spPr>
          <a:xfrm>
            <a:off x="639525" y="1319825"/>
            <a:ext cx="78399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For some pathogens individuals can become </a:t>
            </a:r>
            <a:r>
              <a:rPr lang="en" sz="1800">
                <a:solidFill>
                  <a:srgbClr val="4DB6AC"/>
                </a:solidFill>
                <a:latin typeface="Corbel"/>
                <a:ea typeface="Corbel"/>
                <a:cs typeface="Corbel"/>
                <a:sym typeface="Corbel"/>
              </a:rPr>
              <a:t>reinfected.</a:t>
            </a:r>
            <a:endParaRPr sz="1800">
              <a:solidFill>
                <a:srgbClr val="4DB6A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8" name="Google Shape;628;p65"/>
          <p:cNvSpPr/>
          <p:nvPr/>
        </p:nvSpPr>
        <p:spPr>
          <a:xfrm>
            <a:off x="375800" y="2528100"/>
            <a:ext cx="1606800" cy="1611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9" name="Google Shape;629;p65"/>
          <p:cNvSpPr/>
          <p:nvPr/>
        </p:nvSpPr>
        <p:spPr>
          <a:xfrm>
            <a:off x="4921238" y="2528100"/>
            <a:ext cx="1606800" cy="1611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0" name="Google Shape;630;p65"/>
          <p:cNvSpPr/>
          <p:nvPr/>
        </p:nvSpPr>
        <p:spPr>
          <a:xfrm>
            <a:off x="7410825" y="2528100"/>
            <a:ext cx="1606800" cy="1611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1" name="Google Shape;631;p65"/>
          <p:cNvSpPr txBox="1"/>
          <p:nvPr/>
        </p:nvSpPr>
        <p:spPr>
          <a:xfrm>
            <a:off x="837725" y="2617275"/>
            <a:ext cx="1250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2" name="Google Shape;632;p65"/>
          <p:cNvSpPr txBox="1"/>
          <p:nvPr/>
        </p:nvSpPr>
        <p:spPr>
          <a:xfrm>
            <a:off x="5524268" y="2617275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I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3" name="Google Shape;633;p65"/>
          <p:cNvSpPr txBox="1"/>
          <p:nvPr/>
        </p:nvSpPr>
        <p:spPr>
          <a:xfrm>
            <a:off x="7863000" y="2617275"/>
            <a:ext cx="926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4" name="Google Shape;634;p65"/>
          <p:cNvSpPr/>
          <p:nvPr/>
        </p:nvSpPr>
        <p:spPr>
          <a:xfrm>
            <a:off x="1876478" y="3231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65"/>
          <p:cNvSpPr/>
          <p:nvPr/>
        </p:nvSpPr>
        <p:spPr>
          <a:xfrm>
            <a:off x="6498891" y="3231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65"/>
          <p:cNvSpPr txBox="1"/>
          <p:nvPr/>
        </p:nvSpPr>
        <p:spPr>
          <a:xfrm>
            <a:off x="2065938" y="2452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β</a:t>
            </a:r>
            <a:endParaRPr sz="4000"/>
          </a:p>
        </p:txBody>
      </p:sp>
      <p:sp>
        <p:nvSpPr>
          <p:cNvPr id="637" name="Google Shape;637;p65"/>
          <p:cNvSpPr txBox="1"/>
          <p:nvPr/>
        </p:nvSpPr>
        <p:spPr>
          <a:xfrm>
            <a:off x="6632875" y="2452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Ɣ</a:t>
            </a:r>
            <a:endParaRPr sz="4000"/>
          </a:p>
        </p:txBody>
      </p:sp>
      <p:sp>
        <p:nvSpPr>
          <p:cNvPr id="638" name="Google Shape;638;p65"/>
          <p:cNvSpPr/>
          <p:nvPr/>
        </p:nvSpPr>
        <p:spPr>
          <a:xfrm>
            <a:off x="2646900" y="2541075"/>
            <a:ext cx="1606800" cy="16113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9" name="Google Shape;639;p65"/>
          <p:cNvSpPr txBox="1"/>
          <p:nvPr/>
        </p:nvSpPr>
        <p:spPr>
          <a:xfrm>
            <a:off x="3097531" y="2630250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E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0" name="Google Shape;640;p65"/>
          <p:cNvSpPr/>
          <p:nvPr/>
        </p:nvSpPr>
        <p:spPr>
          <a:xfrm>
            <a:off x="4162478" y="3231450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65"/>
          <p:cNvSpPr txBox="1"/>
          <p:nvPr/>
        </p:nvSpPr>
        <p:spPr>
          <a:xfrm>
            <a:off x="4351938" y="2452625"/>
            <a:ext cx="6762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𝜎</a:t>
            </a:r>
            <a:endParaRPr sz="4000"/>
          </a:p>
        </p:txBody>
      </p:sp>
      <p:sp>
        <p:nvSpPr>
          <p:cNvPr id="642" name="Google Shape;642;p65"/>
          <p:cNvSpPr/>
          <p:nvPr/>
        </p:nvSpPr>
        <p:spPr>
          <a:xfrm rot="-5402131">
            <a:off x="847886" y="4292183"/>
            <a:ext cx="483900" cy="2043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3" name="Google Shape;643;p65"/>
          <p:cNvCxnSpPr/>
          <p:nvPr/>
        </p:nvCxnSpPr>
        <p:spPr>
          <a:xfrm flipH="1" rot="10800000">
            <a:off x="1032475" y="4688725"/>
            <a:ext cx="6652200" cy="81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65"/>
          <p:cNvCxnSpPr/>
          <p:nvPr/>
        </p:nvCxnSpPr>
        <p:spPr>
          <a:xfrm rot="10800000">
            <a:off x="7638425" y="4142125"/>
            <a:ext cx="2400" cy="6030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6"/>
          <p:cNvSpPr/>
          <p:nvPr/>
        </p:nvSpPr>
        <p:spPr>
          <a:xfrm>
            <a:off x="1068025" y="3149575"/>
            <a:ext cx="6639600" cy="1937100"/>
          </a:xfrm>
          <a:prstGeom prst="rect">
            <a:avLst/>
          </a:prstGeom>
          <a:solidFill>
            <a:srgbClr val="EFEFEF">
              <a:alpha val="5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0" name="Google Shape;650;p66"/>
          <p:cNvSpPr/>
          <p:nvPr/>
        </p:nvSpPr>
        <p:spPr>
          <a:xfrm>
            <a:off x="1068025" y="1031350"/>
            <a:ext cx="6639600" cy="1937100"/>
          </a:xfrm>
          <a:prstGeom prst="rect">
            <a:avLst/>
          </a:prstGeom>
          <a:solidFill>
            <a:srgbClr val="EFEFEF">
              <a:alpha val="5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1" name="Google Shape;651;p66"/>
          <p:cNvSpPr/>
          <p:nvPr/>
        </p:nvSpPr>
        <p:spPr>
          <a:xfrm>
            <a:off x="1290200" y="1156500"/>
            <a:ext cx="1606800" cy="1611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2" name="Google Shape;652;p66"/>
          <p:cNvSpPr txBox="1"/>
          <p:nvPr>
            <p:ph type="title"/>
          </p:nvPr>
        </p:nvSpPr>
        <p:spPr>
          <a:xfrm>
            <a:off x="226400" y="1891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Extensions to the SIR framework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3" name="Google Shape;653;p66"/>
          <p:cNvSpPr/>
          <p:nvPr/>
        </p:nvSpPr>
        <p:spPr>
          <a:xfrm>
            <a:off x="3536863" y="1194238"/>
            <a:ext cx="1606800" cy="1611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4" name="Google Shape;654;p66"/>
          <p:cNvSpPr/>
          <p:nvPr/>
        </p:nvSpPr>
        <p:spPr>
          <a:xfrm>
            <a:off x="5874050" y="1194238"/>
            <a:ext cx="1606800" cy="1611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5" name="Google Shape;655;p66"/>
          <p:cNvSpPr txBox="1"/>
          <p:nvPr/>
        </p:nvSpPr>
        <p:spPr>
          <a:xfrm>
            <a:off x="1663150" y="1283413"/>
            <a:ext cx="1250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6" name="Google Shape;656;p66"/>
          <p:cNvSpPr txBox="1"/>
          <p:nvPr/>
        </p:nvSpPr>
        <p:spPr>
          <a:xfrm>
            <a:off x="4139893" y="1283413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I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7" name="Google Shape;657;p66"/>
          <p:cNvSpPr txBox="1"/>
          <p:nvPr/>
        </p:nvSpPr>
        <p:spPr>
          <a:xfrm>
            <a:off x="6326225" y="1283413"/>
            <a:ext cx="926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8" name="Google Shape;658;p66"/>
          <p:cNvSpPr/>
          <p:nvPr/>
        </p:nvSpPr>
        <p:spPr>
          <a:xfrm>
            <a:off x="2930503" y="1897588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66"/>
          <p:cNvSpPr/>
          <p:nvPr/>
        </p:nvSpPr>
        <p:spPr>
          <a:xfrm>
            <a:off x="5266916" y="1897588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66"/>
          <p:cNvSpPr/>
          <p:nvPr/>
        </p:nvSpPr>
        <p:spPr>
          <a:xfrm>
            <a:off x="5056563" y="3312463"/>
            <a:ext cx="1606800" cy="1611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p66"/>
          <p:cNvSpPr txBox="1"/>
          <p:nvPr/>
        </p:nvSpPr>
        <p:spPr>
          <a:xfrm>
            <a:off x="5659593" y="3401638"/>
            <a:ext cx="554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I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2" name="Google Shape;662;p66"/>
          <p:cNvSpPr/>
          <p:nvPr/>
        </p:nvSpPr>
        <p:spPr>
          <a:xfrm>
            <a:off x="1913225" y="3312475"/>
            <a:ext cx="1606800" cy="1611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66"/>
          <p:cNvSpPr txBox="1"/>
          <p:nvPr/>
        </p:nvSpPr>
        <p:spPr>
          <a:xfrm>
            <a:off x="2286175" y="3439388"/>
            <a:ext cx="1250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sz="8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4" name="Google Shape;664;p66"/>
          <p:cNvSpPr/>
          <p:nvPr/>
        </p:nvSpPr>
        <p:spPr>
          <a:xfrm>
            <a:off x="4054778" y="4015813"/>
            <a:ext cx="483900" cy="204600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66"/>
          <p:cNvSpPr/>
          <p:nvPr/>
        </p:nvSpPr>
        <p:spPr>
          <a:xfrm rot="7570418">
            <a:off x="3520396" y="3169623"/>
            <a:ext cx="483876" cy="204618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6"/>
          <p:cNvSpPr/>
          <p:nvPr/>
        </p:nvSpPr>
        <p:spPr>
          <a:xfrm rot="-7435595">
            <a:off x="4516537" y="3169711"/>
            <a:ext cx="483758" cy="204438"/>
          </a:xfrm>
          <a:prstGeom prst="rightArrow">
            <a:avLst>
              <a:gd fmla="val 50000" name="adj1"/>
              <a:gd fmla="val 102233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7" name="Google Shape;667;p66" title="noun-human-1248396.png"/>
          <p:cNvPicPr preferRelativeResize="0"/>
          <p:nvPr/>
        </p:nvPicPr>
        <p:blipFill rotWithShape="1">
          <a:blip r:embed="rId3">
            <a:alphaModFix/>
          </a:blip>
          <a:srcRect b="13838" l="0" r="0" t="0"/>
          <a:stretch/>
        </p:blipFill>
        <p:spPr>
          <a:xfrm>
            <a:off x="219100" y="1646200"/>
            <a:ext cx="821037" cy="7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66" title="noun-mosquito-7744994.png"/>
          <p:cNvPicPr preferRelativeResize="0"/>
          <p:nvPr/>
        </p:nvPicPr>
        <p:blipFill rotWithShape="1">
          <a:blip r:embed="rId4">
            <a:alphaModFix/>
          </a:blip>
          <a:srcRect b="14141" l="0" r="0" t="0"/>
          <a:stretch/>
        </p:blipFill>
        <p:spPr>
          <a:xfrm>
            <a:off x="166263" y="3720308"/>
            <a:ext cx="926700" cy="79564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6"/>
          <p:cNvSpPr txBox="1"/>
          <p:nvPr/>
        </p:nvSpPr>
        <p:spPr>
          <a:xfrm>
            <a:off x="7732175" y="2096675"/>
            <a:ext cx="1436400" cy="23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DB6AC"/>
                </a:solidFill>
                <a:latin typeface="Corbel"/>
                <a:ea typeface="Corbel"/>
                <a:cs typeface="Corbel"/>
                <a:sym typeface="Corbel"/>
              </a:rPr>
              <a:t>Alternative modes of transmission</a:t>
            </a:r>
            <a:endParaRPr sz="1800">
              <a:solidFill>
                <a:srgbClr val="4DB6A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