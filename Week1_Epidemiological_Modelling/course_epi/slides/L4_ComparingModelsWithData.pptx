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Constantia"/>
      <p:regular r:id="rId45"/>
      <p:bold r:id="rId46"/>
      <p:italic r:id="rId47"/>
      <p:boldItalic r:id="rId48"/>
    </p:embeddedFont>
    <p:embeddedFont>
      <p:font typeface="PT Sans Narrow"/>
      <p:regular r:id="rId49"/>
      <p:bold r:id="rId50"/>
    </p:embeddedFont>
    <p:embeddedFont>
      <p:font typeface="Corbel"/>
      <p:regular r:id="rId51"/>
      <p:bold r:id="rId52"/>
      <p:italic r:id="rId53"/>
      <p:boldItalic r:id="rId54"/>
    </p:embeddedFont>
    <p:embeddedFont>
      <p:font typeface="Open Sans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Constantia-bold.fntdata"/><Relationship Id="rId45" Type="http://schemas.openxmlformats.org/officeDocument/2006/relationships/font" Target="fonts/Constanti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nstantia-boldItalic.fntdata"/><Relationship Id="rId47" Type="http://schemas.openxmlformats.org/officeDocument/2006/relationships/font" Target="fonts/Constantia-italic.fntdata"/><Relationship Id="rId49" Type="http://schemas.openxmlformats.org/officeDocument/2006/relationships/font" Target="fonts/PTSansNarrow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orbel-regular.fntdata"/><Relationship Id="rId50" Type="http://schemas.openxmlformats.org/officeDocument/2006/relationships/font" Target="fonts/PTSansNarrow-bold.fntdata"/><Relationship Id="rId53" Type="http://schemas.openxmlformats.org/officeDocument/2006/relationships/font" Target="fonts/Corbel-italic.fntdata"/><Relationship Id="rId52" Type="http://schemas.openxmlformats.org/officeDocument/2006/relationships/font" Target="fonts/Corbel-bold.fntdata"/><Relationship Id="rId11" Type="http://schemas.openxmlformats.org/officeDocument/2006/relationships/slide" Target="slides/slide6.xml"/><Relationship Id="rId55" Type="http://schemas.openxmlformats.org/officeDocument/2006/relationships/font" Target="fonts/OpenSans-regular.fntdata"/><Relationship Id="rId10" Type="http://schemas.openxmlformats.org/officeDocument/2006/relationships/slide" Target="slides/slide5.xml"/><Relationship Id="rId54" Type="http://schemas.openxmlformats.org/officeDocument/2006/relationships/font" Target="fonts/Corbel-boldItalic.fntdata"/><Relationship Id="rId13" Type="http://schemas.openxmlformats.org/officeDocument/2006/relationships/slide" Target="slides/slide8.xml"/><Relationship Id="rId57" Type="http://schemas.openxmlformats.org/officeDocument/2006/relationships/font" Target="fonts/OpenSans-italic.fntdata"/><Relationship Id="rId12" Type="http://schemas.openxmlformats.org/officeDocument/2006/relationships/slide" Target="slides/slide7.xml"/><Relationship Id="rId56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4de1fdcd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4de1fdcd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ea41f76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ea41f76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ea41f76d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ea41f76d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4de1fdcd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4de1fdcd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061de86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061de86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061de86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061de86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4de1fdcd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4de1fdcd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4de1fdcd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4de1fdcd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4de1fdcd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4de1fdcd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4de1fdcdc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4de1fdcd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ea7b580b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6ea7b580b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ea7b580b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ea7b580b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4de1fdcd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4de1fdcd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4de1fdcd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4de1fdcd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4de1fdcdc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4de1fdcdc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ea7b580b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ea7b580b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ea7b580b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ea7b580b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4de1fdcd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4de1fdcd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4de1fdcdc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f4de1fdcdc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4de1fdcdc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4de1fdcdc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f4de1fdcdc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f4de1fdcdc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de1fdcdc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4de1fdcdc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4de1fdcdc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4de1fdcdc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de1fdcdc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4de1fdcd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4de1fdcdc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4de1fdcdc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4de1fdcdc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f4de1fdcdc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f4de1fdcdc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f4de1fdcdc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f4de1fdcdc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f4de1fdcdc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4de1fdcdc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4de1fdcdc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4de1fdcdc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f4de1fdcdc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4de1fdcdc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4de1fdcdc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4de1fdcdc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4de1fdcdc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f4de1fdcdc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f4de1fdcdc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4de1fdcdc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4de1fdcdc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4de1fdcdc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f4de1fdcdc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ea7b580b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6ea7b580b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ea7b580b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6ea7b580b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061de860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7061de860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Font typeface="Constantia"/>
              <a:buNone/>
              <a:defRPr sz="5400">
                <a:latin typeface="Constantia"/>
                <a:ea typeface="Constantia"/>
                <a:cs typeface="Constantia"/>
                <a:sym typeface="Constant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rbel"/>
              <a:buNone/>
              <a:defRPr sz="2400"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Font typeface="Corbel"/>
              <a:buNone/>
              <a:defRPr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○"/>
              <a:defRPr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■"/>
              <a:defRPr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 sz="1400">
                <a:latin typeface="Corbel"/>
                <a:ea typeface="Corbel"/>
                <a:cs typeface="Corbel"/>
                <a:sym typeface="Corbel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orbel"/>
              <a:buChar char="●"/>
              <a:defRPr sz="1400">
                <a:latin typeface="Corbel"/>
                <a:ea typeface="Corbel"/>
                <a:cs typeface="Corbel"/>
                <a:sym typeface="Corbel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Constantia"/>
              <a:buNone/>
              <a:defRPr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Constantia"/>
              <a:buNone/>
              <a:defRPr sz="2400">
                <a:latin typeface="Constantia"/>
                <a:ea typeface="Constantia"/>
                <a:cs typeface="Constantia"/>
                <a:sym typeface="Constant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●"/>
              <a:defRPr sz="1200">
                <a:latin typeface="Corbel"/>
                <a:ea typeface="Corbel"/>
                <a:cs typeface="Corbel"/>
                <a:sym typeface="Corbel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○"/>
              <a:defRPr sz="1200">
                <a:latin typeface="Corbel"/>
                <a:ea typeface="Corbel"/>
                <a:cs typeface="Corbel"/>
                <a:sym typeface="Corbel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orbel"/>
              <a:buChar char="■"/>
              <a:defRPr sz="1200"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onstantia"/>
              <a:buNone/>
              <a:defRPr sz="4200">
                <a:latin typeface="Constantia"/>
                <a:ea typeface="Constantia"/>
                <a:cs typeface="Constantia"/>
                <a:sym typeface="Constant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rbel"/>
              <a:buNone/>
              <a:defRPr sz="2100"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●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○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rbel"/>
              <a:buChar char="■"/>
              <a:defRPr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rbel"/>
              <a:buNone/>
              <a:defRPr sz="2400">
                <a:latin typeface="Corbel"/>
                <a:ea typeface="Corbel"/>
                <a:cs typeface="Corbel"/>
                <a:sym typeface="Corbel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orbel"/>
              <a:buNone/>
              <a:defRPr b="1" sz="36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805500" y="1880550"/>
            <a:ext cx="7533000" cy="69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5"/>
                </a:solidFill>
                <a:latin typeface="Corbel"/>
                <a:ea typeface="Corbel"/>
                <a:cs typeface="Corbel"/>
                <a:sym typeface="Corbel"/>
              </a:rPr>
              <a:t>Comparing models to data</a:t>
            </a:r>
            <a:endParaRPr sz="3500">
              <a:solidFill>
                <a:schemeClr val="accent5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Dr. </a:t>
            </a:r>
            <a:r>
              <a:rPr lang="en"/>
              <a:t>Oscar Cortés</a:t>
            </a:r>
            <a:r>
              <a:rPr lang="en">
                <a:latin typeface="Corbel"/>
                <a:ea typeface="Corbel"/>
                <a:cs typeface="Corbel"/>
                <a:sym typeface="Corbel"/>
              </a:rPr>
              <a:t> &amp; Dr. Jair Andrade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8" name="Google Shape;68;p13" title="PDU_full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1025" y="4432025"/>
            <a:ext cx="2691024" cy="4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975" y="4432025"/>
            <a:ext cx="2086155" cy="4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103" y="3438295"/>
            <a:ext cx="306732" cy="20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Outline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80675" y="1077025"/>
            <a:ext cx="80661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Real-world data is often messy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How to link types of data with mathematical functions?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Measuring how good a model is at representing real data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-"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Finding the best parameter values for a model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rbel"/>
                <a:ea typeface="Corbel"/>
                <a:cs typeface="Corbel"/>
                <a:sym typeface="Corbel"/>
              </a:rPr>
              <a:t>So far we’ve simulated outbreaks that look like this:</a:t>
            </a:r>
            <a:endParaRPr sz="22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0500" y="1090725"/>
            <a:ext cx="5762999" cy="384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rbel"/>
                <a:ea typeface="Corbel"/>
                <a:cs typeface="Corbel"/>
                <a:sym typeface="Corbel"/>
              </a:rPr>
              <a:t>But epidemic data is usually messier than this</a:t>
            </a:r>
            <a:endParaRPr sz="2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Funk et al., </a:t>
            </a:r>
            <a:r>
              <a:rPr i="1"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Epidemics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, 2018</a:t>
            </a:r>
            <a:endParaRPr sz="10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9" name="Google Shape;89;p16" title="1-s2.0-S1755436516300445-gr2_lr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2125" y="875180"/>
            <a:ext cx="4919752" cy="409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2218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Why?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Real life is not perfectly predictable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78525" y="1480275"/>
            <a:ext cx="7799700" cy="29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rbel"/>
              <a:buChar char="-"/>
            </a:pPr>
            <a:r>
              <a:rPr lang="en" sz="1800">
                <a:solidFill>
                  <a:srgbClr val="666666"/>
                </a:solidFill>
                <a:latin typeface="Corbel"/>
                <a:ea typeface="Corbel"/>
                <a:cs typeface="Corbel"/>
                <a:sym typeface="Corbel"/>
              </a:rPr>
              <a:t>Model validity is determined by its assumptions</a:t>
            </a:r>
            <a:endParaRPr sz="1800">
              <a:solidFill>
                <a:srgbClr val="66666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rbel"/>
              <a:buChar char="-"/>
            </a:pPr>
            <a:r>
              <a:rPr lang="en" sz="1800">
                <a:solidFill>
                  <a:srgbClr val="666666"/>
                </a:solidFill>
                <a:latin typeface="Corbel"/>
                <a:ea typeface="Corbel"/>
                <a:cs typeface="Corbel"/>
                <a:sym typeface="Corbel"/>
              </a:rPr>
              <a:t>Individuals behave differently: demographic stochasticity</a:t>
            </a:r>
            <a:endParaRPr sz="1800">
              <a:solidFill>
                <a:srgbClr val="66666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rbel"/>
              <a:buChar char="-"/>
            </a:pPr>
            <a:r>
              <a:rPr lang="en" sz="1800">
                <a:solidFill>
                  <a:srgbClr val="666666"/>
                </a:solidFill>
                <a:latin typeface="Corbel"/>
                <a:ea typeface="Corbel"/>
                <a:cs typeface="Corbel"/>
                <a:sym typeface="Corbel"/>
              </a:rPr>
              <a:t>The environment is not uniform: environmental stochasticity</a:t>
            </a:r>
            <a:endParaRPr sz="1800">
              <a:solidFill>
                <a:srgbClr val="66666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orbel"/>
              <a:buChar char="-"/>
            </a:pPr>
            <a:r>
              <a:rPr lang="en" sz="1800">
                <a:solidFill>
                  <a:srgbClr val="666666"/>
                </a:solidFill>
                <a:latin typeface="Corbel"/>
                <a:ea typeface="Corbel"/>
                <a:cs typeface="Corbel"/>
                <a:sym typeface="Corbel"/>
              </a:rPr>
              <a:t>Observation processes are imperfect</a:t>
            </a:r>
            <a:endParaRPr sz="1800">
              <a:solidFill>
                <a:srgbClr val="666666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5323275" y="1154850"/>
            <a:ext cx="2924400" cy="291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889375" y="1346925"/>
            <a:ext cx="2830200" cy="2714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Model assumptions are key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505600" y="2233050"/>
            <a:ext cx="335100" cy="3387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1955498" y="18100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1136273" y="25720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1703261" y="2685097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1070248" y="1978884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2038348" y="2309784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2270223" y="280950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1070248" y="3165234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2038348" y="32155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2605323" y="24409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1471375" y="3099875"/>
            <a:ext cx="335100" cy="3387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2634063" y="2939763"/>
            <a:ext cx="335100" cy="3387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2382400" y="1971075"/>
            <a:ext cx="335100" cy="3387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2605336" y="1560997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940423" y="2000984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3092973" y="280950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509098" y="333120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229775" y="2392375"/>
            <a:ext cx="335100" cy="3387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5699599" y="14713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006448" y="3331197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978073" y="36373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2136923" y="3722634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1557498" y="366420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3295773" y="36373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3340011" y="18100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2136923" y="1437934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1545886" y="156100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2738463" y="3664200"/>
            <a:ext cx="335100" cy="3387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351911" y="3099872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978073" y="14713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3006448" y="1453559"/>
            <a:ext cx="335100" cy="3387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83575" y="4228525"/>
            <a:ext cx="44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Fundamental assumption: well-mixed population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5978075" y="1471350"/>
            <a:ext cx="182700" cy="1848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644299" y="336162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377588" y="1514875"/>
            <a:ext cx="182700" cy="1848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775799" y="168562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832950" y="2809488"/>
            <a:ext cx="182700" cy="1848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339499" y="1797916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709925" y="2755900"/>
            <a:ext cx="182700" cy="1848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882299" y="1241016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7713525" y="1776150"/>
            <a:ext cx="182700" cy="1848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832949" y="198272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480375" y="1623750"/>
            <a:ext cx="182700" cy="1848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7503799" y="264900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7480375" y="1928550"/>
            <a:ext cx="182700" cy="184800"/>
          </a:xfrm>
          <a:prstGeom prst="ellipse">
            <a:avLst/>
          </a:prstGeom>
          <a:solidFill>
            <a:srgbClr val="EF6C00"/>
          </a:solidFill>
          <a:ln cap="flat" cmpd="sng" w="5725">
            <a:solidFill>
              <a:srgbClr val="EF6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699599" y="25748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988799" y="181967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194899" y="19285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6042499" y="26905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7756774" y="29953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7568849" y="317682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417274" y="28864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144799" y="1612866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6743199" y="379957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247149" y="32286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7247224" y="181967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7527224" y="29468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6491899" y="37411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194899" y="1297166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6543687" y="351682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6886124" y="35542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297674" y="27620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297674" y="29953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470999" y="26905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623399" y="28429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75799" y="309987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978074" y="305482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6309199" y="3452554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282874" y="3735579"/>
            <a:ext cx="182700" cy="184800"/>
          </a:xfrm>
          <a:prstGeom prst="ellipse">
            <a:avLst/>
          </a:prstGeom>
          <a:solidFill>
            <a:srgbClr val="4DB6AC"/>
          </a:solidFill>
          <a:ln cap="flat" cmpd="sng" w="572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000" lIns="55000" spcFirstLastPara="1" rIns="55000" wrap="square" tIns="5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2">
              <a:solidFill>
                <a:srgbClr val="4DB6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4514750" y="4289975"/>
            <a:ext cx="444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Reality: populations are structured in many different ways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Structures </a:t>
            </a:r>
            <a:r>
              <a:rPr lang="en">
                <a:latin typeface="Corbel"/>
                <a:ea typeface="Corbel"/>
                <a:cs typeface="Corbel"/>
                <a:sym typeface="Corbel"/>
              </a:rPr>
              <a:t>introduce more assumptions…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112" y="1311687"/>
            <a:ext cx="4699775" cy="31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Colizza 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PNAS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, 2006</a:t>
            </a:r>
            <a:endParaRPr sz="10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Some structures…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Goodfellow 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et al., </a:t>
            </a:r>
            <a:r>
              <a:rPr i="1"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PLOS Med.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, 2026</a:t>
            </a:r>
            <a:endParaRPr sz="10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1" name="Google Shape;191;p21" title="journal.pmed.1005038.g003.PNG"/>
          <p:cNvPicPr preferRelativeResize="0"/>
          <p:nvPr/>
        </p:nvPicPr>
        <p:blipFill rotWithShape="1">
          <a:blip r:embed="rId3">
            <a:alphaModFix/>
          </a:blip>
          <a:srcRect b="52519" l="0" r="61896" t="4088"/>
          <a:stretch/>
        </p:blipFill>
        <p:spPr>
          <a:xfrm>
            <a:off x="2238650" y="981200"/>
            <a:ext cx="3736699" cy="37482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975350" y="1069300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Age-based contacts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Some structures…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Goodfellow et al., </a:t>
            </a:r>
            <a:r>
              <a:rPr i="1"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PLOS Med.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, 2026</a:t>
            </a:r>
            <a:endParaRPr sz="10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9" name="Google Shape;199;p22" title="journal.pmed.1005038.g003.PNG"/>
          <p:cNvPicPr preferRelativeResize="0"/>
          <p:nvPr/>
        </p:nvPicPr>
        <p:blipFill rotWithShape="1">
          <a:blip r:embed="rId3">
            <a:alphaModFix/>
          </a:blip>
          <a:srcRect b="4403" l="0" r="63354" t="53225"/>
          <a:stretch/>
        </p:blipFill>
        <p:spPr>
          <a:xfrm>
            <a:off x="2238650" y="1069300"/>
            <a:ext cx="3593723" cy="3660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975350" y="1069300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Ethnicity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-based contacts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Some structures…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Goodfellow et al., </a:t>
            </a:r>
            <a:r>
              <a:rPr i="1"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PLOS Med.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, 2026</a:t>
            </a:r>
            <a:endParaRPr sz="10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7135600" y="1069300"/>
            <a:ext cx="18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Age and place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08" name="Google Shape;208;p23"/>
          <p:cNvGrpSpPr/>
          <p:nvPr/>
        </p:nvGrpSpPr>
        <p:grpSpPr>
          <a:xfrm>
            <a:off x="1887050" y="778875"/>
            <a:ext cx="5055800" cy="4130699"/>
            <a:chOff x="1887050" y="778875"/>
            <a:chExt cx="5055800" cy="4130699"/>
          </a:xfrm>
        </p:grpSpPr>
        <p:pic>
          <p:nvPicPr>
            <p:cNvPr id="209" name="Google Shape;209;p23" title="journal.pmed.1005038.g003.PNG"/>
            <p:cNvPicPr preferRelativeResize="0"/>
            <p:nvPr/>
          </p:nvPicPr>
          <p:blipFill rotWithShape="1">
            <a:blip r:embed="rId3">
              <a:alphaModFix/>
            </a:blip>
            <a:srcRect b="52308" l="49248" r="1131" t="696"/>
            <a:stretch/>
          </p:blipFill>
          <p:spPr>
            <a:xfrm>
              <a:off x="2076950" y="850100"/>
              <a:ext cx="4865900" cy="40594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3"/>
            <p:cNvSpPr/>
            <p:nvPr/>
          </p:nvSpPr>
          <p:spPr>
            <a:xfrm>
              <a:off x="2022950" y="850100"/>
              <a:ext cx="138900" cy="80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4218875" y="778875"/>
              <a:ext cx="410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4218875" y="2723650"/>
              <a:ext cx="410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1887050" y="2723650"/>
              <a:ext cx="410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Noise is ever-present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478525" y="1480275"/>
            <a:ext cx="7799700" cy="29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Process noise: </a:t>
            </a:r>
            <a:endParaRPr sz="1800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	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Demographic stochasticity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- stochasticity in the infection process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Environmental stochasticity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- e.g. weather variation, public health policy          changes, school holidays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Observation processes are imperfect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311700" y="1310800"/>
            <a:ext cx="24822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Individual gets infected with chikungunya virus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3330900" y="1310800"/>
            <a:ext cx="24822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Individual develops symptoms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6350100" y="1310800"/>
            <a:ext cx="24822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Individual seeks care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4827675" y="3244700"/>
            <a:ext cx="24822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Individual gets correctly diagnosed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1779025" y="3244700"/>
            <a:ext cx="2482200" cy="1004400"/>
          </a:xfrm>
          <a:prstGeom prst="roundRect">
            <a:avLst>
              <a:gd fmla="val 16667" name="adj"/>
            </a:avLst>
          </a:prstGeom>
          <a:solidFill>
            <a:srgbClr val="EFEFEF">
              <a:alpha val="58480"/>
            </a:srgbClr>
          </a:solidFill>
          <a:ln cap="flat" cmpd="sng" w="28575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Case gets reported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30" name="Google Shape;230;p25"/>
          <p:cNvCxnSpPr>
            <a:stCxn id="225" idx="3"/>
            <a:endCxn id="226" idx="1"/>
          </p:cNvCxnSpPr>
          <p:nvPr/>
        </p:nvCxnSpPr>
        <p:spPr>
          <a:xfrm>
            <a:off x="2793900" y="1813000"/>
            <a:ext cx="537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5"/>
          <p:cNvCxnSpPr>
            <a:stCxn id="226" idx="3"/>
            <a:endCxn id="227" idx="1"/>
          </p:cNvCxnSpPr>
          <p:nvPr/>
        </p:nvCxnSpPr>
        <p:spPr>
          <a:xfrm>
            <a:off x="5813100" y="1813000"/>
            <a:ext cx="537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5"/>
          <p:cNvCxnSpPr>
            <a:stCxn id="227" idx="3"/>
            <a:endCxn id="228" idx="3"/>
          </p:cNvCxnSpPr>
          <p:nvPr/>
        </p:nvCxnSpPr>
        <p:spPr>
          <a:xfrm flipH="1">
            <a:off x="7309800" y="1813000"/>
            <a:ext cx="1522500" cy="1933800"/>
          </a:xfrm>
          <a:prstGeom prst="bentConnector3">
            <a:avLst>
              <a:gd fmla="val -1564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5"/>
          <p:cNvCxnSpPr>
            <a:stCxn id="228" idx="1"/>
            <a:endCxn id="229" idx="3"/>
          </p:cNvCxnSpPr>
          <p:nvPr/>
        </p:nvCxnSpPr>
        <p:spPr>
          <a:xfrm rot="10800000">
            <a:off x="4261275" y="3746900"/>
            <a:ext cx="566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5"/>
          <p:cNvCxnSpPr/>
          <p:nvPr/>
        </p:nvCxnSpPr>
        <p:spPr>
          <a:xfrm rot="10800000">
            <a:off x="7308000" y="3746900"/>
            <a:ext cx="566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5" name="Google Shape;235;p25"/>
          <p:cNvSpPr txBox="1"/>
          <p:nvPr/>
        </p:nvSpPr>
        <p:spPr>
          <a:xfrm>
            <a:off x="0" y="4549100"/>
            <a:ext cx="44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At each step, we lose some individuals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Observation processes are imperfect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Cortes-Azuero et al., </a:t>
            </a:r>
            <a:r>
              <a:rPr i="1"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Lancet Infec. Dis.</a:t>
            </a: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, 2025</a:t>
            </a:r>
            <a:endParaRPr sz="10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42" name="Google Shape;242;p26"/>
          <p:cNvGrpSpPr/>
          <p:nvPr/>
        </p:nvGrpSpPr>
        <p:grpSpPr>
          <a:xfrm>
            <a:off x="4769620" y="871818"/>
            <a:ext cx="3571486" cy="3530721"/>
            <a:chOff x="5081780" y="981206"/>
            <a:chExt cx="2984695" cy="2950627"/>
          </a:xfrm>
        </p:grpSpPr>
        <p:pic>
          <p:nvPicPr>
            <p:cNvPr id="243" name="Google Shape;243;p26" title="gr3_lrg.jpg"/>
            <p:cNvPicPr preferRelativeResize="0"/>
            <p:nvPr/>
          </p:nvPicPr>
          <p:blipFill rotWithShape="1">
            <a:blip r:embed="rId3">
              <a:alphaModFix/>
            </a:blip>
            <a:srcRect b="54427" l="52957" r="0" t="0"/>
            <a:stretch/>
          </p:blipFill>
          <p:spPr>
            <a:xfrm>
              <a:off x="5081780" y="1036721"/>
              <a:ext cx="2984694" cy="26598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6" title="gr3_lrg.jpg"/>
            <p:cNvPicPr preferRelativeResize="0"/>
            <p:nvPr/>
          </p:nvPicPr>
          <p:blipFill rotWithShape="1">
            <a:blip r:embed="rId3">
              <a:alphaModFix/>
            </a:blip>
            <a:srcRect b="0" l="57889" r="0" t="92227"/>
            <a:stretch/>
          </p:blipFill>
          <p:spPr>
            <a:xfrm>
              <a:off x="5394716" y="3478184"/>
              <a:ext cx="2671759" cy="453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/>
            <p:nvPr/>
          </p:nvSpPr>
          <p:spPr>
            <a:xfrm>
              <a:off x="5324804" y="981206"/>
              <a:ext cx="205054" cy="205054"/>
            </a:xfrm>
            <a:prstGeom prst="rect">
              <a:avLst/>
            </a:prstGeom>
            <a:solidFill>
              <a:srgbClr val="FFFFFF"/>
            </a:solidFill>
            <a:ln cap="flat" cmpd="sng" w="122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7750" lIns="117750" spcFirstLastPara="1" rIns="117750" wrap="square" tIns="117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3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534350" y="1106050"/>
            <a:ext cx="3643848" cy="3296499"/>
            <a:chOff x="534350" y="1106050"/>
            <a:chExt cx="3643848" cy="3296499"/>
          </a:xfrm>
        </p:grpSpPr>
        <p:pic>
          <p:nvPicPr>
            <p:cNvPr id="247" name="Google Shape;247;p26" title="gr3_lrg.jpg"/>
            <p:cNvPicPr preferRelativeResize="0"/>
            <p:nvPr/>
          </p:nvPicPr>
          <p:blipFill rotWithShape="1">
            <a:blip r:embed="rId3">
              <a:alphaModFix/>
            </a:blip>
            <a:srcRect b="49403" l="0" r="47143" t="0"/>
            <a:stretch/>
          </p:blipFill>
          <p:spPr>
            <a:xfrm>
              <a:off x="534350" y="1193800"/>
              <a:ext cx="3643848" cy="32087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/>
            <p:nvPr/>
          </p:nvSpPr>
          <p:spPr>
            <a:xfrm>
              <a:off x="877025" y="1106050"/>
              <a:ext cx="210900" cy="226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type="title"/>
          </p:nvPr>
        </p:nvSpPr>
        <p:spPr>
          <a:xfrm>
            <a:off x="311700" y="1843500"/>
            <a:ext cx="8520600" cy="14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240">
                <a:latin typeface="Corbel"/>
                <a:ea typeface="Corbel"/>
                <a:cs typeface="Corbel"/>
                <a:sym typeface="Corbel"/>
              </a:rPr>
              <a:t>Ok, now how do I actually link functions to data?</a:t>
            </a:r>
            <a:endParaRPr sz="424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Refresher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9" name="Google Shape;259;p28"/>
          <p:cNvSpPr txBox="1"/>
          <p:nvPr/>
        </p:nvSpPr>
        <p:spPr>
          <a:xfrm>
            <a:off x="432000" y="1316825"/>
            <a:ext cx="8400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Random variables</a:t>
            </a: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can be sampled from a </a:t>
            </a:r>
            <a:r>
              <a:rPr b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distribution </a:t>
            </a: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of the right type.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Random variable: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a quantity that can be modelled as a random process (e.g. number of cases detected in a week, number of mm of rainfall in Cambridge, waiting time at the bank.  Can be </a:t>
            </a: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discrete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or </a:t>
            </a: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continuous</a:t>
            </a:r>
            <a:endParaRPr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Distribution: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sets of functions that link all possible outcomes of the experiment to a certain probability. They have different use cases and properties.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8077"/>
              <a:buFont typeface="Arial"/>
              <a:buNone/>
            </a:pPr>
            <a:r>
              <a:rPr lang="en" sz="2600">
                <a:latin typeface="Corbel"/>
                <a:ea typeface="Corbel"/>
                <a:cs typeface="Corbel"/>
                <a:sym typeface="Corbel"/>
              </a:rPr>
              <a:t>Example: count data</a:t>
            </a:r>
            <a:endParaRPr sz="26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9"/>
          <p:cNvSpPr txBox="1"/>
          <p:nvPr/>
        </p:nvSpPr>
        <p:spPr>
          <a:xfrm>
            <a:off x="627150" y="981200"/>
            <a:ext cx="76230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For count data (e.g. how many chikungunya cases are detected per day in Brazil), we can use a </a:t>
            </a: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Poisson distribution.</a:t>
            </a:r>
            <a:endParaRPr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It gives the probability of a given number of events occurring in a fixed interval of time, given a known constant mean rate (the single parameter, λ).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5834650" y="4418518"/>
            <a:ext cx="21384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Probability mass function</a:t>
            </a:r>
            <a:endParaRPr>
              <a:solidFill>
                <a:schemeClr val="accent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67" name="Google Shape;2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323" y="2571750"/>
            <a:ext cx="3313877" cy="257174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9"/>
          <p:cNvSpPr txBox="1"/>
          <p:nvPr/>
        </p:nvSpPr>
        <p:spPr>
          <a:xfrm>
            <a:off x="0" y="4804800"/>
            <a:ext cx="82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Wikipedia</a:t>
            </a:r>
            <a:endParaRPr sz="10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>
                <a:latin typeface="Corbel"/>
                <a:ea typeface="Corbel"/>
                <a:cs typeface="Corbel"/>
                <a:sym typeface="Corbel"/>
              </a:rPr>
              <a:t>Example: count data</a:t>
            </a:r>
            <a:endParaRPr sz="2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510025" y="1088650"/>
            <a:ext cx="79404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From our SIR model, we can obtain the </a:t>
            </a: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daily incidence </a:t>
            </a:r>
            <a:r>
              <a:rPr i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aseline="-25000" i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 of chikungunya virus infections during an outbreak in a city in Brazil.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If we want to model daily cases detected by the public health system, we have to model the </a:t>
            </a: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observation process</a:t>
            </a:r>
            <a:endParaRPr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5" name="Google Shape;275;p30" title="[0,0,0,&quot;https://www.codecogs.com/eqnedit.php?latex=%20Cases_t%20%5Csim%20Poisson(%20%5Crho%20I_t%20)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375" y="2945575"/>
            <a:ext cx="5105175" cy="52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0"/>
          <p:cNvCxnSpPr/>
          <p:nvPr/>
        </p:nvCxnSpPr>
        <p:spPr>
          <a:xfrm flipH="1">
            <a:off x="6352725" y="3474075"/>
            <a:ext cx="64200" cy="485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0"/>
          <p:cNvSpPr txBox="1"/>
          <p:nvPr/>
        </p:nvSpPr>
        <p:spPr>
          <a:xfrm>
            <a:off x="5606025" y="4023925"/>
            <a:ext cx="15576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Reporting rate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Comparing expected cases to data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83" name="Google Shape;283;p31" title="real_case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688" y="1393925"/>
            <a:ext cx="5804626" cy="2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1"/>
          <p:cNvSpPr txBox="1"/>
          <p:nvPr/>
        </p:nvSpPr>
        <p:spPr>
          <a:xfrm>
            <a:off x="6722200" y="1444350"/>
            <a:ext cx="22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31"/>
          <p:cNvSpPr txBox="1"/>
          <p:nvPr/>
        </p:nvSpPr>
        <p:spPr>
          <a:xfrm>
            <a:off x="2648263" y="4528300"/>
            <a:ext cx="38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𝛽 = 0.3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𝛾=0.1,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𝜌 = 0.25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2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Comparing expected cases to data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91" name="Google Shape;291;p32" title="real_cases_beta_0.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688" y="1393925"/>
            <a:ext cx="5804626" cy="2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2"/>
          <p:cNvSpPr txBox="1"/>
          <p:nvPr/>
        </p:nvSpPr>
        <p:spPr>
          <a:xfrm>
            <a:off x="6722200" y="1444350"/>
            <a:ext cx="22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2648263" y="4528300"/>
            <a:ext cx="38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𝛽 = 0.3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𝛾=0.1, 𝜌 = 0.25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4" name="Google Shape;294;p32"/>
          <p:cNvSpPr txBox="1"/>
          <p:nvPr/>
        </p:nvSpPr>
        <p:spPr>
          <a:xfrm>
            <a:off x="6776800" y="3068300"/>
            <a:ext cx="22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𝜌I</a:t>
            </a:r>
            <a:r>
              <a:rPr b="1" baseline="-25000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26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Comparing expected cases to data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00" name="Google Shape;300;p33" title="real_cases_beta_0.2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688" y="1393925"/>
            <a:ext cx="5804626" cy="2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3"/>
          <p:cNvSpPr txBox="1"/>
          <p:nvPr/>
        </p:nvSpPr>
        <p:spPr>
          <a:xfrm>
            <a:off x="6722200" y="1444350"/>
            <a:ext cx="22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33"/>
          <p:cNvSpPr txBox="1"/>
          <p:nvPr/>
        </p:nvSpPr>
        <p:spPr>
          <a:xfrm>
            <a:off x="2648263" y="4528300"/>
            <a:ext cx="38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𝛽 = 0.28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𝛾=0.1, 𝜌 = 0.25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33"/>
          <p:cNvSpPr txBox="1"/>
          <p:nvPr/>
        </p:nvSpPr>
        <p:spPr>
          <a:xfrm>
            <a:off x="6776800" y="3068300"/>
            <a:ext cx="22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𝜌I</a:t>
            </a:r>
            <a:r>
              <a:rPr b="1" baseline="-25000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26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4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Comparing expected cases to data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09" name="Google Shape;309;p34" title="real_cases_beta_0.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688" y="1393925"/>
            <a:ext cx="5804626" cy="2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4"/>
          <p:cNvSpPr txBox="1"/>
          <p:nvPr/>
        </p:nvSpPr>
        <p:spPr>
          <a:xfrm>
            <a:off x="6722200" y="1444350"/>
            <a:ext cx="22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34"/>
          <p:cNvSpPr txBox="1"/>
          <p:nvPr/>
        </p:nvSpPr>
        <p:spPr>
          <a:xfrm>
            <a:off x="2648263" y="4528300"/>
            <a:ext cx="38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𝛽 = 0.25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𝛾=0.1, 𝜌 = 0.25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4"/>
          <p:cNvSpPr txBox="1"/>
          <p:nvPr/>
        </p:nvSpPr>
        <p:spPr>
          <a:xfrm>
            <a:off x="6776800" y="3068300"/>
            <a:ext cx="22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𝜌I</a:t>
            </a:r>
            <a:r>
              <a:rPr b="1" baseline="-25000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26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5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Comparing expected cases to data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18" name="Google Shape;318;p35" title="real_cases_beta_0.2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688" y="1393925"/>
            <a:ext cx="5804626" cy="2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5"/>
          <p:cNvSpPr txBox="1"/>
          <p:nvPr/>
        </p:nvSpPr>
        <p:spPr>
          <a:xfrm>
            <a:off x="6722200" y="1444350"/>
            <a:ext cx="22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35"/>
          <p:cNvSpPr txBox="1"/>
          <p:nvPr/>
        </p:nvSpPr>
        <p:spPr>
          <a:xfrm>
            <a:off x="2648263" y="4528300"/>
            <a:ext cx="38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𝛽 = 0.24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𝛾=0.1, 𝜌 = 0.25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35"/>
          <p:cNvSpPr txBox="1"/>
          <p:nvPr/>
        </p:nvSpPr>
        <p:spPr>
          <a:xfrm>
            <a:off x="6776800" y="3068300"/>
            <a:ext cx="22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𝜌I</a:t>
            </a:r>
            <a:r>
              <a:rPr b="1" baseline="-25000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26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6"/>
          <p:cNvSpPr txBox="1"/>
          <p:nvPr>
            <p:ph type="title"/>
          </p:nvPr>
        </p:nvSpPr>
        <p:spPr>
          <a:xfrm>
            <a:off x="311700" y="22180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How to find the parameter values that best fit the data?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Likelihood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37"/>
          <p:cNvSpPr txBox="1"/>
          <p:nvPr/>
        </p:nvSpPr>
        <p:spPr>
          <a:xfrm>
            <a:off x="500400" y="1100825"/>
            <a:ext cx="814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b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likelihood </a:t>
            </a: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is the </a:t>
            </a:r>
            <a:r>
              <a:rPr b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probability </a:t>
            </a: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of observing the </a:t>
            </a:r>
            <a:r>
              <a:rPr b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data </a:t>
            </a:r>
            <a:r>
              <a:rPr b="1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given the model parameters</a:t>
            </a:r>
            <a:endParaRPr b="1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37"/>
          <p:cNvSpPr txBox="1"/>
          <p:nvPr/>
        </p:nvSpPr>
        <p:spPr>
          <a:xfrm>
            <a:off x="645000" y="1897825"/>
            <a:ext cx="8143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Notation: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we consider a data set D, that we’re trying to model with parameters 𝜃, the likelihood 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is the probability of observing the data as a function of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b="1"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𝜃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|D) = P(D|𝜃)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The likelihood is a function of 𝜃!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8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Likelihood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9" name="Google Shape;339;p38"/>
          <p:cNvSpPr txBox="1"/>
          <p:nvPr/>
        </p:nvSpPr>
        <p:spPr>
          <a:xfrm>
            <a:off x="460625" y="1108650"/>
            <a:ext cx="826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we consider data point D that we model with a Poisson distribution, for each possible value of the mean 𝜆 of the distribution, 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𝜆|D) = P(D|𝜆) = 𝜆</a:t>
            </a:r>
            <a:r>
              <a:rPr baseline="30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exp(-𝜆)/D!</a:t>
            </a:r>
            <a:endParaRPr baseline="30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38"/>
          <p:cNvSpPr txBox="1"/>
          <p:nvPr/>
        </p:nvSpPr>
        <p:spPr>
          <a:xfrm>
            <a:off x="5834650" y="4418518"/>
            <a:ext cx="21384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Probability mass function</a:t>
            </a:r>
            <a:endParaRPr>
              <a:solidFill>
                <a:schemeClr val="accent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41" name="Google Shape;34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323" y="2571750"/>
            <a:ext cx="3313877" cy="257174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8"/>
          <p:cNvSpPr txBox="1"/>
          <p:nvPr/>
        </p:nvSpPr>
        <p:spPr>
          <a:xfrm rot="-5400000">
            <a:off x="2452125" y="3301850"/>
            <a:ext cx="3279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Likelihood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460625" y="1108650"/>
            <a:ext cx="826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we consider independent data points 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 and 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that we model with parameters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𝜃, then for D = 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⋃ 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aseline="-25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|D) = 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 x 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 </a:t>
            </a:r>
            <a:endParaRPr baseline="30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39"/>
          <p:cNvSpPr txBox="1"/>
          <p:nvPr/>
        </p:nvSpPr>
        <p:spPr>
          <a:xfrm>
            <a:off x="457515" y="2744437"/>
            <a:ext cx="82602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we use the log,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log(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𝜃|D)) = log(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)) + log(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))</a:t>
            </a:r>
            <a:endParaRPr baseline="30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0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Likelihood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5" name="Google Shape;355;p40"/>
          <p:cNvSpPr txBox="1"/>
          <p:nvPr/>
        </p:nvSpPr>
        <p:spPr>
          <a:xfrm>
            <a:off x="460625" y="1108650"/>
            <a:ext cx="82602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For many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independent data points 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…, 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that we model with parameters 𝜃, we have</a:t>
            </a:r>
            <a:endParaRPr baseline="-25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𝜃|D) = ∏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baseline="30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" name="Google Shape;356;p40"/>
          <p:cNvSpPr txBox="1"/>
          <p:nvPr/>
        </p:nvSpPr>
        <p:spPr>
          <a:xfrm>
            <a:off x="457515" y="2744437"/>
            <a:ext cx="82602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If we use the log,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log(𝓛(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𝜃|D)) = ∑log(</a:t>
            </a:r>
            <a:r>
              <a:rPr lang="en" sz="21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𝓛(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𝜃|D</a:t>
            </a:r>
            <a:r>
              <a:rPr baseline="-25000"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))</a:t>
            </a:r>
            <a:endParaRPr baseline="30000"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rbel"/>
                <a:ea typeface="Corbel"/>
                <a:cs typeface="Corbel"/>
                <a:sym typeface="Corbel"/>
              </a:rPr>
              <a:t>So how do we formally compare our model to data?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591000" y="1152425"/>
            <a:ext cx="7962000" cy="3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We are usually interested in</a:t>
            </a:r>
            <a:r>
              <a:rPr lang="en" sz="1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parameter inference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(rather than the likelihood of any one set of parameters). We can do this through: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AutoNum type="arabicParenR"/>
            </a:pPr>
            <a:r>
              <a:rPr lang="en" sz="18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Maximum likelihood estimation</a:t>
            </a:r>
            <a:endParaRPr sz="1800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Here, we find the parameter value 𝛉 that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maximimises the likelihood</a:t>
            </a:r>
            <a:endParaRPr sz="1800">
              <a:solidFill>
                <a:schemeClr val="accent3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The log likelihood reaches its maximum at the same value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It is a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frequentist method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 that gives you the most likely value of theta (without uncertainty around it, although methods exist to construct confidence intervals) 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Corbel"/>
                <a:ea typeface="Corbel"/>
                <a:cs typeface="Corbel"/>
                <a:sym typeface="Corbel"/>
              </a:rPr>
              <a:t>So how do we formally compare our model to data?</a:t>
            </a:r>
            <a:endParaRPr sz="28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8" name="Google Shape;368;p42"/>
          <p:cNvSpPr txBox="1"/>
          <p:nvPr/>
        </p:nvSpPr>
        <p:spPr>
          <a:xfrm>
            <a:off x="591000" y="1152425"/>
            <a:ext cx="7962000" cy="3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We are usually interested in</a:t>
            </a:r>
            <a:r>
              <a:rPr lang="en" sz="180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parameter inference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(rather than the likelihood of any one set of parameters). We can do this through: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AutoNum type="arabicParenR"/>
            </a:pPr>
            <a:r>
              <a:rPr lang="en" sz="18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Maximum likelihood estimation</a:t>
            </a:r>
            <a:endParaRPr sz="1800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Here, we find the parameter value 𝛉 that maximimises the (log) likelihood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The log likelihood reaches its maximum at the same value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It is a frequentist method that gives you the most likely value of theta (without uncertainty around it, although methods exist to construct confidence intervals) 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rbel"/>
              <a:buAutoNum type="arabicParenR"/>
            </a:pPr>
            <a:r>
              <a:rPr lang="en" sz="1800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Bayesian inference</a:t>
            </a:r>
            <a:endParaRPr sz="1800">
              <a:solidFill>
                <a:schemeClr val="accen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Here, we focus on estimating the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posterior distribution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 (the probability of the random variable 𝛉)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69" name="Google Shape;369;p42" title="[0,0,0,&quot;https://www.codecogs.com/eqnedit.php?latex=p(%5Ctheta%20%7C%20data)%20%5Capprox%20p(data%20%7C%20%5Ctheta)%20%5Ctimes%20p(%5Ctheta)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0625" y="4643275"/>
            <a:ext cx="3522748" cy="2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2"/>
          <p:cNvSpPr/>
          <p:nvPr/>
        </p:nvSpPr>
        <p:spPr>
          <a:xfrm>
            <a:off x="538700" y="2053350"/>
            <a:ext cx="8135400" cy="16707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3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And how do we find the maximum?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76" name="Google Shape;37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25" y="1906525"/>
            <a:ext cx="34671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4175" y="1242925"/>
            <a:ext cx="1880325" cy="33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How about for many points?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83" name="Google Shape;38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825" y="1602025"/>
            <a:ext cx="57531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How about for many points?</a:t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89" name="Google Shape;3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225" y="1141425"/>
            <a:ext cx="546735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9688" y="3090775"/>
            <a:ext cx="56864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What if our data didn’t look like this…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96" name="Google Shape;396;p46" title="real_cases_beta_0.2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688" y="1393925"/>
            <a:ext cx="5804626" cy="2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6"/>
          <p:cNvSpPr txBox="1"/>
          <p:nvPr/>
        </p:nvSpPr>
        <p:spPr>
          <a:xfrm>
            <a:off x="6722200" y="1444350"/>
            <a:ext cx="22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46"/>
          <p:cNvSpPr txBox="1"/>
          <p:nvPr/>
        </p:nvSpPr>
        <p:spPr>
          <a:xfrm>
            <a:off x="2648263" y="4528300"/>
            <a:ext cx="38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𝛽 = 0.25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𝛾=0.1, 𝜌 = 0.25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p46"/>
          <p:cNvSpPr txBox="1"/>
          <p:nvPr/>
        </p:nvSpPr>
        <p:spPr>
          <a:xfrm>
            <a:off x="6776800" y="3068300"/>
            <a:ext cx="22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𝜌I</a:t>
            </a:r>
            <a:r>
              <a:rPr b="1" baseline="-25000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26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7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… and looked like this instead?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05" name="Google Shape;405;p47" title="real_cases_beta_0.25_higher_overdispersi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9688" y="1393925"/>
            <a:ext cx="5804626" cy="29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7"/>
          <p:cNvSpPr txBox="1"/>
          <p:nvPr/>
        </p:nvSpPr>
        <p:spPr>
          <a:xfrm>
            <a:off x="6722200" y="1444350"/>
            <a:ext cx="229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Data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47"/>
          <p:cNvSpPr txBox="1"/>
          <p:nvPr/>
        </p:nvSpPr>
        <p:spPr>
          <a:xfrm>
            <a:off x="2648263" y="4528300"/>
            <a:ext cx="38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pen Sans"/>
                <a:ea typeface="Open Sans"/>
                <a:cs typeface="Open Sans"/>
                <a:sym typeface="Open Sans"/>
              </a:rPr>
              <a:t>𝛽 = 0.25</a:t>
            </a: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, 𝛾=0.1, 𝜌 = 0.25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47"/>
          <p:cNvSpPr txBox="1"/>
          <p:nvPr/>
        </p:nvSpPr>
        <p:spPr>
          <a:xfrm>
            <a:off x="6776800" y="3068300"/>
            <a:ext cx="22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𝜌I</a:t>
            </a:r>
            <a:r>
              <a:rPr b="1" baseline="-25000" lang="en" sz="26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endParaRPr b="1" baseline="-25000" sz="26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9" name="Google Shape;409;p47"/>
          <p:cNvSpPr/>
          <p:nvPr/>
        </p:nvSpPr>
        <p:spPr>
          <a:xfrm>
            <a:off x="23425" y="-7800"/>
            <a:ext cx="9120600" cy="5143500"/>
          </a:xfrm>
          <a:prstGeom prst="rect">
            <a:avLst/>
          </a:prstGeom>
          <a:solidFill>
            <a:srgbClr val="EFEFEF">
              <a:alpha val="584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47"/>
          <p:cNvSpPr txBox="1"/>
          <p:nvPr/>
        </p:nvSpPr>
        <p:spPr>
          <a:xfrm>
            <a:off x="1937825" y="2369200"/>
            <a:ext cx="5536500" cy="61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Are we using the best model?</a:t>
            </a:r>
            <a:endParaRPr b="1" sz="28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/>
        </p:nvSpPr>
        <p:spPr>
          <a:xfrm>
            <a:off x="608825" y="1684950"/>
            <a:ext cx="74490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T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he Poisson distribution assumes that the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variance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in our data is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equal to the mean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. 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48"/>
          <p:cNvSpPr txBox="1"/>
          <p:nvPr/>
        </p:nvSpPr>
        <p:spPr>
          <a:xfrm>
            <a:off x="752050" y="3624000"/>
            <a:ext cx="74490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E.g. if you expect to see 10 cases on average, the variability around that will be 10 as well.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7" name="Google Shape;417;p48" title="[0,0,0,&quot;https://www.codecogs.com/eqnedit.php?latex=Var(cases)%20%3D%20%5Clambda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376" y="2243450"/>
            <a:ext cx="3932600" cy="5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8"/>
          <p:cNvSpPr txBox="1"/>
          <p:nvPr>
            <p:ph type="title"/>
          </p:nvPr>
        </p:nvSpPr>
        <p:spPr>
          <a:xfrm>
            <a:off x="311700" y="2738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rbel"/>
                <a:ea typeface="Corbel"/>
                <a:cs typeface="Corbel"/>
                <a:sym typeface="Corbel"/>
              </a:rPr>
              <a:t>Modelling is an iterative process…</a:t>
            </a:r>
            <a:endParaRPr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9"/>
          <p:cNvSpPr txBox="1"/>
          <p:nvPr/>
        </p:nvSpPr>
        <p:spPr>
          <a:xfrm>
            <a:off x="1186075" y="2601175"/>
            <a:ext cx="58548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4" name="Google Shape;424;p49"/>
          <p:cNvSpPr txBox="1"/>
          <p:nvPr/>
        </p:nvSpPr>
        <p:spPr>
          <a:xfrm>
            <a:off x="608838" y="1362450"/>
            <a:ext cx="74490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However, the Poisson distribution assumes that the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variance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 in our data is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equal to the mean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. 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5" name="Google Shape;425;p49"/>
          <p:cNvSpPr txBox="1"/>
          <p:nvPr/>
        </p:nvSpPr>
        <p:spPr>
          <a:xfrm>
            <a:off x="660425" y="3572275"/>
            <a:ext cx="74490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Epidemic surveillance data is often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overdispersed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, meaning it’s variance is greater than the mean expected number of cases (e.g. we see much smaller and larger case numbers than we’d expect given the average number of cases).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6" name="Google Shape;426;p49" title="[0,0,0,&quot;https://www.codecogs.com/eqnedit.php?latex=Var(cases)%20%3D%20%5Clambda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5376" y="2243450"/>
            <a:ext cx="3932600" cy="59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0"/>
          <p:cNvSpPr txBox="1"/>
          <p:nvPr/>
        </p:nvSpPr>
        <p:spPr>
          <a:xfrm>
            <a:off x="608851" y="1362450"/>
            <a:ext cx="81453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If we think our data is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overdispersed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(more variable than the Poisson assumes) we can use a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Negative Binomial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distribution.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1"/>
          <p:cNvSpPr txBox="1"/>
          <p:nvPr/>
        </p:nvSpPr>
        <p:spPr>
          <a:xfrm>
            <a:off x="608851" y="1362450"/>
            <a:ext cx="81453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If we think our data is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overdispersed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(more variable than the Poisson assumes) we can use a </a:t>
            </a:r>
            <a:r>
              <a:rPr lang="en" sz="1800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rPr>
              <a:t>Negative Binomial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distribution.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This has an additional parameter </a:t>
            </a:r>
            <a:r>
              <a:rPr i="1" lang="en" sz="1800">
                <a:latin typeface="Corbel"/>
                <a:ea typeface="Corbel"/>
                <a:cs typeface="Corbel"/>
                <a:sym typeface="Corbel"/>
              </a:rPr>
              <a:t>k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which controls the over-dispersion of the distribution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rbel"/>
              <a:buChar char="-"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If </a:t>
            </a:r>
            <a:r>
              <a:rPr i="1" lang="en" sz="1800">
                <a:latin typeface="Corbel"/>
                <a:ea typeface="Corbel"/>
                <a:cs typeface="Corbel"/>
                <a:sym typeface="Corbel"/>
              </a:rPr>
              <a:t>k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is small then over-dispersion is high, if </a:t>
            </a:r>
            <a:r>
              <a:rPr i="1" lang="en" sz="1800">
                <a:latin typeface="Corbel"/>
                <a:ea typeface="Corbel"/>
                <a:cs typeface="Corbel"/>
                <a:sym typeface="Corbel"/>
              </a:rPr>
              <a:t>k </a:t>
            </a:r>
            <a:r>
              <a:rPr lang="en" sz="1800">
                <a:latin typeface="Corbel"/>
                <a:ea typeface="Corbel"/>
                <a:cs typeface="Corbel"/>
                <a:sym typeface="Corbel"/>
              </a:rPr>
              <a:t>is high then the Negative Binomial converges on the Poisson</a:t>
            </a:r>
            <a:endParaRPr sz="18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437" name="Google Shape;437;p51" title="[0,0,0,&quot;https://www.codecogs.com/eqnedit.php?latex=%20Cases_t%20%5Csim%20NegBin(%5Cmu%2C%20k%20)%20#0&quot;]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975" y="3682600"/>
            <a:ext cx="5369373" cy="53657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1"/>
          <p:cNvSpPr txBox="1"/>
          <p:nvPr/>
        </p:nvSpPr>
        <p:spPr>
          <a:xfrm>
            <a:off x="281075" y="4411175"/>
            <a:ext cx="833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Open Sans"/>
                <a:ea typeface="Open Sans"/>
                <a:cs typeface="Open Sans"/>
                <a:sym typeface="Open Sans"/>
              </a:rPr>
              <a:t>We’re adding another parameter to describe the spread of our data around the mean</a:t>
            </a:r>
            <a:endParaRPr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