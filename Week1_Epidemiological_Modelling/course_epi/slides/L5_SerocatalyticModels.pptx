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y="6858000" cx="9144000"/>
  <p:notesSz cx="6858000" cy="9144000"/>
  <p:embeddedFontLst>
    <p:embeddedFont>
      <p:font typeface="PT Sans Narrow"/>
      <p:regular r:id="rId60"/>
      <p:bold r:id="rId61"/>
    </p:embeddedFont>
    <p:embeddedFont>
      <p:font typeface="Corbel"/>
      <p:regular r:id="rId62"/>
      <p:bold r:id="rId63"/>
      <p:italic r:id="rId64"/>
      <p:boldItalic r:id="rId65"/>
    </p:embeddedFont>
    <p:embeddedFont>
      <p:font typeface="Helvetica Neue"/>
      <p:regular r:id="rId66"/>
      <p:bold r:id="rId67"/>
      <p:italic r:id="rId68"/>
      <p:boldItalic r:id="rId69"/>
    </p:embeddedFont>
    <p:embeddedFont>
      <p:font typeface="Open Sans"/>
      <p:regular r:id="rId70"/>
      <p:bold r:id="rId71"/>
      <p:italic r:id="rId72"/>
      <p:boldItalic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D269DA-D4A5-44C7-B3BC-137105B24093}">
  <a:tblStyle styleId="{C1D269DA-D4A5-44C7-B3BC-137105B2409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OpenSans-boldItalic.fntdata"/><Relationship Id="rId72" Type="http://schemas.openxmlformats.org/officeDocument/2006/relationships/font" Target="fonts/OpenSans-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OpenSans-bold.fntdata"/><Relationship Id="rId70" Type="http://schemas.openxmlformats.org/officeDocument/2006/relationships/font" Target="fonts/OpenSans-regular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Corbel-regular.fntdata"/><Relationship Id="rId61" Type="http://schemas.openxmlformats.org/officeDocument/2006/relationships/font" Target="fonts/PTSansNarrow-bold.fntdata"/><Relationship Id="rId20" Type="http://schemas.openxmlformats.org/officeDocument/2006/relationships/slide" Target="slides/slide15.xml"/><Relationship Id="rId64" Type="http://schemas.openxmlformats.org/officeDocument/2006/relationships/font" Target="fonts/Corbel-italic.fntdata"/><Relationship Id="rId63" Type="http://schemas.openxmlformats.org/officeDocument/2006/relationships/font" Target="fonts/Corbel-bold.fntdata"/><Relationship Id="rId22" Type="http://schemas.openxmlformats.org/officeDocument/2006/relationships/slide" Target="slides/slide17.xml"/><Relationship Id="rId66" Type="http://schemas.openxmlformats.org/officeDocument/2006/relationships/font" Target="fonts/HelveticaNeue-regular.fntdata"/><Relationship Id="rId21" Type="http://schemas.openxmlformats.org/officeDocument/2006/relationships/slide" Target="slides/slide16.xml"/><Relationship Id="rId65" Type="http://schemas.openxmlformats.org/officeDocument/2006/relationships/font" Target="fonts/Corbel-boldItalic.fntdata"/><Relationship Id="rId24" Type="http://schemas.openxmlformats.org/officeDocument/2006/relationships/slide" Target="slides/slide19.xml"/><Relationship Id="rId68" Type="http://schemas.openxmlformats.org/officeDocument/2006/relationships/font" Target="fonts/HelveticaNeue-italic.fntdata"/><Relationship Id="rId23" Type="http://schemas.openxmlformats.org/officeDocument/2006/relationships/slide" Target="slides/slide18.xml"/><Relationship Id="rId67" Type="http://schemas.openxmlformats.org/officeDocument/2006/relationships/font" Target="fonts/HelveticaNeue-bold.fntdata"/><Relationship Id="rId60" Type="http://schemas.openxmlformats.org/officeDocument/2006/relationships/font" Target="fonts/PTSansNarrow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HelveticaNeue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066ed6dd8_0_67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066ed6dd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066ed6dd8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7066ed6dd8_0_2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066ed6dd8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7066ed6dd8_0_1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066ed6dd8_0_2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7066ed6dd8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66ed6dd8_0_2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7066ed6dd8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066ed6dd8_0_2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7066ed6dd8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7066ed6dd8_0_2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7066ed6dd8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7066ed6dd8_0_2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7066ed6dd8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7066ed6dd8_0_2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7066ed6dd8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7066ed6dd8_0_2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7066ed6dd8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7066ed6dd8_0_3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7066ed6dd8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7066ed6dd8_0_3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7066ed6dd8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7066ed6dd8_0_3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7066ed6dd8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7066ed6dd8_0_3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7066ed6dd8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7066ed6dd8_0_3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7066ed6dd8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7066ed6dd8_0_3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7066ed6dd8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7066ed6dd8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7066ed6dd8_0_3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7066ed6dd8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7066ed6dd8_0_3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7066ed6dd8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7066ed6dd8_0_3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4235850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421100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362666"/>
            <a:ext cx="7136668" cy="203195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5292001"/>
            <a:ext cx="7136668" cy="203195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2335685"/>
            <a:ext cx="7136700" cy="13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3800052"/>
            <a:ext cx="48705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3429200"/>
            <a:ext cx="9144000" cy="34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1086400"/>
            <a:ext cx="8571300" cy="12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6727600"/>
            <a:ext cx="9144000" cy="1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688433"/>
            <a:ext cx="8520600" cy="44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688233"/>
            <a:ext cx="3999900" cy="44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688233"/>
            <a:ext cx="3999900" cy="44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701800"/>
            <a:ext cx="56136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386233"/>
            <a:ext cx="4045200" cy="223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36358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5640967"/>
            <a:ext cx="5998800" cy="7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739800"/>
            <a:ext cx="8520600" cy="20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3994200"/>
            <a:ext cx="85206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688433"/>
            <a:ext cx="8520600" cy="4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Relationship Id="rId4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9.png"/><Relationship Id="rId4" Type="http://schemas.openxmlformats.org/officeDocument/2006/relationships/image" Target="../media/image3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5.png"/><Relationship Id="rId4" Type="http://schemas.openxmlformats.org/officeDocument/2006/relationships/image" Target="../media/image3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8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0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0.jpg"/><Relationship Id="rId4" Type="http://schemas.openxmlformats.org/officeDocument/2006/relationships/image" Target="../media/image6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0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2.png"/><Relationship Id="rId4" Type="http://schemas.openxmlformats.org/officeDocument/2006/relationships/image" Target="../media/image45.jpg"/><Relationship Id="rId5" Type="http://schemas.openxmlformats.org/officeDocument/2006/relationships/image" Target="../media/image41.png"/></Relationships>
</file>

<file path=ppt/slides/_rels/slide51.xml.rels><?xml version="1.0" encoding="UTF-8" standalone="yes"?><Relationships xmlns="http://schemas.openxmlformats.org/package/2006/relationships"><Relationship Id="rId11" Type="http://schemas.openxmlformats.org/officeDocument/2006/relationships/image" Target="../media/image54.jpg"/><Relationship Id="rId10" Type="http://schemas.openxmlformats.org/officeDocument/2006/relationships/image" Target="../media/image58.jp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8.jpg"/><Relationship Id="rId4" Type="http://schemas.openxmlformats.org/officeDocument/2006/relationships/image" Target="../media/image43.png"/><Relationship Id="rId9" Type="http://schemas.openxmlformats.org/officeDocument/2006/relationships/image" Target="../media/image55.jpg"/><Relationship Id="rId5" Type="http://schemas.openxmlformats.org/officeDocument/2006/relationships/image" Target="../media/image44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7.png"/><Relationship Id="rId4" Type="http://schemas.openxmlformats.org/officeDocument/2006/relationships/image" Target="../media/image56.png"/><Relationship Id="rId5" Type="http://schemas.openxmlformats.org/officeDocument/2006/relationships/image" Target="../media/image5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ctrTitle"/>
          </p:nvPr>
        </p:nvSpPr>
        <p:spPr>
          <a:xfrm>
            <a:off x="805500" y="2516025"/>
            <a:ext cx="7533000" cy="6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accent5"/>
                </a:solidFill>
                <a:latin typeface="Corbel"/>
                <a:ea typeface="Corbel"/>
                <a:cs typeface="Corbel"/>
                <a:sym typeface="Corbel"/>
              </a:rPr>
              <a:t>Serocatalytic models</a:t>
            </a:r>
            <a:endParaRPr sz="3500">
              <a:solidFill>
                <a:schemeClr val="accent5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" name="Google Shape;73;p14"/>
          <p:cNvSpPr txBox="1"/>
          <p:nvPr>
            <p:ph idx="1" type="subTitle"/>
          </p:nvPr>
        </p:nvSpPr>
        <p:spPr>
          <a:xfrm>
            <a:off x="2137225" y="3800052"/>
            <a:ext cx="48705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Dr. Oscar Cortés &amp; Dr. Jair Andrade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Adapted from slides from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Professor Henrik Salje</a:t>
            </a:r>
            <a:endParaRPr/>
          </a:p>
        </p:txBody>
      </p:sp>
      <p:pic>
        <p:nvPicPr>
          <p:cNvPr id="74" name="Google Shape;74;p14" title="PDU_full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1025" y="5909367"/>
            <a:ext cx="2691024" cy="47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975" y="5909367"/>
            <a:ext cx="2086155" cy="4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1112227" y="2634579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Why conduct serological analyses?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ve I had COVID-19? - Blood test" id="85" name="Google Shape;8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265636"/>
            <a:ext cx="6858000" cy="432554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/>
          <p:nvPr/>
        </p:nvSpPr>
        <p:spPr>
          <a:xfrm>
            <a:off x="6547404" y="1833771"/>
            <a:ext cx="618710" cy="2534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6944969" y="3174958"/>
            <a:ext cx="618710" cy="2534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2146854" y="2163652"/>
            <a:ext cx="618710" cy="2534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ve I had COVID-19? - Blood test" id="93" name="Google Shape;9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265636"/>
            <a:ext cx="6858000" cy="432554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/>
          <p:nvPr/>
        </p:nvSpPr>
        <p:spPr>
          <a:xfrm>
            <a:off x="6547404" y="1833771"/>
            <a:ext cx="618600" cy="25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6944969" y="3174958"/>
            <a:ext cx="618600" cy="25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2146854" y="2163652"/>
            <a:ext cx="618600" cy="25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316825" y="6032100"/>
            <a:ext cx="8421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The level of pathogen-specific antibodies in the blood is measured in </a:t>
            </a:r>
            <a:r>
              <a:rPr lang="en-US" sz="1800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rPr>
              <a:t>antibody titres</a:t>
            </a:r>
            <a:endParaRPr sz="1800">
              <a:solidFill>
                <a:schemeClr val="accent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Different types of serological studies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Different types of serological studies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Char char="●"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Cross-sectional seroprevalence studies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Char char="○"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Community-based studies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Char char="○"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Blood bank studies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6028" y="2419125"/>
            <a:ext cx="3803200" cy="3581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/>
        </p:nvSpPr>
        <p:spPr>
          <a:xfrm>
            <a:off x="0" y="6311900"/>
            <a:ext cx="69882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15900" marR="508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orbel"/>
                <a:ea typeface="Corbel"/>
                <a:cs typeface="Corbel"/>
                <a:sym typeface="Corbel"/>
              </a:rPr>
              <a:t>Salje H, Paul KK, Paul R, Rodriguez-Barraquer I, Rahman Z, Alam MS, et al. Nationally-representative serostudy of dengue in Bangladesh allows generalizable disease burden estimates. Elife. 2019 Apr 8;8:e42869.</a:t>
            </a:r>
            <a:endParaRPr sz="1000"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Different types of serological studies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rbel"/>
              <a:buChar char="●"/>
            </a:pPr>
            <a:r>
              <a:rPr lang="en-US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Cross-sectional seroprevalence studies</a:t>
            </a:r>
            <a:endParaRPr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Char char="○"/>
            </a:pPr>
            <a:r>
              <a:rPr lang="en-US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Community-based studies</a:t>
            </a:r>
            <a:endParaRPr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Char char="○"/>
            </a:pPr>
            <a:r>
              <a:rPr lang="en-US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Blood bank studies</a:t>
            </a:r>
            <a:endParaRPr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rbel"/>
              <a:buChar char="●"/>
            </a:pPr>
            <a:r>
              <a:rPr lang="en-US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Longitudinal studies</a:t>
            </a:r>
            <a:endParaRPr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Char char="○"/>
            </a:pPr>
            <a:r>
              <a:rPr lang="en-US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Cohort studies</a:t>
            </a:r>
            <a:endParaRPr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Fig. 1" id="118" name="Google Shape;118;p20"/>
          <p:cNvPicPr preferRelativeResize="0"/>
          <p:nvPr/>
        </p:nvPicPr>
        <p:blipFill rotWithShape="1">
          <a:blip r:embed="rId3">
            <a:alphaModFix/>
          </a:blip>
          <a:srcRect b="46621" l="0" r="0" t="0"/>
          <a:stretch/>
        </p:blipFill>
        <p:spPr>
          <a:xfrm>
            <a:off x="2783250" y="3597600"/>
            <a:ext cx="5732100" cy="2125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0"/>
          <p:cNvSpPr txBox="1"/>
          <p:nvPr/>
        </p:nvSpPr>
        <p:spPr>
          <a:xfrm>
            <a:off x="0" y="6311900"/>
            <a:ext cx="69882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76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orbel"/>
                <a:ea typeface="Corbel"/>
                <a:cs typeface="Corbel"/>
                <a:sym typeface="Corbel"/>
              </a:rPr>
              <a:t>Salje H, Cummings DAT, Rodriguez-Barraquer I, Katzelnick LC, Lessler J, Klungthong C, et al. Reconstruction of antibody dynamics and infection histories to evaluate dengue risk. Nature. 2018 May;557(7707):719–23.</a:t>
            </a:r>
            <a:endParaRPr sz="1000">
              <a:latin typeface="Corbel"/>
              <a:ea typeface="Corbel"/>
              <a:cs typeface="Corbel"/>
              <a:sym typeface="Corbel"/>
            </a:endParaRPr>
          </a:p>
          <a:p>
            <a:pPr indent="0" lvl="0" marL="215900" marR="508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Examples of different types of serological assays?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1526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5556"/>
              <a:buChar char="●"/>
            </a:pPr>
            <a:r>
              <a:rPr lang="en-US"/>
              <a:t>ELISAs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55556"/>
              <a:buChar char="●"/>
            </a:pPr>
            <a:r>
              <a:rPr lang="en-US"/>
              <a:t>Neutralisation tests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55556"/>
              <a:buChar char="●"/>
            </a:pPr>
            <a:r>
              <a:rPr lang="en-US"/>
              <a:t>Multiplex assays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55556"/>
              <a:buChar char="●"/>
            </a:pPr>
            <a:r>
              <a:rPr lang="en-US"/>
              <a:t>IFA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55556"/>
              <a:buChar char="●"/>
            </a:pPr>
            <a:r>
              <a:rPr lang="en-US"/>
              <a:t>Hemagglutination inhibition assay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55556"/>
              <a:buChar char="●"/>
            </a:pPr>
            <a:r>
              <a:rPr lang="en-US"/>
              <a:t>Depletion assays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55556"/>
              <a:buChar char="●"/>
            </a:pPr>
            <a:r>
              <a:rPr lang="en-US"/>
              <a:t>ADCC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55556"/>
              <a:buChar char="●"/>
            </a:pPr>
            <a:r>
              <a:rPr lang="en-US"/>
              <a:t>CDC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55556"/>
              <a:buChar char="●"/>
            </a:pPr>
            <a:r>
              <a:rPr lang="en-US"/>
              <a:t>Blockade of binding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55556"/>
              <a:buChar char="●"/>
            </a:pPr>
            <a:r>
              <a:rPr lang="en-US"/>
              <a:t>Enhancement assays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55556"/>
              <a:buChar char="●"/>
            </a:pPr>
            <a:r>
              <a:rPr lang="en-US"/>
              <a:t>Many more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ct val="15555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1112227" y="2634579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Calibri"/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What complicates analysing the results of serological testing?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Calibri"/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Why are mathematical approaches useful in analysis of serological datasets?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rbel"/>
              <a:buChar char="●"/>
            </a:pPr>
            <a:r>
              <a:rPr lang="en-US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Help provide interpretation between observed reading and infection history</a:t>
            </a:r>
            <a:endParaRPr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Char char="○"/>
            </a:pPr>
            <a:r>
              <a:rPr lang="en-US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Individual scale</a:t>
            </a:r>
            <a:endParaRPr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Char char="○"/>
            </a:pPr>
            <a:r>
              <a:rPr lang="en-US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Population scale</a:t>
            </a:r>
            <a:endParaRPr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rbel"/>
              <a:buChar char="●"/>
            </a:pPr>
            <a:r>
              <a:rPr lang="en-US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Identification of risk factors for infection</a:t>
            </a:r>
            <a:endParaRPr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Corbel"/>
              <a:buChar char="●"/>
            </a:pPr>
            <a:r>
              <a:rPr lang="en-US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Identify correlates of protection</a:t>
            </a:r>
            <a:endParaRPr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/>
        </p:nvSpPr>
        <p:spPr>
          <a:xfrm>
            <a:off x="2257095" y="509667"/>
            <a:ext cx="46299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5700" lIns="35700" spcFirstLastPara="1" rIns="35700" wrap="square" tIns="3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Disease surveillance</a:t>
            </a:r>
            <a:endParaRPr>
              <a:solidFill>
                <a:schemeClr val="accen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2" name="Google Shape;142;p24"/>
          <p:cNvSpPr txBox="1"/>
          <p:nvPr/>
        </p:nvSpPr>
        <p:spPr>
          <a:xfrm>
            <a:off x="854765" y="1580322"/>
            <a:ext cx="7643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In many settings, infectious disease diagnosis is based on clinical judgement only.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Why does that complicate our understanding of disease trends?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ve I had COVID-19? - Blood test" id="147" name="Google Shape;14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44513"/>
            <a:ext cx="9144000" cy="576738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5"/>
          <p:cNvSpPr/>
          <p:nvPr/>
        </p:nvSpPr>
        <p:spPr>
          <a:xfrm>
            <a:off x="7205870" y="1302026"/>
            <a:ext cx="824947" cy="3379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5"/>
          <p:cNvSpPr/>
          <p:nvPr/>
        </p:nvSpPr>
        <p:spPr>
          <a:xfrm>
            <a:off x="7735957" y="3090275"/>
            <a:ext cx="824947" cy="3379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5"/>
          <p:cNvSpPr/>
          <p:nvPr/>
        </p:nvSpPr>
        <p:spPr>
          <a:xfrm>
            <a:off x="1338470" y="1741867"/>
            <a:ext cx="824947" cy="3379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/>
        </p:nvSpPr>
        <p:spPr>
          <a:xfrm>
            <a:off x="2257095" y="509667"/>
            <a:ext cx="4629810" cy="420252"/>
          </a:xfrm>
          <a:prstGeom prst="rect">
            <a:avLst/>
          </a:prstGeom>
          <a:noFill/>
          <a:ln cap="flat" cmpd="sng" w="635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b" bIns="35700" lIns="35700" spcFirstLastPara="1" rIns="35700" wrap="square" tIns="35700">
            <a:normAutofit fontScale="47500" lnSpcReduction="2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Cross-sectional seroprevalence studies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6"/>
          <p:cNvSpPr txBox="1"/>
          <p:nvPr/>
        </p:nvSpPr>
        <p:spPr>
          <a:xfrm>
            <a:off x="854765" y="1580322"/>
            <a:ext cx="764319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blood from random people in community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the blood for IgG antibodies to your pathogen</a:t>
            </a:r>
            <a:endParaRPr/>
          </a:p>
        </p:txBody>
      </p:sp>
      <p:pic>
        <p:nvPicPr>
          <p:cNvPr descr="A picture containing person&#10;&#10;Description automatically generated" id="157" name="Google Shape;15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4358" y="3322205"/>
            <a:ext cx="4372807" cy="26182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water, outdoor, boat, person&#10;&#10;Description automatically generated" id="158" name="Google Shape;15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113" y="3322205"/>
            <a:ext cx="3491048" cy="2618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3" name="Google Shape;163;p27"/>
          <p:cNvCxnSpPr/>
          <p:nvPr/>
        </p:nvCxnSpPr>
        <p:spPr>
          <a:xfrm>
            <a:off x="1431235" y="5764696"/>
            <a:ext cx="6072808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4" name="Google Shape;164;p27"/>
          <p:cNvCxnSpPr/>
          <p:nvPr/>
        </p:nvCxnSpPr>
        <p:spPr>
          <a:xfrm rot="10800000">
            <a:off x="1451113" y="2107096"/>
            <a:ext cx="0" cy="3667539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5" name="Google Shape;165;p27"/>
          <p:cNvSpPr txBox="1"/>
          <p:nvPr/>
        </p:nvSpPr>
        <p:spPr>
          <a:xfrm>
            <a:off x="3975653" y="6082748"/>
            <a:ext cx="1441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Age</a:t>
            </a:r>
            <a:endParaRPr/>
          </a:p>
        </p:txBody>
      </p:sp>
      <p:sp>
        <p:nvSpPr>
          <p:cNvPr id="166" name="Google Shape;166;p27"/>
          <p:cNvSpPr txBox="1"/>
          <p:nvPr/>
        </p:nvSpPr>
        <p:spPr>
          <a:xfrm rot="-5400000">
            <a:off x="-400050" y="3756199"/>
            <a:ext cx="25493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Proportion seropositive</a:t>
            </a:r>
            <a:endParaRPr/>
          </a:p>
        </p:txBody>
      </p:sp>
      <p:sp>
        <p:nvSpPr>
          <p:cNvPr id="167" name="Google Shape;167;p27"/>
          <p:cNvSpPr txBox="1"/>
          <p:nvPr/>
        </p:nvSpPr>
        <p:spPr>
          <a:xfrm>
            <a:off x="874644" y="1183778"/>
            <a:ext cx="7643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Let’s say there was a study in 2020 that tested for chikungunya IgG antibodies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What would this seropositivity by age indicate?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68" name="Google Shape;168;p27"/>
          <p:cNvCxnSpPr/>
          <p:nvPr/>
        </p:nvCxnSpPr>
        <p:spPr>
          <a:xfrm>
            <a:off x="1470992" y="5695122"/>
            <a:ext cx="2895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9" name="Google Shape;169;p27"/>
          <p:cNvSpPr txBox="1"/>
          <p:nvPr/>
        </p:nvSpPr>
        <p:spPr>
          <a:xfrm>
            <a:off x="1325218" y="5780397"/>
            <a:ext cx="1441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0" name="Google Shape;170;p27"/>
          <p:cNvSpPr txBox="1"/>
          <p:nvPr/>
        </p:nvSpPr>
        <p:spPr>
          <a:xfrm>
            <a:off x="4141305" y="5774635"/>
            <a:ext cx="1441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40</a:t>
            </a:r>
            <a:endParaRPr/>
          </a:p>
        </p:txBody>
      </p:sp>
      <p:sp>
        <p:nvSpPr>
          <p:cNvPr id="171" name="Google Shape;171;p27"/>
          <p:cNvSpPr txBox="1"/>
          <p:nvPr/>
        </p:nvSpPr>
        <p:spPr>
          <a:xfrm>
            <a:off x="6831496" y="5764696"/>
            <a:ext cx="1441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</p:txBody>
      </p:sp>
      <p:cxnSp>
        <p:nvCxnSpPr>
          <p:cNvPr id="172" name="Google Shape;172;p27"/>
          <p:cNvCxnSpPr/>
          <p:nvPr/>
        </p:nvCxnSpPr>
        <p:spPr>
          <a:xfrm>
            <a:off x="4366592" y="3223591"/>
            <a:ext cx="282192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3" name="Google Shape;173;p27"/>
          <p:cNvCxnSpPr/>
          <p:nvPr/>
        </p:nvCxnSpPr>
        <p:spPr>
          <a:xfrm>
            <a:off x="4366592" y="3223591"/>
            <a:ext cx="0" cy="24698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4" name="Google Shape;174;p27"/>
          <p:cNvSpPr txBox="1"/>
          <p:nvPr/>
        </p:nvSpPr>
        <p:spPr>
          <a:xfrm>
            <a:off x="1139688" y="5461771"/>
            <a:ext cx="1441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5" name="Google Shape;175;p27"/>
          <p:cNvSpPr txBox="1"/>
          <p:nvPr/>
        </p:nvSpPr>
        <p:spPr>
          <a:xfrm>
            <a:off x="927652" y="3032117"/>
            <a:ext cx="1441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0.6</a:t>
            </a:r>
            <a:endParaRPr/>
          </a:p>
        </p:txBody>
      </p:sp>
      <p:sp>
        <p:nvSpPr>
          <p:cNvPr id="176" name="Google Shape;176;p27"/>
          <p:cNvSpPr txBox="1"/>
          <p:nvPr>
            <p:ph type="title"/>
          </p:nvPr>
        </p:nvSpPr>
        <p:spPr>
          <a:xfrm>
            <a:off x="311700" y="430467"/>
            <a:ext cx="8520600" cy="9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Cross-sectional seroprevalence studies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1" name="Google Shape;181;p28"/>
          <p:cNvCxnSpPr/>
          <p:nvPr/>
        </p:nvCxnSpPr>
        <p:spPr>
          <a:xfrm>
            <a:off x="1431235" y="5764696"/>
            <a:ext cx="6072808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2" name="Google Shape;182;p28"/>
          <p:cNvCxnSpPr/>
          <p:nvPr/>
        </p:nvCxnSpPr>
        <p:spPr>
          <a:xfrm rot="10800000">
            <a:off x="1451113" y="2107096"/>
            <a:ext cx="0" cy="3667539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3" name="Google Shape;183;p28"/>
          <p:cNvSpPr txBox="1"/>
          <p:nvPr/>
        </p:nvSpPr>
        <p:spPr>
          <a:xfrm>
            <a:off x="3975653" y="6082748"/>
            <a:ext cx="1441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Age</a:t>
            </a:r>
            <a:endParaRPr/>
          </a:p>
        </p:txBody>
      </p:sp>
      <p:sp>
        <p:nvSpPr>
          <p:cNvPr id="184" name="Google Shape;184;p28"/>
          <p:cNvSpPr txBox="1"/>
          <p:nvPr/>
        </p:nvSpPr>
        <p:spPr>
          <a:xfrm rot="-5400000">
            <a:off x="-531709" y="3715614"/>
            <a:ext cx="25493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Proportion seropositive</a:t>
            </a:r>
            <a:endParaRPr/>
          </a:p>
        </p:txBody>
      </p:sp>
      <p:sp>
        <p:nvSpPr>
          <p:cNvPr id="185" name="Google Shape;185;p28"/>
          <p:cNvSpPr txBox="1"/>
          <p:nvPr/>
        </p:nvSpPr>
        <p:spPr>
          <a:xfrm>
            <a:off x="874644" y="1508703"/>
            <a:ext cx="764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What about this?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86" name="Google Shape;186;p28"/>
          <p:cNvCxnSpPr/>
          <p:nvPr/>
        </p:nvCxnSpPr>
        <p:spPr>
          <a:xfrm>
            <a:off x="1470992" y="5695122"/>
            <a:ext cx="1421295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7" name="Google Shape;187;p28"/>
          <p:cNvSpPr txBox="1"/>
          <p:nvPr/>
        </p:nvSpPr>
        <p:spPr>
          <a:xfrm>
            <a:off x="1325218" y="5780397"/>
            <a:ext cx="1441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88" name="Google Shape;188;p28"/>
          <p:cNvSpPr txBox="1"/>
          <p:nvPr/>
        </p:nvSpPr>
        <p:spPr>
          <a:xfrm>
            <a:off x="4141305" y="5774635"/>
            <a:ext cx="1441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40</a:t>
            </a:r>
            <a:endParaRPr/>
          </a:p>
        </p:txBody>
      </p:sp>
      <p:sp>
        <p:nvSpPr>
          <p:cNvPr id="189" name="Google Shape;189;p28"/>
          <p:cNvSpPr txBox="1"/>
          <p:nvPr/>
        </p:nvSpPr>
        <p:spPr>
          <a:xfrm>
            <a:off x="6831496" y="5764696"/>
            <a:ext cx="1441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</p:txBody>
      </p:sp>
      <p:cxnSp>
        <p:nvCxnSpPr>
          <p:cNvPr id="190" name="Google Shape;190;p28"/>
          <p:cNvCxnSpPr/>
          <p:nvPr/>
        </p:nvCxnSpPr>
        <p:spPr>
          <a:xfrm>
            <a:off x="4366592" y="3223591"/>
            <a:ext cx="282192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1" name="Google Shape;191;p28"/>
          <p:cNvCxnSpPr/>
          <p:nvPr/>
        </p:nvCxnSpPr>
        <p:spPr>
          <a:xfrm>
            <a:off x="4366592" y="3223591"/>
            <a:ext cx="0" cy="143123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2" name="Google Shape;192;p28"/>
          <p:cNvSpPr txBox="1"/>
          <p:nvPr/>
        </p:nvSpPr>
        <p:spPr>
          <a:xfrm>
            <a:off x="1139688" y="5461771"/>
            <a:ext cx="1441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93" name="Google Shape;193;p28"/>
          <p:cNvSpPr txBox="1"/>
          <p:nvPr/>
        </p:nvSpPr>
        <p:spPr>
          <a:xfrm>
            <a:off x="927652" y="3032117"/>
            <a:ext cx="1441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0.6</a:t>
            </a:r>
            <a:endParaRPr/>
          </a:p>
        </p:txBody>
      </p:sp>
      <p:cxnSp>
        <p:nvCxnSpPr>
          <p:cNvPr id="194" name="Google Shape;194;p28"/>
          <p:cNvCxnSpPr/>
          <p:nvPr/>
        </p:nvCxnSpPr>
        <p:spPr>
          <a:xfrm>
            <a:off x="2892287" y="4654826"/>
            <a:ext cx="0" cy="1040296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5" name="Google Shape;195;p28"/>
          <p:cNvCxnSpPr/>
          <p:nvPr/>
        </p:nvCxnSpPr>
        <p:spPr>
          <a:xfrm>
            <a:off x="2892287" y="4654826"/>
            <a:ext cx="1474305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6" name="Google Shape;196;p28"/>
          <p:cNvSpPr txBox="1"/>
          <p:nvPr/>
        </p:nvSpPr>
        <p:spPr>
          <a:xfrm>
            <a:off x="950844" y="4420319"/>
            <a:ext cx="1441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0.2</a:t>
            </a:r>
            <a:endParaRPr/>
          </a:p>
        </p:txBody>
      </p:sp>
      <p:sp>
        <p:nvSpPr>
          <p:cNvPr id="197" name="Google Shape;197;p28"/>
          <p:cNvSpPr txBox="1"/>
          <p:nvPr>
            <p:ph type="title"/>
          </p:nvPr>
        </p:nvSpPr>
        <p:spPr>
          <a:xfrm>
            <a:off x="311700" y="430467"/>
            <a:ext cx="8520600" cy="9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Cross-sectional seroprevalence studies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" name="Google Shape;202;p29"/>
          <p:cNvCxnSpPr/>
          <p:nvPr/>
        </p:nvCxnSpPr>
        <p:spPr>
          <a:xfrm>
            <a:off x="1431235" y="5764696"/>
            <a:ext cx="6072808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3" name="Google Shape;203;p29"/>
          <p:cNvCxnSpPr/>
          <p:nvPr/>
        </p:nvCxnSpPr>
        <p:spPr>
          <a:xfrm rot="10800000">
            <a:off x="1451113" y="2107096"/>
            <a:ext cx="0" cy="3667539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4" name="Google Shape;204;p29"/>
          <p:cNvSpPr txBox="1"/>
          <p:nvPr/>
        </p:nvSpPr>
        <p:spPr>
          <a:xfrm>
            <a:off x="3975653" y="6082748"/>
            <a:ext cx="1441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Age</a:t>
            </a:r>
            <a:endParaRPr/>
          </a:p>
        </p:txBody>
      </p:sp>
      <p:sp>
        <p:nvSpPr>
          <p:cNvPr id="205" name="Google Shape;205;p29"/>
          <p:cNvSpPr txBox="1"/>
          <p:nvPr/>
        </p:nvSpPr>
        <p:spPr>
          <a:xfrm rot="-5400000">
            <a:off x="-531709" y="3715614"/>
            <a:ext cx="25493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Proportion seropositive</a:t>
            </a:r>
            <a:endParaRPr/>
          </a:p>
        </p:txBody>
      </p:sp>
      <p:sp>
        <p:nvSpPr>
          <p:cNvPr id="206" name="Google Shape;206;p29"/>
          <p:cNvSpPr txBox="1"/>
          <p:nvPr/>
        </p:nvSpPr>
        <p:spPr>
          <a:xfrm>
            <a:off x="1325218" y="5780397"/>
            <a:ext cx="1441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07" name="Google Shape;207;p29"/>
          <p:cNvSpPr txBox="1"/>
          <p:nvPr/>
        </p:nvSpPr>
        <p:spPr>
          <a:xfrm>
            <a:off x="4141305" y="5774635"/>
            <a:ext cx="1441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40</a:t>
            </a:r>
            <a:endParaRPr/>
          </a:p>
        </p:txBody>
      </p:sp>
      <p:sp>
        <p:nvSpPr>
          <p:cNvPr id="208" name="Google Shape;208;p29"/>
          <p:cNvSpPr txBox="1"/>
          <p:nvPr/>
        </p:nvSpPr>
        <p:spPr>
          <a:xfrm>
            <a:off x="6831496" y="5764696"/>
            <a:ext cx="1441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</p:txBody>
      </p:sp>
      <p:sp>
        <p:nvSpPr>
          <p:cNvPr id="209" name="Google Shape;209;p29"/>
          <p:cNvSpPr txBox="1"/>
          <p:nvPr/>
        </p:nvSpPr>
        <p:spPr>
          <a:xfrm>
            <a:off x="1139688" y="5461771"/>
            <a:ext cx="1441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10" name="Google Shape;210;p29"/>
          <p:cNvSpPr txBox="1"/>
          <p:nvPr/>
        </p:nvSpPr>
        <p:spPr>
          <a:xfrm>
            <a:off x="927652" y="3032117"/>
            <a:ext cx="1441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0.6</a:t>
            </a:r>
            <a:endParaRPr/>
          </a:p>
        </p:txBody>
      </p:sp>
      <p:sp>
        <p:nvSpPr>
          <p:cNvPr id="211" name="Google Shape;211;p29"/>
          <p:cNvSpPr txBox="1"/>
          <p:nvPr/>
        </p:nvSpPr>
        <p:spPr>
          <a:xfrm>
            <a:off x="950844" y="4420319"/>
            <a:ext cx="1441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0.2</a:t>
            </a:r>
            <a:endParaRPr/>
          </a:p>
        </p:txBody>
      </p:sp>
      <p:sp>
        <p:nvSpPr>
          <p:cNvPr id="212" name="Google Shape;212;p29"/>
          <p:cNvSpPr/>
          <p:nvPr/>
        </p:nvSpPr>
        <p:spPr>
          <a:xfrm rot="-4847432">
            <a:off x="4130281" y="-397481"/>
            <a:ext cx="9108105" cy="14576480"/>
          </a:xfrm>
          <a:prstGeom prst="arc">
            <a:avLst>
              <a:gd fmla="val 16200000" name="adj1"/>
              <a:gd fmla="val 20002993" name="adj2"/>
            </a:avLst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9"/>
          <p:cNvSpPr txBox="1"/>
          <p:nvPr>
            <p:ph type="title"/>
          </p:nvPr>
        </p:nvSpPr>
        <p:spPr>
          <a:xfrm>
            <a:off x="311700" y="430467"/>
            <a:ext cx="8520600" cy="9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Cross-sectional seroprevalence studies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4" name="Google Shape;214;p29"/>
          <p:cNvSpPr txBox="1"/>
          <p:nvPr/>
        </p:nvSpPr>
        <p:spPr>
          <a:xfrm>
            <a:off x="874644" y="1508703"/>
            <a:ext cx="764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What about this?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215" name="Google Shape;21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30480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0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1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1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2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3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4" name="Google Shape;24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4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5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6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5" name="Google Shape;26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7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7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2" name="Google Shape;27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8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8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9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40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3" name="Google Shape;29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1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1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2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42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7" name="Google Shape;30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3"/>
          <p:cNvSpPr txBox="1"/>
          <p:nvPr/>
        </p:nvSpPr>
        <p:spPr>
          <a:xfrm>
            <a:off x="487899" y="1598275"/>
            <a:ext cx="80463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66700" lvl="0" marL="285750" marR="0" rtl="0" algn="l">
              <a:spcBef>
                <a:spcPts val="0"/>
              </a:spcBef>
              <a:spcAft>
                <a:spcPts val="0"/>
              </a:spcAft>
              <a:buSzPts val="1500"/>
              <a:buFont typeface="Corbel"/>
              <a:buChar char="•"/>
            </a:pPr>
            <a:r>
              <a:rPr lang="en-US" sz="1500">
                <a:latin typeface="Corbel"/>
                <a:ea typeface="Corbel"/>
                <a:cs typeface="Corbel"/>
                <a:sym typeface="Corbel"/>
              </a:rPr>
              <a:t>Catalytic models are a way of describing mathematically your annual probability of infection.</a:t>
            </a:r>
            <a:endParaRPr sz="1500">
              <a:latin typeface="Corbel"/>
              <a:ea typeface="Corbel"/>
              <a:cs typeface="Corbel"/>
              <a:sym typeface="Corbel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500">
              <a:latin typeface="Corbel"/>
              <a:ea typeface="Corbel"/>
              <a:cs typeface="Corbel"/>
              <a:sym typeface="Corbel"/>
            </a:endParaRPr>
          </a:p>
          <a:p>
            <a:pPr indent="-266700" lvl="0" marL="285750" marR="0" rtl="0" algn="l">
              <a:spcBef>
                <a:spcPts val="0"/>
              </a:spcBef>
              <a:spcAft>
                <a:spcPts val="0"/>
              </a:spcAft>
              <a:buSzPts val="1500"/>
              <a:buFont typeface="Corbel"/>
              <a:buChar char="•"/>
            </a:pPr>
            <a:r>
              <a:rPr lang="en-US" sz="1500">
                <a:latin typeface="Corbel"/>
                <a:ea typeface="Corbel"/>
                <a:cs typeface="Corbel"/>
                <a:sym typeface="Corbel"/>
              </a:rPr>
              <a:t>Let’s assume we have an endemic pathogen with sterilizing immunity which has an annual probability of infection of </a:t>
            </a:r>
            <a:r>
              <a:rPr i="1" lang="en-US" sz="1500">
                <a:latin typeface="Corbel"/>
                <a:ea typeface="Corbel"/>
                <a:cs typeface="Corbel"/>
                <a:sym typeface="Corbel"/>
              </a:rPr>
              <a:t>p.</a:t>
            </a:r>
            <a:endParaRPr sz="1500">
              <a:latin typeface="Corbel"/>
              <a:ea typeface="Corbel"/>
              <a:cs typeface="Corbel"/>
              <a:sym typeface="Corbel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i="1" sz="1500">
              <a:latin typeface="Corbel"/>
              <a:ea typeface="Corbel"/>
              <a:cs typeface="Corbel"/>
              <a:sym typeface="Corbel"/>
            </a:endParaRPr>
          </a:p>
          <a:p>
            <a:pPr indent="-266700" lvl="0" marL="285750" marR="0" rtl="0" algn="l">
              <a:spcBef>
                <a:spcPts val="0"/>
              </a:spcBef>
              <a:spcAft>
                <a:spcPts val="0"/>
              </a:spcAft>
              <a:buSzPts val="1500"/>
              <a:buFont typeface="Corbel"/>
              <a:buChar char="•"/>
            </a:pPr>
            <a:r>
              <a:rPr lang="en-US" sz="1500">
                <a:latin typeface="Corbel"/>
                <a:ea typeface="Corbel"/>
                <a:cs typeface="Corbel"/>
                <a:sym typeface="Corbel"/>
              </a:rPr>
              <a:t>The probability that a one year old is seropositive is:</a:t>
            </a:r>
            <a:endParaRPr sz="1500"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latin typeface="Corbel"/>
                <a:ea typeface="Corbel"/>
                <a:cs typeface="Corbel"/>
                <a:sym typeface="Corbel"/>
              </a:rPr>
              <a:t>p</a:t>
            </a:r>
            <a:endParaRPr sz="1500">
              <a:latin typeface="Corbel"/>
              <a:ea typeface="Corbel"/>
              <a:cs typeface="Corbel"/>
              <a:sym typeface="Corbel"/>
            </a:endParaRPr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 u="none" cap="none" strike="noStrike">
              <a:latin typeface="Corbel"/>
              <a:ea typeface="Corbel"/>
              <a:cs typeface="Corbel"/>
              <a:sym typeface="Corbel"/>
            </a:endParaRPr>
          </a:p>
          <a:p>
            <a:pPr indent="-266700" lvl="0" marL="285750" marR="0" rtl="0" algn="l">
              <a:spcBef>
                <a:spcPts val="0"/>
              </a:spcBef>
              <a:spcAft>
                <a:spcPts val="0"/>
              </a:spcAft>
              <a:buSzPts val="1500"/>
              <a:buFont typeface="Corbel"/>
              <a:buChar char="•"/>
            </a:pPr>
            <a:r>
              <a:rPr lang="en-US" sz="1500">
                <a:latin typeface="Corbel"/>
                <a:ea typeface="Corbel"/>
                <a:cs typeface="Corbel"/>
                <a:sym typeface="Corbel"/>
              </a:rPr>
              <a:t>The probability of them being seronegative (having escaped infection) is:</a:t>
            </a:r>
            <a:endParaRPr sz="1500"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latin typeface="Corbel"/>
                <a:ea typeface="Corbel"/>
                <a:cs typeface="Corbel"/>
                <a:sym typeface="Corbel"/>
              </a:rPr>
              <a:t>1-p</a:t>
            </a:r>
            <a:endParaRPr sz="1500">
              <a:latin typeface="Corbel"/>
              <a:ea typeface="Corbel"/>
              <a:cs typeface="Corbel"/>
              <a:sym typeface="Corbel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i="1" sz="1500">
              <a:latin typeface="Corbel"/>
              <a:ea typeface="Corbel"/>
              <a:cs typeface="Corbel"/>
              <a:sym typeface="Corbel"/>
            </a:endParaRPr>
          </a:p>
          <a:p>
            <a:pPr indent="-266700" lvl="0" marL="285750" marR="0" rtl="0" algn="l">
              <a:spcBef>
                <a:spcPts val="0"/>
              </a:spcBef>
              <a:spcAft>
                <a:spcPts val="0"/>
              </a:spcAft>
              <a:buSzPts val="1500"/>
              <a:buFont typeface="Corbel"/>
              <a:buChar char="•"/>
            </a:pPr>
            <a:r>
              <a:rPr lang="en-US" sz="1500">
                <a:latin typeface="Corbel"/>
                <a:ea typeface="Corbel"/>
                <a:cs typeface="Corbel"/>
                <a:sym typeface="Corbel"/>
              </a:rPr>
              <a:t>The probability that a two year old has escaped infection is:</a:t>
            </a:r>
            <a:endParaRPr sz="1500"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latin typeface="Corbel"/>
                <a:ea typeface="Corbel"/>
                <a:cs typeface="Corbel"/>
                <a:sym typeface="Corbel"/>
              </a:rPr>
              <a:t>(1-p)</a:t>
            </a:r>
            <a:r>
              <a:rPr baseline="30000" i="1" lang="en-US" sz="1500">
                <a:latin typeface="Corbel"/>
                <a:ea typeface="Corbel"/>
                <a:cs typeface="Corbel"/>
                <a:sym typeface="Corbel"/>
              </a:rPr>
              <a:t>2</a:t>
            </a:r>
            <a:endParaRPr sz="1500"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i="1" sz="1500">
              <a:latin typeface="Corbel"/>
              <a:ea typeface="Corbel"/>
              <a:cs typeface="Corbel"/>
              <a:sym typeface="Corbel"/>
            </a:endParaRPr>
          </a:p>
          <a:p>
            <a:pPr indent="-266700" lvl="0" marL="285750" marR="0" rtl="0" algn="l">
              <a:spcBef>
                <a:spcPts val="0"/>
              </a:spcBef>
              <a:spcAft>
                <a:spcPts val="0"/>
              </a:spcAft>
              <a:buSzPts val="1500"/>
              <a:buFont typeface="Corbel"/>
              <a:buChar char="•"/>
            </a:pPr>
            <a:r>
              <a:rPr lang="en-US" sz="1500">
                <a:latin typeface="Corbel"/>
                <a:ea typeface="Corbel"/>
                <a:cs typeface="Corbel"/>
                <a:sym typeface="Corbel"/>
              </a:rPr>
              <a:t>The probability that a two year old is seropositive is therefore:</a:t>
            </a:r>
            <a:endParaRPr sz="1500"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latin typeface="Corbel"/>
                <a:ea typeface="Corbel"/>
                <a:cs typeface="Corbel"/>
                <a:sym typeface="Corbel"/>
              </a:rPr>
              <a:t>1-(1-p)</a:t>
            </a:r>
            <a:r>
              <a:rPr baseline="30000" i="1" lang="en-US" sz="1500">
                <a:latin typeface="Corbel"/>
                <a:ea typeface="Corbel"/>
                <a:cs typeface="Corbel"/>
                <a:sym typeface="Corbel"/>
              </a:rPr>
              <a:t>2</a:t>
            </a:r>
            <a:endParaRPr sz="15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3" name="Google Shape;313;p43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Catalytic models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4"/>
          <p:cNvSpPr txBox="1"/>
          <p:nvPr/>
        </p:nvSpPr>
        <p:spPr>
          <a:xfrm>
            <a:off x="850194" y="1580728"/>
            <a:ext cx="76431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97" r="0" t="-36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9" name="Google Shape;319;p44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Catalytic models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5"/>
          <p:cNvSpPr txBox="1"/>
          <p:nvPr/>
        </p:nvSpPr>
        <p:spPr>
          <a:xfrm>
            <a:off x="842069" y="1694778"/>
            <a:ext cx="7643100" cy="1477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97" r="0" t="-84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 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325" name="Google Shape;325;p45"/>
          <p:cNvCxnSpPr/>
          <p:nvPr/>
        </p:nvCxnSpPr>
        <p:spPr>
          <a:xfrm flipH="1" rot="10800000">
            <a:off x="3615397" y="3001048"/>
            <a:ext cx="253200" cy="14631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6" name="Google Shape;326;p45"/>
          <p:cNvSpPr/>
          <p:nvPr/>
        </p:nvSpPr>
        <p:spPr>
          <a:xfrm rot="-5400000">
            <a:off x="4656911" y="2264271"/>
            <a:ext cx="270900" cy="14724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5"/>
          <p:cNvSpPr txBox="1"/>
          <p:nvPr/>
        </p:nvSpPr>
        <p:spPr>
          <a:xfrm>
            <a:off x="2497015" y="4495748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Gets infected this year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328" name="Google Shape;328;p45"/>
          <p:cNvSpPr txBox="1"/>
          <p:nvPr/>
        </p:nvSpPr>
        <p:spPr>
          <a:xfrm>
            <a:off x="3967052" y="3258286"/>
            <a:ext cx="2743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Didn’t get infected in previous years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329" name="Google Shape;329;p45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Estimating number of infected individuals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6"/>
          <p:cNvSpPr txBox="1"/>
          <p:nvPr/>
        </p:nvSpPr>
        <p:spPr>
          <a:xfrm>
            <a:off x="636560" y="1861016"/>
            <a:ext cx="3558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latin typeface="Corbel"/>
                <a:ea typeface="Corbel"/>
                <a:cs typeface="Corbel"/>
                <a:sym typeface="Corbel"/>
              </a:rPr>
              <a:t>Data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1995 individuals between 1 and 15 with serostatus to dengue virus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latin typeface="Corbel"/>
              <a:ea typeface="Corbel"/>
              <a:cs typeface="Corbel"/>
              <a:sym typeface="Corbel"/>
            </a:endParaRPr>
          </a:p>
        </p:txBody>
      </p:sp>
      <p:graphicFrame>
        <p:nvGraphicFramePr>
          <p:cNvPr id="335" name="Google Shape;335;p46"/>
          <p:cNvGraphicFramePr/>
          <p:nvPr/>
        </p:nvGraphicFramePr>
        <p:xfrm>
          <a:off x="696651" y="31778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{C1D269DA-D4A5-44C7-B3BC-137105B24093}</a:tableStyleId>
              </a:tblPr>
              <a:tblGrid>
                <a:gridCol w="1040300"/>
                <a:gridCol w="688200"/>
                <a:gridCol w="1392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</a:rPr>
                        <a:t>ID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Age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Serostatus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13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6" name="Google Shape;336;p46"/>
          <p:cNvSpPr txBox="1"/>
          <p:nvPr/>
        </p:nvSpPr>
        <p:spPr>
          <a:xfrm>
            <a:off x="829917" y="6098249"/>
            <a:ext cx="76431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We want to estimate the annual probability of infection </a:t>
            </a: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337" name="Google Shape;337;p46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Catalytic models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38" name="Google Shape;33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5725" y="1343826"/>
            <a:ext cx="4245150" cy="431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7"/>
          <p:cNvSpPr txBox="1"/>
          <p:nvPr>
            <p:ph idx="1" type="body"/>
          </p:nvPr>
        </p:nvSpPr>
        <p:spPr>
          <a:xfrm>
            <a:off x="658796" y="1536584"/>
            <a:ext cx="8485200" cy="4067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5" r="-1045" t="-311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/>
              <a:t> </a:t>
            </a:r>
            <a:endParaRPr/>
          </a:p>
        </p:txBody>
      </p:sp>
      <p:pic>
        <p:nvPicPr>
          <p:cNvPr id="344" name="Google Shape;344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841" y="5479366"/>
            <a:ext cx="1848579" cy="415411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7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Likelihood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8"/>
          <p:cNvSpPr txBox="1"/>
          <p:nvPr/>
        </p:nvSpPr>
        <p:spPr>
          <a:xfrm>
            <a:off x="899491" y="1405595"/>
            <a:ext cx="7643192" cy="35597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368" l="-83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1" name="Google Shape;351;p48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Likelihood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9"/>
          <p:cNvSpPr txBox="1"/>
          <p:nvPr/>
        </p:nvSpPr>
        <p:spPr>
          <a:xfrm>
            <a:off x="899491" y="1405595"/>
            <a:ext cx="764319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One approach is to identify the value of </a:t>
            </a: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p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that maximizes the log-likelihood.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9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Likelihood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58" name="Google Shape;35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3875" y="1736250"/>
            <a:ext cx="4693000" cy="46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9"/>
          <p:cNvSpPr txBox="1"/>
          <p:nvPr/>
        </p:nvSpPr>
        <p:spPr>
          <a:xfrm>
            <a:off x="4682500" y="2464625"/>
            <a:ext cx="19710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Log-likelihood max at 0.073</a:t>
            </a:r>
            <a:endParaRPr sz="1800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0"/>
          <p:cNvSpPr txBox="1"/>
          <p:nvPr/>
        </p:nvSpPr>
        <p:spPr>
          <a:xfrm>
            <a:off x="899491" y="1405595"/>
            <a:ext cx="7643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We can create ~95% confidence intervals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Find values &gt; </a:t>
            </a:r>
            <a:r>
              <a:rPr i="1" lang="en-US" sz="1800">
                <a:latin typeface="Corbel"/>
                <a:ea typeface="Corbel"/>
                <a:cs typeface="Corbel"/>
                <a:sym typeface="Corbel"/>
              </a:rPr>
              <a:t>l(θ)-</a:t>
            </a: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1.921 = -975.615-1.821 = -977.936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5" name="Google Shape;365;p50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Likelihood interval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66" name="Google Shape;36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825" y="2505375"/>
            <a:ext cx="3862350" cy="38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50"/>
          <p:cNvSpPr txBox="1"/>
          <p:nvPr/>
        </p:nvSpPr>
        <p:spPr>
          <a:xfrm>
            <a:off x="6384775" y="3205825"/>
            <a:ext cx="2492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rbel"/>
                <a:ea typeface="Corbel"/>
                <a:cs typeface="Corbel"/>
                <a:sym typeface="Corbel"/>
              </a:rPr>
              <a:t>Wilk’s confidence interval of 0.068 - 0.079</a:t>
            </a:r>
            <a:endParaRPr sz="1500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1"/>
          <p:cNvSpPr txBox="1"/>
          <p:nvPr/>
        </p:nvSpPr>
        <p:spPr>
          <a:xfrm>
            <a:off x="5186294" y="1951672"/>
            <a:ext cx="3394213" cy="175432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5035" l="-1493" r="0" t="-14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73" name="Google Shape;373;p51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Model fit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74" name="Google Shape;374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536575"/>
            <a:ext cx="4621952" cy="46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2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Model fit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80" name="Google Shape;38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36575"/>
            <a:ext cx="4621952" cy="46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52"/>
          <p:cNvSpPr txBox="1"/>
          <p:nvPr/>
        </p:nvSpPr>
        <p:spPr>
          <a:xfrm>
            <a:off x="5024575" y="2057400"/>
            <a:ext cx="3852600" cy="29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How could we improve fit?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What are the major assumptions currently?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9513" y="1086925"/>
            <a:ext cx="6476726" cy="44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53"/>
          <p:cNvSpPr txBox="1"/>
          <p:nvPr/>
        </p:nvSpPr>
        <p:spPr>
          <a:xfrm>
            <a:off x="398275" y="5426775"/>
            <a:ext cx="8179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Results from one year follow up of individuals from Cebu, Philippines (N=847), who were bled in 2012 and then in 2013.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They were also followed up for illness events in between. Any instances of illness resulted in additional sample collection and testing with PCR.</a:t>
            </a:r>
            <a:endParaRPr/>
          </a:p>
        </p:txBody>
      </p:sp>
      <p:sp>
        <p:nvSpPr>
          <p:cNvPr id="388" name="Google Shape;388;p53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Chikungunya example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4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Chikungunya example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94" name="Google Shape;39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350" y="1474251"/>
            <a:ext cx="6411575" cy="433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5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Chikungunya example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400" name="Google Shape;40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3000" y="1483542"/>
            <a:ext cx="5829300" cy="394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000" y="3262825"/>
            <a:ext cx="4813650" cy="31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64826"/>
            <a:ext cx="7772400" cy="4019095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56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Model fitting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64826"/>
            <a:ext cx="7772400" cy="4019096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57"/>
          <p:cNvSpPr txBox="1"/>
          <p:nvPr/>
        </p:nvSpPr>
        <p:spPr>
          <a:xfrm>
            <a:off x="422413" y="242717"/>
            <a:ext cx="7643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Using MCMC we can estimate the annual probability of infection</a:t>
            </a:r>
            <a:endParaRPr>
              <a:solidFill>
                <a:schemeClr val="accen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57"/>
          <p:cNvSpPr/>
          <p:nvPr/>
        </p:nvSpPr>
        <p:spPr>
          <a:xfrm>
            <a:off x="5476461" y="4770783"/>
            <a:ext cx="2544300" cy="46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8"/>
          <p:cNvSpPr txBox="1"/>
          <p:nvPr/>
        </p:nvSpPr>
        <p:spPr>
          <a:xfrm>
            <a:off x="1093305" y="1892037"/>
            <a:ext cx="7228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We now know have estimates of the annual probability of becoming infected among those susceptible (and alive) in each year.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We would like to also estimate the number of people infected in each year and the proportion that remain susceptible.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What determines this?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20" name="Google Shape;420;p58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Size of the population infected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rt, bar chart&#10;&#10;Description automatically generated" id="425" name="Google Shape;42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9700" y="1790700"/>
            <a:ext cx="6324600" cy="3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59"/>
          <p:cNvSpPr txBox="1"/>
          <p:nvPr/>
        </p:nvSpPr>
        <p:spPr>
          <a:xfrm rot="-5400000">
            <a:off x="44726" y="3040583"/>
            <a:ext cx="21766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Population size (m)</a:t>
            </a:r>
            <a:endParaRPr/>
          </a:p>
        </p:txBody>
      </p:sp>
      <p:sp>
        <p:nvSpPr>
          <p:cNvPr id="427" name="Google Shape;427;p59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Size of the population infected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60"/>
          <p:cNvPicPr preferRelativeResize="0"/>
          <p:nvPr/>
        </p:nvPicPr>
        <p:blipFill rotWithShape="1">
          <a:blip r:embed="rId3">
            <a:alphaModFix/>
          </a:blip>
          <a:srcRect b="0" l="0" r="0" t="8375"/>
          <a:stretch/>
        </p:blipFill>
        <p:spPr>
          <a:xfrm>
            <a:off x="0" y="1401417"/>
            <a:ext cx="7772400" cy="3682504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60"/>
          <p:cNvSpPr/>
          <p:nvPr/>
        </p:nvSpPr>
        <p:spPr>
          <a:xfrm>
            <a:off x="6142383" y="2146852"/>
            <a:ext cx="119270" cy="23853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60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Size of the population infected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61"/>
          <p:cNvPicPr preferRelativeResize="0"/>
          <p:nvPr/>
        </p:nvPicPr>
        <p:blipFill rotWithShape="1">
          <a:blip r:embed="rId3">
            <a:alphaModFix/>
          </a:blip>
          <a:srcRect b="0" l="0" r="0" t="8375"/>
          <a:stretch/>
        </p:blipFill>
        <p:spPr>
          <a:xfrm>
            <a:off x="0" y="1401417"/>
            <a:ext cx="7772400" cy="3682504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61"/>
          <p:cNvSpPr/>
          <p:nvPr/>
        </p:nvSpPr>
        <p:spPr>
          <a:xfrm>
            <a:off x="6142383" y="2146852"/>
            <a:ext cx="119270" cy="23853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61"/>
          <p:cNvSpPr txBox="1"/>
          <p:nvPr/>
        </p:nvSpPr>
        <p:spPr>
          <a:xfrm>
            <a:off x="1063487" y="5735641"/>
            <a:ext cx="70170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Number of chikungunya cases reported in Cebu over this period: 1 !!!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Text&#10;&#10;Description automatically generated" id="442" name="Google Shape;442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7150" y="3858869"/>
            <a:ext cx="3739509" cy="16965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443" name="Google Shape;443;p61"/>
          <p:cNvCxnSpPr>
            <a:stCxn id="442" idx="1"/>
          </p:cNvCxnSpPr>
          <p:nvPr/>
        </p:nvCxnSpPr>
        <p:spPr>
          <a:xfrm rot="10800000">
            <a:off x="4114750" y="4363344"/>
            <a:ext cx="902400" cy="343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4" name="Google Shape;444;p61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Size of the population infected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62"/>
          <p:cNvPicPr preferRelativeResize="0"/>
          <p:nvPr/>
        </p:nvPicPr>
        <p:blipFill rotWithShape="1">
          <a:blip r:embed="rId3">
            <a:alphaModFix/>
          </a:blip>
          <a:srcRect b="0" l="0" r="0" t="8375"/>
          <a:stretch/>
        </p:blipFill>
        <p:spPr>
          <a:xfrm>
            <a:off x="0" y="1401417"/>
            <a:ext cx="7772400" cy="3682504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62"/>
          <p:cNvSpPr/>
          <p:nvPr/>
        </p:nvSpPr>
        <p:spPr>
          <a:xfrm>
            <a:off x="6142383" y="2146852"/>
            <a:ext cx="119270" cy="23853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62"/>
          <p:cNvSpPr txBox="1"/>
          <p:nvPr/>
        </p:nvSpPr>
        <p:spPr>
          <a:xfrm>
            <a:off x="1063487" y="5348015"/>
            <a:ext cx="701702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What inferences can we make about chikungunya transmission?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Why might this be?</a:t>
            </a:r>
            <a:endParaRPr/>
          </a:p>
        </p:txBody>
      </p:sp>
      <p:sp>
        <p:nvSpPr>
          <p:cNvPr id="452" name="Google Shape;452;p62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Size of the population infected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p&#10;&#10;Description automatically generated" id="457" name="Google Shape;45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9620" y="1383228"/>
            <a:ext cx="3124200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63"/>
          <p:cNvSpPr/>
          <p:nvPr/>
        </p:nvSpPr>
        <p:spPr>
          <a:xfrm rot="-5400000">
            <a:off x="2723709" y="2087970"/>
            <a:ext cx="517850" cy="78423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lisa Assay Kit Archives - Life Science Products - HHC" id="459" name="Google Shape;459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6556" y="2016154"/>
            <a:ext cx="1480185" cy="951547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63"/>
          <p:cNvSpPr txBox="1"/>
          <p:nvPr/>
        </p:nvSpPr>
        <p:spPr>
          <a:xfrm>
            <a:off x="4866996" y="1527526"/>
            <a:ext cx="22965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Age, location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461" name="Google Shape;461;p63"/>
          <p:cNvGrpSpPr/>
          <p:nvPr/>
        </p:nvGrpSpPr>
        <p:grpSpPr>
          <a:xfrm>
            <a:off x="4659751" y="1554697"/>
            <a:ext cx="1434227" cy="2280317"/>
            <a:chOff x="4614103" y="1096934"/>
            <a:chExt cx="918012" cy="1459573"/>
          </a:xfrm>
        </p:grpSpPr>
        <p:sp>
          <p:nvSpPr>
            <p:cNvPr id="462" name="Google Shape;462;p63"/>
            <p:cNvSpPr/>
            <p:nvPr/>
          </p:nvSpPr>
          <p:spPr>
            <a:xfrm rot="-5400000">
              <a:off x="4928445" y="1449889"/>
              <a:ext cx="297416" cy="450408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63"/>
            <p:cNvSpPr/>
            <p:nvPr/>
          </p:nvSpPr>
          <p:spPr>
            <a:xfrm rot="-9545087">
              <a:off x="4851949" y="1190548"/>
              <a:ext cx="613903" cy="484545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5715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63"/>
            <p:cNvSpPr/>
            <p:nvPr/>
          </p:nvSpPr>
          <p:spPr>
            <a:xfrm rot="-4038616">
              <a:off x="4521818" y="1954423"/>
              <a:ext cx="802828" cy="334459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5715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5" name="Google Shape;465;p63"/>
          <p:cNvSpPr txBox="1"/>
          <p:nvPr/>
        </p:nvSpPr>
        <p:spPr>
          <a:xfrm>
            <a:off x="6994220" y="6488668"/>
            <a:ext cx="26735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Salje et al., eLife 2020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66" name="Google Shape;466;p63"/>
          <p:cNvSpPr txBox="1"/>
          <p:nvPr/>
        </p:nvSpPr>
        <p:spPr>
          <a:xfrm>
            <a:off x="3977237" y="3086997"/>
            <a:ext cx="229659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Population data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Environment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Behaviour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467" name="Google Shape;467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1828" y="1240386"/>
            <a:ext cx="1068977" cy="1510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4219" y="3219388"/>
            <a:ext cx="1068977" cy="1510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6046" y="1842192"/>
            <a:ext cx="1068977" cy="1510748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63"/>
          <p:cNvSpPr txBox="1"/>
          <p:nvPr/>
        </p:nvSpPr>
        <p:spPr>
          <a:xfrm>
            <a:off x="46413" y="2690296"/>
            <a:ext cx="22965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Location A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1" name="Google Shape;471;p63"/>
          <p:cNvSpPr txBox="1"/>
          <p:nvPr/>
        </p:nvSpPr>
        <p:spPr>
          <a:xfrm>
            <a:off x="46413" y="4659754"/>
            <a:ext cx="22965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Location B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2" name="Google Shape;472;p63"/>
          <p:cNvSpPr txBox="1"/>
          <p:nvPr/>
        </p:nvSpPr>
        <p:spPr>
          <a:xfrm>
            <a:off x="1546046" y="3248154"/>
            <a:ext cx="22965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Location C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3" name="Google Shape;473;p63"/>
          <p:cNvSpPr txBox="1"/>
          <p:nvPr/>
        </p:nvSpPr>
        <p:spPr>
          <a:xfrm>
            <a:off x="5546656" y="4763199"/>
            <a:ext cx="35973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rbel"/>
                <a:ea typeface="Corbel"/>
                <a:cs typeface="Corbel"/>
                <a:sym typeface="Corbel"/>
              </a:rPr>
              <a:t>2.4 million infections/yr</a:t>
            </a:r>
            <a:endParaRPr sz="24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4" name="Google Shape;474;p63"/>
          <p:cNvSpPr txBox="1"/>
          <p:nvPr>
            <p:ph type="title"/>
          </p:nvPr>
        </p:nvSpPr>
        <p:spPr>
          <a:xfrm>
            <a:off x="256167" y="-93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Expanding to multiple locations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2035" y="4855409"/>
            <a:ext cx="2051043" cy="1989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ioRender | Life Science Icons" id="480" name="Google Shape;480;p64"/>
          <p:cNvPicPr preferRelativeResize="0"/>
          <p:nvPr/>
        </p:nvPicPr>
        <p:blipFill rotWithShape="1">
          <a:blip r:embed="rId4">
            <a:alphaModFix/>
          </a:blip>
          <a:srcRect b="21206" l="10940" r="11195" t="21584"/>
          <a:stretch/>
        </p:blipFill>
        <p:spPr>
          <a:xfrm rot="-543819">
            <a:off x="5082286" y="1281315"/>
            <a:ext cx="583729" cy="5905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1" name="Google Shape;481;p64"/>
          <p:cNvGrpSpPr/>
          <p:nvPr/>
        </p:nvGrpSpPr>
        <p:grpSpPr>
          <a:xfrm>
            <a:off x="4746883" y="1915618"/>
            <a:ext cx="789088" cy="1888772"/>
            <a:chOff x="3872962" y="1913242"/>
            <a:chExt cx="789088" cy="1888772"/>
          </a:xfrm>
        </p:grpSpPr>
        <p:grpSp>
          <p:nvGrpSpPr>
            <p:cNvPr id="482" name="Google Shape;482;p64"/>
            <p:cNvGrpSpPr/>
            <p:nvPr/>
          </p:nvGrpSpPr>
          <p:grpSpPr>
            <a:xfrm>
              <a:off x="3872962" y="1913242"/>
              <a:ext cx="789088" cy="1888772"/>
              <a:chOff x="2214146" y="1881717"/>
              <a:chExt cx="789088" cy="1888772"/>
            </a:xfrm>
          </p:grpSpPr>
          <p:pic>
            <p:nvPicPr>
              <p:cNvPr descr="Human Body Outline Images – Browse 584,844 Stock Photos, Vectors, and Video  | Adobe Stock" id="483" name="Google Shape;483;p64"/>
              <p:cNvPicPr preferRelativeResize="0"/>
              <p:nvPr/>
            </p:nvPicPr>
            <p:blipFill rotWithShape="1">
              <a:blip r:embed="rId5">
                <a:alphaModFix/>
              </a:blip>
              <a:srcRect b="0" l="29635" r="28588" t="0"/>
              <a:stretch/>
            </p:blipFill>
            <p:spPr>
              <a:xfrm>
                <a:off x="2214146" y="1881717"/>
                <a:ext cx="789088" cy="188877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4" name="Google Shape;484;p6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rot="3122627">
                <a:off x="2429385" y="2310712"/>
                <a:ext cx="111502" cy="1096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5" name="Google Shape;485;p6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rot="3122627">
                <a:off x="2506888" y="2310713"/>
                <a:ext cx="111502" cy="1096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6" name="Google Shape;486;p6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rot="3122627">
                <a:off x="2479183" y="2442026"/>
                <a:ext cx="111502" cy="1096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7" name="Google Shape;487;p6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rot="3122627">
                <a:off x="2550510" y="2512017"/>
                <a:ext cx="111502" cy="1096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8" name="Google Shape;488;p6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rot="7484760">
                <a:off x="2506192" y="2657523"/>
                <a:ext cx="111502" cy="1096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9" name="Google Shape;489;p6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rot="7484760">
                <a:off x="2630164" y="2632583"/>
                <a:ext cx="111502" cy="1096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0" name="Google Shape;490;p6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rot="6051039">
                <a:off x="2616983" y="2339760"/>
                <a:ext cx="111502" cy="1096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91" name="Google Shape;491;p6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 rot="-3690307">
              <a:off x="4235406" y="2480214"/>
              <a:ext cx="142109" cy="13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2" name="Google Shape;492;p6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 rot="-3690307">
              <a:off x="4150573" y="2337138"/>
              <a:ext cx="142109" cy="13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3" name="Google Shape;493;p6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 rot="-3690307">
              <a:off x="4294257" y="2312198"/>
              <a:ext cx="142109" cy="13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4" name="Google Shape;494;p6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rot="3041462">
              <a:off x="4116133" y="2618978"/>
              <a:ext cx="159499" cy="1540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5" name="Google Shape;495;p6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rot="3041462">
              <a:off x="4141010" y="2397665"/>
              <a:ext cx="159499" cy="1540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6" name="Google Shape;496;p6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rot="3041462">
              <a:off x="4238793" y="2550460"/>
              <a:ext cx="159499" cy="154092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97" name="Google Shape;497;p64"/>
          <p:cNvCxnSpPr/>
          <p:nvPr/>
        </p:nvCxnSpPr>
        <p:spPr>
          <a:xfrm>
            <a:off x="1381869" y="3883378"/>
            <a:ext cx="3853519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498" name="Google Shape;498;p64"/>
          <p:cNvGrpSpPr/>
          <p:nvPr/>
        </p:nvGrpSpPr>
        <p:grpSpPr>
          <a:xfrm>
            <a:off x="628650" y="1942448"/>
            <a:ext cx="1888772" cy="1888772"/>
            <a:chOff x="1654413" y="1881717"/>
            <a:chExt cx="1888772" cy="1888772"/>
          </a:xfrm>
        </p:grpSpPr>
        <p:pic>
          <p:nvPicPr>
            <p:cNvPr descr="Human Body Outline Images – Browse 584,844 Stock Photos, Vectors, and Video  | Adobe Stock" id="499" name="Google Shape;499;p6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54413" y="1881717"/>
              <a:ext cx="1888772" cy="18887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0" name="Google Shape;500;p6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3122627">
              <a:off x="2429385" y="2310712"/>
              <a:ext cx="111502" cy="1096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1" name="Google Shape;501;p6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3122627">
              <a:off x="2506888" y="2310713"/>
              <a:ext cx="111502" cy="1096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2" name="Google Shape;502;p6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3122627">
              <a:off x="2479183" y="2442026"/>
              <a:ext cx="111502" cy="1096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3" name="Google Shape;503;p6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3122627">
              <a:off x="2550510" y="2512017"/>
              <a:ext cx="111502" cy="1096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4" name="Google Shape;504;p6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7484760">
              <a:off x="2506192" y="2657523"/>
              <a:ext cx="111502" cy="1096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5" name="Google Shape;505;p6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7484760">
              <a:off x="2630164" y="2632583"/>
              <a:ext cx="111502" cy="1096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6" name="Google Shape;506;p6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6051039">
              <a:off x="2616983" y="2339760"/>
              <a:ext cx="111502" cy="10961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Human Body Outline Images – Browse 584,844 Stock Photos, Vectors, and Video  | Adobe Stock" id="507" name="Google Shape;507;p64"/>
          <p:cNvPicPr preferRelativeResize="0"/>
          <p:nvPr/>
        </p:nvPicPr>
        <p:blipFill rotWithShape="1">
          <a:blip r:embed="rId5">
            <a:alphaModFix/>
          </a:blip>
          <a:srcRect b="0" l="29902" r="29839" t="0"/>
          <a:stretch/>
        </p:blipFill>
        <p:spPr>
          <a:xfrm>
            <a:off x="366575" y="1968527"/>
            <a:ext cx="760389" cy="18887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ikungunya - Wikipedia" id="508" name="Google Shape;508;p6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6973" y="2022489"/>
            <a:ext cx="248228" cy="247099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64"/>
          <p:cNvSpPr/>
          <p:nvPr/>
        </p:nvSpPr>
        <p:spPr>
          <a:xfrm>
            <a:off x="4959668" y="4145029"/>
            <a:ext cx="297416" cy="90081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0" name="Google Shape;510;p64"/>
          <p:cNvGrpSpPr/>
          <p:nvPr/>
        </p:nvGrpSpPr>
        <p:grpSpPr>
          <a:xfrm>
            <a:off x="2849829" y="1890290"/>
            <a:ext cx="789088" cy="1888772"/>
            <a:chOff x="2214146" y="1881717"/>
            <a:chExt cx="789088" cy="1888772"/>
          </a:xfrm>
        </p:grpSpPr>
        <p:pic>
          <p:nvPicPr>
            <p:cNvPr descr="Human Body Outline Images – Browse 584,844 Stock Photos, Vectors, and Video  | Adobe Stock" id="511" name="Google Shape;511;p64"/>
            <p:cNvPicPr preferRelativeResize="0"/>
            <p:nvPr/>
          </p:nvPicPr>
          <p:blipFill rotWithShape="1">
            <a:blip r:embed="rId5">
              <a:alphaModFix/>
            </a:blip>
            <a:srcRect b="0" l="29635" r="28588" t="0"/>
            <a:stretch/>
          </p:blipFill>
          <p:spPr>
            <a:xfrm>
              <a:off x="2214146" y="1881717"/>
              <a:ext cx="789088" cy="18887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2" name="Google Shape;512;p6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3122627">
              <a:off x="2429385" y="2310712"/>
              <a:ext cx="111502" cy="1096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3" name="Google Shape;513;p6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3122627">
              <a:off x="2506888" y="2310713"/>
              <a:ext cx="111502" cy="1096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4" name="Google Shape;514;p6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3122627">
              <a:off x="2479183" y="2442026"/>
              <a:ext cx="111502" cy="1096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5" name="Google Shape;515;p6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3122627">
              <a:off x="2550510" y="2512017"/>
              <a:ext cx="111502" cy="1096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6" name="Google Shape;516;p6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7484760">
              <a:off x="2506192" y="2657523"/>
              <a:ext cx="111502" cy="1096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7" name="Google Shape;517;p6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7484760">
              <a:off x="2630164" y="2632583"/>
              <a:ext cx="111502" cy="1096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6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6051039">
              <a:off x="2616983" y="2339760"/>
              <a:ext cx="111502" cy="10961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19" name="Google Shape;519;p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flipH="1" rot="-3690307">
            <a:off x="3212273" y="2457262"/>
            <a:ext cx="142109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flipH="1" rot="-3690307">
            <a:off x="3127440" y="2314186"/>
            <a:ext cx="142109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flipH="1" rot="-3690307">
            <a:off x="3271124" y="2289246"/>
            <a:ext cx="142109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ngue virus-like particles serotypes 1-4 - The Native Antigen Company" id="522" name="Google Shape;522;p6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805359" y="1926654"/>
            <a:ext cx="247100" cy="247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A, B, and C of influenza virus" id="523" name="Google Shape;523;p6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631639" y="1897474"/>
            <a:ext cx="267890" cy="2643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4" name="Google Shape;524;p64"/>
          <p:cNvGrpSpPr/>
          <p:nvPr/>
        </p:nvGrpSpPr>
        <p:grpSpPr>
          <a:xfrm>
            <a:off x="3872962" y="1913242"/>
            <a:ext cx="789088" cy="1888772"/>
            <a:chOff x="3872962" y="1913242"/>
            <a:chExt cx="789088" cy="1888772"/>
          </a:xfrm>
        </p:grpSpPr>
        <p:grpSp>
          <p:nvGrpSpPr>
            <p:cNvPr id="525" name="Google Shape;525;p64"/>
            <p:cNvGrpSpPr/>
            <p:nvPr/>
          </p:nvGrpSpPr>
          <p:grpSpPr>
            <a:xfrm>
              <a:off x="3872962" y="1913242"/>
              <a:ext cx="789088" cy="1888772"/>
              <a:chOff x="2214146" y="1881717"/>
              <a:chExt cx="789088" cy="1888772"/>
            </a:xfrm>
          </p:grpSpPr>
          <p:pic>
            <p:nvPicPr>
              <p:cNvPr descr="Human Body Outline Images – Browse 584,844 Stock Photos, Vectors, and Video  | Adobe Stock" id="526" name="Google Shape;526;p64"/>
              <p:cNvPicPr preferRelativeResize="0"/>
              <p:nvPr/>
            </p:nvPicPr>
            <p:blipFill rotWithShape="1">
              <a:blip r:embed="rId5">
                <a:alphaModFix/>
              </a:blip>
              <a:srcRect b="0" l="29635" r="28588" t="0"/>
              <a:stretch/>
            </p:blipFill>
            <p:spPr>
              <a:xfrm>
                <a:off x="2214146" y="1881717"/>
                <a:ext cx="789088" cy="188877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27" name="Google Shape;527;p6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rot="3122627">
                <a:off x="2429385" y="2310712"/>
                <a:ext cx="111502" cy="1096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28" name="Google Shape;528;p6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rot="3122627">
                <a:off x="2506888" y="2310713"/>
                <a:ext cx="111502" cy="1096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29" name="Google Shape;529;p6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rot="3122627">
                <a:off x="2479183" y="2442026"/>
                <a:ext cx="111502" cy="1096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30" name="Google Shape;530;p6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rot="3122627">
                <a:off x="2550510" y="2512017"/>
                <a:ext cx="111502" cy="1096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31" name="Google Shape;531;p6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rot="7484760">
                <a:off x="2506192" y="2657523"/>
                <a:ext cx="111502" cy="1096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32" name="Google Shape;532;p6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rot="7484760">
                <a:off x="2630164" y="2632583"/>
                <a:ext cx="111502" cy="1096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33" name="Google Shape;533;p6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rot="6051039">
                <a:off x="2616983" y="2339760"/>
                <a:ext cx="111502" cy="1096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34" name="Google Shape;534;p6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 rot="-3690307">
              <a:off x="4235406" y="2480214"/>
              <a:ext cx="142109" cy="13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5" name="Google Shape;535;p6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 rot="-3690307">
              <a:off x="4150573" y="2337138"/>
              <a:ext cx="142109" cy="13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6" name="Google Shape;536;p6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 rot="-3690307">
              <a:off x="4294257" y="2312198"/>
              <a:ext cx="142109" cy="13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7" name="Google Shape;537;p6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rot="3041462">
              <a:off x="4116133" y="2618978"/>
              <a:ext cx="159499" cy="1540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8" name="Google Shape;538;p6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rot="3041462">
              <a:off x="4141010" y="2397665"/>
              <a:ext cx="159499" cy="1540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9" name="Google Shape;539;p6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rot="3041462">
              <a:off x="4238793" y="2550460"/>
              <a:ext cx="159499" cy="1540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0" name="Google Shape;540;p64"/>
          <p:cNvSpPr txBox="1"/>
          <p:nvPr/>
        </p:nvSpPr>
        <p:spPr>
          <a:xfrm>
            <a:off x="3090681" y="3843417"/>
            <a:ext cx="7822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p&#10;&#10;Description automatically generated" id="545" name="Google Shape;54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" y="935522"/>
            <a:ext cx="8717280" cy="4986956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65"/>
          <p:cNvSpPr txBox="1"/>
          <p:nvPr/>
        </p:nvSpPr>
        <p:spPr>
          <a:xfrm>
            <a:off x="1402571" y="6488668"/>
            <a:ext cx="7741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Salje et al., eLife 2020, Azman et al., Lancet Microbe 2021, Azman et al., JID 2021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47" name="Google Shape;547;p65"/>
          <p:cNvSpPr txBox="1"/>
          <p:nvPr>
            <p:ph type="title"/>
          </p:nvPr>
        </p:nvSpPr>
        <p:spPr>
          <a:xfrm>
            <a:off x="213360" y="-23885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Nationwide data from Bangladesh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48" name="Google Shape;548;p65"/>
          <p:cNvSpPr txBox="1"/>
          <p:nvPr/>
        </p:nvSpPr>
        <p:spPr>
          <a:xfrm>
            <a:off x="960275" y="241100"/>
            <a:ext cx="469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6"/>
          <p:cNvSpPr txBox="1"/>
          <p:nvPr>
            <p:ph type="title"/>
          </p:nvPr>
        </p:nvSpPr>
        <p:spPr>
          <a:xfrm>
            <a:off x="239109" y="25725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1" i="1" lang="en-US" sz="2400">
                <a:latin typeface="Courier New"/>
                <a:ea typeface="Courier New"/>
                <a:cs typeface="Courier New"/>
                <a:sym typeface="Courier New"/>
              </a:rPr>
              <a:t>Rsero</a:t>
            </a:r>
            <a:r>
              <a:rPr b="1" lang="en-US" sz="2400"/>
              <a:t> R package</a:t>
            </a:r>
            <a:endParaRPr/>
          </a:p>
        </p:txBody>
      </p:sp>
      <p:pic>
        <p:nvPicPr>
          <p:cNvPr descr="A screenshot of a cell phone&#10;&#10;Description automatically generated" id="554" name="Google Shape;554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5109" y="852245"/>
            <a:ext cx="5159782" cy="1594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-up of a white background&#10;&#10;Description automatically generated" id="555" name="Google Shape;555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208" y="2861479"/>
            <a:ext cx="4995746" cy="827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556" name="Google Shape;556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45109" y="4206586"/>
            <a:ext cx="4483100" cy="170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7"/>
          <p:cNvSpPr txBox="1"/>
          <p:nvPr/>
        </p:nvSpPr>
        <p:spPr>
          <a:xfrm>
            <a:off x="439000" y="1682725"/>
            <a:ext cx="78831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SzPts val="1800"/>
              <a:buFont typeface="Corbel"/>
              <a:buChar char="-"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Catalytic models are a way to estimate the </a:t>
            </a:r>
            <a:r>
              <a:rPr lang="en-US" sz="1800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rPr>
              <a:t>underlying probability of infection</a:t>
            </a: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 using </a:t>
            </a:r>
            <a:r>
              <a:rPr lang="en-US" sz="1800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rPr>
              <a:t>age-specific seroprevalence data</a:t>
            </a: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.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SzPts val="1800"/>
              <a:buFont typeface="Corbel"/>
              <a:buChar char="-"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Very useful in a context where </a:t>
            </a:r>
            <a:r>
              <a:rPr lang="en-US" sz="1800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rPr>
              <a:t>biases in disease surveillance</a:t>
            </a: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 can limit the interpretability of cases reported in healthcare settings.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SzPts val="1800"/>
              <a:buFont typeface="Corbel"/>
              <a:buChar char="-"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We can fit the annual probability of infection using difference approaches – likelihood and Bayesian approaches require us to write down a Likelihood. 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SzPts val="1800"/>
              <a:buFont typeface="Corbel"/>
              <a:buChar char="-"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Reliant on working with good quality data - need close collaboration with field and laboratory teams.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62" name="Google Shape;562;p67"/>
          <p:cNvSpPr txBox="1"/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Summary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