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 id="2147483679" r:id="rId7"/>
    <p:sldMasterId id="214748368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Lst>
  <p:sldSz cy="5143500" cx="9144000"/>
  <p:notesSz cx="6858000" cy="9144000"/>
  <p:embeddedFontLst>
    <p:embeddedFont>
      <p:font typeface="Roboto"/>
      <p:regular r:id="rId49"/>
      <p:bold r:id="rId50"/>
      <p:italic r:id="rId51"/>
      <p:boldItalic r:id="rId52"/>
    </p:embeddedFont>
    <p:embeddedFont>
      <p:font typeface="Roboto Mon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2AA0BF-2830-4A47-AD1E-6B70793499B2}">
  <a:tblStyle styleId="{2A2AA0BF-2830-4A47-AD1E-6B70793499B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DF0C976-91A3-4E69-B422-33E72BCD969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RobotoMono-regular.fntdata"/><Relationship Id="rId52" Type="http://schemas.openxmlformats.org/officeDocument/2006/relationships/font" Target="fonts/Roboto-boldItalic.fntdata"/><Relationship Id="rId11" Type="http://schemas.openxmlformats.org/officeDocument/2006/relationships/slide" Target="slides/slide2.xml"/><Relationship Id="rId55" Type="http://schemas.openxmlformats.org/officeDocument/2006/relationships/font" Target="fonts/RobotoMono-italic.fntdata"/><Relationship Id="rId10" Type="http://schemas.openxmlformats.org/officeDocument/2006/relationships/slide" Target="slides/slide1.xml"/><Relationship Id="rId54" Type="http://schemas.openxmlformats.org/officeDocument/2006/relationships/font" Target="fonts/RobotoMono-bold.fntdata"/><Relationship Id="rId13" Type="http://schemas.openxmlformats.org/officeDocument/2006/relationships/slide" Target="slides/slide4.xml"/><Relationship Id="rId12" Type="http://schemas.openxmlformats.org/officeDocument/2006/relationships/slide" Target="slides/slide3.xml"/><Relationship Id="rId56" Type="http://schemas.openxmlformats.org/officeDocument/2006/relationships/font" Target="fonts/RobotoMono-boldItalic.fntdata"/><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0df9a1b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70df9a1b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0df9a1b2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0df9a1b2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409b0e9ee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409b0e9ee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409b0e9ee5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409b0e9ee5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200">
                <a:solidFill>
                  <a:schemeClr val="dk1"/>
                </a:solidFill>
              </a:rPr>
              <a:t>First: Statistical Power. Having more features means the FDR (False Discovery Rate) correction imposes heavier penalties for multiple testing. So, a signal needs to be SUPER strong to be considered significant. </a:t>
            </a:r>
            <a:endParaRPr b="1" sz="1200">
              <a:solidFill>
                <a:schemeClr val="dk1"/>
              </a:solidFill>
            </a:endParaRPr>
          </a:p>
          <a:p>
            <a:pPr indent="0" lvl="0" marL="0" rtl="0" algn="l">
              <a:lnSpc>
                <a:spcPct val="115000"/>
              </a:lnSpc>
              <a:spcBef>
                <a:spcPts val="20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200"/>
              </a:spcBef>
              <a:spcAft>
                <a:spcPts val="0"/>
              </a:spcAft>
              <a:buNone/>
            </a:pPr>
            <a:r>
              <a:rPr b="1" lang="en-GB" sz="1200">
                <a:solidFill>
                  <a:schemeClr val="dk1"/>
                </a:solidFill>
              </a:rPr>
              <a:t>This explains why there are fewer hits at the species level, despite having a higher feature count.</a:t>
            </a:r>
            <a:endParaRPr b="1" sz="1200">
              <a:solidFill>
                <a:schemeClr val="dk1"/>
              </a:solidFill>
            </a:endParaRPr>
          </a:p>
          <a:p>
            <a:pPr indent="0" lvl="0" marL="0" rtl="0" algn="l">
              <a:lnSpc>
                <a:spcPct val="115000"/>
              </a:lnSpc>
              <a:spcBef>
                <a:spcPts val="20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200"/>
              </a:spcBef>
              <a:spcAft>
                <a:spcPts val="0"/>
              </a:spcAft>
              <a:buNone/>
            </a:pPr>
            <a:r>
              <a:rPr b="1" lang="en-GB" sz="1200">
                <a:solidFill>
                  <a:schemeClr val="dk1"/>
                </a:solidFill>
              </a:rPr>
              <a:t>Second: Signal Direction. Do signals move in the same direction? For this specific type of cancer, the literature suggests that disease-associated bacteria tend to be enriched. </a:t>
            </a:r>
            <a:endParaRPr b="1" sz="1200">
              <a:solidFill>
                <a:schemeClr val="dk1"/>
              </a:solidFill>
            </a:endParaRPr>
          </a:p>
          <a:p>
            <a:pPr indent="0" lvl="0" marL="0" rtl="0" algn="l">
              <a:lnSpc>
                <a:spcPct val="115000"/>
              </a:lnSpc>
              <a:spcBef>
                <a:spcPts val="20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200"/>
              </a:spcBef>
              <a:spcAft>
                <a:spcPts val="0"/>
              </a:spcAft>
              <a:buNone/>
            </a:pPr>
            <a:r>
              <a:rPr b="1" lang="en-GB" sz="1200">
                <a:solidFill>
                  <a:schemeClr val="dk1"/>
                </a:solidFill>
              </a:rPr>
              <a:t>This explains why genus-level aggregation succeeded here compared to the species level.</a:t>
            </a:r>
            <a:endParaRPr b="1" sz="1200">
              <a:solidFill>
                <a:schemeClr val="dk1"/>
              </a:solidFill>
            </a:endParaRPr>
          </a:p>
          <a:p>
            <a:pPr indent="0" lvl="0" marL="0" rtl="0" algn="l">
              <a:lnSpc>
                <a:spcPct val="115000"/>
              </a:lnSpc>
              <a:spcBef>
                <a:spcPts val="200"/>
              </a:spcBef>
              <a:spcAft>
                <a:spcPts val="0"/>
              </a:spcAft>
              <a:buNone/>
            </a:pPr>
            <a:r>
              <a:t/>
            </a:r>
            <a:endParaRPr b="1" sz="1200">
              <a:solidFill>
                <a:schemeClr val="dk1"/>
              </a:solidFill>
            </a:endParaRPr>
          </a:p>
          <a:p>
            <a:pPr indent="0" lvl="0" marL="0" rtl="0" algn="l">
              <a:lnSpc>
                <a:spcPct val="115000"/>
              </a:lnSpc>
              <a:spcBef>
                <a:spcPts val="200"/>
              </a:spcBef>
              <a:spcAft>
                <a:spcPts val="0"/>
              </a:spcAft>
              <a:buNone/>
            </a:pPr>
            <a:r>
              <a:rPr b="1" lang="en-GB" sz="1200">
                <a:solidFill>
                  <a:schemeClr val="dk1"/>
                </a:solidFill>
              </a:rPr>
              <a:t>However, if the disease-associated bacteria were moving in opposing directions, I think the species level would yield more accurate results than the genus level………… a hypothesis I'll test in a future.</a:t>
            </a:r>
            <a:endParaRPr b="1" sz="1200">
              <a:solidFill>
                <a:schemeClr val="dk1"/>
              </a:solidFill>
            </a:endParaRPr>
          </a:p>
          <a:p>
            <a:pPr indent="0" lvl="0" marL="0" rtl="0" algn="l">
              <a:lnSpc>
                <a:spcPct val="115000"/>
              </a:lnSpc>
              <a:spcBef>
                <a:spcPts val="200"/>
              </a:spcBef>
              <a:spcAft>
                <a:spcPts val="0"/>
              </a:spcAft>
              <a:buClr>
                <a:schemeClr val="dk1"/>
              </a:buClr>
              <a:buSzPts val="1100"/>
              <a:buFont typeface="Arial"/>
              <a:buNone/>
            </a:pPr>
            <a:r>
              <a:t/>
            </a:r>
            <a:endParaRPr b="1" sz="1200">
              <a:solidFill>
                <a:schemeClr val="dk1"/>
              </a:solidFill>
            </a:endParaRPr>
          </a:p>
          <a:p>
            <a:pPr indent="0" lvl="0" marL="0" rtl="0" algn="l">
              <a:spcBef>
                <a:spcPts val="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409b0e9ee5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409b0e9ee5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409b0ee1c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409b0ee1c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t>The samples were sequenced using Roche 454 GS-FLX Titanium pyrosequencing targeting the V1-to-V3 region of the bacterial 16S ribosomal RNA gene. </a:t>
            </a:r>
            <a:endParaRPr/>
          </a:p>
          <a:p>
            <a:pPr indent="0" lvl="0" marL="0" rtl="0" algn="l">
              <a:lnSpc>
                <a:spcPct val="115000"/>
              </a:lnSpc>
              <a:spcBef>
                <a:spcPts val="1200"/>
              </a:spcBef>
              <a:spcAft>
                <a:spcPts val="0"/>
              </a:spcAft>
              <a:buClr>
                <a:schemeClr val="dk1"/>
              </a:buClr>
              <a:buSzPts val="1100"/>
              <a:buFont typeface="Arial"/>
              <a:buNone/>
            </a:pPr>
            <a:r>
              <a:rPr lang="en-GB"/>
              <a:t>The public reprocessed dataset contained 148 samples: 74 healthy controls and 74 Parkinson’s samples. The final cohort analysed in the original paper was slightly smaller, with 72 participants in each group.</a:t>
            </a:r>
            <a:endParaRPr/>
          </a:p>
          <a:p>
            <a:pPr indent="0" lvl="0" marL="0" rtl="0" algn="l">
              <a:lnSpc>
                <a:spcPct val="115000"/>
              </a:lnSpc>
              <a:spcBef>
                <a:spcPts val="1200"/>
              </a:spcBef>
              <a:spcAft>
                <a:spcPts val="0"/>
              </a:spcAft>
              <a:buNone/>
            </a:pPr>
            <a:r>
              <a:rPr lang="en-GB"/>
              <a:t>Because the downloaded data were already processed into an OTU count table with RDP taxonomy, I did not repeat raw-read quality control or DADA2 processing. Instead, I combined the OTU abundance matrix, taxonomic assignments and sample metadata into a phyloseq object and started from the downstream section of the Cambio 16S workflow.</a:t>
            </a:r>
            <a:endParaRPr/>
          </a:p>
          <a:p>
            <a:pPr indent="0" lvl="0" marL="0" rtl="0" algn="l">
              <a:lnSpc>
                <a:spcPct val="115000"/>
              </a:lnSpc>
              <a:spcBef>
                <a:spcPts val="1200"/>
              </a:spcBef>
              <a:spcAft>
                <a:spcPts val="0"/>
              </a:spcAft>
              <a:buClr>
                <a:schemeClr val="dk1"/>
              </a:buClr>
              <a:buSzPts val="1100"/>
              <a:buFont typeface="Arial"/>
              <a:buNone/>
            </a:pPr>
            <a:r>
              <a:rPr lang="en-GB"/>
              <a:t>Taxonomy had already been assigned using RDP in the processed dataset. Because this was a downstream reanalysis and the main comparisons were performed at family level, I retained the supplied assignments rather than reclassifying the representative sequences using SILVA. SILVA would be appropriate for a modern raw-read reprocessing workflow, but changing reference databases could also change taxonomic labels and reduce comparability with the original processing.</a:t>
            </a:r>
            <a:endParaRPr/>
          </a:p>
          <a:p>
            <a:pPr indent="0" lvl="0" marL="0" rtl="0" algn="l">
              <a:lnSpc>
                <a:spcPct val="115000"/>
              </a:lnSpc>
              <a:spcBef>
                <a:spcPts val="1200"/>
              </a:spcBef>
              <a:spcAft>
                <a:spcPts val="0"/>
              </a:spcAft>
              <a:buClr>
                <a:schemeClr val="dk1"/>
              </a:buClr>
              <a:buSzPts val="1100"/>
              <a:buFont typeface="Arial"/>
              <a:buNone/>
            </a:pPr>
            <a:r>
              <a:rPr lang="en-GB"/>
              <a:t>I first assessed sample sequencing depth. The samples contained between 980 and 5,532 assigned counts, with a mean of approximately 2,805. Healthy samples had a slightly higher median depth than Parkinson’s samples—approximately 2,814 compared with 2,578—and this difference was statistically significant. I therefore used relative abundance for the downstream community analysis so that samples with more total counts did not automatically contribute larger abundance values.</a:t>
            </a:r>
            <a:endParaRPr/>
          </a:p>
          <a:p>
            <a:pPr indent="0" lvl="0" marL="0" rtl="0" algn="l">
              <a:lnSpc>
                <a:spcPct val="115000"/>
              </a:lnSpc>
              <a:spcBef>
                <a:spcPts val="1200"/>
              </a:spcBef>
              <a:spcAft>
                <a:spcPts val="0"/>
              </a:spcAft>
              <a:buClr>
                <a:schemeClr val="dk1"/>
              </a:buClr>
              <a:buSzPts val="1100"/>
              <a:buFont typeface="Arial"/>
              <a:buNone/>
            </a:pPr>
            <a:r>
              <a:rPr lang="en-GB"/>
              <a:t>The main challenge was OTU sparsity. The original table contained 10,232 OTUs, but most were detected in very few people. When I examined prevalence separately by disease group, 8,582 OTUs—approximately 84%—were detected in fewer than five samples in both groups.</a:t>
            </a:r>
            <a:endParaRPr/>
          </a:p>
          <a:p>
            <a:pPr indent="0" lvl="0" marL="0" rtl="0" algn="l">
              <a:lnSpc>
                <a:spcPct val="115000"/>
              </a:lnSpc>
              <a:spcBef>
                <a:spcPts val="1200"/>
              </a:spcBef>
              <a:spcAft>
                <a:spcPts val="0"/>
              </a:spcAft>
              <a:buClr>
                <a:schemeClr val="dk1"/>
              </a:buClr>
              <a:buSzPts val="1100"/>
              <a:buFont typeface="Arial"/>
              <a:buNone/>
            </a:pPr>
            <a:r>
              <a:rPr lang="en-GB"/>
              <a:t>I initially tried a 10% prevalence cutoff, requiring an OTU to occur in at least 15 of the 148 samples. However, this was too aggressive: it retained only 691 OTUs and 57.7% of the counts. I then tested a three-sample cutoff, which retained 4,026 OTUs and 84.4% of counts, but this appeared too lenient.</a:t>
            </a:r>
            <a:endParaRPr/>
          </a:p>
          <a:p>
            <a:pPr indent="0" lvl="0" marL="0" rtl="0" algn="l">
              <a:lnSpc>
                <a:spcPct val="115000"/>
              </a:lnSpc>
              <a:spcBef>
                <a:spcPts val="1200"/>
              </a:spcBef>
              <a:spcAft>
                <a:spcPts val="0"/>
              </a:spcAft>
              <a:buClr>
                <a:schemeClr val="dk1"/>
              </a:buClr>
              <a:buSzPts val="1100"/>
              <a:buFont typeface="Arial"/>
              <a:buNone/>
            </a:pPr>
            <a:r>
              <a:rPr lang="en-GB"/>
              <a:t>I therefore selected a global five-sample cutoff as a compromise. This retained 2,379 OTUs and 76.7% of the total counts. I also checked prevalence separately in the two disease groups. There were 32 OTUs detected in at least five healthy samples but absent from Parkinson’s samples, and 19 showing the reverse pattern. The global cutoff preserved these potentially group-specific features rather than removing them.</a:t>
            </a:r>
            <a:endParaRPr/>
          </a:p>
          <a:p>
            <a:pPr indent="0" lvl="0" marL="0" rtl="0" algn="l">
              <a:lnSpc>
                <a:spcPct val="115000"/>
              </a:lnSpc>
              <a:spcBef>
                <a:spcPts val="1200"/>
              </a:spcBef>
              <a:spcAft>
                <a:spcPts val="0"/>
              </a:spcAft>
              <a:buClr>
                <a:schemeClr val="dk1"/>
              </a:buClr>
              <a:buSzPts val="1100"/>
              <a:buFont typeface="Arial"/>
              <a:buNone/>
            </a:pPr>
            <a:r>
              <a:rPr lang="en-GB"/>
              <a:t>After filtering, I converted the count data to relative abundance and proceeded to Bray–Curtis ordination and family-level composition analysis.</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409b0ee1cd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409b0ee1cd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I first calculated Bray–Curtis dissimilarities followed by two-dimensional NMDS.</a:t>
            </a:r>
            <a:endParaRPr/>
          </a:p>
          <a:p>
            <a:pPr indent="0" lvl="0" marL="0" rtl="0" algn="l">
              <a:lnSpc>
                <a:spcPct val="115000"/>
              </a:lnSpc>
              <a:spcBef>
                <a:spcPts val="1200"/>
              </a:spcBef>
              <a:spcAft>
                <a:spcPts val="0"/>
              </a:spcAft>
              <a:buClr>
                <a:schemeClr val="dk1"/>
              </a:buClr>
              <a:buSzPts val="1100"/>
              <a:buFont typeface="Arial"/>
              <a:buNone/>
            </a:pPr>
            <a:r>
              <a:rPr lang="en-GB"/>
              <a:t>In this plot, points that are closer together represent samples with more similar microbial compositions, while distant points represent more dissimilar communities.</a:t>
            </a:r>
            <a:endParaRPr/>
          </a:p>
          <a:p>
            <a:pPr indent="0" lvl="0" marL="0" rtl="0" algn="l">
              <a:lnSpc>
                <a:spcPct val="115000"/>
              </a:lnSpc>
              <a:spcBef>
                <a:spcPts val="1200"/>
              </a:spcBef>
              <a:spcAft>
                <a:spcPts val="0"/>
              </a:spcAft>
              <a:buClr>
                <a:schemeClr val="dk1"/>
              </a:buClr>
              <a:buSzPts val="1100"/>
              <a:buFont typeface="Arial"/>
              <a:buNone/>
            </a:pPr>
            <a:r>
              <a:rPr lang="en-GB"/>
              <a:t>The healthy and Parkinson’s samples overlap extensively, with no clear separation into two disease-specific clusters. The two-dimensional NMDS stress was 0.295, which is high and indicates that reducing the complex Bray–Curtis relationships to only two dimensions introduced substantial distortion.</a:t>
            </a:r>
            <a:endParaRPr/>
          </a:p>
          <a:p>
            <a:pPr indent="0" lvl="0" marL="0" rtl="0" algn="l">
              <a:lnSpc>
                <a:spcPct val="115000"/>
              </a:lnSpc>
              <a:spcBef>
                <a:spcPts val="1200"/>
              </a:spcBef>
              <a:spcAft>
                <a:spcPts val="0"/>
              </a:spcAft>
              <a:buClr>
                <a:schemeClr val="dk1"/>
              </a:buClr>
              <a:buSzPts val="1100"/>
              <a:buFont typeface="Arial"/>
              <a:buNone/>
            </a:pPr>
            <a:r>
              <a:rPr lang="en-GB"/>
              <a:t>To determine whether filtering caused the high stress, I repeated the analysis using the unfiltered OTU table. The stress was almost identical, showing that the filtering decision was not responsible. Increasing NMDS to three dimensions improved the stress to 0.21, although this still indicates some distortion.</a:t>
            </a:r>
            <a:endParaRPr/>
          </a:p>
          <a:p>
            <a:pPr indent="0" lvl="0" marL="0" rtl="0" algn="l">
              <a:lnSpc>
                <a:spcPct val="115000"/>
              </a:lnSpc>
              <a:spcBef>
                <a:spcPts val="1200"/>
              </a:spcBef>
              <a:spcAft>
                <a:spcPts val="0"/>
              </a:spcAft>
              <a:buClr>
                <a:schemeClr val="dk1"/>
              </a:buClr>
              <a:buSzPts val="1100"/>
              <a:buFont typeface="Arial"/>
              <a:buNone/>
            </a:pPr>
            <a:r>
              <a:rPr lang="en-GB"/>
              <a:t>I also generated a complementary Bray–Curtis PCoA. Its first two axes explained 5.1% and 4.4% of variation, respectively, and similarly showed substantial overlap between the groups. “Although the ordination showed extensive overlap, PERMANOVA detected a statistically significant difference between healthy and Parkinson’s microbiomes. However, disease status explained only around one percent of the total variation, so the effect was small and individual variation was much greater.</a:t>
            </a:r>
            <a:endParaRPr/>
          </a:p>
          <a:p>
            <a:pPr indent="0" lvl="0" marL="0" rtl="0" algn="l">
              <a:lnSpc>
                <a:spcPct val="115000"/>
              </a:lnSpc>
              <a:spcBef>
                <a:spcPts val="1200"/>
              </a:spcBef>
              <a:spcAft>
                <a:spcPts val="0"/>
              </a:spcAft>
              <a:buClr>
                <a:schemeClr val="dk1"/>
              </a:buClr>
              <a:buSzPts val="1100"/>
              <a:buFont typeface="Arial"/>
              <a:buNone/>
            </a:pPr>
            <a:r>
              <a:rPr lang="en-GB"/>
              <a:t>Therefore, the community-level conclusion is not that the microbiomes are identical. Rather, Parkinson’s disease status does not produce strong visual separation against the much larger background of interpersonal microbiome variation. The family-level stacked bars support this interpretation. There is considerable variation among individuals within both groups, and the dominant families are broadly shared. However, overall overlap does not rule out consistent differences in particular bacterial families, so I next performed family-level comparisons.</a:t>
            </a:r>
            <a:endParaRPr/>
          </a:p>
          <a:p>
            <a:pPr indent="0" lvl="0" marL="0" rtl="0" algn="l">
              <a:lnSpc>
                <a:spcPct val="115000"/>
              </a:lnSpc>
              <a:spcBef>
                <a:spcPts val="1200"/>
              </a:spcBef>
              <a:spcAft>
                <a:spcPts val="0"/>
              </a:spcAft>
              <a:buClr>
                <a:schemeClr val="dk1"/>
              </a:buClr>
              <a:buSzPts val="1100"/>
              <a:buFont typeface="Arial"/>
              <a:buNone/>
            </a:pPr>
            <a:r>
              <a:rPr lang="en-GB"/>
              <a:t>Alpha diversity describes diversity within each sample. Parkinson’s samples had lower observed richness, with a median of 318 OTUs compared with 347.5 in healthy controls. This was statistically significant after correction, with an FDR of approximately 0.029. However, sequencing depth was also lower in the Parkinson’s group, so this richness difference needs to be interpreted cautiously. Shannon and Simpson diversity were not significantly different, suggesting there was no strong difference in overall diversity or evenness.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409b0ee1cd1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409b0ee1cd1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For the exploratory family-level analysis, I tested bacterial families with more than 100 total counts across the dataset. I compared relative abundance between the groups using Wilcoxon rank-sum tests and corrected for multiple comparisons using the Benjamini–Hochberg false-discovery rate.</a:t>
            </a:r>
            <a:endParaRPr/>
          </a:p>
          <a:p>
            <a:pPr indent="0" lvl="0" marL="0" rtl="0" algn="l">
              <a:lnSpc>
                <a:spcPct val="115000"/>
              </a:lnSpc>
              <a:spcBef>
                <a:spcPts val="1200"/>
              </a:spcBef>
              <a:spcAft>
                <a:spcPts val="0"/>
              </a:spcAft>
              <a:buClr>
                <a:schemeClr val="dk1"/>
              </a:buClr>
              <a:buSzPts val="1100"/>
              <a:buFont typeface="Arial"/>
              <a:buNone/>
            </a:pPr>
            <a:r>
              <a:rPr lang="en-GB"/>
              <a:t>Four families remained significant after correction.</a:t>
            </a:r>
            <a:endParaRPr/>
          </a:p>
          <a:p>
            <a:pPr indent="0" lvl="0" marL="0" rtl="0" algn="l">
              <a:lnSpc>
                <a:spcPct val="115000"/>
              </a:lnSpc>
              <a:spcBef>
                <a:spcPts val="1200"/>
              </a:spcBef>
              <a:spcAft>
                <a:spcPts val="0"/>
              </a:spcAft>
              <a:buClr>
                <a:schemeClr val="dk1"/>
              </a:buClr>
              <a:buSzPts val="1100"/>
              <a:buFont typeface="Arial"/>
              <a:buNone/>
            </a:pPr>
            <a:r>
              <a:rPr lang="en-GB"/>
              <a:t>Rikenellaceae and Lactobacillaceae were higher in Parkinson’s samples, while Prevotellaceae and Pasteurellaceae were higher in healthy controls.</a:t>
            </a:r>
            <a:endParaRPr/>
          </a:p>
          <a:p>
            <a:pPr indent="0" lvl="0" marL="0" rtl="0" algn="l">
              <a:lnSpc>
                <a:spcPct val="115000"/>
              </a:lnSpc>
              <a:spcBef>
                <a:spcPts val="1200"/>
              </a:spcBef>
              <a:spcAft>
                <a:spcPts val="0"/>
              </a:spcAft>
              <a:buClr>
                <a:schemeClr val="dk1"/>
              </a:buClr>
              <a:buSzPts val="1100"/>
              <a:buFont typeface="Arial"/>
              <a:buNone/>
            </a:pPr>
            <a:r>
              <a:rPr lang="en-GB"/>
              <a:t>Although Rikenellaceae had the smallest adjusted p-value, the clearest headline finding was Prevotellaceae because it showed a large effect and reproduced the principal result of the original paper.</a:t>
            </a:r>
            <a:endParaRPr/>
          </a:p>
          <a:p>
            <a:pPr indent="0" lvl="0" marL="0" rtl="0" algn="l">
              <a:lnSpc>
                <a:spcPct val="115000"/>
              </a:lnSpc>
              <a:spcBef>
                <a:spcPts val="1200"/>
              </a:spcBef>
              <a:spcAft>
                <a:spcPts val="0"/>
              </a:spcAft>
              <a:buClr>
                <a:schemeClr val="dk1"/>
              </a:buClr>
              <a:buSzPts val="1100"/>
              <a:buFont typeface="Arial"/>
              <a:buNone/>
            </a:pPr>
            <a:r>
              <a:rPr lang="en-GB"/>
              <a:t>Mean Prevotellaceae relative abundance was approximately 6.9% in healthy controls and 1.1% in Parkinson’s samples. This corresponds to an approximately 84% reduction in Parkinson’s disease, with an FDR of approximately 0.0045.</a:t>
            </a:r>
            <a:endParaRPr/>
          </a:p>
          <a:p>
            <a:pPr indent="0" lvl="0" marL="0" rtl="0" algn="l">
              <a:lnSpc>
                <a:spcPct val="115000"/>
              </a:lnSpc>
              <a:spcBef>
                <a:spcPts val="1200"/>
              </a:spcBef>
              <a:spcAft>
                <a:spcPts val="0"/>
              </a:spcAft>
              <a:buClr>
                <a:schemeClr val="dk1"/>
              </a:buClr>
              <a:buSzPts val="1100"/>
              <a:buFont typeface="Arial"/>
              <a:buNone/>
            </a:pPr>
            <a:r>
              <a:rPr lang="en-GB"/>
              <a:t>The original paper reported a 77.6% reduction. Therefore, my analysis reproduced the direction and broad magnitude of the original finding, although it was not an exact numerical reproduction because I used a later reprocessed OTU table, a slightly different public cohort, prevalence filtering and a different statistical method.</a:t>
            </a:r>
            <a:endParaRPr/>
          </a:p>
          <a:p>
            <a:pPr indent="0" lvl="0" marL="0" rtl="0" algn="l">
              <a:lnSpc>
                <a:spcPct val="115000"/>
              </a:lnSpc>
              <a:spcBef>
                <a:spcPts val="1200"/>
              </a:spcBef>
              <a:spcAft>
                <a:spcPts val="0"/>
              </a:spcAft>
              <a:buClr>
                <a:schemeClr val="dk1"/>
              </a:buClr>
              <a:buSzPts val="1100"/>
              <a:buFont typeface="Arial"/>
              <a:buNone/>
            </a:pPr>
            <a:r>
              <a:rPr lang="en-GB"/>
              <a:t>Biologically, reduced Prevotellaceae has been hypothesised to reflect altered fibre fermentation, microbial metabolites, the intestinal mucus environment and gut-barrier integrity. These changes could potentially contribute to intestinal inflammation and microbiome–gut–brain signalling. However, this dataset measures bacterial relative abundance only, so it cannot demonstrate that Prevotellaceae depletion directly causes alpha-synuclein accumulation or Parkinson’s disease.</a:t>
            </a:r>
            <a:endParaRPr/>
          </a:p>
          <a:p>
            <a:pPr indent="0" lvl="0" marL="0" rtl="0" algn="l">
              <a:lnSpc>
                <a:spcPct val="115000"/>
              </a:lnSpc>
              <a:spcBef>
                <a:spcPts val="1200"/>
              </a:spcBef>
              <a:spcAft>
                <a:spcPts val="0"/>
              </a:spcAft>
              <a:buClr>
                <a:schemeClr val="dk1"/>
              </a:buClr>
              <a:buSzPts val="1100"/>
              <a:buFont typeface="Arial"/>
              <a:buNone/>
            </a:pPr>
            <a:r>
              <a:rPr lang="en-GB"/>
              <a:t>Lactobacillaceae was also markedly higher in Parkinson’s samples and has been reported as enriched in other Western Parkinson’s cohorts. However, the original supplementary analysis linked Lactobacillaceae abundance to COMT-inhibitor medication. Because I did not have individual-level medication data, I cannot determine whether this difference reflects Parkinson’s biology, medication exposure, constipation or a combination of these factors.</a:t>
            </a:r>
            <a:endParaRPr/>
          </a:p>
          <a:p>
            <a:pPr indent="0" lvl="0" marL="0" rtl="0" algn="l">
              <a:lnSpc>
                <a:spcPct val="115000"/>
              </a:lnSpc>
              <a:spcBef>
                <a:spcPts val="1200"/>
              </a:spcBef>
              <a:spcAft>
                <a:spcPts val="0"/>
              </a:spcAft>
              <a:buClr>
                <a:schemeClr val="dk1"/>
              </a:buClr>
              <a:buSzPts val="1100"/>
              <a:buFont typeface="Arial"/>
              <a:buNone/>
            </a:pPr>
            <a:r>
              <a:rPr lang="en-GB"/>
              <a:t>Overall, the global microbiome did not separate clearly by disease status, but specific family-level differences emerged. The strongest reproduced result was substantial Prevotellaceae depletion in Parkinson’s disease.</a:t>
            </a:r>
            <a:endParaRPr/>
          </a:p>
          <a:p>
            <a:pPr indent="0" lvl="0" marL="0" rtl="0" algn="l">
              <a:lnSpc>
                <a:spcPct val="115000"/>
              </a:lnSpc>
              <a:spcBef>
                <a:spcPts val="1200"/>
              </a:spcBef>
              <a:spcAft>
                <a:spcPts val="0"/>
              </a:spcAft>
              <a:buClr>
                <a:schemeClr val="dk1"/>
              </a:buClr>
              <a:buSzPts val="1100"/>
              <a:buFont typeface="Arial"/>
              <a:buNone/>
            </a:pPr>
            <a:r>
              <a:rPr lang="en-GB"/>
              <a:t>The main limitations are the high sparsity and relatively low sequencing depth, older Roche 454 technology, the difference between the public and published cohort sizes, and the lack of individual-level clinical covariates. These findings should therefore be described as associations from a reanalysis—not causal mechanisms or clinically validated biomarkers.</a:t>
            </a:r>
            <a:endParaRPr/>
          </a:p>
          <a:p>
            <a:pPr indent="-355600" lvl="0" marL="457200" rtl="0" algn="l">
              <a:lnSpc>
                <a:spcPct val="115000"/>
              </a:lnSpc>
              <a:spcBef>
                <a:spcPts val="1200"/>
              </a:spcBef>
              <a:spcAft>
                <a:spcPts val="0"/>
              </a:spcAft>
              <a:buClr>
                <a:srgbClr val="003E72"/>
              </a:buClr>
              <a:buSzPts val="2000"/>
              <a:buChar char="●"/>
            </a:pPr>
            <a:r>
              <a:rPr lang="en-GB" sz="2000">
                <a:solidFill>
                  <a:srgbClr val="003E72"/>
                </a:solidFill>
              </a:rPr>
              <a:t>Prevotellaceae has demonstrated mechanisms of alpha-synuclein accumulation. Lactobacillaceae differences are related to </a:t>
            </a:r>
            <a:br>
              <a:rPr lang="en-GB" sz="2000">
                <a:solidFill>
                  <a:srgbClr val="003E72"/>
                </a:solidFill>
              </a:rPr>
            </a:br>
            <a:r>
              <a:rPr lang="en-GB" sz="2000">
                <a:solidFill>
                  <a:srgbClr val="003E72"/>
                </a:solidFill>
              </a:rPr>
              <a:t>COMT inhibitor medications.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b8c85ed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8b8c85ed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Treated wastewater</a:t>
            </a:r>
            <a:endParaRPr/>
          </a:p>
          <a:p>
            <a:pPr indent="0" lvl="0" marL="0" rtl="0" algn="l">
              <a:spcBef>
                <a:spcPts val="0"/>
              </a:spcBef>
              <a:spcAft>
                <a:spcPts val="0"/>
              </a:spcAft>
              <a:buNone/>
            </a:pPr>
            <a:r>
              <a:rPr lang="en-GB"/>
              <a:t>Place for growth </a:t>
            </a:r>
            <a:endParaRPr/>
          </a:p>
          <a:p>
            <a:pPr indent="0" lvl="0" marL="0" rtl="0" algn="l">
              <a:spcBef>
                <a:spcPts val="0"/>
              </a:spcBef>
              <a:spcAft>
                <a:spcPts val="0"/>
              </a:spcAft>
              <a:buNone/>
            </a:pPr>
            <a:r>
              <a:rPr lang="en-GB"/>
              <a:t>Regulation to control as risk </a:t>
            </a:r>
            <a:r>
              <a:rPr lang="en-GB"/>
              <a:t>management</a:t>
            </a:r>
            <a:r>
              <a:rPr lang="en-GB"/>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b8c85edd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8b8c85edd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b8c85edd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8b8c85edd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f67dc8a48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f67dc8a48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67dc8a489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67dc8a489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67dc8a489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f67dc8a489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f67dc8a489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f67dc8a489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67dc8a489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f67dc8a489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f68768f1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f68768f1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68768f10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f68768f10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f68768f10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f68768f10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68767f520_4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g3f68767f520_4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Slide 1 — Every patient's gut is broken differently; every donor's looks the same</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"286 genera; 169 appeared in at least 10% of people so were worth testing; a Wilcoxon test on each, then Benjamini-Hochberg to correct for 169 tests, left 53 — 51 depleted in patients, 2 enriched.“</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Dataset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Youngster et al. (2014)</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19 patients + 4 healthy donors</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100 stool samples</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Repeated patient samples averaged → 23 individuals for statistics</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Explain the figure</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Each bar = one stool sample</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Colours = 15 most abundant bacteria</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Grey = all remaining bacteria</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Left (Patients before FMT)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Every patient sample looks different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Different bacteria dominate each sample</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No common specific "disease microbiome“</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Right (Donors)</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Donors look remarkably similar</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Stable, healthy microbial community</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Only 4 Donors</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Middle (Patients after FMT)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Patients shift toward donor composition</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Gut becomes more similar to healthy donors</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Main takeaway</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Many ways for a gut to become unhealthy, but common stable healthy state.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f68767f520_4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g3f68767f520_4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Slide 2 — Fibre fermenters return, opportunists disappear</a:t>
            </a: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Differential abundance</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Compared 169 genera</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53 significantly different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51 enriched in healthy donors</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Only 2 enriched in patients</a:t>
            </a:r>
            <a:endParaRPr/>
          </a:p>
          <a:p>
            <a:pPr indent="-298450" lvl="0" marL="457200" rtl="0" algn="l">
              <a:lnSpc>
                <a:spcPct val="100000"/>
              </a:lnSpc>
              <a:spcBef>
                <a:spcPts val="0"/>
              </a:spcBef>
              <a:spcAft>
                <a:spcPts val="0"/>
              </a:spcAft>
              <a:buSzPts val="1100"/>
              <a:buChar char="●"/>
            </a:pPr>
            <a:br>
              <a:rPr lang="en-GB"/>
            </a:b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Top panel</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Six most depleted beneficial genuses</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Red = before</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Green = after</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Blue = donors</a:t>
            </a: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Key point</a:t>
            </a:r>
            <a:endParaRPr/>
          </a:p>
          <a:p>
            <a:pPr indent="-298450" lvl="0" marL="457200" rtl="0" algn="l">
              <a:lnSpc>
                <a:spcPct val="100000"/>
              </a:lnSpc>
              <a:spcBef>
                <a:spcPts val="0"/>
              </a:spcBef>
              <a:spcAft>
                <a:spcPts val="0"/>
              </a:spcAft>
              <a:buSzPts val="1100"/>
              <a:buChar char="●"/>
            </a:pPr>
            <a:r>
              <a:rPr b="0" i="1" lang="en-GB" sz="1100" u="none" cap="none" strike="noStrike">
                <a:solidFill>
                  <a:srgbClr val="000000"/>
                </a:solidFill>
                <a:latin typeface="Arial"/>
                <a:ea typeface="Arial"/>
                <a:cs typeface="Arial"/>
                <a:sym typeface="Arial"/>
              </a:rPr>
              <a:t>Faecalibacterium</a:t>
            </a:r>
            <a:r>
              <a:rPr b="0" i="0" lang="en-GB" sz="1100" u="none" cap="none" strike="noStrike">
                <a:solidFill>
                  <a:srgbClr val="000000"/>
                </a:solidFill>
                <a:latin typeface="Arial"/>
                <a:ea typeface="Arial"/>
                <a:cs typeface="Arial"/>
                <a:sym typeface="Arial"/>
              </a:rPr>
              <a:t> nearly absent before FMT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Returns toward donor levels after treatment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Most beneficial bacteria recover substantially</a:t>
            </a:r>
            <a:endParaRPr/>
          </a:p>
          <a:p>
            <a:pPr indent="-298450" lvl="0" marL="457200" rtl="0" algn="l">
              <a:lnSpc>
                <a:spcPct val="100000"/>
              </a:lnSpc>
              <a:spcBef>
                <a:spcPts val="0"/>
              </a:spcBef>
              <a:spcAft>
                <a:spcPts val="0"/>
              </a:spcAft>
              <a:buSzPts val="1100"/>
              <a:buChar char="●"/>
            </a:pPr>
            <a:br>
              <a:rPr lang="en-GB"/>
            </a:b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Bottom panel</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Two bacteria enriched in patients</a:t>
            </a:r>
            <a:endParaRPr/>
          </a:p>
          <a:p>
            <a:pPr indent="-298450" lvl="0" marL="457200" rtl="0" algn="l">
              <a:lnSpc>
                <a:spcPct val="100000"/>
              </a:lnSpc>
              <a:spcBef>
                <a:spcPts val="0"/>
              </a:spcBef>
              <a:spcAft>
                <a:spcPts val="0"/>
              </a:spcAft>
              <a:buSzPts val="1100"/>
              <a:buChar char="●"/>
            </a:pPr>
            <a:r>
              <a:rPr b="0" i="1" lang="en-GB" sz="1100" u="none" cap="none" strike="noStrike">
                <a:solidFill>
                  <a:srgbClr val="000000"/>
                </a:solidFill>
                <a:latin typeface="Arial"/>
                <a:ea typeface="Arial"/>
                <a:cs typeface="Arial"/>
                <a:sym typeface="Arial"/>
              </a:rPr>
              <a:t>Klebsiella</a:t>
            </a:r>
            <a:r>
              <a:rPr b="0" i="0" lang="en-GB" sz="1100" u="none" cap="none" strike="noStrike">
                <a:solidFill>
                  <a:srgbClr val="000000"/>
                </a:solidFill>
                <a:latin typeface="Arial"/>
                <a:ea typeface="Arial"/>
                <a:cs typeface="Arial"/>
                <a:sym typeface="Arial"/>
              </a:rPr>
              <a:t> especially abundant before treatment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Drops slighty after FMT compared to the healthy</a:t>
            </a:r>
            <a:endParaRPr/>
          </a:p>
          <a:p>
            <a:pPr indent="-298450" lvl="0" marL="457200" rtl="0" algn="l">
              <a:lnSpc>
                <a:spcPct val="100000"/>
              </a:lnSpc>
              <a:spcBef>
                <a:spcPts val="0"/>
              </a:spcBef>
              <a:spcAft>
                <a:spcPts val="0"/>
              </a:spcAft>
              <a:buSzPts val="1100"/>
              <a:buChar char="●"/>
            </a:pPr>
            <a:br>
              <a:rPr lang="en-GB"/>
            </a:b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Biological explanation (Most important)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Beneficial bacteria ferment fibre</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Produce </a:t>
            </a:r>
            <a:r>
              <a:rPr b="1" i="0" lang="en-GB" sz="1100" u="none" cap="none" strike="noStrike">
                <a:solidFill>
                  <a:srgbClr val="000000"/>
                </a:solidFill>
                <a:latin typeface="Arial"/>
                <a:ea typeface="Arial"/>
                <a:cs typeface="Arial"/>
                <a:sym typeface="Arial"/>
              </a:rPr>
              <a:t>butyrate</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Butyrate fuels colon cells</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Colon cells consume oxygen</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Low oxygen prevents pathogens like </a:t>
            </a:r>
            <a:r>
              <a:rPr b="0" i="1" lang="en-GB" sz="1100" u="none" cap="none" strike="noStrike">
                <a:solidFill>
                  <a:srgbClr val="000000"/>
                </a:solidFill>
                <a:latin typeface="Arial"/>
                <a:ea typeface="Arial"/>
                <a:cs typeface="Arial"/>
                <a:sym typeface="Arial"/>
              </a:rPr>
              <a:t>Klebsiella</a:t>
            </a:r>
            <a:r>
              <a:rPr b="0" i="0" lang="en-GB" sz="1100" u="none" cap="none" strike="noStrike">
                <a:solidFill>
                  <a:srgbClr val="000000"/>
                </a:solidFill>
                <a:latin typeface="Arial"/>
                <a:ea typeface="Arial"/>
                <a:cs typeface="Arial"/>
                <a:sym typeface="Arial"/>
              </a:rPr>
              <a:t> to grow</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FMT restores this healthy environment</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The microbiome only got about halfway back, but people felt completely better even if it was still only partly restored.</a:t>
            </a:r>
            <a:endParaRPr/>
          </a:p>
          <a:p>
            <a:pPr indent="-228600" lvl="0" marL="45720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Main takeaway</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FMT restores beneficial bacteria rather than directly killing pathogens and restores the healthy gut environment.</a:t>
            </a:r>
            <a:endParaRPr/>
          </a:p>
          <a:p>
            <a:pPr indent="-298450" lvl="0" marL="457200" rtl="0" algn="l">
              <a:lnSpc>
                <a:spcPct val="100000"/>
              </a:lnSpc>
              <a:spcBef>
                <a:spcPts val="0"/>
              </a:spcBef>
              <a:spcAft>
                <a:spcPts val="0"/>
              </a:spcAft>
              <a:buSzPts val="1100"/>
              <a:buChar char="●"/>
            </a:pPr>
            <a:br>
              <a:rPr lang="en-GB"/>
            </a:b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Important numbers</a:t>
            </a: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Item</a:t>
            </a: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Value</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Patients 19</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Donors 4</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Total samples 100</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Individuals analysed 23</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Genera tested 169</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Significant genera 53</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Depleted genera 51</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Enriched genera 2</a:t>
            </a:r>
            <a:endParaRPr/>
          </a:p>
          <a:p>
            <a:pPr indent="-298450" lvl="0" marL="457200" rtl="0" algn="l">
              <a:lnSpc>
                <a:spcPct val="100000"/>
              </a:lnSpc>
              <a:spcBef>
                <a:spcPts val="0"/>
              </a:spcBef>
              <a:spcAft>
                <a:spcPts val="0"/>
              </a:spcAft>
              <a:buSzPts val="1100"/>
              <a:buChar char="●"/>
            </a:pPr>
            <a:r>
              <a:rPr b="0" i="1" lang="en-GB" sz="1100" u="none" cap="none" strike="noStrike">
                <a:solidFill>
                  <a:srgbClr val="000000"/>
                </a:solidFill>
                <a:latin typeface="Arial"/>
                <a:ea typeface="Arial"/>
                <a:cs typeface="Arial"/>
                <a:sym typeface="Arial"/>
              </a:rPr>
              <a:t>Faecalibacterium </a:t>
            </a:r>
            <a:r>
              <a:rPr b="0" i="0" lang="en-GB" sz="1100" u="none" cap="none" strike="noStrike">
                <a:solidFill>
                  <a:srgbClr val="000000"/>
                </a:solidFill>
                <a:latin typeface="Arial"/>
                <a:ea typeface="Arial"/>
                <a:cs typeface="Arial"/>
                <a:sym typeface="Arial"/>
              </a:rPr>
              <a:t>0.26% → 5.98% (donors 11.29%)</a:t>
            </a:r>
            <a:endParaRPr/>
          </a:p>
          <a:p>
            <a:pPr indent="-298450" lvl="0" marL="457200" rtl="0" algn="l">
              <a:lnSpc>
                <a:spcPct val="100000"/>
              </a:lnSpc>
              <a:spcBef>
                <a:spcPts val="0"/>
              </a:spcBef>
              <a:spcAft>
                <a:spcPts val="0"/>
              </a:spcAft>
              <a:buSzPts val="1100"/>
              <a:buChar char="●"/>
            </a:pPr>
            <a:r>
              <a:rPr b="0" i="1" lang="en-GB" sz="1100" u="none" cap="none" strike="noStrike">
                <a:solidFill>
                  <a:srgbClr val="000000"/>
                </a:solidFill>
                <a:latin typeface="Arial"/>
                <a:ea typeface="Arial"/>
                <a:cs typeface="Arial"/>
                <a:sym typeface="Arial"/>
              </a:rPr>
              <a:t>Klebsiella </a:t>
            </a:r>
            <a:r>
              <a:rPr b="0" i="0" lang="en-GB" sz="1100" u="none" cap="none" strike="noStrike">
                <a:solidFill>
                  <a:srgbClr val="000000"/>
                </a:solidFill>
                <a:latin typeface="Arial"/>
                <a:ea typeface="Arial"/>
                <a:cs typeface="Arial"/>
                <a:sym typeface="Arial"/>
              </a:rPr>
              <a:t>13.8% → 3.2% (donors ~0%)</a:t>
            </a:r>
            <a:endParaRPr/>
          </a:p>
          <a:p>
            <a:pPr indent="-298450" lvl="0" marL="457200" rtl="0" algn="l">
              <a:lnSpc>
                <a:spcPct val="100000"/>
              </a:lnSpc>
              <a:spcBef>
                <a:spcPts val="0"/>
              </a:spcBef>
              <a:spcAft>
                <a:spcPts val="0"/>
              </a:spcAft>
              <a:buSzPts val="1100"/>
              <a:buChar char="●"/>
            </a:pPr>
            <a:br>
              <a:rPr lang="en-GB"/>
            </a:br>
            <a:endParaRPr/>
          </a:p>
          <a:p>
            <a:pPr indent="-298450" lvl="0" marL="457200" rtl="0" algn="l">
              <a:lnSpc>
                <a:spcPct val="100000"/>
              </a:lnSpc>
              <a:spcBef>
                <a:spcPts val="0"/>
              </a:spcBef>
              <a:spcAft>
                <a:spcPts val="0"/>
              </a:spcAft>
              <a:buSzPts val="1100"/>
              <a:buChar char="●"/>
            </a:pPr>
            <a:r>
              <a:rPr b="1" i="0" lang="en-GB" sz="1100" u="none" cap="none" strike="noStrike">
                <a:solidFill>
                  <a:srgbClr val="000000"/>
                </a:solidFill>
                <a:latin typeface="Arial"/>
                <a:ea typeface="Arial"/>
                <a:cs typeface="Arial"/>
                <a:sym typeface="Arial"/>
              </a:rPr>
              <a:t>Limitations</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Only 4 donors.</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Single clinical study.</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Repeated sampling handled by averaging.</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Genus-level resolution only.</a:t>
            </a:r>
            <a:endParaRPr/>
          </a:p>
          <a:p>
            <a:pPr indent="-298450" lvl="0" marL="457200" rtl="0" algn="l">
              <a:lnSpc>
                <a:spcPct val="100000"/>
              </a:lnSpc>
              <a:spcBef>
                <a:spcPts val="0"/>
              </a:spcBef>
              <a:spcAft>
                <a:spcPts val="0"/>
              </a:spcAft>
              <a:buSzPts val="1100"/>
              <a:buChar char="●"/>
            </a:pPr>
            <a:r>
              <a:rPr b="0" i="0" lang="en-GB" sz="1100" u="none" cap="none" strike="noStrike">
                <a:solidFill>
                  <a:srgbClr val="000000"/>
                </a:solidFill>
                <a:latin typeface="Arial"/>
                <a:ea typeface="Arial"/>
                <a:cs typeface="Arial"/>
                <a:sym typeface="Arial"/>
              </a:rPr>
              <a:t>Function inferred, not directly measured.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68767f520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f68767f520_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68767f520_8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f68767f520_8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68767f520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f68767f520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68767f520_7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f68767f520_7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f689c13f55_7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GB">
                <a:solidFill>
                  <a:schemeClr val="dk1"/>
                </a:solidFill>
              </a:rPr>
              <a:t>Total samples:</a:t>
            </a:r>
            <a:r>
              <a:rPr lang="en-GB">
                <a:solidFill>
                  <a:schemeClr val="dk1"/>
                </a:solidFill>
              </a:rPr>
              <a:t> 50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Crohn’s disease, CD:</a:t>
            </a:r>
            <a:r>
              <a:rPr lang="en-GB">
                <a:solidFill>
                  <a:schemeClr val="dk1"/>
                </a:solidFill>
              </a:rPr>
              <a:t> 30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Non inflammatory bowel disease controls, nonIBD:</a:t>
            </a:r>
            <a:r>
              <a:rPr lang="en-GB">
                <a:solidFill>
                  <a:schemeClr val="dk1"/>
                </a:solidFill>
              </a:rPr>
              <a:t> 14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Ulcerative colitis, UC:</a:t>
            </a:r>
            <a:r>
              <a:rPr lang="en-GB">
                <a:solidFill>
                  <a:schemeClr val="dk1"/>
                </a:solidFill>
              </a:rPr>
              <a:t> 6, exploratory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Ileum:</a:t>
            </a:r>
            <a:r>
              <a:rPr lang="en-GB">
                <a:solidFill>
                  <a:schemeClr val="dk1"/>
                </a:solidFill>
              </a:rPr>
              <a:t> 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Rectum:</a:t>
            </a:r>
            <a:r>
              <a:rPr lang="en-GB">
                <a:solidFill>
                  <a:schemeClr val="dk1"/>
                </a:solidFill>
              </a:rPr>
              <a:t> 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Raw read pairs:</a:t>
            </a:r>
            <a:r>
              <a:rPr lang="en-GB">
                <a:solidFill>
                  <a:schemeClr val="dk1"/>
                </a:solidFill>
              </a:rPr>
              <a:t> 2,231,292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After filtering:</a:t>
            </a:r>
            <a:r>
              <a:rPr lang="en-GB">
                <a:solidFill>
                  <a:schemeClr val="dk1"/>
                </a:solidFill>
              </a:rPr>
              <a:t> 1,971,046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After denoising:</a:t>
            </a:r>
            <a:r>
              <a:rPr lang="en-GB">
                <a:solidFill>
                  <a:schemeClr val="dk1"/>
                </a:solidFill>
              </a:rPr>
              <a:t> 1,951,890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After merging:</a:t>
            </a:r>
            <a:r>
              <a:rPr lang="en-GB">
                <a:solidFill>
                  <a:schemeClr val="dk1"/>
                </a:solidFill>
              </a:rPr>
              <a:t> 1,905,299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Non chimeric reads:</a:t>
            </a:r>
            <a:r>
              <a:rPr lang="en-GB">
                <a:solidFill>
                  <a:schemeClr val="dk1"/>
                </a:solidFill>
              </a:rPr>
              <a:t> 1,793,087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Retention to non chimeric table:</a:t>
            </a:r>
            <a:r>
              <a:rPr lang="en-GB">
                <a:solidFill>
                  <a:schemeClr val="dk1"/>
                </a:solidFill>
              </a:rPr>
              <a:t> 80.36%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Final bacterial reads after taxonomy cleaning:</a:t>
            </a:r>
            <a:r>
              <a:rPr lang="en-GB">
                <a:solidFill>
                  <a:schemeClr val="dk1"/>
                </a:solidFill>
              </a:rPr>
              <a:t> 1,746,535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Final bacterial ASVs:</a:t>
            </a:r>
            <a:r>
              <a:rPr lang="en-GB">
                <a:solidFill>
                  <a:schemeClr val="dk1"/>
                </a:solidFill>
              </a:rPr>
              <a:t> 1,663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No sample was lost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ASV:</a:t>
            </a:r>
            <a:r>
              <a:rPr lang="en-GB">
                <a:solidFill>
                  <a:schemeClr val="dk1"/>
                </a:solidFill>
              </a:rPr>
              <a:t> Amplicon Sequence Variant, an exact bacterial 16S sequence identified after error correction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SILVA:</a:t>
            </a:r>
            <a:r>
              <a:rPr lang="en-GB">
                <a:solidFill>
                  <a:schemeClr val="dk1"/>
                </a:solidFill>
              </a:rPr>
              <a:t> reference database used to assign bacterial taxonomy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sz="1400">
                <a:solidFill>
                  <a:schemeClr val="dk1"/>
                </a:solidFill>
                <a:highlight>
                  <a:srgbClr val="999999"/>
                </a:highlight>
              </a:rPr>
              <a:t>SILVA:</a:t>
            </a:r>
            <a:r>
              <a:rPr lang="en-GB" sz="1400">
                <a:solidFill>
                  <a:schemeClr val="dk1"/>
                </a:solidFill>
                <a:highlight>
                  <a:srgbClr val="999999"/>
                </a:highlight>
              </a:rPr>
              <a:t> classifies each ASV by comparing its 16S sequence with known bacteria. Taxonomy goes from Kingdom → Phylum → Class → Order → Family → Genus. We mainly report genus level.</a:t>
            </a:r>
            <a:endParaRPr sz="1400">
              <a:solidFill>
                <a:schemeClr val="dk1"/>
              </a:solidFill>
              <a:highlight>
                <a:srgbClr val="999999"/>
              </a:highlight>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Important wording:</a:t>
            </a:r>
            <a:r>
              <a:rPr lang="en-GB">
                <a:solidFill>
                  <a:schemeClr val="dk1"/>
                </a:solidFill>
              </a:rPr>
              <a:t> 80.36% refers to raw reads retained to the non chimeric sequence table, not the final taxonomy cleaned dataset</a:t>
            </a:r>
            <a:endParaRPr>
              <a:solidFill>
                <a:schemeClr val="dk1"/>
              </a:solidFill>
            </a:endParaRPr>
          </a:p>
          <a:p>
            <a:pPr indent="0" lvl="0" marL="0" rtl="0" algn="l">
              <a:spcBef>
                <a:spcPts val="1200"/>
              </a:spcBef>
              <a:spcAft>
                <a:spcPts val="0"/>
              </a:spcAft>
              <a:buNone/>
            </a:pPr>
            <a:r>
              <a:t/>
            </a:r>
            <a:endParaRPr/>
          </a:p>
        </p:txBody>
      </p:sp>
      <p:sp>
        <p:nvSpPr>
          <p:cNvPr id="500" name="Google Shape;500;g3f689c13f55_7_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689c13f55_7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b="1" lang="en-GB">
                <a:solidFill>
                  <a:schemeClr val="dk1"/>
                </a:solidFill>
              </a:rPr>
              <a:t>Alpha diversity:</a:t>
            </a:r>
            <a:r>
              <a:rPr lang="en-GB">
                <a:solidFill>
                  <a:schemeClr val="dk1"/>
                </a:solidFill>
              </a:rPr>
              <a:t> diversity within one sample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Observed ASVs:</a:t>
            </a:r>
            <a:r>
              <a:rPr lang="en-GB">
                <a:solidFill>
                  <a:schemeClr val="dk1"/>
                </a:solidFill>
              </a:rPr>
              <a:t> how many bacterial sequence variants are present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Shannon index:</a:t>
            </a:r>
            <a:r>
              <a:rPr lang="en-GB">
                <a:solidFill>
                  <a:schemeClr val="dk1"/>
                </a:solidFill>
              </a:rPr>
              <a:t> how many are present and how evenly distributed they are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Disease alpha diversity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Observed ASVs: p = 0.136</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Shannon: p = 0.336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Biopsy location alpha diversity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Observed ASVs: p = 0.580</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Shannon: p = 0.335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Crohn’s disease vs nonIBD</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Observed ASVs: p = 0.051</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Shannon: p = 0.277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Bray Curtis:</a:t>
            </a:r>
            <a:r>
              <a:rPr lang="en-GB">
                <a:solidFill>
                  <a:schemeClr val="dk1"/>
                </a:solidFill>
              </a:rPr>
              <a:t> measures how different two samples are in overall bacterial composition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PCoA:</a:t>
            </a:r>
            <a:r>
              <a:rPr lang="en-GB">
                <a:solidFill>
                  <a:schemeClr val="dk1"/>
                </a:solidFill>
              </a:rPr>
              <a:t> turns those differences into a visual map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Close points:</a:t>
            </a:r>
            <a:r>
              <a:rPr lang="en-GB">
                <a:solidFill>
                  <a:schemeClr val="dk1"/>
                </a:solidFill>
              </a:rPr>
              <a:t> more similar bacterial communities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Far points:</a:t>
            </a:r>
            <a:r>
              <a:rPr lang="en-GB">
                <a:solidFill>
                  <a:schemeClr val="dk1"/>
                </a:solidFill>
              </a:rPr>
              <a:t> more different bacterial communities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Colour:</a:t>
            </a:r>
            <a:r>
              <a:rPr lang="en-GB">
                <a:solidFill>
                  <a:schemeClr val="dk1"/>
                </a:solidFill>
              </a:rPr>
              <a:t> disease status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Shape:</a:t>
            </a:r>
            <a:r>
              <a:rPr lang="en-GB">
                <a:solidFill>
                  <a:schemeClr val="dk1"/>
                </a:solidFill>
              </a:rPr>
              <a:t> biopsy location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PCoA Axis 1:</a:t>
            </a:r>
            <a:r>
              <a:rPr lang="en-GB">
                <a:solidFill>
                  <a:schemeClr val="dk1"/>
                </a:solidFill>
              </a:rPr>
              <a:t> 18.3%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PCoA Axis 2:</a:t>
            </a:r>
            <a:r>
              <a:rPr lang="en-GB">
                <a:solidFill>
                  <a:schemeClr val="dk1"/>
                </a:solidFill>
              </a:rPr>
              <a:t> 11.6%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Together:</a:t>
            </a:r>
            <a:r>
              <a:rPr lang="en-GB">
                <a:solidFill>
                  <a:schemeClr val="dk1"/>
                </a:solidFill>
              </a:rPr>
              <a:t> 29.9% of total variation shown in the two dimensional plot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UC is exploratory because n = 6</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Conclusion line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GB">
                <a:solidFill>
                  <a:schemeClr val="dk1"/>
                </a:solidFill>
              </a:rPr>
              <a:t>In this dataset, we did not detect significant differences in within sample bacterial diversity or a clear biopsy location association, and the overall bacterial communities showed substantial overlap between groups.</a:t>
            </a:r>
            <a:endParaRPr b="1">
              <a:solidFill>
                <a:schemeClr val="dk1"/>
              </a:solidFill>
            </a:endParaRPr>
          </a:p>
          <a:p>
            <a:pPr indent="0" lvl="0" marL="0" rtl="0" algn="l">
              <a:spcBef>
                <a:spcPts val="1200"/>
              </a:spcBef>
              <a:spcAft>
                <a:spcPts val="0"/>
              </a:spcAft>
              <a:buNone/>
            </a:pPr>
            <a:r>
              <a:t/>
            </a:r>
            <a:endParaRPr/>
          </a:p>
        </p:txBody>
      </p:sp>
      <p:sp>
        <p:nvSpPr>
          <p:cNvPr id="511" name="Google Shape;511;g3f689c13f55_7_6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f689c13f55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f689c13f55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0. Opening (≈30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"Hello everyone. Today I'll walk you through a 16S rRNA analysis of the gut mucosal microbiome in inflammatory bowel disease. The goal was to ask a fairly simple question with a not-so-simple answer: when we look at the bacteria living on the gut lining, does the community depend more on </a:t>
            </a:r>
            <a:r>
              <a:rPr i="1" lang="en-GB">
                <a:solidFill>
                  <a:schemeClr val="dk1"/>
                </a:solidFill>
              </a:rPr>
              <a:t>where</a:t>
            </a:r>
            <a:r>
              <a:rPr lang="en-GB">
                <a:solidFill>
                  <a:schemeClr val="dk1"/>
                </a:solidFill>
              </a:rPr>
              <a:t> in the gut we sampled, or on </a:t>
            </a:r>
            <a:r>
              <a:rPr i="1" lang="en-GB">
                <a:solidFill>
                  <a:schemeClr val="dk1"/>
                </a:solidFill>
              </a:rPr>
              <a:t>whether the person has disease</a:t>
            </a:r>
            <a:r>
              <a:rPr lang="en-GB">
                <a:solidFill>
                  <a:schemeClr val="dk1"/>
                </a:solidFill>
              </a:rPr>
              <a:t>? I'll take you from the study design, through the analysis pipeline, to what we actually found."</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1. Research question &amp; objectives (≈45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"The dataset comes from the IBDMDB — the Inflammatory Bowel Disease Multi-omics Database, part of the second Human Microbiome Project. It contains mucosal biopsy samples from three groups — Crohn's disease, ulcerative colitis, and non-IBD controls — taken from two anatomical sites, the terminal ileum and the rectum.</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We had three core objectives:</a:t>
            </a:r>
            <a:endParaRPr>
              <a:solidFill>
                <a:schemeClr val="dk1"/>
              </a:solidFill>
            </a:endParaRPr>
          </a:p>
          <a:p>
            <a:pPr indent="-298450" lvl="0" marL="457200" rtl="0" algn="l">
              <a:lnSpc>
                <a:spcPct val="115000"/>
              </a:lnSpc>
              <a:spcBef>
                <a:spcPts val="800"/>
              </a:spcBef>
              <a:spcAft>
                <a:spcPts val="0"/>
              </a:spcAft>
              <a:buClr>
                <a:schemeClr val="dk1"/>
              </a:buClr>
              <a:buSzPts val="1100"/>
              <a:buChar char="●"/>
            </a:pPr>
            <a:r>
              <a:rPr lang="en-GB">
                <a:solidFill>
                  <a:schemeClr val="dk1"/>
                </a:solidFill>
              </a:rPr>
              <a:t>First, </a:t>
            </a:r>
            <a:r>
              <a:rPr b="1" lang="en-GB">
                <a:solidFill>
                  <a:schemeClr val="dk1"/>
                </a:solidFill>
              </a:rPr>
              <a:t>anatomical versus pathological stratification</a:t>
            </a:r>
            <a:r>
              <a:rPr lang="en-GB">
                <a:solidFill>
                  <a:schemeClr val="dk1"/>
                </a:solidFill>
              </a:rPr>
              <a:t> — do communities cluster by tissue site or by disease state? This is the headline question.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Second, </a:t>
            </a:r>
            <a:r>
              <a:rPr b="1" lang="en-GB">
                <a:solidFill>
                  <a:schemeClr val="dk1"/>
                </a:solidFill>
              </a:rPr>
              <a:t>dysbiosis profiling</a:t>
            </a:r>
            <a:r>
              <a:rPr lang="en-GB">
                <a:solidFill>
                  <a:schemeClr val="dk1"/>
                </a:solidFill>
              </a:rPr>
              <a:t> — can we see the classic inflammation signature, where beneficial obligate anaerobes like </a:t>
            </a:r>
            <a:r>
              <a:rPr i="1" lang="en-GB">
                <a:solidFill>
                  <a:schemeClr val="dk1"/>
                </a:solidFill>
              </a:rPr>
              <a:t>Faecalibacterium</a:t>
            </a:r>
            <a:r>
              <a:rPr lang="en-GB">
                <a:solidFill>
                  <a:schemeClr val="dk1"/>
                </a:solidFill>
              </a:rPr>
              <a:t> are lost and facultative anaerobes like Enterobacteriaceae expand?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Third, </a:t>
            </a:r>
            <a:r>
              <a:rPr b="1" lang="en-GB">
                <a:solidFill>
                  <a:schemeClr val="dk1"/>
                </a:solidFill>
              </a:rPr>
              <a:t>differential abundance</a:t>
            </a:r>
            <a:r>
              <a:rPr lang="en-GB">
                <a:solidFill>
                  <a:schemeClr val="dk1"/>
                </a:solidFill>
              </a:rPr>
              <a:t> — which specific taxa distinguish ileal Crohn's from rectal ulcerative colitis?"</a:t>
            </a:r>
            <a:endParaRPr>
              <a:solidFill>
                <a:schemeClr val="dk1"/>
              </a:solidFill>
            </a:endParaRPr>
          </a:p>
          <a:p>
            <a:pPr indent="0" lvl="0" marL="0" rtl="0" algn="ctr">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2. Experimental design (≈45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"The design is a two-factor layout: three diagnoses crossed with two sites. We had 50 curated samples — 30 Crohn's, 14 controls, and 6 ulcerative colitis. Sites were evenly balanced, 25 ileum and 25 rectum.</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I'll flag one thing early because it shapes how we should read the results: </a:t>
            </a:r>
            <a:r>
              <a:rPr b="1" lang="en-GB">
                <a:solidFill>
                  <a:schemeClr val="dk1"/>
                </a:solidFill>
              </a:rPr>
              <a:t>ulcerative colitis is thin — only three samples per site.</a:t>
            </a:r>
            <a:r>
              <a:rPr lang="en-GB">
                <a:solidFill>
                  <a:schemeClr val="dk1"/>
                </a:solidFill>
              </a:rPr>
              <a:t> So while the design looks clean, UC is underpowered, and I'll come back to what that means.</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On the sequencing side: this is the 16S V4 region, amplified with the standard 515F–806R primers, sequenced on an Illumina MiSeq with 250-base paired-end reads."</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3. Analysis pipeline (≈70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"For the bioinformatics, I used the DADA2 workflow into phyloseq.</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Reads were quality-filtered and trimmed, then DADA2's error model denoised them into exact amplicon sequence variants — ASVs — rather than clustering into fuzzy OTUs. Forward and reverse reads were merged, and chimeras removed; only about 6% of reads were chimeric, which is normal. That left roughly 1,900 ASVs across the 50 samples.</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Taxonomy was assigned against SILVA. Non-bacterial and unassigned ASVs were a negligible fraction (one archaeal ASV and 18 without a phylum out of ~1,880) and were left in; they're low-abundance and don't affect the community-level results."</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 </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From there the analysis split three ways to match the objectives: </a:t>
            </a:r>
            <a:r>
              <a:rPr b="1" lang="en-GB">
                <a:solidFill>
                  <a:schemeClr val="dk1"/>
                </a:solidFill>
              </a:rPr>
              <a:t>alpha and beta diversity</a:t>
            </a:r>
            <a:r>
              <a:rPr lang="en-GB">
                <a:solidFill>
                  <a:schemeClr val="dk1"/>
                </a:solidFill>
              </a:rPr>
              <a:t> for the anatomy-versus-disease question; </a:t>
            </a:r>
            <a:r>
              <a:rPr b="1" lang="en-GB">
                <a:solidFill>
                  <a:schemeClr val="dk1"/>
                </a:solidFill>
              </a:rPr>
              <a:t>targeted tracking</a:t>
            </a:r>
            <a:r>
              <a:rPr lang="en-GB">
                <a:solidFill>
                  <a:schemeClr val="dk1"/>
                </a:solidFill>
              </a:rPr>
              <a:t> of the two dysbiosis marker groups; and </a:t>
            </a:r>
            <a:r>
              <a:rPr b="1" lang="en-GB">
                <a:solidFill>
                  <a:schemeClr val="dk1"/>
                </a:solidFill>
              </a:rPr>
              <a:t>DESeq2 differential abundance</a:t>
            </a:r>
            <a:r>
              <a:rPr lang="en-GB">
                <a:solidFill>
                  <a:schemeClr val="dk1"/>
                </a:solidFill>
              </a:rPr>
              <a:t> for the biomarker question. For the differential-abundance step I used size factors designed to handle the many zeros in microbiome data, and I ran contrasts </a:t>
            </a:r>
            <a:r>
              <a:rPr i="1" lang="en-GB">
                <a:solidFill>
                  <a:schemeClr val="dk1"/>
                </a:solidFill>
              </a:rPr>
              <a:t>within</a:t>
            </a:r>
            <a:r>
              <a:rPr lang="en-GB">
                <a:solidFill>
                  <a:schemeClr val="dk1"/>
                </a:solidFill>
              </a:rPr>
              <a:t> each site as well, so I could separate a disease effect from an anatomy effect."</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4. Finding 1 — Anatomy vs. Pathology (≈70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"[Slide 1]</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Start with diversity. </a:t>
            </a:r>
            <a:r>
              <a:rPr b="1" lang="en-GB">
                <a:solidFill>
                  <a:schemeClr val="dk1"/>
                </a:solidFill>
              </a:rPr>
              <a:t>Alpha diversity</a:t>
            </a:r>
            <a:r>
              <a:rPr lang="en-GB">
                <a:solidFill>
                  <a:schemeClr val="dk1"/>
                </a:solidFill>
              </a:rPr>
              <a:t> — the richness and evenness </a:t>
            </a:r>
            <a:r>
              <a:rPr i="1" lang="en-GB">
                <a:solidFill>
                  <a:schemeClr val="dk1"/>
                </a:solidFill>
              </a:rPr>
              <a:t>within</a:t>
            </a:r>
            <a:r>
              <a:rPr lang="en-GB">
                <a:solidFill>
                  <a:schemeClr val="dk1"/>
                </a:solidFill>
              </a:rPr>
              <a:t> a sample — showed no significant difference at all, whether we split by diagnosis or by site. All p-values were above 0.3. So overall diversity is preserved; that's not where disease leaves its mark.</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The signal is in </a:t>
            </a:r>
            <a:r>
              <a:rPr b="1" lang="en-GB">
                <a:solidFill>
                  <a:schemeClr val="dk1"/>
                </a:solidFill>
              </a:rPr>
              <a:t>beta diversity</a:t>
            </a:r>
            <a:r>
              <a:rPr lang="en-GB">
                <a:solidFill>
                  <a:schemeClr val="dk1"/>
                </a:solidFill>
              </a:rPr>
              <a:t> — differences in community </a:t>
            </a:r>
            <a:r>
              <a:rPr i="1" lang="en-GB">
                <a:solidFill>
                  <a:schemeClr val="dk1"/>
                </a:solidFill>
              </a:rPr>
              <a:t>composition between</a:t>
            </a:r>
            <a:r>
              <a:rPr lang="en-GB">
                <a:solidFill>
                  <a:schemeClr val="dk1"/>
                </a:solidFill>
              </a:rPr>
              <a:t> samples. These two ordination plots show the same samples coloured two ways: on the left by site, on the right by diagnosis. And this is the key result: when we test it formally with PERMANOVA, </a:t>
            </a:r>
            <a:r>
              <a:rPr b="1" lang="en-GB">
                <a:solidFill>
                  <a:schemeClr val="dk1"/>
                </a:solidFill>
              </a:rPr>
              <a:t>diagnosis is the only factor that reaches significance</a:t>
            </a:r>
            <a:r>
              <a:rPr lang="en-GB">
                <a:solidFill>
                  <a:schemeClr val="dk1"/>
                </a:solidFill>
              </a:rPr>
              <a:t> — for Bray–Curtis, p equals 0.045, and for unweighted UniFrac, p equals 0.023. </a:t>
            </a:r>
            <a:r>
              <a:rPr b="1" lang="en-GB">
                <a:solidFill>
                  <a:schemeClr val="dk1"/>
                </a:solidFill>
              </a:rPr>
              <a:t>Anatomical site is never significant</a:t>
            </a:r>
            <a:r>
              <a:rPr lang="en-GB">
                <a:solidFill>
                  <a:schemeClr val="dk1"/>
                </a:solidFill>
              </a:rPr>
              <a:t> — its p-values sit near 0.9.</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So the answer to our headline question is: these communities separate by </a:t>
            </a:r>
            <a:r>
              <a:rPr b="1" lang="en-GB">
                <a:solidFill>
                  <a:schemeClr val="dk1"/>
                </a:solidFill>
              </a:rPr>
              <a:t>disease state, not by anatomical site.</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I want to be honest about the size of that effect, though. Diagnosis explains only about 6% of the variation — an R-squared around 0.06. So it's a real but </a:t>
            </a:r>
            <a:r>
              <a:rPr i="1" lang="en-GB">
                <a:solidFill>
                  <a:schemeClr val="dk1"/>
                </a:solidFill>
              </a:rPr>
              <a:t>modest</a:t>
            </a:r>
            <a:r>
              <a:rPr lang="en-GB">
                <a:solidFill>
                  <a:schemeClr val="dk1"/>
                </a:solidFill>
              </a:rPr>
              <a:t> separation. Site simply doesn't drive it."</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f689c13f55_1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f689c13f55_1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5. Finding 2 — Dysbiosis (≈50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"[Slide 2 — left]</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Second objective: the dysbiosis signature. And here the textbook pattern shows up cleanly.</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i="1" lang="en-GB">
                <a:solidFill>
                  <a:schemeClr val="dk1"/>
                </a:solidFill>
              </a:rPr>
              <a:t>Faecalibacterium</a:t>
            </a:r>
            <a:r>
              <a:rPr lang="en-GB">
                <a:solidFill>
                  <a:schemeClr val="dk1"/>
                </a:solidFill>
              </a:rPr>
              <a:t> — an obligate anaerobe, one of the beneficial butyrate producers — drops from about 16% relative abundance in controls to roughly 9 to 11% in disease.</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At the same time, Enterobacteriaceae — facultative anaerobes that bloom in an inflamed, oxygen-disturbed gut — expand from around 1 to 3% in controls up to about 13% in IBD.</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That's exactly the direction the literature predicts: loss of beneficial anaerobes, expansion of inflammation-associated facultative organisms. So the classic dysbiosis signature is confirmed in this dataset."</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6. Finding 3 — Differential abundance (≈60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"[Slide 2 — right]</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Third, the differential-abundance analysis. The consistent theme across every contrast is that </a:t>
            </a:r>
            <a:r>
              <a:rPr b="1" lang="en-GB">
                <a:solidFill>
                  <a:schemeClr val="dk1"/>
                </a:solidFill>
              </a:rPr>
              <a:t>the significant taxa are almost all depleted in disease</a:t>
            </a:r>
            <a:r>
              <a:rPr lang="en-GB">
                <a:solidFill>
                  <a:schemeClr val="dk1"/>
                </a:solidFill>
              </a:rPr>
              <a:t> — again, loss of commensals rather than the arrival of new organisms.</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When I compared the disease signatures across sites, some taxa came up as </a:t>
            </a:r>
            <a:r>
              <a:rPr b="1" lang="en-GB">
                <a:solidFill>
                  <a:schemeClr val="dk1"/>
                </a:solidFill>
              </a:rPr>
              <a:t>pan-IBD</a:t>
            </a:r>
            <a:r>
              <a:rPr lang="en-GB">
                <a:solidFill>
                  <a:schemeClr val="dk1"/>
                </a:solidFill>
              </a:rPr>
              <a:t> — shifted in both Crohn's and ulcerative colitis — including </a:t>
            </a:r>
            <a:r>
              <a:rPr i="1" lang="en-GB">
                <a:solidFill>
                  <a:schemeClr val="dk1"/>
                </a:solidFill>
              </a:rPr>
              <a:t>Bacteroides</a:t>
            </a:r>
            <a:r>
              <a:rPr lang="en-GB">
                <a:solidFill>
                  <a:schemeClr val="dk1"/>
                </a:solidFill>
              </a:rPr>
              <a:t>, </a:t>
            </a:r>
            <a:r>
              <a:rPr i="1" lang="en-GB">
                <a:solidFill>
                  <a:schemeClr val="dk1"/>
                </a:solidFill>
              </a:rPr>
              <a:t>Prevotella</a:t>
            </a:r>
            <a:r>
              <a:rPr lang="en-GB">
                <a:solidFill>
                  <a:schemeClr val="dk1"/>
                </a:solidFill>
              </a:rPr>
              <a:t>, </a:t>
            </a:r>
            <a:r>
              <a:rPr i="1" lang="en-GB">
                <a:solidFill>
                  <a:schemeClr val="dk1"/>
                </a:solidFill>
              </a:rPr>
              <a:t>Megasphaera</a:t>
            </a:r>
            <a:r>
              <a:rPr lang="en-GB">
                <a:solidFill>
                  <a:schemeClr val="dk1"/>
                </a:solidFill>
              </a:rPr>
              <a:t>, and </a:t>
            </a:r>
            <a:r>
              <a:rPr i="1" lang="en-GB">
                <a:solidFill>
                  <a:schemeClr val="dk1"/>
                </a:solidFill>
              </a:rPr>
              <a:t>Ruminococcus</a:t>
            </a:r>
            <a:r>
              <a:rPr lang="en-GB">
                <a:solidFill>
                  <a:schemeClr val="dk1"/>
                </a:solidFill>
              </a:rPr>
              <a:t>. A smaller set was </a:t>
            </a:r>
            <a:r>
              <a:rPr b="1" lang="en-GB">
                <a:solidFill>
                  <a:schemeClr val="dk1"/>
                </a:solidFill>
              </a:rPr>
              <a:t>Crohn's-specific</a:t>
            </a:r>
            <a:r>
              <a:rPr lang="en-GB">
                <a:solidFill>
                  <a:schemeClr val="dk1"/>
                </a:solidFill>
              </a:rPr>
              <a:t>, such as </a:t>
            </a:r>
            <a:r>
              <a:rPr i="1" lang="en-GB">
                <a:solidFill>
                  <a:schemeClr val="dk1"/>
                </a:solidFill>
              </a:rPr>
              <a:t>Lachnospira</a:t>
            </a:r>
            <a:r>
              <a:rPr lang="en-GB">
                <a:solidFill>
                  <a:schemeClr val="dk1"/>
                </a:solidFill>
              </a:rPr>
              <a:t>, </a:t>
            </a:r>
            <a:r>
              <a:rPr i="1" lang="en-GB">
                <a:solidFill>
                  <a:schemeClr val="dk1"/>
                </a:solidFill>
              </a:rPr>
              <a:t>Lactobacillus</a:t>
            </a:r>
            <a:r>
              <a:rPr lang="en-GB">
                <a:solidFill>
                  <a:schemeClr val="dk1"/>
                </a:solidFill>
              </a:rPr>
              <a:t>, and </a:t>
            </a:r>
            <a:r>
              <a:rPr i="1" lang="en-GB">
                <a:solidFill>
                  <a:schemeClr val="dk1"/>
                </a:solidFill>
              </a:rPr>
              <a:t>Frisingicoccus</a:t>
            </a:r>
            <a:r>
              <a:rPr lang="en-GB">
                <a:solidFill>
                  <a:schemeClr val="dk1"/>
                </a:solidFill>
              </a:rPr>
              <a:t>. And two genera — </a:t>
            </a:r>
            <a:r>
              <a:rPr i="1" lang="en-GB">
                <a:solidFill>
                  <a:schemeClr val="dk1"/>
                </a:solidFill>
              </a:rPr>
              <a:t>Bacteroides</a:t>
            </a:r>
            <a:r>
              <a:rPr lang="en-GB">
                <a:solidFill>
                  <a:schemeClr val="dk1"/>
                </a:solidFill>
              </a:rPr>
              <a:t> and </a:t>
            </a:r>
            <a:r>
              <a:rPr i="1" lang="en-GB">
                <a:solidFill>
                  <a:schemeClr val="dk1"/>
                </a:solidFill>
              </a:rPr>
              <a:t>Prevotella</a:t>
            </a:r>
            <a:r>
              <a:rPr lang="en-GB">
                <a:solidFill>
                  <a:schemeClr val="dk1"/>
                </a:solidFill>
              </a:rPr>
              <a:t> — were significant in </a:t>
            </a:r>
            <a:r>
              <a:rPr i="1" lang="en-GB">
                <a:solidFill>
                  <a:schemeClr val="dk1"/>
                </a:solidFill>
              </a:rPr>
              <a:t>both</a:t>
            </a:r>
            <a:r>
              <a:rPr lang="en-GB">
                <a:solidFill>
                  <a:schemeClr val="dk1"/>
                </a:solidFill>
              </a:rPr>
              <a:t> the ileum and the rectum, which makes them the most defensible disease markers, because they track the disease regardless of where we sampled.</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Now the caveat, and it's an important one. Because ulcerative colitis only had three samples per site, a lot of the raw hits show enormous fold-changes — and those come from a taxon being simply absent in a tiny group, not from a real quantitative shift. So I treat those large-effect UC results as </a:t>
            </a:r>
            <a:r>
              <a:rPr b="1" lang="en-GB">
                <a:solidFill>
                  <a:schemeClr val="dk1"/>
                </a:solidFill>
              </a:rPr>
              <a:t>exploratory</a:t>
            </a:r>
            <a:r>
              <a:rPr lang="en-GB">
                <a:solidFill>
                  <a:schemeClr val="dk1"/>
                </a:solidFill>
              </a:rPr>
              <a:t> — hypothesis-generating, not conclusions."</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7. Limitations (≈30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"To be upfront about the limits: the ulcerative colitis group is small, so anything UC-specific is tentative. A handful of rectal Crohn's samples were sequenced quite shallowly, which can artificially deflate the taxa detected — so a sensible next step is a minimum-depth filter and re-running the contrasts. And the overall effect sizes are modest, which is honest for 50 mucosal samples."</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rPr>
              <a:t>8. Conclusion (≈30 sec)</a:t>
            </a:r>
            <a:endParaRPr b="1">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"To wrap up. In this mucosal dataset, </a:t>
            </a:r>
            <a:r>
              <a:rPr b="1" lang="en-GB">
                <a:solidFill>
                  <a:schemeClr val="dk1"/>
                </a:solidFill>
              </a:rPr>
              <a:t>disease state — not anatomical site — is what shapes the microbial community</a:t>
            </a:r>
            <a:r>
              <a:rPr lang="en-GB">
                <a:solidFill>
                  <a:schemeClr val="dk1"/>
                </a:solidFill>
              </a:rPr>
              <a:t>, though the effect is modest. We recovered the </a:t>
            </a:r>
            <a:r>
              <a:rPr b="1" lang="en-GB">
                <a:solidFill>
                  <a:schemeClr val="dk1"/>
                </a:solidFill>
              </a:rPr>
              <a:t>classic dysbiosis signature</a:t>
            </a:r>
            <a:r>
              <a:rPr lang="en-GB">
                <a:solidFill>
                  <a:schemeClr val="dk1"/>
                </a:solidFill>
              </a:rPr>
              <a:t>: </a:t>
            </a:r>
            <a:r>
              <a:rPr i="1" lang="en-GB">
                <a:solidFill>
                  <a:schemeClr val="dk1"/>
                </a:solidFill>
              </a:rPr>
              <a:t>Faecalibacterium</a:t>
            </a:r>
            <a:r>
              <a:rPr lang="en-GB">
                <a:solidFill>
                  <a:schemeClr val="dk1"/>
                </a:solidFill>
              </a:rPr>
              <a:t> down, Enterobacteriaceae up. And our differential-abundance analysis pointed to a set of consistently depleted commensals, with </a:t>
            </a:r>
            <a:r>
              <a:rPr i="1" lang="en-GB">
                <a:solidFill>
                  <a:schemeClr val="dk1"/>
                </a:solidFill>
              </a:rPr>
              <a:t>Bacteroides</a:t>
            </a:r>
            <a:r>
              <a:rPr lang="en-GB">
                <a:solidFill>
                  <a:schemeClr val="dk1"/>
                </a:solidFill>
              </a:rPr>
              <a:t> and </a:t>
            </a:r>
            <a:r>
              <a:rPr i="1" lang="en-GB">
                <a:solidFill>
                  <a:schemeClr val="dk1"/>
                </a:solidFill>
              </a:rPr>
              <a:t>Prevotella</a:t>
            </a:r>
            <a:r>
              <a:rPr lang="en-GB">
                <a:solidFill>
                  <a:schemeClr val="dk1"/>
                </a:solidFill>
              </a:rPr>
              <a:t> as the sturdiest, site-independent disease markers.</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GB">
                <a:solidFill>
                  <a:schemeClr val="dk1"/>
                </a:solidFill>
              </a:rPr>
              <a:t>So the overall message is that inflammation reshapes </a:t>
            </a:r>
            <a:r>
              <a:rPr i="1" lang="en-GB">
                <a:solidFill>
                  <a:schemeClr val="dk1"/>
                </a:solidFill>
              </a:rPr>
              <a:t>which</a:t>
            </a:r>
            <a:r>
              <a:rPr lang="en-GB">
                <a:solidFill>
                  <a:schemeClr val="dk1"/>
                </a:solidFill>
              </a:rPr>
              <a:t> bacteria are present more than </a:t>
            </a:r>
            <a:r>
              <a:rPr i="1" lang="en-GB">
                <a:solidFill>
                  <a:schemeClr val="dk1"/>
                </a:solidFill>
              </a:rPr>
              <a:t>how many kinds</a:t>
            </a:r>
            <a:r>
              <a:rPr lang="en-GB">
                <a:solidFill>
                  <a:schemeClr val="dk1"/>
                </a:solidFill>
              </a:rPr>
              <a:t> there are — and it does so consistently enough that we can see it even in a small, mixed cohort. Thank you — happy to take questions."</a:t>
            </a:r>
            <a:endParaRPr>
              <a:solidFill>
                <a:schemeClr val="dk1"/>
              </a:solidFill>
            </a:endParaRPr>
          </a:p>
          <a:p>
            <a:pPr indent="0" lvl="0" marL="0" rtl="0" algn="ctr">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f689c13f55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f689c13f55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GB" sz="1300">
                <a:solidFill>
                  <a:schemeClr val="dk1"/>
                </a:solidFill>
              </a:rPr>
              <a:t>What Was Done (Analysis):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Processed raw 16S fastq reads through DADA2 (</a:t>
            </a:r>
            <a:r>
              <a:rPr lang="en-GB">
                <a:solidFill>
                  <a:srgbClr val="188038"/>
                </a:solidFill>
                <a:latin typeface="Roboto Mono"/>
                <a:ea typeface="Roboto Mono"/>
                <a:cs typeface="Roboto Mono"/>
                <a:sym typeface="Roboto Mono"/>
              </a:rPr>
              <a:t>truncLen = c(225, 160)</a:t>
            </a:r>
            <a:r>
              <a:rPr lang="en-GB">
                <a:solidFill>
                  <a:schemeClr val="dk1"/>
                </a:solidFill>
              </a:rPr>
              <a:t>, </a:t>
            </a:r>
            <a:r>
              <a:rPr lang="en-GB">
                <a:solidFill>
                  <a:srgbClr val="188038"/>
                </a:solidFill>
                <a:latin typeface="Roboto Mono"/>
                <a:ea typeface="Roboto Mono"/>
                <a:cs typeface="Roboto Mono"/>
                <a:sym typeface="Roboto Mono"/>
              </a:rPr>
              <a:t>truncQ = 2</a:t>
            </a:r>
            <a:r>
              <a:rPr lang="en-GB">
                <a:solidFill>
                  <a:schemeClr val="dk1"/>
                </a:solidFill>
              </a:rPr>
              <a:t>, </a:t>
            </a:r>
            <a:r>
              <a:rPr lang="en-GB">
                <a:solidFill>
                  <a:srgbClr val="188038"/>
                </a:solidFill>
                <a:latin typeface="Roboto Mono"/>
                <a:ea typeface="Roboto Mono"/>
                <a:cs typeface="Roboto Mono"/>
                <a:sym typeface="Roboto Mono"/>
              </a:rPr>
              <a:t>maxEE = c(2, 2)</a:t>
            </a:r>
            <a:r>
              <a:rPr lang="en-GB">
                <a:solidFill>
                  <a:schemeClr val="dk1"/>
                </a:solidFill>
              </a:rPr>
              <a:t>, </a:t>
            </a:r>
            <a:r>
              <a:rPr lang="en-GB">
                <a:solidFill>
                  <a:srgbClr val="188038"/>
                </a:solidFill>
                <a:latin typeface="Roboto Mono"/>
                <a:ea typeface="Roboto Mono"/>
                <a:cs typeface="Roboto Mono"/>
                <a:sym typeface="Roboto Mono"/>
              </a:rPr>
              <a:t>rm.phix = TRUE</a:t>
            </a:r>
            <a:r>
              <a:rPr lang="en-GB">
                <a:solidFill>
                  <a:schemeClr val="dk1"/>
                </a:solidFill>
              </a:rPr>
              <a:t>), assigned taxonomy using the SILVA database, and built a </a:t>
            </a:r>
            <a:r>
              <a:rPr lang="en-GB">
                <a:solidFill>
                  <a:srgbClr val="188038"/>
                </a:solidFill>
                <a:latin typeface="Roboto Mono"/>
                <a:ea typeface="Roboto Mono"/>
                <a:cs typeface="Roboto Mono"/>
                <a:sym typeface="Roboto Mono"/>
              </a:rPr>
              <a:t>phyloseq</a:t>
            </a:r>
            <a:r>
              <a:rPr lang="en-GB">
                <a:solidFill>
                  <a:schemeClr val="dk1"/>
                </a:solidFill>
              </a:rPr>
              <a:t> object.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Generated Bray-Curtis NMDS and relative abundance stacked bar plots across taxonomic levels to observe overall community shifts.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br>
              <a:rPr b="1" lang="en-GB" sz="1300">
                <a:solidFill>
                  <a:schemeClr val="dk1"/>
                </a:solidFill>
              </a:rPr>
            </a:br>
            <a:r>
              <a:rPr b="1" lang="en-GB" sz="1300">
                <a:solidFill>
                  <a:schemeClr val="dk1"/>
                </a:solidFill>
              </a:rPr>
              <a:t>Results &amp; Conclusions: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Pipeline &amp; Beta Diversity (NMDS):</a:t>
            </a:r>
            <a:r>
              <a:rPr lang="en-GB">
                <a:solidFill>
                  <a:schemeClr val="dk1"/>
                </a:solidFill>
              </a:rPr>
              <a:t> Quality filtering successfully generated high-resolution ASVs. NMDS shows nonIBD (green) and UC (blue) tightly clustered, whereas CD (red) is wildly scattered—proving Crohn's pathology overrules anatomical location.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Phylum Level Composition:</a:t>
            </a:r>
            <a:r>
              <a:rPr lang="en-GB">
                <a:solidFill>
                  <a:schemeClr val="dk1"/>
                </a:solidFill>
              </a:rPr>
              <a:t> Shows a massive </a:t>
            </a:r>
            <a:r>
              <a:rPr b="1" lang="en-GB">
                <a:solidFill>
                  <a:schemeClr val="dk1"/>
                </a:solidFill>
              </a:rPr>
              <a:t>pink Proteobacteria expansion</a:t>
            </a:r>
            <a:r>
              <a:rPr lang="en-GB">
                <a:solidFill>
                  <a:schemeClr val="dk1"/>
                </a:solidFill>
              </a:rPr>
              <a:t> in CD, indicating a shift toward inflammatory facultative anaerobes.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Class Level Composition:</a:t>
            </a:r>
            <a:r>
              <a:rPr lang="en-GB">
                <a:solidFill>
                  <a:schemeClr val="dk1"/>
                </a:solidFill>
              </a:rPr>
              <a:t> Healthy controls are dominated by </a:t>
            </a:r>
            <a:r>
              <a:rPr b="1" lang="en-GB">
                <a:solidFill>
                  <a:schemeClr val="dk1"/>
                </a:solidFill>
              </a:rPr>
              <a:t>Clostridia</a:t>
            </a:r>
            <a:r>
              <a:rPr lang="en-GB">
                <a:solidFill>
                  <a:schemeClr val="dk1"/>
                </a:solidFill>
              </a:rPr>
              <a:t> (olive) and </a:t>
            </a:r>
            <a:r>
              <a:rPr b="1" lang="en-GB">
                <a:solidFill>
                  <a:schemeClr val="dk1"/>
                </a:solidFill>
              </a:rPr>
              <a:t>Bacteroidia</a:t>
            </a:r>
            <a:r>
              <a:rPr lang="en-GB">
                <a:solidFill>
                  <a:schemeClr val="dk1"/>
                </a:solidFill>
              </a:rPr>
              <a:t> (salmon). CD displays a severe </a:t>
            </a:r>
            <a:r>
              <a:rPr b="1" lang="en-GB">
                <a:solidFill>
                  <a:schemeClr val="dk1"/>
                </a:solidFill>
              </a:rPr>
              <a:t>Gammaproteobacteria</a:t>
            </a:r>
            <a:r>
              <a:rPr lang="en-GB">
                <a:solidFill>
                  <a:schemeClr val="dk1"/>
                </a:solidFill>
              </a:rPr>
              <a:t> (bright green) bloom.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Order Level Composition:</a:t>
            </a:r>
            <a:r>
              <a:rPr lang="en-GB">
                <a:solidFill>
                  <a:schemeClr val="dk1"/>
                </a:solidFill>
              </a:rPr>
              <a:t> Healthy gut is rich in obligate anaerobes (</a:t>
            </a:r>
            <a:r>
              <a:rPr b="1" lang="en-GB">
                <a:solidFill>
                  <a:schemeClr val="dk1"/>
                </a:solidFill>
              </a:rPr>
              <a:t>Lachnospirales</a:t>
            </a:r>
            <a:r>
              <a:rPr lang="en-GB">
                <a:solidFill>
                  <a:schemeClr val="dk1"/>
                </a:solidFill>
              </a:rPr>
              <a:t> &amp; </a:t>
            </a:r>
            <a:r>
              <a:rPr b="1" lang="en-GB">
                <a:solidFill>
                  <a:schemeClr val="dk1"/>
                </a:solidFill>
              </a:rPr>
              <a:t>Oscillospirales</a:t>
            </a:r>
            <a:r>
              <a:rPr lang="en-GB">
                <a:solidFill>
                  <a:schemeClr val="dk1"/>
                </a:solidFill>
              </a:rPr>
              <a:t>). CD shows an explosion of </a:t>
            </a:r>
            <a:r>
              <a:rPr b="1" lang="en-GB">
                <a:solidFill>
                  <a:schemeClr val="dk1"/>
                </a:solidFill>
              </a:rPr>
              <a:t>Enterobacterales</a:t>
            </a:r>
            <a:r>
              <a:rPr lang="en-GB">
                <a:solidFill>
                  <a:schemeClr val="dk1"/>
                </a:solidFill>
              </a:rPr>
              <a:t> (gold) and significant depletion of obligate anaerobes.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689c13f55_1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f689c13f55_1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Slide Title: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GB">
                <a:solidFill>
                  <a:schemeClr val="dk1"/>
                </a:solidFill>
              </a:rPr>
              <a:t>Is mucosal microbiome variation driven primarily by tissue location or disease state?</a:t>
            </a:r>
            <a:endParaRPr i="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Figures Included on Slide: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Alpha Diversity Boxplot (Shannon Index)</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Beta Diversity PCoA Plot (Bray-Curtis)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What Was Done (Analysis):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Calculated Shannon Alpha Diversity across clinical groups and tissue sites, and constructed a Bray-Curtis PCoA to map structural similarities.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Results &amp; Conclusions: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Alpha Diversity (Shannon):</a:t>
            </a:r>
            <a:r>
              <a:rPr lang="en-GB">
                <a:solidFill>
                  <a:schemeClr val="dk1"/>
                </a:solidFill>
              </a:rPr>
              <a:t> Anatomical location dictates diversity in healthy controls (Rectum median ~3.7 &gt; Ileum ~3.1). Disease causes chaos; CD destroys this baseline, causing extreme instability and severe loss of diversity (crashing below 1.0).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Beta Diversity (PCoA):</a:t>
            </a:r>
            <a:r>
              <a:rPr lang="en-GB">
                <a:solidFill>
                  <a:schemeClr val="dk1"/>
                </a:solidFill>
              </a:rPr>
              <a:t> Captures 30.7% variance (18.4% Axis 1, 12.3% Axis 2). NonIBD and UC cluster together in a healthy baseline, while CD scatters broadly across both axes.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Conclusion:</a:t>
            </a:r>
            <a:r>
              <a:rPr lang="en-GB">
                <a:solidFill>
                  <a:schemeClr val="dk1"/>
                </a:solidFill>
              </a:rPr>
              <a:t> The severe inflammation of Crohn's Disease is the dominant force. It completely overpowers the natural anatomical signatures, driving the microbiome into a state of chaotic dysbiosis.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f689c13f55_1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f689c13f55_1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Slide Title: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GB">
                <a:solidFill>
                  <a:schemeClr val="dk1"/>
                </a:solidFill>
              </a:rPr>
              <a:t>What characterizes targeted IBD dysbiosis, and which specific bacterial genera act as the strongest statistical biomarkers?</a:t>
            </a:r>
            <a:endParaRPr i="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Figures Included on Slide: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Targeted Dysbiosis Markers (</a:t>
            </a:r>
            <a:r>
              <a:rPr i="1" lang="en-GB">
                <a:solidFill>
                  <a:schemeClr val="dk1"/>
                </a:solidFill>
              </a:rPr>
              <a:t>Faecalibacterium</a:t>
            </a:r>
            <a:r>
              <a:rPr lang="en-GB">
                <a:solidFill>
                  <a:schemeClr val="dk1"/>
                </a:solidFill>
              </a:rPr>
              <a:t> vs. </a:t>
            </a:r>
            <a:r>
              <a:rPr i="1" lang="en-GB">
                <a:solidFill>
                  <a:schemeClr val="dk1"/>
                </a:solidFill>
              </a:rPr>
              <a:t>Enterobacteriaceae</a:t>
            </a:r>
            <a:r>
              <a:rPr lang="en-GB">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Discovered Biomarkers Plot (</a:t>
            </a:r>
            <a:r>
              <a:rPr i="1" lang="en-GB">
                <a:solidFill>
                  <a:schemeClr val="dk1"/>
                </a:solidFill>
              </a:rPr>
              <a:t>Prevotella_9</a:t>
            </a:r>
            <a:r>
              <a:rPr lang="en-GB">
                <a:solidFill>
                  <a:schemeClr val="dk1"/>
                </a:solidFill>
              </a:rPr>
              <a:t> vs. </a:t>
            </a:r>
            <a:r>
              <a:rPr i="1" lang="en-GB">
                <a:solidFill>
                  <a:schemeClr val="dk1"/>
                </a:solidFill>
              </a:rPr>
              <a:t>Epulopiscium</a:t>
            </a:r>
            <a:r>
              <a:rPr lang="en-GB">
                <a:solidFill>
                  <a:schemeClr val="dk1"/>
                </a:solidFill>
              </a:rPr>
              <a: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What Was Done (Analysis):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Isolated specific classic IBD markers requested by the clinical prompt, then Aggregated taxa to the Genus level (</a:t>
            </a:r>
            <a:r>
              <a:rPr lang="en-GB">
                <a:solidFill>
                  <a:srgbClr val="188038"/>
                </a:solidFill>
              </a:rPr>
              <a:t>tax_glom</a:t>
            </a:r>
            <a:r>
              <a:rPr lang="en-GB">
                <a:solidFill>
                  <a:schemeClr val="dk1"/>
                </a:solidFill>
              </a:rPr>
              <a:t>), normalized sparse data (</a:t>
            </a:r>
            <a:r>
              <a:rPr lang="en-GB">
                <a:solidFill>
                  <a:srgbClr val="188038"/>
                </a:solidFill>
              </a:rPr>
              <a:t>poscounts</a:t>
            </a:r>
            <a:r>
              <a:rPr lang="en-GB">
                <a:solidFill>
                  <a:schemeClr val="dk1"/>
                </a:solidFill>
              </a:rPr>
              <a:t>), and ran DESeq2 differential abundance testing (</a:t>
            </a:r>
            <a:r>
              <a:rPr lang="en-GB">
                <a:solidFill>
                  <a:srgbClr val="188038"/>
                </a:solidFill>
              </a:rPr>
              <a:t>log2FoldChange</a:t>
            </a:r>
            <a:r>
              <a:rPr lang="en-GB">
                <a:solidFill>
                  <a:schemeClr val="dk1"/>
                </a:solidFill>
              </a:rPr>
              <a:t>, adjusted p-value $&lt; 0.05$) comparing CD against nonIBD controls.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Results &amp; Conclusions: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Targeted Dysbiosis:</a:t>
            </a:r>
            <a:r>
              <a:rPr lang="en-GB">
                <a:solidFill>
                  <a:schemeClr val="dk1"/>
                </a:solidFill>
              </a:rPr>
              <a:t> The healthy baseline relies on cyan </a:t>
            </a:r>
            <a:r>
              <a:rPr b="1" i="1" lang="en-GB">
                <a:solidFill>
                  <a:schemeClr val="dk1"/>
                </a:solidFill>
              </a:rPr>
              <a:t>Faecalibacterium</a:t>
            </a:r>
            <a:r>
              <a:rPr lang="en-GB">
                <a:solidFill>
                  <a:schemeClr val="dk1"/>
                </a:solidFill>
              </a:rPr>
              <a:t> (healthy obligate anaerobe). During Crohn's inflammation, green </a:t>
            </a:r>
            <a:r>
              <a:rPr b="1" i="1" lang="en-GB">
                <a:solidFill>
                  <a:schemeClr val="dk1"/>
                </a:solidFill>
              </a:rPr>
              <a:t>Escherichia-Shigella</a:t>
            </a:r>
            <a:r>
              <a:rPr lang="en-GB">
                <a:solidFill>
                  <a:schemeClr val="dk1"/>
                </a:solidFill>
              </a:rPr>
              <a:t> (harmful facultative anaerobes) completely explodes, while the healthy obligate anaerobes shrink drastically (especially notable in UC).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Statistical Discovery:</a:t>
            </a:r>
            <a:r>
              <a:rPr lang="en-GB">
                <a:solidFill>
                  <a:schemeClr val="dk1"/>
                </a:solidFill>
              </a:rPr>
              <a:t> DESeq2 proved </a:t>
            </a:r>
            <a:r>
              <a:rPr b="1" i="1" lang="en-GB">
                <a:solidFill>
                  <a:schemeClr val="dk1"/>
                </a:solidFill>
              </a:rPr>
              <a:t>Epulopiscium</a:t>
            </a:r>
            <a:r>
              <a:rPr lang="en-GB">
                <a:solidFill>
                  <a:schemeClr val="dk1"/>
                </a:solidFill>
              </a:rPr>
              <a:t> is the top mathematically expanded genus (highest positive fold-change) and </a:t>
            </a:r>
            <a:r>
              <a:rPr b="1" i="1" lang="en-GB">
                <a:solidFill>
                  <a:schemeClr val="dk1"/>
                </a:solidFill>
              </a:rPr>
              <a:t>Prevotella_9</a:t>
            </a:r>
            <a:r>
              <a:rPr lang="en-GB">
                <a:solidFill>
                  <a:schemeClr val="dk1"/>
                </a:solidFill>
              </a:rPr>
              <a:t> is the top depleted genus (most negative fold-change).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Depletion/Expansion Mechanics:</a:t>
            </a:r>
            <a:r>
              <a:rPr lang="en-GB">
                <a:solidFill>
                  <a:schemeClr val="dk1"/>
                </a:solidFill>
              </a:rPr>
              <a:t> As a strict obligate anaerobe, </a:t>
            </a:r>
            <a:r>
              <a:rPr i="1" lang="en-GB">
                <a:solidFill>
                  <a:schemeClr val="dk1"/>
                </a:solidFill>
              </a:rPr>
              <a:t>Prevotella_9</a:t>
            </a:r>
            <a:r>
              <a:rPr lang="en-GB">
                <a:solidFill>
                  <a:schemeClr val="dk1"/>
                </a:solidFill>
              </a:rPr>
              <a:t> drops to </a:t>
            </a:r>
            <a:r>
              <a:rPr b="1" lang="en-GB">
                <a:solidFill>
                  <a:schemeClr val="dk1"/>
                </a:solidFill>
              </a:rPr>
              <a:t>0% relative abundance</a:t>
            </a:r>
            <a:r>
              <a:rPr lang="en-GB">
                <a:solidFill>
                  <a:schemeClr val="dk1"/>
                </a:solidFill>
              </a:rPr>
              <a:t> in the CD Ileum because aggressive inflammation floods the tissue with toxic oxygen. The expansion of </a:t>
            </a:r>
            <a:r>
              <a:rPr i="1" lang="en-GB">
                <a:solidFill>
                  <a:schemeClr val="dk1"/>
                </a:solidFill>
              </a:rPr>
              <a:t>Epulopiscium</a:t>
            </a:r>
            <a:r>
              <a:rPr lang="en-GB">
                <a:solidFill>
                  <a:schemeClr val="dk1"/>
                </a:solidFill>
              </a:rPr>
              <a:t> illustrates the complexity of real-world dysbiosis, where </a:t>
            </a:r>
            <a:br>
              <a:rPr lang="en-GB">
                <a:solidFill>
                  <a:schemeClr val="dk1"/>
                </a:solidFill>
              </a:rPr>
            </a:br>
            <a:r>
              <a:rPr b="1" lang="en-GB">
                <a:solidFill>
                  <a:schemeClr val="dk1"/>
                </a:solidFill>
              </a:rPr>
              <a:t>Expansion Mechanics (</a:t>
            </a:r>
            <a:r>
              <a:rPr b="1" i="1" lang="en-GB">
                <a:solidFill>
                  <a:schemeClr val="dk1"/>
                </a:solidFill>
              </a:rPr>
              <a:t>Epulopiscium</a:t>
            </a:r>
            <a:r>
              <a:rPr b="1" lang="en-GB">
                <a:solidFill>
                  <a:schemeClr val="dk1"/>
                </a:solidFill>
              </a:rPr>
              <a:t>):</a:t>
            </a:r>
            <a:r>
              <a:rPr lang="en-GB">
                <a:solidFill>
                  <a:schemeClr val="dk1"/>
                </a:solidFill>
              </a:rPr>
              <a:t> Biologically a strict obligate anaerobe; its mathematical expansion illustrates real-world dysbiosis complexity (opportunistic blooms driven by nutrient shifts or loss of competition) operating alongside standard facultative blooms..</a:t>
            </a:r>
            <a:br>
              <a:rPr lang="en-GB">
                <a:solidFill>
                  <a:schemeClr val="dk1"/>
                </a:solidFill>
              </a:rPr>
            </a:br>
            <a:br>
              <a:rPr lang="en-GB">
                <a:solidFill>
                  <a:schemeClr val="dk1"/>
                </a:solidFill>
              </a:rPr>
            </a:br>
            <a:br>
              <a:rPr lang="en-GB">
                <a:solidFill>
                  <a:schemeClr val="dk1"/>
                </a:solidFill>
              </a:rPr>
            </a:br>
            <a:r>
              <a:rPr lang="en-GB" sz="1000">
                <a:solidFill>
                  <a:schemeClr val="dk1"/>
                </a:solidFill>
                <a:highlight>
                  <a:srgbClr val="FFFFFF"/>
                </a:highlight>
                <a:latin typeface="Courier New"/>
                <a:ea typeface="Courier New"/>
                <a:cs typeface="Courier New"/>
                <a:sym typeface="Courier New"/>
              </a:rPr>
              <a:t>Epulopiscium Log2FC = 23.88571</a:t>
            </a:r>
            <a:endParaRPr sz="1000">
              <a:solidFill>
                <a:schemeClr val="dk1"/>
              </a:solidFill>
              <a:highlight>
                <a:srgbClr val="FFFFFF"/>
              </a:highlight>
              <a:latin typeface="Courier New"/>
              <a:ea typeface="Courier New"/>
              <a:cs typeface="Courier New"/>
              <a:sym typeface="Courier New"/>
            </a:endParaRPr>
          </a:p>
          <a:p>
            <a:pPr indent="-292100" lvl="0" marL="457200" rtl="0" algn="l">
              <a:lnSpc>
                <a:spcPct val="125000"/>
              </a:lnSpc>
              <a:spcBef>
                <a:spcPts val="0"/>
              </a:spcBef>
              <a:spcAft>
                <a:spcPts val="0"/>
              </a:spcAft>
              <a:buClr>
                <a:schemeClr val="dk1"/>
              </a:buClr>
              <a:buSzPts val="1000"/>
              <a:buFont typeface="Courier New"/>
              <a:buChar char="●"/>
            </a:pPr>
            <a:r>
              <a:rPr lang="en-GB" sz="1000">
                <a:solidFill>
                  <a:schemeClr val="dk1"/>
                </a:solidFill>
                <a:highlight>
                  <a:srgbClr val="FFFFFF"/>
                </a:highlight>
                <a:latin typeface="Courier New"/>
                <a:ea typeface="Courier New"/>
                <a:cs typeface="Courier New"/>
                <a:sym typeface="Courier New"/>
              </a:rPr>
              <a:t>Prevotella_9 Log2FC =  -7.945466</a:t>
            </a:r>
            <a:endParaRPr sz="1000">
              <a:solidFill>
                <a:schemeClr val="dk1"/>
              </a:solidFill>
              <a:highlight>
                <a:srgbClr val="FFFFFF"/>
              </a:highlight>
              <a:latin typeface="Courier New"/>
              <a:ea typeface="Courier New"/>
              <a:cs typeface="Courier New"/>
              <a:sym typeface="Courier New"/>
            </a:endParaRPr>
          </a:p>
          <a:p>
            <a:pPr indent="-292100" lvl="0" marL="457200" rtl="0" algn="l">
              <a:lnSpc>
                <a:spcPct val="125000"/>
              </a:lnSpc>
              <a:spcBef>
                <a:spcPts val="0"/>
              </a:spcBef>
              <a:spcAft>
                <a:spcPts val="0"/>
              </a:spcAft>
              <a:buClr>
                <a:schemeClr val="dk1"/>
              </a:buClr>
              <a:buSzPts val="1000"/>
              <a:buFont typeface="Courier New"/>
              <a:buChar char="●"/>
            </a:pPr>
            <a:r>
              <a:t/>
            </a:r>
            <a:endParaRPr sz="1000">
              <a:solidFill>
                <a:schemeClr val="dk1"/>
              </a:solidFill>
              <a:highlight>
                <a:srgbClr val="FFFFFF"/>
              </a:highlight>
              <a:latin typeface="Courier New"/>
              <a:ea typeface="Courier New"/>
              <a:cs typeface="Courier New"/>
              <a:sym typeface="Courier New"/>
            </a:endParaRPr>
          </a:p>
          <a:p>
            <a:pPr indent="-292100" lvl="0" marL="457200" rtl="0" algn="l">
              <a:lnSpc>
                <a:spcPct val="115000"/>
              </a:lnSpc>
              <a:spcBef>
                <a:spcPts val="0"/>
              </a:spcBef>
              <a:spcAft>
                <a:spcPts val="0"/>
              </a:spcAft>
              <a:buClr>
                <a:schemeClr val="dk1"/>
              </a:buClr>
              <a:buSzPts val="1000"/>
              <a:buFont typeface="Courier New"/>
              <a:buChar char="●"/>
            </a:pPr>
            <a:r>
              <a:t/>
            </a:r>
            <a:endParaRPr sz="1000">
              <a:solidFill>
                <a:schemeClr val="dk1"/>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spcBef>
                <a:spcPts val="1200"/>
              </a:spcBef>
              <a:spcAft>
                <a:spcPts val="0"/>
              </a:spcAft>
              <a:buNone/>
            </a:pPr>
            <a:r>
              <a:t/>
            </a:r>
            <a:endParaRPr b="1" sz="1300">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409b11864a1_22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g409b11864a1_22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3000"/>
              </a:lnSpc>
              <a:spcBef>
                <a:spcPts val="800"/>
              </a:spcBef>
              <a:spcAft>
                <a:spcPts val="800"/>
              </a:spcAft>
              <a:buSzPts val="1100"/>
              <a:buNone/>
            </a:pPr>
            <a:r>
              <a:t/>
            </a:r>
            <a:endParaRPr sz="1700">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409b11864a1_22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2" name="Google Shape;602;g409b11864a1_22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sz="1700">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409b11864a1_2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1" name="Google Shape;611;g409b11864a1_22_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sz="17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409b11864a1_22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g409b11864a1_22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sz="17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409b11864a1_26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4" name="Google Shape;644;g409b11864a1_26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409b11864a1_26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g409b11864a1_26_8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409b11864a1_26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g409b11864a1_26_8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
    <p:spTree>
      <p:nvGrpSpPr>
        <p:cNvPr id="9" name="Shape 9"/>
        <p:cNvGrpSpPr/>
        <p:nvPr/>
      </p:nvGrpSpPr>
      <p:grpSpPr>
        <a:xfrm>
          <a:off x="0" y="0"/>
          <a:ext cx="0" cy="0"/>
          <a:chOff x="0" y="0"/>
          <a:chExt cx="0" cy="0"/>
        </a:xfrm>
      </p:grpSpPr>
      <p:sp>
        <p:nvSpPr>
          <p:cNvPr id="10" name="Google Shape;10;p2"/>
          <p:cNvSpPr/>
          <p:nvPr/>
        </p:nvSpPr>
        <p:spPr>
          <a:xfrm>
            <a:off x="0" y="4016800"/>
            <a:ext cx="9144000" cy="5061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 name="Google Shape;11;p2"/>
          <p:cNvSpPr/>
          <p:nvPr/>
        </p:nvSpPr>
        <p:spPr>
          <a:xfrm>
            <a:off x="0" y="4522925"/>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 name="Google Shape;12;p2"/>
          <p:cNvSpPr/>
          <p:nvPr/>
        </p:nvSpPr>
        <p:spPr>
          <a:xfrm>
            <a:off x="0" y="1309700"/>
            <a:ext cx="9144000" cy="27072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pic>
        <p:nvPicPr>
          <p:cNvPr id="13" name="Google Shape;13;p2" title="CRIT_Colour_alpha.png"/>
          <p:cNvPicPr preferRelativeResize="0"/>
          <p:nvPr/>
        </p:nvPicPr>
        <p:blipFill>
          <a:blip r:embed="rId2">
            <a:alphaModFix/>
          </a:blip>
          <a:stretch>
            <a:fillRect/>
          </a:stretch>
        </p:blipFill>
        <p:spPr>
          <a:xfrm>
            <a:off x="359275" y="251999"/>
            <a:ext cx="2450924" cy="694425"/>
          </a:xfrm>
          <a:prstGeom prst="rect">
            <a:avLst/>
          </a:prstGeom>
          <a:noFill/>
          <a:ln>
            <a:noFill/>
          </a:ln>
        </p:spPr>
      </p:pic>
      <p:sp>
        <p:nvSpPr>
          <p:cNvPr id="14" name="Google Shape;14;p2"/>
          <p:cNvSpPr txBox="1"/>
          <p:nvPr>
            <p:ph type="title"/>
          </p:nvPr>
        </p:nvSpPr>
        <p:spPr>
          <a:xfrm>
            <a:off x="270000" y="1538300"/>
            <a:ext cx="8604000" cy="1077900"/>
          </a:xfrm>
          <a:prstGeom prst="rect">
            <a:avLst/>
          </a:prstGeom>
        </p:spPr>
        <p:txBody>
          <a:bodyPr anchorCtr="0" anchor="t" bIns="91425" lIns="91425" spcFirstLastPara="1" rIns="91425" wrap="square" tIns="91425">
            <a:spAutoFit/>
          </a:bodyPr>
          <a:lstStyle>
            <a:lvl1pPr lvl="0">
              <a:spcBef>
                <a:spcPts val="0"/>
              </a:spcBef>
              <a:spcAft>
                <a:spcPts val="0"/>
              </a:spcAft>
              <a:buClr>
                <a:srgbClr val="FFFFFF"/>
              </a:buClr>
              <a:buSzPts val="3600"/>
              <a:buNone/>
              <a:defRPr b="1" sz="3600">
                <a:solidFill>
                  <a:srgbClr val="FFFFFF"/>
                </a:solidFill>
              </a:defRPr>
            </a:lvl1pPr>
            <a:lvl2pPr lvl="1">
              <a:spcBef>
                <a:spcPts val="0"/>
              </a:spcBef>
              <a:spcAft>
                <a:spcPts val="0"/>
              </a:spcAft>
              <a:buClr>
                <a:srgbClr val="FFFFFF"/>
              </a:buClr>
              <a:buSzPts val="3600"/>
              <a:buNone/>
              <a:defRPr b="1" sz="3600">
                <a:solidFill>
                  <a:srgbClr val="FFFFFF"/>
                </a:solidFill>
              </a:defRPr>
            </a:lvl2pPr>
            <a:lvl3pPr lvl="2">
              <a:spcBef>
                <a:spcPts val="0"/>
              </a:spcBef>
              <a:spcAft>
                <a:spcPts val="0"/>
              </a:spcAft>
              <a:buClr>
                <a:srgbClr val="FFFFFF"/>
              </a:buClr>
              <a:buSzPts val="3600"/>
              <a:buNone/>
              <a:defRPr b="1" sz="3600">
                <a:solidFill>
                  <a:srgbClr val="FFFFFF"/>
                </a:solidFill>
              </a:defRPr>
            </a:lvl3pPr>
            <a:lvl4pPr lvl="3">
              <a:spcBef>
                <a:spcPts val="0"/>
              </a:spcBef>
              <a:spcAft>
                <a:spcPts val="0"/>
              </a:spcAft>
              <a:buClr>
                <a:srgbClr val="FFFFFF"/>
              </a:buClr>
              <a:buSzPts val="3600"/>
              <a:buNone/>
              <a:defRPr b="1" sz="3600">
                <a:solidFill>
                  <a:srgbClr val="FFFFFF"/>
                </a:solidFill>
              </a:defRPr>
            </a:lvl4pPr>
            <a:lvl5pPr lvl="4">
              <a:spcBef>
                <a:spcPts val="0"/>
              </a:spcBef>
              <a:spcAft>
                <a:spcPts val="0"/>
              </a:spcAft>
              <a:buClr>
                <a:srgbClr val="FFFFFF"/>
              </a:buClr>
              <a:buSzPts val="3600"/>
              <a:buNone/>
              <a:defRPr b="1" sz="3600">
                <a:solidFill>
                  <a:srgbClr val="FFFFFF"/>
                </a:solidFill>
              </a:defRPr>
            </a:lvl5pPr>
            <a:lvl6pPr lvl="5">
              <a:spcBef>
                <a:spcPts val="0"/>
              </a:spcBef>
              <a:spcAft>
                <a:spcPts val="0"/>
              </a:spcAft>
              <a:buClr>
                <a:srgbClr val="FFFFFF"/>
              </a:buClr>
              <a:buSzPts val="3600"/>
              <a:buNone/>
              <a:defRPr b="1" sz="3600">
                <a:solidFill>
                  <a:srgbClr val="FFFFFF"/>
                </a:solidFill>
              </a:defRPr>
            </a:lvl6pPr>
            <a:lvl7pPr lvl="6">
              <a:spcBef>
                <a:spcPts val="0"/>
              </a:spcBef>
              <a:spcAft>
                <a:spcPts val="0"/>
              </a:spcAft>
              <a:buClr>
                <a:srgbClr val="FFFFFF"/>
              </a:buClr>
              <a:buSzPts val="3600"/>
              <a:buNone/>
              <a:defRPr b="1" sz="3600">
                <a:solidFill>
                  <a:srgbClr val="FFFFFF"/>
                </a:solidFill>
              </a:defRPr>
            </a:lvl7pPr>
            <a:lvl8pPr lvl="7">
              <a:spcBef>
                <a:spcPts val="0"/>
              </a:spcBef>
              <a:spcAft>
                <a:spcPts val="0"/>
              </a:spcAft>
              <a:buClr>
                <a:srgbClr val="FFFFFF"/>
              </a:buClr>
              <a:buSzPts val="3600"/>
              <a:buNone/>
              <a:defRPr b="1" sz="3600">
                <a:solidFill>
                  <a:srgbClr val="FFFFFF"/>
                </a:solidFill>
              </a:defRPr>
            </a:lvl8pPr>
            <a:lvl9pPr lvl="8">
              <a:spcBef>
                <a:spcPts val="0"/>
              </a:spcBef>
              <a:spcAft>
                <a:spcPts val="0"/>
              </a:spcAft>
              <a:buClr>
                <a:srgbClr val="FFFFFF"/>
              </a:buClr>
              <a:buSzPts val="3600"/>
              <a:buNone/>
              <a:defRPr b="1" sz="3600">
                <a:solidFill>
                  <a:srgbClr val="FFFFFF"/>
                </a:solidFill>
              </a:defRPr>
            </a:lvl9pPr>
          </a:lstStyle>
          <a:p/>
        </p:txBody>
      </p:sp>
      <p:sp>
        <p:nvSpPr>
          <p:cNvPr id="15" name="Google Shape;15;p2"/>
          <p:cNvSpPr txBox="1"/>
          <p:nvPr>
            <p:ph idx="1" type="subTitle"/>
          </p:nvPr>
        </p:nvSpPr>
        <p:spPr>
          <a:xfrm>
            <a:off x="270000" y="2860675"/>
            <a:ext cx="8604000" cy="996300"/>
          </a:xfrm>
          <a:prstGeom prst="rect">
            <a:avLst/>
          </a:prstGeom>
        </p:spPr>
        <p:txBody>
          <a:bodyPr anchorCtr="0" anchor="b" bIns="91425" lIns="91425" spcFirstLastPara="1" rIns="91425" wrap="square" tIns="91425">
            <a:spAutoFit/>
          </a:bodyPr>
          <a:lstStyle>
            <a:lvl1pPr lvl="0">
              <a:spcBef>
                <a:spcPts val="0"/>
              </a:spcBef>
              <a:spcAft>
                <a:spcPts val="0"/>
              </a:spcAft>
              <a:buClr>
                <a:srgbClr val="FFFFFF"/>
              </a:buClr>
              <a:buSzPts val="1800"/>
              <a:buNone/>
              <a:defRPr b="1" sz="1800">
                <a:solidFill>
                  <a:srgbClr val="FFFFFF"/>
                </a:solidFill>
              </a:defRPr>
            </a:lvl1pPr>
            <a:lvl2pPr lvl="1">
              <a:spcBef>
                <a:spcPts val="0"/>
              </a:spcBef>
              <a:spcAft>
                <a:spcPts val="0"/>
              </a:spcAft>
              <a:buClr>
                <a:srgbClr val="FFFFFF"/>
              </a:buClr>
              <a:buSzPts val="2200"/>
              <a:buNone/>
              <a:defRPr b="1">
                <a:solidFill>
                  <a:srgbClr val="FFFFFF"/>
                </a:solidFill>
              </a:defRPr>
            </a:lvl2pPr>
            <a:lvl3pPr lvl="2">
              <a:spcBef>
                <a:spcPts val="0"/>
              </a:spcBef>
              <a:spcAft>
                <a:spcPts val="0"/>
              </a:spcAft>
              <a:buClr>
                <a:srgbClr val="FFFFFF"/>
              </a:buClr>
              <a:buSzPts val="2200"/>
              <a:buNone/>
              <a:defRPr b="1">
                <a:solidFill>
                  <a:srgbClr val="FFFFFF"/>
                </a:solidFill>
              </a:defRPr>
            </a:lvl3pPr>
            <a:lvl4pPr lvl="3">
              <a:spcBef>
                <a:spcPts val="0"/>
              </a:spcBef>
              <a:spcAft>
                <a:spcPts val="0"/>
              </a:spcAft>
              <a:buClr>
                <a:srgbClr val="FFFFFF"/>
              </a:buClr>
              <a:buSzPts val="2200"/>
              <a:buNone/>
              <a:defRPr b="1">
                <a:solidFill>
                  <a:srgbClr val="FFFFFF"/>
                </a:solidFill>
              </a:defRPr>
            </a:lvl4pPr>
            <a:lvl5pPr lvl="4">
              <a:spcBef>
                <a:spcPts val="0"/>
              </a:spcBef>
              <a:spcAft>
                <a:spcPts val="0"/>
              </a:spcAft>
              <a:buClr>
                <a:srgbClr val="FFFFFF"/>
              </a:buClr>
              <a:buSzPts val="2200"/>
              <a:buNone/>
              <a:defRPr b="1">
                <a:solidFill>
                  <a:srgbClr val="FFFFFF"/>
                </a:solidFill>
              </a:defRPr>
            </a:lvl5pPr>
            <a:lvl6pPr lvl="5">
              <a:spcBef>
                <a:spcPts val="0"/>
              </a:spcBef>
              <a:spcAft>
                <a:spcPts val="0"/>
              </a:spcAft>
              <a:buClr>
                <a:srgbClr val="FFFFFF"/>
              </a:buClr>
              <a:buSzPts val="2200"/>
              <a:buNone/>
              <a:defRPr b="1">
                <a:solidFill>
                  <a:srgbClr val="FFFFFF"/>
                </a:solidFill>
              </a:defRPr>
            </a:lvl6pPr>
            <a:lvl7pPr lvl="6">
              <a:spcBef>
                <a:spcPts val="0"/>
              </a:spcBef>
              <a:spcAft>
                <a:spcPts val="0"/>
              </a:spcAft>
              <a:buClr>
                <a:srgbClr val="FFFFFF"/>
              </a:buClr>
              <a:buSzPts val="2200"/>
              <a:buNone/>
              <a:defRPr b="1">
                <a:solidFill>
                  <a:srgbClr val="FFFFFF"/>
                </a:solidFill>
              </a:defRPr>
            </a:lvl7pPr>
            <a:lvl8pPr lvl="7">
              <a:spcBef>
                <a:spcPts val="0"/>
              </a:spcBef>
              <a:spcAft>
                <a:spcPts val="0"/>
              </a:spcAft>
              <a:buClr>
                <a:srgbClr val="FFFFFF"/>
              </a:buClr>
              <a:buSzPts val="2200"/>
              <a:buNone/>
              <a:defRPr b="1">
                <a:solidFill>
                  <a:srgbClr val="FFFFFF"/>
                </a:solidFill>
              </a:defRPr>
            </a:lvl8pPr>
            <a:lvl9pPr lvl="8">
              <a:spcBef>
                <a:spcPts val="0"/>
              </a:spcBef>
              <a:spcAft>
                <a:spcPts val="0"/>
              </a:spcAft>
              <a:buClr>
                <a:srgbClr val="FFFFFF"/>
              </a:buClr>
              <a:buSzPts val="2200"/>
              <a:buNone/>
              <a:defRPr b="1">
                <a:solidFill>
                  <a:srgbClr val="FFFFFF"/>
                </a:solidFill>
              </a:defRPr>
            </a:lvl9pPr>
          </a:lstStyle>
          <a:p/>
        </p:txBody>
      </p:sp>
      <p:sp>
        <p:nvSpPr>
          <p:cNvPr id="16" name="Google Shape;16;p2"/>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solidFill>
                  <a:schemeClr val="lt1"/>
                </a:solidFill>
              </a:defRPr>
            </a:lvl1pPr>
            <a:lvl2pPr lvl="1">
              <a:buNone/>
              <a:defRPr sz="1300">
                <a:solidFill>
                  <a:schemeClr val="lt1"/>
                </a:solidFill>
              </a:defRPr>
            </a:lvl2pPr>
            <a:lvl3pPr lvl="2">
              <a:buNone/>
              <a:defRPr sz="1300">
                <a:solidFill>
                  <a:schemeClr val="lt1"/>
                </a:solidFill>
              </a:defRPr>
            </a:lvl3pPr>
            <a:lvl4pPr lvl="3">
              <a:buNone/>
              <a:defRPr sz="1300">
                <a:solidFill>
                  <a:schemeClr val="lt1"/>
                </a:solidFill>
              </a:defRPr>
            </a:lvl4pPr>
            <a:lvl5pPr lvl="4">
              <a:buNone/>
              <a:defRPr sz="1300">
                <a:solidFill>
                  <a:schemeClr val="lt1"/>
                </a:solidFill>
              </a:defRPr>
            </a:lvl5pPr>
            <a:lvl6pPr lvl="5">
              <a:buNone/>
              <a:defRPr sz="1300">
                <a:solidFill>
                  <a:schemeClr val="lt1"/>
                </a:solidFill>
              </a:defRPr>
            </a:lvl6pPr>
            <a:lvl7pPr lvl="6">
              <a:buNone/>
              <a:defRPr sz="1300">
                <a:solidFill>
                  <a:schemeClr val="lt1"/>
                </a:solidFill>
              </a:defRPr>
            </a:lvl7pPr>
            <a:lvl8pPr lvl="7">
              <a:buNone/>
              <a:defRPr sz="1300">
                <a:solidFill>
                  <a:schemeClr val="lt1"/>
                </a:solidFill>
              </a:defRPr>
            </a:lvl8pPr>
            <a:lvl9pPr lvl="8">
              <a:buNone/>
              <a:defRPr sz="1300">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
    <p:spTree>
      <p:nvGrpSpPr>
        <p:cNvPr id="17" name="Shape 17"/>
        <p:cNvGrpSpPr/>
        <p:nvPr/>
      </p:nvGrpSpPr>
      <p:grpSpPr>
        <a:xfrm>
          <a:off x="0" y="0"/>
          <a:ext cx="0" cy="0"/>
          <a:chOff x="0" y="0"/>
          <a:chExt cx="0" cy="0"/>
        </a:xfrm>
      </p:grpSpPr>
      <p:sp>
        <p:nvSpPr>
          <p:cNvPr id="18" name="Google Shape;18;p3"/>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 name="Google Shape;19;p3"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20" name="Google Shape;20;p3"/>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 name="Google Shape;21;p3"/>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 name="Google Shape;22;p3"/>
          <p:cNvSpPr txBox="1"/>
          <p:nvPr>
            <p:ph type="title"/>
          </p:nvPr>
        </p:nvSpPr>
        <p:spPr>
          <a:xfrm>
            <a:off x="270000" y="1600575"/>
            <a:ext cx="8604000" cy="7770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b="1" sz="3600"/>
            </a:lvl1pPr>
            <a:lvl2pPr lvl="1">
              <a:spcBef>
                <a:spcPts val="0"/>
              </a:spcBef>
              <a:spcAft>
                <a:spcPts val="0"/>
              </a:spcAft>
              <a:buSzPts val="3600"/>
              <a:buNone/>
              <a:defRPr b="1" sz="3600"/>
            </a:lvl2pPr>
            <a:lvl3pPr lvl="2">
              <a:spcBef>
                <a:spcPts val="0"/>
              </a:spcBef>
              <a:spcAft>
                <a:spcPts val="0"/>
              </a:spcAft>
              <a:buSzPts val="3600"/>
              <a:buNone/>
              <a:defRPr b="1" sz="3600"/>
            </a:lvl3pPr>
            <a:lvl4pPr lvl="3">
              <a:spcBef>
                <a:spcPts val="0"/>
              </a:spcBef>
              <a:spcAft>
                <a:spcPts val="0"/>
              </a:spcAft>
              <a:buSzPts val="3600"/>
              <a:buNone/>
              <a:defRPr b="1" sz="3600"/>
            </a:lvl4pPr>
            <a:lvl5pPr lvl="4">
              <a:spcBef>
                <a:spcPts val="0"/>
              </a:spcBef>
              <a:spcAft>
                <a:spcPts val="0"/>
              </a:spcAft>
              <a:buSzPts val="3600"/>
              <a:buNone/>
              <a:defRPr b="1" sz="3600"/>
            </a:lvl5pPr>
            <a:lvl6pPr lvl="5">
              <a:spcBef>
                <a:spcPts val="0"/>
              </a:spcBef>
              <a:spcAft>
                <a:spcPts val="0"/>
              </a:spcAft>
              <a:buSzPts val="3600"/>
              <a:buNone/>
              <a:defRPr b="1" sz="3600"/>
            </a:lvl6pPr>
            <a:lvl7pPr lvl="6">
              <a:spcBef>
                <a:spcPts val="0"/>
              </a:spcBef>
              <a:spcAft>
                <a:spcPts val="0"/>
              </a:spcAft>
              <a:buSzPts val="3600"/>
              <a:buNone/>
              <a:defRPr b="1" sz="3600"/>
            </a:lvl7pPr>
            <a:lvl8pPr lvl="7">
              <a:spcBef>
                <a:spcPts val="0"/>
              </a:spcBef>
              <a:spcAft>
                <a:spcPts val="0"/>
              </a:spcAft>
              <a:buSzPts val="3600"/>
              <a:buNone/>
              <a:defRPr b="1" sz="3600"/>
            </a:lvl8pPr>
            <a:lvl9pPr lvl="8">
              <a:spcBef>
                <a:spcPts val="0"/>
              </a:spcBef>
              <a:spcAft>
                <a:spcPts val="0"/>
              </a:spcAft>
              <a:buSzPts val="3600"/>
              <a:buNone/>
              <a:defRPr b="1" sz="3600"/>
            </a:lvl9pPr>
          </a:lstStyle>
          <a:p/>
        </p:txBody>
      </p:sp>
      <p:sp>
        <p:nvSpPr>
          <p:cNvPr id="23" name="Google Shape;23;p3"/>
          <p:cNvSpPr txBox="1"/>
          <p:nvPr>
            <p:ph idx="1" type="subTitle"/>
          </p:nvPr>
        </p:nvSpPr>
        <p:spPr>
          <a:xfrm>
            <a:off x="270000" y="2377575"/>
            <a:ext cx="8604000" cy="896100"/>
          </a:xfrm>
          <a:prstGeom prst="rect">
            <a:avLst/>
          </a:prstGeom>
        </p:spPr>
        <p:txBody>
          <a:bodyPr anchorCtr="0" anchor="t" bIns="91425" lIns="91425" spcFirstLastPara="1" rIns="91425" wrap="square" tIns="91425">
            <a:sp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24" name="Google Shape;24;p3"/>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solidFill>
                  <a:srgbClr val="003E72"/>
                </a:solidFill>
              </a:defRPr>
            </a:lvl1pPr>
            <a:lvl2pPr lvl="1">
              <a:buNone/>
              <a:defRPr sz="1300">
                <a:solidFill>
                  <a:srgbClr val="003E72"/>
                </a:solidFill>
              </a:defRPr>
            </a:lvl2pPr>
            <a:lvl3pPr lvl="2">
              <a:buNone/>
              <a:defRPr sz="1300">
                <a:solidFill>
                  <a:srgbClr val="003E72"/>
                </a:solidFill>
              </a:defRPr>
            </a:lvl3pPr>
            <a:lvl4pPr lvl="3">
              <a:buNone/>
              <a:defRPr sz="1300">
                <a:solidFill>
                  <a:srgbClr val="003E72"/>
                </a:solidFill>
              </a:defRPr>
            </a:lvl4pPr>
            <a:lvl5pPr lvl="4">
              <a:buNone/>
              <a:defRPr sz="1300">
                <a:solidFill>
                  <a:srgbClr val="003E72"/>
                </a:solidFill>
              </a:defRPr>
            </a:lvl5pPr>
            <a:lvl6pPr lvl="5">
              <a:buNone/>
              <a:defRPr sz="1300">
                <a:solidFill>
                  <a:srgbClr val="003E72"/>
                </a:solidFill>
              </a:defRPr>
            </a:lvl6pPr>
            <a:lvl7pPr lvl="6">
              <a:buNone/>
              <a:defRPr sz="1300">
                <a:solidFill>
                  <a:srgbClr val="003E72"/>
                </a:solidFill>
              </a:defRPr>
            </a:lvl7pPr>
            <a:lvl8pPr lvl="7">
              <a:buNone/>
              <a:defRPr sz="1300">
                <a:solidFill>
                  <a:srgbClr val="003E72"/>
                </a:solidFill>
              </a:defRPr>
            </a:lvl8pPr>
            <a:lvl9pPr lvl="8">
              <a:buNone/>
              <a:defRPr sz="1300">
                <a:solidFill>
                  <a:srgbClr val="003E7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
    <p:spTree>
      <p:nvGrpSpPr>
        <p:cNvPr id="25" name="Shape 25"/>
        <p:cNvGrpSpPr/>
        <p:nvPr/>
      </p:nvGrpSpPr>
      <p:grpSpPr>
        <a:xfrm>
          <a:off x="0" y="0"/>
          <a:ext cx="0" cy="0"/>
          <a:chOff x="0" y="0"/>
          <a:chExt cx="0" cy="0"/>
        </a:xfrm>
      </p:grpSpPr>
      <p:sp>
        <p:nvSpPr>
          <p:cNvPr id="26" name="Google Shape;26;p4"/>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 name="Google Shape;28;p4"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29" name="Google Shape;29;p4"/>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 name="Google Shape;30;p4"/>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31" name="Google Shape;31;p4"/>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4">
    <p:spTree>
      <p:nvGrpSpPr>
        <p:cNvPr id="32" name="Shape 32"/>
        <p:cNvGrpSpPr/>
        <p:nvPr/>
      </p:nvGrpSpPr>
      <p:grpSpPr>
        <a:xfrm>
          <a:off x="0" y="0"/>
          <a:ext cx="0" cy="0"/>
          <a:chOff x="0" y="0"/>
          <a:chExt cx="0" cy="0"/>
        </a:xfrm>
      </p:grpSpPr>
      <p:sp>
        <p:nvSpPr>
          <p:cNvPr id="33" name="Google Shape;33;p5"/>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 name="Google Shape;34;p5"/>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 name="Google Shape;35;p5"/>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36" name="Google Shape;36;p5"/>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5"/>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38" name="Google Shape;38;p5"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39" name="Google Shape;39;p5"/>
          <p:cNvSpPr txBox="1"/>
          <p:nvPr>
            <p:ph idx="1" type="body"/>
          </p:nvPr>
        </p:nvSpPr>
        <p:spPr>
          <a:xfrm>
            <a:off x="270000" y="1167450"/>
            <a:ext cx="8604000" cy="3165000"/>
          </a:xfrm>
          <a:prstGeom prst="rect">
            <a:avLst/>
          </a:prstGeom>
        </p:spPr>
        <p:txBody>
          <a:bodyPr anchorCtr="0" anchor="t" bIns="91425" lIns="91425" spcFirstLastPara="1" rIns="91425" wrap="square" tIns="91425">
            <a:spAutoFit/>
          </a:bodyPr>
          <a:lstStyle>
            <a:lvl1pPr indent="-368300" lvl="0" marL="457200">
              <a:spcBef>
                <a:spcPts val="0"/>
              </a:spcBef>
              <a:spcAft>
                <a:spcPts val="0"/>
              </a:spcAft>
              <a:buSzPts val="22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USTOM_5">
    <p:spTree>
      <p:nvGrpSpPr>
        <p:cNvPr id="40" name="Shape 40"/>
        <p:cNvGrpSpPr/>
        <p:nvPr/>
      </p:nvGrpSpPr>
      <p:grpSpPr>
        <a:xfrm>
          <a:off x="0" y="0"/>
          <a:ext cx="0" cy="0"/>
          <a:chOff x="0" y="0"/>
          <a:chExt cx="0" cy="0"/>
        </a:xfrm>
      </p:grpSpPr>
      <p:sp>
        <p:nvSpPr>
          <p:cNvPr id="41" name="Google Shape;41;p6"/>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 name="Google Shape;42;p6"/>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6"/>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4" name="Google Shape;44;p6"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45" name="Google Shape;45;p6"/>
          <p:cNvSpPr txBox="1"/>
          <p:nvPr>
            <p:ph idx="1" type="body"/>
          </p:nvPr>
        </p:nvSpPr>
        <p:spPr>
          <a:xfrm>
            <a:off x="274975" y="1666875"/>
            <a:ext cx="4258800" cy="2708700"/>
          </a:xfrm>
          <a:prstGeom prst="rect">
            <a:avLst/>
          </a:prstGeom>
        </p:spPr>
        <p:txBody>
          <a:bodyPr anchorCtr="0" anchor="t" bIns="91425" lIns="91425" spcFirstLastPara="1" rIns="91425" wrap="square" tIns="91425">
            <a:spAutoFit/>
          </a:bodyPr>
          <a:lstStyle>
            <a:lvl1pPr indent="-368300" lvl="0" marL="457200">
              <a:spcBef>
                <a:spcPts val="0"/>
              </a:spcBef>
              <a:spcAft>
                <a:spcPts val="0"/>
              </a:spcAft>
              <a:buSzPts val="22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46" name="Google Shape;46;p6"/>
          <p:cNvSpPr txBox="1"/>
          <p:nvPr>
            <p:ph idx="2" type="body"/>
          </p:nvPr>
        </p:nvSpPr>
        <p:spPr>
          <a:xfrm>
            <a:off x="4610100" y="1666875"/>
            <a:ext cx="4263900" cy="2708700"/>
          </a:xfrm>
          <a:prstGeom prst="rect">
            <a:avLst/>
          </a:prstGeom>
        </p:spPr>
        <p:txBody>
          <a:bodyPr anchorCtr="0" anchor="t" bIns="91425" lIns="91425" spcFirstLastPara="1" rIns="91425" wrap="square" tIns="91425">
            <a:spAutoFit/>
          </a:bodyPr>
          <a:lstStyle>
            <a:lvl1pPr indent="-368300" lvl="0" marL="457200" rtl="0">
              <a:spcBef>
                <a:spcPts val="0"/>
              </a:spcBef>
              <a:spcAft>
                <a:spcPts val="0"/>
              </a:spcAft>
              <a:buSzPts val="2200"/>
              <a:buChar char="●"/>
              <a:defRPr/>
            </a:lvl1pPr>
            <a:lvl2pPr indent="-368300" lvl="1" marL="914400" rtl="0">
              <a:spcBef>
                <a:spcPts val="0"/>
              </a:spcBef>
              <a:spcAft>
                <a:spcPts val="0"/>
              </a:spcAft>
              <a:buSzPts val="2200"/>
              <a:buChar char="○"/>
              <a:defRPr/>
            </a:lvl2pPr>
            <a:lvl3pPr indent="-368300" lvl="2" marL="1371600" rtl="0">
              <a:spcBef>
                <a:spcPts val="0"/>
              </a:spcBef>
              <a:spcAft>
                <a:spcPts val="0"/>
              </a:spcAft>
              <a:buSzPts val="2200"/>
              <a:buChar char="■"/>
              <a:defRPr/>
            </a:lvl3pPr>
            <a:lvl4pPr indent="-368300" lvl="3" marL="1828800" rtl="0">
              <a:spcBef>
                <a:spcPts val="0"/>
              </a:spcBef>
              <a:spcAft>
                <a:spcPts val="0"/>
              </a:spcAft>
              <a:buSzPts val="2200"/>
              <a:buChar char="●"/>
              <a:defRPr/>
            </a:lvl4pPr>
            <a:lvl5pPr indent="-368300" lvl="4" marL="2286000" rtl="0">
              <a:spcBef>
                <a:spcPts val="0"/>
              </a:spcBef>
              <a:spcAft>
                <a:spcPts val="0"/>
              </a:spcAft>
              <a:buSzPts val="2200"/>
              <a:buChar char="○"/>
              <a:defRPr/>
            </a:lvl5pPr>
            <a:lvl6pPr indent="-368300" lvl="5" marL="2743200" rtl="0">
              <a:spcBef>
                <a:spcPts val="0"/>
              </a:spcBef>
              <a:spcAft>
                <a:spcPts val="0"/>
              </a:spcAft>
              <a:buSzPts val="2200"/>
              <a:buChar char="■"/>
              <a:defRPr/>
            </a:lvl6pPr>
            <a:lvl7pPr indent="-368300" lvl="6" marL="3200400" rtl="0">
              <a:spcBef>
                <a:spcPts val="0"/>
              </a:spcBef>
              <a:spcAft>
                <a:spcPts val="0"/>
              </a:spcAft>
              <a:buSzPts val="2200"/>
              <a:buChar char="●"/>
              <a:defRPr/>
            </a:lvl7pPr>
            <a:lvl8pPr indent="-368300" lvl="7" marL="3657600" rtl="0">
              <a:spcBef>
                <a:spcPts val="0"/>
              </a:spcBef>
              <a:spcAft>
                <a:spcPts val="0"/>
              </a:spcAft>
              <a:buSzPts val="2200"/>
              <a:buChar char="○"/>
              <a:defRPr/>
            </a:lvl8pPr>
            <a:lvl9pPr indent="-368300" lvl="8" marL="4114800" rtl="0">
              <a:spcBef>
                <a:spcPts val="0"/>
              </a:spcBef>
              <a:spcAft>
                <a:spcPts val="0"/>
              </a:spcAft>
              <a:buSzPts val="2200"/>
              <a:buChar char="■"/>
              <a:defRPr/>
            </a:lvl9pPr>
          </a:lstStyle>
          <a:p/>
        </p:txBody>
      </p:sp>
      <p:sp>
        <p:nvSpPr>
          <p:cNvPr id="47" name="Google Shape;47;p6"/>
          <p:cNvSpPr txBox="1"/>
          <p:nvPr>
            <p:ph idx="3" type="subTitle"/>
          </p:nvPr>
        </p:nvSpPr>
        <p:spPr>
          <a:xfrm>
            <a:off x="270000" y="1091400"/>
            <a:ext cx="4263900" cy="635100"/>
          </a:xfrm>
          <a:prstGeom prst="rect">
            <a:avLst/>
          </a:prstGeom>
        </p:spPr>
        <p:txBody>
          <a:bodyPr anchorCtr="0" anchor="t" bIns="91425" lIns="91425" spcFirstLastPara="1" rIns="91425" wrap="square" tIns="91425">
            <a:spAutoFit/>
          </a:bodyPr>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p:txBody>
      </p:sp>
      <p:sp>
        <p:nvSpPr>
          <p:cNvPr id="48" name="Google Shape;48;p6"/>
          <p:cNvSpPr txBox="1"/>
          <p:nvPr>
            <p:ph idx="4" type="subTitle"/>
          </p:nvPr>
        </p:nvSpPr>
        <p:spPr>
          <a:xfrm>
            <a:off x="4610100" y="1091400"/>
            <a:ext cx="4263900" cy="635100"/>
          </a:xfrm>
          <a:prstGeom prst="rect">
            <a:avLst/>
          </a:prstGeom>
        </p:spPr>
        <p:txBody>
          <a:bodyPr anchorCtr="0" anchor="t" bIns="91425" lIns="91425" spcFirstLastPara="1" rIns="91425" wrap="square" tIns="91425">
            <a:spAutoFit/>
          </a:bodyPr>
          <a:lstStyle>
            <a:lvl1pPr lvl="0" rtl="0">
              <a:spcBef>
                <a:spcPts val="0"/>
              </a:spcBef>
              <a:spcAft>
                <a:spcPts val="0"/>
              </a:spcAft>
              <a:buSzPts val="2200"/>
              <a:buNone/>
              <a:defRPr/>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p:txBody>
      </p:sp>
      <p:sp>
        <p:nvSpPr>
          <p:cNvPr id="49" name="Google Shape;49;p6"/>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 name="Google Shape;50;p6"/>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CUSTOM_6">
    <p:spTree>
      <p:nvGrpSpPr>
        <p:cNvPr id="51" name="Shape 51"/>
        <p:cNvGrpSpPr/>
        <p:nvPr/>
      </p:nvGrpSpPr>
      <p:grpSpPr>
        <a:xfrm>
          <a:off x="0" y="0"/>
          <a:ext cx="0" cy="0"/>
          <a:chOff x="0" y="0"/>
          <a:chExt cx="0" cy="0"/>
        </a:xfrm>
      </p:grpSpPr>
      <p:sp>
        <p:nvSpPr>
          <p:cNvPr id="52" name="Google Shape;52;p7"/>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7"/>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None/>
              <a:defRPr b="0" i="0" sz="1000" u="none" cap="none" strike="noStrike">
                <a:latin typeface="Arial"/>
                <a:ea typeface="Arial"/>
                <a:cs typeface="Arial"/>
                <a:sym typeface="Arial"/>
              </a:defRPr>
            </a:lvl1pPr>
            <a:lvl2pPr indent="0" lvl="1" marL="0" marR="0" algn="r">
              <a:spcBef>
                <a:spcPts val="0"/>
              </a:spcBef>
              <a:spcAft>
                <a:spcPts val="0"/>
              </a:spcAft>
              <a:buNone/>
              <a:defRPr b="0" i="0" sz="1000" u="none" cap="none" strike="noStrike">
                <a:latin typeface="Arial"/>
                <a:ea typeface="Arial"/>
                <a:cs typeface="Arial"/>
                <a:sym typeface="Arial"/>
              </a:defRPr>
            </a:lvl2pPr>
            <a:lvl3pPr indent="0" lvl="2" marL="0" marR="0" algn="r">
              <a:spcBef>
                <a:spcPts val="0"/>
              </a:spcBef>
              <a:spcAft>
                <a:spcPts val="0"/>
              </a:spcAft>
              <a:buNone/>
              <a:defRPr b="0" i="0" sz="1000" u="none" cap="none" strike="noStrike">
                <a:latin typeface="Arial"/>
                <a:ea typeface="Arial"/>
                <a:cs typeface="Arial"/>
                <a:sym typeface="Arial"/>
              </a:defRPr>
            </a:lvl3pPr>
            <a:lvl4pPr indent="0" lvl="3" marL="0" marR="0" algn="r">
              <a:spcBef>
                <a:spcPts val="0"/>
              </a:spcBef>
              <a:spcAft>
                <a:spcPts val="0"/>
              </a:spcAft>
              <a:buNone/>
              <a:defRPr b="0" i="0" sz="1000" u="none" cap="none" strike="noStrike">
                <a:latin typeface="Arial"/>
                <a:ea typeface="Arial"/>
                <a:cs typeface="Arial"/>
                <a:sym typeface="Arial"/>
              </a:defRPr>
            </a:lvl4pPr>
            <a:lvl5pPr indent="0" lvl="4" marL="0" marR="0" algn="r">
              <a:spcBef>
                <a:spcPts val="0"/>
              </a:spcBef>
              <a:spcAft>
                <a:spcPts val="0"/>
              </a:spcAft>
              <a:buNone/>
              <a:defRPr b="0" i="0" sz="1000" u="none" cap="none" strike="noStrike">
                <a:latin typeface="Arial"/>
                <a:ea typeface="Arial"/>
                <a:cs typeface="Arial"/>
                <a:sym typeface="Arial"/>
              </a:defRPr>
            </a:lvl5pPr>
            <a:lvl6pPr indent="0" lvl="5" marL="0" marR="0" algn="r">
              <a:spcBef>
                <a:spcPts val="0"/>
              </a:spcBef>
              <a:spcAft>
                <a:spcPts val="0"/>
              </a:spcAft>
              <a:buNone/>
              <a:defRPr b="0" i="0" sz="1000" u="none" cap="none" strike="noStrike">
                <a:latin typeface="Arial"/>
                <a:ea typeface="Arial"/>
                <a:cs typeface="Arial"/>
                <a:sym typeface="Arial"/>
              </a:defRPr>
            </a:lvl6pPr>
            <a:lvl7pPr indent="0" lvl="6" marL="0" marR="0" algn="r">
              <a:spcBef>
                <a:spcPts val="0"/>
              </a:spcBef>
              <a:spcAft>
                <a:spcPts val="0"/>
              </a:spcAft>
              <a:buNone/>
              <a:defRPr b="0" i="0" sz="1000" u="none" cap="none" strike="noStrike">
                <a:latin typeface="Arial"/>
                <a:ea typeface="Arial"/>
                <a:cs typeface="Arial"/>
                <a:sym typeface="Arial"/>
              </a:defRPr>
            </a:lvl7pPr>
            <a:lvl8pPr indent="0" lvl="7" marL="0" marR="0" algn="r">
              <a:spcBef>
                <a:spcPts val="0"/>
              </a:spcBef>
              <a:spcAft>
                <a:spcPts val="0"/>
              </a:spcAft>
              <a:buNone/>
              <a:defRPr b="0" i="0" sz="1000" u="none" cap="none" strike="noStrike">
                <a:latin typeface="Arial"/>
                <a:ea typeface="Arial"/>
                <a:cs typeface="Arial"/>
                <a:sym typeface="Arial"/>
              </a:defRPr>
            </a:lvl8pPr>
            <a:lvl9pPr indent="0" lvl="8" marL="0" marR="0" algn="r">
              <a:spcBef>
                <a:spcPts val="0"/>
              </a:spcBef>
              <a:spcAft>
                <a:spcPts val="0"/>
              </a:spcAft>
              <a:buNone/>
              <a:defRPr b="0" i="0" sz="1000" u="none" cap="none" strike="noStrike">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p7"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7">
    <p:spTree>
      <p:nvGrpSpPr>
        <p:cNvPr id="55" name="Shape 55"/>
        <p:cNvGrpSpPr/>
        <p:nvPr/>
      </p:nvGrpSpPr>
      <p:grpSpPr>
        <a:xfrm>
          <a:off x="0" y="0"/>
          <a:ext cx="0" cy="0"/>
          <a:chOff x="0" y="0"/>
          <a:chExt cx="0" cy="0"/>
        </a:xfrm>
      </p:grpSpPr>
      <p:sp>
        <p:nvSpPr>
          <p:cNvPr id="56" name="Google Shape;56;p8"/>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solidFill>
                  <a:srgbClr val="003E72"/>
                </a:solidFill>
              </a:defRPr>
            </a:lvl1pPr>
            <a:lvl2pPr lvl="1">
              <a:buNone/>
              <a:defRPr sz="1300">
                <a:solidFill>
                  <a:srgbClr val="003E72"/>
                </a:solidFill>
              </a:defRPr>
            </a:lvl2pPr>
            <a:lvl3pPr lvl="2">
              <a:buNone/>
              <a:defRPr sz="1300">
                <a:solidFill>
                  <a:srgbClr val="003E72"/>
                </a:solidFill>
              </a:defRPr>
            </a:lvl3pPr>
            <a:lvl4pPr lvl="3">
              <a:buNone/>
              <a:defRPr sz="1300">
                <a:solidFill>
                  <a:srgbClr val="003E72"/>
                </a:solidFill>
              </a:defRPr>
            </a:lvl4pPr>
            <a:lvl5pPr lvl="4">
              <a:buNone/>
              <a:defRPr sz="1300">
                <a:solidFill>
                  <a:srgbClr val="003E72"/>
                </a:solidFill>
              </a:defRPr>
            </a:lvl5pPr>
            <a:lvl6pPr lvl="5">
              <a:buNone/>
              <a:defRPr sz="1300">
                <a:solidFill>
                  <a:srgbClr val="003E72"/>
                </a:solidFill>
              </a:defRPr>
            </a:lvl6pPr>
            <a:lvl7pPr lvl="6">
              <a:buNone/>
              <a:defRPr sz="1300">
                <a:solidFill>
                  <a:srgbClr val="003E72"/>
                </a:solidFill>
              </a:defRPr>
            </a:lvl7pPr>
            <a:lvl8pPr lvl="7">
              <a:buNone/>
              <a:defRPr sz="1300">
                <a:solidFill>
                  <a:srgbClr val="003E72"/>
                </a:solidFill>
              </a:defRPr>
            </a:lvl8pPr>
            <a:lvl9pPr lvl="8">
              <a:buNone/>
              <a:defRPr sz="1300">
                <a:solidFill>
                  <a:srgbClr val="003E7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
    <p:spTree>
      <p:nvGrpSpPr>
        <p:cNvPr id="61" name="Shape 61"/>
        <p:cNvGrpSpPr/>
        <p:nvPr/>
      </p:nvGrpSpPr>
      <p:grpSpPr>
        <a:xfrm>
          <a:off x="0" y="0"/>
          <a:ext cx="0" cy="0"/>
          <a:chOff x="0" y="0"/>
          <a:chExt cx="0" cy="0"/>
        </a:xfrm>
      </p:grpSpPr>
      <p:sp>
        <p:nvSpPr>
          <p:cNvPr id="62" name="Google Shape;62;p10"/>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0"/>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 name="Google Shape;64;p10"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65" name="Google Shape;65;p10"/>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0"/>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67" name="Google Shape;67;p10"/>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
    <p:spTree>
      <p:nvGrpSpPr>
        <p:cNvPr id="68" name="Shape 68"/>
        <p:cNvGrpSpPr/>
        <p:nvPr/>
      </p:nvGrpSpPr>
      <p:grpSpPr>
        <a:xfrm>
          <a:off x="0" y="0"/>
          <a:ext cx="0" cy="0"/>
          <a:chOff x="0" y="0"/>
          <a:chExt cx="0" cy="0"/>
        </a:xfrm>
      </p:grpSpPr>
      <p:sp>
        <p:nvSpPr>
          <p:cNvPr id="69" name="Google Shape;69;p11"/>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 name="Google Shape;70;p11"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71" name="Google Shape;71;p11"/>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1"/>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1"/>
          <p:cNvSpPr txBox="1"/>
          <p:nvPr>
            <p:ph type="title"/>
          </p:nvPr>
        </p:nvSpPr>
        <p:spPr>
          <a:xfrm>
            <a:off x="270000" y="1600575"/>
            <a:ext cx="8604000" cy="777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b="1" sz="3600"/>
            </a:lvl1pPr>
            <a:lvl2pPr lvl="1" algn="l">
              <a:lnSpc>
                <a:spcPct val="100000"/>
              </a:lnSpc>
              <a:spcBef>
                <a:spcPts val="0"/>
              </a:spcBef>
              <a:spcAft>
                <a:spcPts val="0"/>
              </a:spcAft>
              <a:buSzPts val="3600"/>
              <a:buNone/>
              <a:defRPr b="1" sz="3600"/>
            </a:lvl2pPr>
            <a:lvl3pPr lvl="2" algn="l">
              <a:lnSpc>
                <a:spcPct val="100000"/>
              </a:lnSpc>
              <a:spcBef>
                <a:spcPts val="0"/>
              </a:spcBef>
              <a:spcAft>
                <a:spcPts val="0"/>
              </a:spcAft>
              <a:buSzPts val="3600"/>
              <a:buNone/>
              <a:defRPr b="1" sz="3600"/>
            </a:lvl3pPr>
            <a:lvl4pPr lvl="3" algn="l">
              <a:lnSpc>
                <a:spcPct val="100000"/>
              </a:lnSpc>
              <a:spcBef>
                <a:spcPts val="0"/>
              </a:spcBef>
              <a:spcAft>
                <a:spcPts val="0"/>
              </a:spcAft>
              <a:buSzPts val="3600"/>
              <a:buNone/>
              <a:defRPr b="1" sz="3600"/>
            </a:lvl4pPr>
            <a:lvl5pPr lvl="4" algn="l">
              <a:lnSpc>
                <a:spcPct val="100000"/>
              </a:lnSpc>
              <a:spcBef>
                <a:spcPts val="0"/>
              </a:spcBef>
              <a:spcAft>
                <a:spcPts val="0"/>
              </a:spcAft>
              <a:buSzPts val="3600"/>
              <a:buNone/>
              <a:defRPr b="1" sz="3600"/>
            </a:lvl5pPr>
            <a:lvl6pPr lvl="5" algn="l">
              <a:lnSpc>
                <a:spcPct val="100000"/>
              </a:lnSpc>
              <a:spcBef>
                <a:spcPts val="0"/>
              </a:spcBef>
              <a:spcAft>
                <a:spcPts val="0"/>
              </a:spcAft>
              <a:buSzPts val="3600"/>
              <a:buNone/>
              <a:defRPr b="1" sz="3600"/>
            </a:lvl6pPr>
            <a:lvl7pPr lvl="6" algn="l">
              <a:lnSpc>
                <a:spcPct val="100000"/>
              </a:lnSpc>
              <a:spcBef>
                <a:spcPts val="0"/>
              </a:spcBef>
              <a:spcAft>
                <a:spcPts val="0"/>
              </a:spcAft>
              <a:buSzPts val="3600"/>
              <a:buNone/>
              <a:defRPr b="1" sz="3600"/>
            </a:lvl7pPr>
            <a:lvl8pPr lvl="7" algn="l">
              <a:lnSpc>
                <a:spcPct val="100000"/>
              </a:lnSpc>
              <a:spcBef>
                <a:spcPts val="0"/>
              </a:spcBef>
              <a:spcAft>
                <a:spcPts val="0"/>
              </a:spcAft>
              <a:buSzPts val="3600"/>
              <a:buNone/>
              <a:defRPr b="1" sz="3600"/>
            </a:lvl8pPr>
            <a:lvl9pPr lvl="8" algn="l">
              <a:lnSpc>
                <a:spcPct val="100000"/>
              </a:lnSpc>
              <a:spcBef>
                <a:spcPts val="0"/>
              </a:spcBef>
              <a:spcAft>
                <a:spcPts val="0"/>
              </a:spcAft>
              <a:buSzPts val="3600"/>
              <a:buNone/>
              <a:defRPr b="1" sz="3600"/>
            </a:lvl9pPr>
          </a:lstStyle>
          <a:p/>
        </p:txBody>
      </p:sp>
      <p:sp>
        <p:nvSpPr>
          <p:cNvPr id="74" name="Google Shape;74;p11"/>
          <p:cNvSpPr txBox="1"/>
          <p:nvPr>
            <p:ph idx="1" type="subTitle"/>
          </p:nvPr>
        </p:nvSpPr>
        <p:spPr>
          <a:xfrm>
            <a:off x="270000" y="2377575"/>
            <a:ext cx="8604000" cy="896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75" name="Google Shape;75;p11"/>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4">
    <p:spTree>
      <p:nvGrpSpPr>
        <p:cNvPr id="76" name="Shape 76"/>
        <p:cNvGrpSpPr/>
        <p:nvPr/>
      </p:nvGrpSpPr>
      <p:grpSpPr>
        <a:xfrm>
          <a:off x="0" y="0"/>
          <a:ext cx="0" cy="0"/>
          <a:chOff x="0" y="0"/>
          <a:chExt cx="0" cy="0"/>
        </a:xfrm>
      </p:grpSpPr>
      <p:sp>
        <p:nvSpPr>
          <p:cNvPr id="77" name="Google Shape;77;p12"/>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2"/>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2"/>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80" name="Google Shape;80;p12"/>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2"/>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82" name="Google Shape;82;p12"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83" name="Google Shape;83;p12"/>
          <p:cNvSpPr txBox="1"/>
          <p:nvPr>
            <p:ph idx="1" type="body"/>
          </p:nvPr>
        </p:nvSpPr>
        <p:spPr>
          <a:xfrm>
            <a:off x="270000" y="1167450"/>
            <a:ext cx="8604000" cy="31650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USTOM_5">
    <p:spTree>
      <p:nvGrpSpPr>
        <p:cNvPr id="84" name="Shape 84"/>
        <p:cNvGrpSpPr/>
        <p:nvPr/>
      </p:nvGrpSpPr>
      <p:grpSpPr>
        <a:xfrm>
          <a:off x="0" y="0"/>
          <a:ext cx="0" cy="0"/>
          <a:chOff x="0" y="0"/>
          <a:chExt cx="0" cy="0"/>
        </a:xfrm>
      </p:grpSpPr>
      <p:sp>
        <p:nvSpPr>
          <p:cNvPr id="85" name="Google Shape;85;p13"/>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3"/>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3"/>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88" name="Google Shape;88;p13"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89" name="Google Shape;89;p13"/>
          <p:cNvSpPr txBox="1"/>
          <p:nvPr>
            <p:ph idx="1" type="body"/>
          </p:nvPr>
        </p:nvSpPr>
        <p:spPr>
          <a:xfrm>
            <a:off x="274975" y="1666875"/>
            <a:ext cx="42588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0" name="Google Shape;90;p13"/>
          <p:cNvSpPr txBox="1"/>
          <p:nvPr>
            <p:ph idx="2" type="body"/>
          </p:nvPr>
        </p:nvSpPr>
        <p:spPr>
          <a:xfrm>
            <a:off x="4610100" y="1666875"/>
            <a:ext cx="42639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1" name="Google Shape;91;p13"/>
          <p:cNvSpPr txBox="1"/>
          <p:nvPr>
            <p:ph idx="3" type="subTitle"/>
          </p:nvPr>
        </p:nvSpPr>
        <p:spPr>
          <a:xfrm>
            <a:off x="2700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92" name="Google Shape;92;p13"/>
          <p:cNvSpPr txBox="1"/>
          <p:nvPr>
            <p:ph idx="4" type="subTitle"/>
          </p:nvPr>
        </p:nvSpPr>
        <p:spPr>
          <a:xfrm>
            <a:off x="46101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93" name="Google Shape;93;p13"/>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3"/>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CUSTOM_6">
    <p:spTree>
      <p:nvGrpSpPr>
        <p:cNvPr id="95" name="Shape 95"/>
        <p:cNvGrpSpPr/>
        <p:nvPr/>
      </p:nvGrpSpPr>
      <p:grpSpPr>
        <a:xfrm>
          <a:off x="0" y="0"/>
          <a:ext cx="0" cy="0"/>
          <a:chOff x="0" y="0"/>
          <a:chExt cx="0" cy="0"/>
        </a:xfrm>
      </p:grpSpPr>
      <p:sp>
        <p:nvSpPr>
          <p:cNvPr id="96" name="Google Shape;96;p14"/>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4"/>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98" name="Google Shape;98;p14"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7">
    <p:spTree>
      <p:nvGrpSpPr>
        <p:cNvPr id="99" name="Shape 99"/>
        <p:cNvGrpSpPr/>
        <p:nvPr/>
      </p:nvGrpSpPr>
      <p:grpSpPr>
        <a:xfrm>
          <a:off x="0" y="0"/>
          <a:ext cx="0" cy="0"/>
          <a:chOff x="0" y="0"/>
          <a:chExt cx="0" cy="0"/>
        </a:xfrm>
      </p:grpSpPr>
      <p:sp>
        <p:nvSpPr>
          <p:cNvPr id="100" name="Google Shape;100;p15"/>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101" name="Shape 10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
    <p:spTree>
      <p:nvGrpSpPr>
        <p:cNvPr id="102" name="Shape 102"/>
        <p:cNvGrpSpPr/>
        <p:nvPr/>
      </p:nvGrpSpPr>
      <p:grpSpPr>
        <a:xfrm>
          <a:off x="0" y="0"/>
          <a:ext cx="0" cy="0"/>
          <a:chOff x="0" y="0"/>
          <a:chExt cx="0" cy="0"/>
        </a:xfrm>
      </p:grpSpPr>
      <p:sp>
        <p:nvSpPr>
          <p:cNvPr id="103" name="Google Shape;103;p17"/>
          <p:cNvSpPr/>
          <p:nvPr/>
        </p:nvSpPr>
        <p:spPr>
          <a:xfrm>
            <a:off x="0" y="4016800"/>
            <a:ext cx="9144000" cy="5061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4" name="Google Shape;104;p17"/>
          <p:cNvSpPr/>
          <p:nvPr/>
        </p:nvSpPr>
        <p:spPr>
          <a:xfrm>
            <a:off x="0" y="4522925"/>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7"/>
          <p:cNvSpPr/>
          <p:nvPr/>
        </p:nvSpPr>
        <p:spPr>
          <a:xfrm>
            <a:off x="0" y="1309700"/>
            <a:ext cx="9144000" cy="27072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106" name="Google Shape;106;p17" title="CRIT_Colour_alpha.png"/>
          <p:cNvPicPr preferRelativeResize="0"/>
          <p:nvPr/>
        </p:nvPicPr>
        <p:blipFill rotWithShape="1">
          <a:blip r:embed="rId2">
            <a:alphaModFix/>
          </a:blip>
          <a:srcRect b="0" l="0" r="0" t="0"/>
          <a:stretch/>
        </p:blipFill>
        <p:spPr>
          <a:xfrm>
            <a:off x="359275" y="251999"/>
            <a:ext cx="2450924" cy="694425"/>
          </a:xfrm>
          <a:prstGeom prst="rect">
            <a:avLst/>
          </a:prstGeom>
          <a:noFill/>
          <a:ln>
            <a:noFill/>
          </a:ln>
        </p:spPr>
      </p:pic>
      <p:sp>
        <p:nvSpPr>
          <p:cNvPr id="107" name="Google Shape;107;p17"/>
          <p:cNvSpPr txBox="1"/>
          <p:nvPr>
            <p:ph type="title"/>
          </p:nvPr>
        </p:nvSpPr>
        <p:spPr>
          <a:xfrm>
            <a:off x="270000" y="1538300"/>
            <a:ext cx="8604000" cy="10779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rgbClr val="FFFFFF"/>
              </a:buClr>
              <a:buSzPts val="3600"/>
              <a:buNone/>
              <a:defRPr b="1" sz="3600">
                <a:solidFill>
                  <a:srgbClr val="FFFFFF"/>
                </a:solidFill>
              </a:defRPr>
            </a:lvl1pPr>
            <a:lvl2pPr lvl="1" algn="l">
              <a:lnSpc>
                <a:spcPct val="100000"/>
              </a:lnSpc>
              <a:spcBef>
                <a:spcPts val="0"/>
              </a:spcBef>
              <a:spcAft>
                <a:spcPts val="0"/>
              </a:spcAft>
              <a:buClr>
                <a:srgbClr val="FFFFFF"/>
              </a:buClr>
              <a:buSzPts val="3600"/>
              <a:buNone/>
              <a:defRPr b="1" sz="3600">
                <a:solidFill>
                  <a:srgbClr val="FFFFFF"/>
                </a:solidFill>
              </a:defRPr>
            </a:lvl2pPr>
            <a:lvl3pPr lvl="2" algn="l">
              <a:lnSpc>
                <a:spcPct val="100000"/>
              </a:lnSpc>
              <a:spcBef>
                <a:spcPts val="0"/>
              </a:spcBef>
              <a:spcAft>
                <a:spcPts val="0"/>
              </a:spcAft>
              <a:buClr>
                <a:srgbClr val="FFFFFF"/>
              </a:buClr>
              <a:buSzPts val="3600"/>
              <a:buNone/>
              <a:defRPr b="1" sz="3600">
                <a:solidFill>
                  <a:srgbClr val="FFFFFF"/>
                </a:solidFill>
              </a:defRPr>
            </a:lvl3pPr>
            <a:lvl4pPr lvl="3" algn="l">
              <a:lnSpc>
                <a:spcPct val="100000"/>
              </a:lnSpc>
              <a:spcBef>
                <a:spcPts val="0"/>
              </a:spcBef>
              <a:spcAft>
                <a:spcPts val="0"/>
              </a:spcAft>
              <a:buClr>
                <a:srgbClr val="FFFFFF"/>
              </a:buClr>
              <a:buSzPts val="3600"/>
              <a:buNone/>
              <a:defRPr b="1" sz="3600">
                <a:solidFill>
                  <a:srgbClr val="FFFFFF"/>
                </a:solidFill>
              </a:defRPr>
            </a:lvl4pPr>
            <a:lvl5pPr lvl="4" algn="l">
              <a:lnSpc>
                <a:spcPct val="100000"/>
              </a:lnSpc>
              <a:spcBef>
                <a:spcPts val="0"/>
              </a:spcBef>
              <a:spcAft>
                <a:spcPts val="0"/>
              </a:spcAft>
              <a:buClr>
                <a:srgbClr val="FFFFFF"/>
              </a:buClr>
              <a:buSzPts val="3600"/>
              <a:buNone/>
              <a:defRPr b="1" sz="3600">
                <a:solidFill>
                  <a:srgbClr val="FFFFFF"/>
                </a:solidFill>
              </a:defRPr>
            </a:lvl5pPr>
            <a:lvl6pPr lvl="5" algn="l">
              <a:lnSpc>
                <a:spcPct val="100000"/>
              </a:lnSpc>
              <a:spcBef>
                <a:spcPts val="0"/>
              </a:spcBef>
              <a:spcAft>
                <a:spcPts val="0"/>
              </a:spcAft>
              <a:buClr>
                <a:srgbClr val="FFFFFF"/>
              </a:buClr>
              <a:buSzPts val="3600"/>
              <a:buNone/>
              <a:defRPr b="1" sz="3600">
                <a:solidFill>
                  <a:srgbClr val="FFFFFF"/>
                </a:solidFill>
              </a:defRPr>
            </a:lvl6pPr>
            <a:lvl7pPr lvl="6" algn="l">
              <a:lnSpc>
                <a:spcPct val="100000"/>
              </a:lnSpc>
              <a:spcBef>
                <a:spcPts val="0"/>
              </a:spcBef>
              <a:spcAft>
                <a:spcPts val="0"/>
              </a:spcAft>
              <a:buClr>
                <a:srgbClr val="FFFFFF"/>
              </a:buClr>
              <a:buSzPts val="3600"/>
              <a:buNone/>
              <a:defRPr b="1" sz="3600">
                <a:solidFill>
                  <a:srgbClr val="FFFFFF"/>
                </a:solidFill>
              </a:defRPr>
            </a:lvl7pPr>
            <a:lvl8pPr lvl="7" algn="l">
              <a:lnSpc>
                <a:spcPct val="100000"/>
              </a:lnSpc>
              <a:spcBef>
                <a:spcPts val="0"/>
              </a:spcBef>
              <a:spcAft>
                <a:spcPts val="0"/>
              </a:spcAft>
              <a:buClr>
                <a:srgbClr val="FFFFFF"/>
              </a:buClr>
              <a:buSzPts val="3600"/>
              <a:buNone/>
              <a:defRPr b="1" sz="3600">
                <a:solidFill>
                  <a:srgbClr val="FFFFFF"/>
                </a:solidFill>
              </a:defRPr>
            </a:lvl8pPr>
            <a:lvl9pPr lvl="8" algn="l">
              <a:lnSpc>
                <a:spcPct val="100000"/>
              </a:lnSpc>
              <a:spcBef>
                <a:spcPts val="0"/>
              </a:spcBef>
              <a:spcAft>
                <a:spcPts val="0"/>
              </a:spcAft>
              <a:buClr>
                <a:srgbClr val="FFFFFF"/>
              </a:buClr>
              <a:buSzPts val="3600"/>
              <a:buNone/>
              <a:defRPr b="1" sz="3600">
                <a:solidFill>
                  <a:srgbClr val="FFFFFF"/>
                </a:solidFill>
              </a:defRPr>
            </a:lvl9pPr>
          </a:lstStyle>
          <a:p/>
        </p:txBody>
      </p:sp>
      <p:sp>
        <p:nvSpPr>
          <p:cNvPr id="108" name="Google Shape;108;p17"/>
          <p:cNvSpPr txBox="1"/>
          <p:nvPr>
            <p:ph idx="1" type="subTitle"/>
          </p:nvPr>
        </p:nvSpPr>
        <p:spPr>
          <a:xfrm>
            <a:off x="270000" y="2860675"/>
            <a:ext cx="8604000" cy="996300"/>
          </a:xfrm>
          <a:prstGeom prst="rect">
            <a:avLst/>
          </a:prstGeom>
          <a:noFill/>
          <a:ln>
            <a:noFill/>
          </a:ln>
        </p:spPr>
        <p:txBody>
          <a:bodyPr anchorCtr="0" anchor="b" bIns="91425" lIns="91425" spcFirstLastPara="1" rIns="91425" wrap="square" tIns="91425">
            <a:spAutoFit/>
          </a:bodyPr>
          <a:lstStyle>
            <a:lvl1pPr lvl="0" algn="l">
              <a:lnSpc>
                <a:spcPct val="115000"/>
              </a:lnSpc>
              <a:spcBef>
                <a:spcPts val="0"/>
              </a:spcBef>
              <a:spcAft>
                <a:spcPts val="0"/>
              </a:spcAft>
              <a:buClr>
                <a:srgbClr val="FFFFFF"/>
              </a:buClr>
              <a:buSzPts val="1800"/>
              <a:buNone/>
              <a:defRPr b="1" sz="1800">
                <a:solidFill>
                  <a:srgbClr val="FFFFFF"/>
                </a:solidFill>
              </a:defRPr>
            </a:lvl1pPr>
            <a:lvl2pPr lvl="1" algn="l">
              <a:lnSpc>
                <a:spcPct val="115000"/>
              </a:lnSpc>
              <a:spcBef>
                <a:spcPts val="0"/>
              </a:spcBef>
              <a:spcAft>
                <a:spcPts val="0"/>
              </a:spcAft>
              <a:buClr>
                <a:srgbClr val="FFFFFF"/>
              </a:buClr>
              <a:buSzPts val="2200"/>
              <a:buNone/>
              <a:defRPr b="1">
                <a:solidFill>
                  <a:srgbClr val="FFFFFF"/>
                </a:solidFill>
              </a:defRPr>
            </a:lvl2pPr>
            <a:lvl3pPr lvl="2" algn="l">
              <a:lnSpc>
                <a:spcPct val="115000"/>
              </a:lnSpc>
              <a:spcBef>
                <a:spcPts val="0"/>
              </a:spcBef>
              <a:spcAft>
                <a:spcPts val="0"/>
              </a:spcAft>
              <a:buClr>
                <a:srgbClr val="FFFFFF"/>
              </a:buClr>
              <a:buSzPts val="2200"/>
              <a:buNone/>
              <a:defRPr b="1">
                <a:solidFill>
                  <a:srgbClr val="FFFFFF"/>
                </a:solidFill>
              </a:defRPr>
            </a:lvl3pPr>
            <a:lvl4pPr lvl="3" algn="l">
              <a:lnSpc>
                <a:spcPct val="115000"/>
              </a:lnSpc>
              <a:spcBef>
                <a:spcPts val="0"/>
              </a:spcBef>
              <a:spcAft>
                <a:spcPts val="0"/>
              </a:spcAft>
              <a:buClr>
                <a:srgbClr val="FFFFFF"/>
              </a:buClr>
              <a:buSzPts val="2200"/>
              <a:buNone/>
              <a:defRPr b="1">
                <a:solidFill>
                  <a:srgbClr val="FFFFFF"/>
                </a:solidFill>
              </a:defRPr>
            </a:lvl4pPr>
            <a:lvl5pPr lvl="4" algn="l">
              <a:lnSpc>
                <a:spcPct val="115000"/>
              </a:lnSpc>
              <a:spcBef>
                <a:spcPts val="0"/>
              </a:spcBef>
              <a:spcAft>
                <a:spcPts val="0"/>
              </a:spcAft>
              <a:buClr>
                <a:srgbClr val="FFFFFF"/>
              </a:buClr>
              <a:buSzPts val="2200"/>
              <a:buNone/>
              <a:defRPr b="1">
                <a:solidFill>
                  <a:srgbClr val="FFFFFF"/>
                </a:solidFill>
              </a:defRPr>
            </a:lvl5pPr>
            <a:lvl6pPr lvl="5" algn="l">
              <a:lnSpc>
                <a:spcPct val="115000"/>
              </a:lnSpc>
              <a:spcBef>
                <a:spcPts val="0"/>
              </a:spcBef>
              <a:spcAft>
                <a:spcPts val="0"/>
              </a:spcAft>
              <a:buClr>
                <a:srgbClr val="FFFFFF"/>
              </a:buClr>
              <a:buSzPts val="2200"/>
              <a:buNone/>
              <a:defRPr b="1">
                <a:solidFill>
                  <a:srgbClr val="FFFFFF"/>
                </a:solidFill>
              </a:defRPr>
            </a:lvl6pPr>
            <a:lvl7pPr lvl="6" algn="l">
              <a:lnSpc>
                <a:spcPct val="115000"/>
              </a:lnSpc>
              <a:spcBef>
                <a:spcPts val="0"/>
              </a:spcBef>
              <a:spcAft>
                <a:spcPts val="0"/>
              </a:spcAft>
              <a:buClr>
                <a:srgbClr val="FFFFFF"/>
              </a:buClr>
              <a:buSzPts val="2200"/>
              <a:buNone/>
              <a:defRPr b="1">
                <a:solidFill>
                  <a:srgbClr val="FFFFFF"/>
                </a:solidFill>
              </a:defRPr>
            </a:lvl7pPr>
            <a:lvl8pPr lvl="7" algn="l">
              <a:lnSpc>
                <a:spcPct val="115000"/>
              </a:lnSpc>
              <a:spcBef>
                <a:spcPts val="0"/>
              </a:spcBef>
              <a:spcAft>
                <a:spcPts val="0"/>
              </a:spcAft>
              <a:buClr>
                <a:srgbClr val="FFFFFF"/>
              </a:buClr>
              <a:buSzPts val="2200"/>
              <a:buNone/>
              <a:defRPr b="1">
                <a:solidFill>
                  <a:srgbClr val="FFFFFF"/>
                </a:solidFill>
              </a:defRPr>
            </a:lvl8pPr>
            <a:lvl9pPr lvl="8" algn="l">
              <a:lnSpc>
                <a:spcPct val="115000"/>
              </a:lnSpc>
              <a:spcBef>
                <a:spcPts val="0"/>
              </a:spcBef>
              <a:spcAft>
                <a:spcPts val="0"/>
              </a:spcAft>
              <a:buClr>
                <a:srgbClr val="FFFFFF"/>
              </a:buClr>
              <a:buSzPts val="2200"/>
              <a:buNone/>
              <a:defRPr b="1">
                <a:solidFill>
                  <a:srgbClr val="FFFFFF"/>
                </a:solidFill>
              </a:defRPr>
            </a:lvl9pPr>
          </a:lstStyle>
          <a:p/>
        </p:txBody>
      </p:sp>
      <p:sp>
        <p:nvSpPr>
          <p:cNvPr id="109" name="Google Shape;109;p17"/>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
    <p:spTree>
      <p:nvGrpSpPr>
        <p:cNvPr id="114" name="Shape 114"/>
        <p:cNvGrpSpPr/>
        <p:nvPr/>
      </p:nvGrpSpPr>
      <p:grpSpPr>
        <a:xfrm>
          <a:off x="0" y="0"/>
          <a:ext cx="0" cy="0"/>
          <a:chOff x="0" y="0"/>
          <a:chExt cx="0" cy="0"/>
        </a:xfrm>
      </p:grpSpPr>
      <p:sp>
        <p:nvSpPr>
          <p:cNvPr id="115" name="Google Shape;115;p19"/>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9"/>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9"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18" name="Google Shape;118;p19"/>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9"/>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120" name="Google Shape;120;p19"/>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
    <p:spTree>
      <p:nvGrpSpPr>
        <p:cNvPr id="121" name="Shape 121"/>
        <p:cNvGrpSpPr/>
        <p:nvPr/>
      </p:nvGrpSpPr>
      <p:grpSpPr>
        <a:xfrm>
          <a:off x="0" y="0"/>
          <a:ext cx="0" cy="0"/>
          <a:chOff x="0" y="0"/>
          <a:chExt cx="0" cy="0"/>
        </a:xfrm>
      </p:grpSpPr>
      <p:sp>
        <p:nvSpPr>
          <p:cNvPr id="122" name="Google Shape;122;p20"/>
          <p:cNvSpPr/>
          <p:nvPr/>
        </p:nvSpPr>
        <p:spPr>
          <a:xfrm>
            <a:off x="0" y="4016800"/>
            <a:ext cx="9144000" cy="5061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23" name="Google Shape;123;p20"/>
          <p:cNvSpPr/>
          <p:nvPr/>
        </p:nvSpPr>
        <p:spPr>
          <a:xfrm>
            <a:off x="0" y="4522925"/>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0"/>
          <p:cNvSpPr/>
          <p:nvPr/>
        </p:nvSpPr>
        <p:spPr>
          <a:xfrm>
            <a:off x="0" y="1309700"/>
            <a:ext cx="9144000" cy="27072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125" name="Google Shape;125;p20" title="CRIT_Colour_alpha.png"/>
          <p:cNvPicPr preferRelativeResize="0"/>
          <p:nvPr/>
        </p:nvPicPr>
        <p:blipFill rotWithShape="1">
          <a:blip r:embed="rId2">
            <a:alphaModFix/>
          </a:blip>
          <a:srcRect b="0" l="0" r="0" t="0"/>
          <a:stretch/>
        </p:blipFill>
        <p:spPr>
          <a:xfrm>
            <a:off x="359275" y="251999"/>
            <a:ext cx="2450924" cy="694425"/>
          </a:xfrm>
          <a:prstGeom prst="rect">
            <a:avLst/>
          </a:prstGeom>
          <a:noFill/>
          <a:ln>
            <a:noFill/>
          </a:ln>
        </p:spPr>
      </p:pic>
      <p:sp>
        <p:nvSpPr>
          <p:cNvPr id="126" name="Google Shape;126;p20"/>
          <p:cNvSpPr txBox="1"/>
          <p:nvPr>
            <p:ph type="title"/>
          </p:nvPr>
        </p:nvSpPr>
        <p:spPr>
          <a:xfrm>
            <a:off x="270000" y="1538300"/>
            <a:ext cx="8604000" cy="10779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rgbClr val="FFFFFF"/>
              </a:buClr>
              <a:buSzPts val="3600"/>
              <a:buNone/>
              <a:defRPr b="1" sz="3600">
                <a:solidFill>
                  <a:srgbClr val="FFFFFF"/>
                </a:solidFill>
              </a:defRPr>
            </a:lvl1pPr>
            <a:lvl2pPr lvl="1" algn="l">
              <a:lnSpc>
                <a:spcPct val="100000"/>
              </a:lnSpc>
              <a:spcBef>
                <a:spcPts val="0"/>
              </a:spcBef>
              <a:spcAft>
                <a:spcPts val="0"/>
              </a:spcAft>
              <a:buClr>
                <a:srgbClr val="FFFFFF"/>
              </a:buClr>
              <a:buSzPts val="3600"/>
              <a:buNone/>
              <a:defRPr b="1" sz="3600">
                <a:solidFill>
                  <a:srgbClr val="FFFFFF"/>
                </a:solidFill>
              </a:defRPr>
            </a:lvl2pPr>
            <a:lvl3pPr lvl="2" algn="l">
              <a:lnSpc>
                <a:spcPct val="100000"/>
              </a:lnSpc>
              <a:spcBef>
                <a:spcPts val="0"/>
              </a:spcBef>
              <a:spcAft>
                <a:spcPts val="0"/>
              </a:spcAft>
              <a:buClr>
                <a:srgbClr val="FFFFFF"/>
              </a:buClr>
              <a:buSzPts val="3600"/>
              <a:buNone/>
              <a:defRPr b="1" sz="3600">
                <a:solidFill>
                  <a:srgbClr val="FFFFFF"/>
                </a:solidFill>
              </a:defRPr>
            </a:lvl3pPr>
            <a:lvl4pPr lvl="3" algn="l">
              <a:lnSpc>
                <a:spcPct val="100000"/>
              </a:lnSpc>
              <a:spcBef>
                <a:spcPts val="0"/>
              </a:spcBef>
              <a:spcAft>
                <a:spcPts val="0"/>
              </a:spcAft>
              <a:buClr>
                <a:srgbClr val="FFFFFF"/>
              </a:buClr>
              <a:buSzPts val="3600"/>
              <a:buNone/>
              <a:defRPr b="1" sz="3600">
                <a:solidFill>
                  <a:srgbClr val="FFFFFF"/>
                </a:solidFill>
              </a:defRPr>
            </a:lvl4pPr>
            <a:lvl5pPr lvl="4" algn="l">
              <a:lnSpc>
                <a:spcPct val="100000"/>
              </a:lnSpc>
              <a:spcBef>
                <a:spcPts val="0"/>
              </a:spcBef>
              <a:spcAft>
                <a:spcPts val="0"/>
              </a:spcAft>
              <a:buClr>
                <a:srgbClr val="FFFFFF"/>
              </a:buClr>
              <a:buSzPts val="3600"/>
              <a:buNone/>
              <a:defRPr b="1" sz="3600">
                <a:solidFill>
                  <a:srgbClr val="FFFFFF"/>
                </a:solidFill>
              </a:defRPr>
            </a:lvl5pPr>
            <a:lvl6pPr lvl="5" algn="l">
              <a:lnSpc>
                <a:spcPct val="100000"/>
              </a:lnSpc>
              <a:spcBef>
                <a:spcPts val="0"/>
              </a:spcBef>
              <a:spcAft>
                <a:spcPts val="0"/>
              </a:spcAft>
              <a:buClr>
                <a:srgbClr val="FFFFFF"/>
              </a:buClr>
              <a:buSzPts val="3600"/>
              <a:buNone/>
              <a:defRPr b="1" sz="3600">
                <a:solidFill>
                  <a:srgbClr val="FFFFFF"/>
                </a:solidFill>
              </a:defRPr>
            </a:lvl6pPr>
            <a:lvl7pPr lvl="6" algn="l">
              <a:lnSpc>
                <a:spcPct val="100000"/>
              </a:lnSpc>
              <a:spcBef>
                <a:spcPts val="0"/>
              </a:spcBef>
              <a:spcAft>
                <a:spcPts val="0"/>
              </a:spcAft>
              <a:buClr>
                <a:srgbClr val="FFFFFF"/>
              </a:buClr>
              <a:buSzPts val="3600"/>
              <a:buNone/>
              <a:defRPr b="1" sz="3600">
                <a:solidFill>
                  <a:srgbClr val="FFFFFF"/>
                </a:solidFill>
              </a:defRPr>
            </a:lvl7pPr>
            <a:lvl8pPr lvl="7" algn="l">
              <a:lnSpc>
                <a:spcPct val="100000"/>
              </a:lnSpc>
              <a:spcBef>
                <a:spcPts val="0"/>
              </a:spcBef>
              <a:spcAft>
                <a:spcPts val="0"/>
              </a:spcAft>
              <a:buClr>
                <a:srgbClr val="FFFFFF"/>
              </a:buClr>
              <a:buSzPts val="3600"/>
              <a:buNone/>
              <a:defRPr b="1" sz="3600">
                <a:solidFill>
                  <a:srgbClr val="FFFFFF"/>
                </a:solidFill>
              </a:defRPr>
            </a:lvl8pPr>
            <a:lvl9pPr lvl="8" algn="l">
              <a:lnSpc>
                <a:spcPct val="100000"/>
              </a:lnSpc>
              <a:spcBef>
                <a:spcPts val="0"/>
              </a:spcBef>
              <a:spcAft>
                <a:spcPts val="0"/>
              </a:spcAft>
              <a:buClr>
                <a:srgbClr val="FFFFFF"/>
              </a:buClr>
              <a:buSzPts val="3600"/>
              <a:buNone/>
              <a:defRPr b="1" sz="3600">
                <a:solidFill>
                  <a:srgbClr val="FFFFFF"/>
                </a:solidFill>
              </a:defRPr>
            </a:lvl9pPr>
          </a:lstStyle>
          <a:p/>
        </p:txBody>
      </p:sp>
      <p:sp>
        <p:nvSpPr>
          <p:cNvPr id="127" name="Google Shape;127;p20"/>
          <p:cNvSpPr txBox="1"/>
          <p:nvPr>
            <p:ph idx="1" type="subTitle"/>
          </p:nvPr>
        </p:nvSpPr>
        <p:spPr>
          <a:xfrm>
            <a:off x="270000" y="2860675"/>
            <a:ext cx="8604000" cy="996300"/>
          </a:xfrm>
          <a:prstGeom prst="rect">
            <a:avLst/>
          </a:prstGeom>
          <a:noFill/>
          <a:ln>
            <a:noFill/>
          </a:ln>
        </p:spPr>
        <p:txBody>
          <a:bodyPr anchorCtr="0" anchor="b" bIns="91425" lIns="91425" spcFirstLastPara="1" rIns="91425" wrap="square" tIns="91425">
            <a:spAutoFit/>
          </a:bodyPr>
          <a:lstStyle>
            <a:lvl1pPr lvl="0" algn="l">
              <a:lnSpc>
                <a:spcPct val="115000"/>
              </a:lnSpc>
              <a:spcBef>
                <a:spcPts val="0"/>
              </a:spcBef>
              <a:spcAft>
                <a:spcPts val="0"/>
              </a:spcAft>
              <a:buClr>
                <a:srgbClr val="FFFFFF"/>
              </a:buClr>
              <a:buSzPts val="1800"/>
              <a:buNone/>
              <a:defRPr b="1" sz="1800">
                <a:solidFill>
                  <a:srgbClr val="FFFFFF"/>
                </a:solidFill>
              </a:defRPr>
            </a:lvl1pPr>
            <a:lvl2pPr lvl="1" algn="l">
              <a:lnSpc>
                <a:spcPct val="115000"/>
              </a:lnSpc>
              <a:spcBef>
                <a:spcPts val="0"/>
              </a:spcBef>
              <a:spcAft>
                <a:spcPts val="0"/>
              </a:spcAft>
              <a:buClr>
                <a:srgbClr val="FFFFFF"/>
              </a:buClr>
              <a:buSzPts val="2200"/>
              <a:buNone/>
              <a:defRPr b="1">
                <a:solidFill>
                  <a:srgbClr val="FFFFFF"/>
                </a:solidFill>
              </a:defRPr>
            </a:lvl2pPr>
            <a:lvl3pPr lvl="2" algn="l">
              <a:lnSpc>
                <a:spcPct val="115000"/>
              </a:lnSpc>
              <a:spcBef>
                <a:spcPts val="0"/>
              </a:spcBef>
              <a:spcAft>
                <a:spcPts val="0"/>
              </a:spcAft>
              <a:buClr>
                <a:srgbClr val="FFFFFF"/>
              </a:buClr>
              <a:buSzPts val="2200"/>
              <a:buNone/>
              <a:defRPr b="1">
                <a:solidFill>
                  <a:srgbClr val="FFFFFF"/>
                </a:solidFill>
              </a:defRPr>
            </a:lvl3pPr>
            <a:lvl4pPr lvl="3" algn="l">
              <a:lnSpc>
                <a:spcPct val="115000"/>
              </a:lnSpc>
              <a:spcBef>
                <a:spcPts val="0"/>
              </a:spcBef>
              <a:spcAft>
                <a:spcPts val="0"/>
              </a:spcAft>
              <a:buClr>
                <a:srgbClr val="FFFFFF"/>
              </a:buClr>
              <a:buSzPts val="2200"/>
              <a:buNone/>
              <a:defRPr b="1">
                <a:solidFill>
                  <a:srgbClr val="FFFFFF"/>
                </a:solidFill>
              </a:defRPr>
            </a:lvl4pPr>
            <a:lvl5pPr lvl="4" algn="l">
              <a:lnSpc>
                <a:spcPct val="115000"/>
              </a:lnSpc>
              <a:spcBef>
                <a:spcPts val="0"/>
              </a:spcBef>
              <a:spcAft>
                <a:spcPts val="0"/>
              </a:spcAft>
              <a:buClr>
                <a:srgbClr val="FFFFFF"/>
              </a:buClr>
              <a:buSzPts val="2200"/>
              <a:buNone/>
              <a:defRPr b="1">
                <a:solidFill>
                  <a:srgbClr val="FFFFFF"/>
                </a:solidFill>
              </a:defRPr>
            </a:lvl5pPr>
            <a:lvl6pPr lvl="5" algn="l">
              <a:lnSpc>
                <a:spcPct val="115000"/>
              </a:lnSpc>
              <a:spcBef>
                <a:spcPts val="0"/>
              </a:spcBef>
              <a:spcAft>
                <a:spcPts val="0"/>
              </a:spcAft>
              <a:buClr>
                <a:srgbClr val="FFFFFF"/>
              </a:buClr>
              <a:buSzPts val="2200"/>
              <a:buNone/>
              <a:defRPr b="1">
                <a:solidFill>
                  <a:srgbClr val="FFFFFF"/>
                </a:solidFill>
              </a:defRPr>
            </a:lvl6pPr>
            <a:lvl7pPr lvl="6" algn="l">
              <a:lnSpc>
                <a:spcPct val="115000"/>
              </a:lnSpc>
              <a:spcBef>
                <a:spcPts val="0"/>
              </a:spcBef>
              <a:spcAft>
                <a:spcPts val="0"/>
              </a:spcAft>
              <a:buClr>
                <a:srgbClr val="FFFFFF"/>
              </a:buClr>
              <a:buSzPts val="2200"/>
              <a:buNone/>
              <a:defRPr b="1">
                <a:solidFill>
                  <a:srgbClr val="FFFFFF"/>
                </a:solidFill>
              </a:defRPr>
            </a:lvl7pPr>
            <a:lvl8pPr lvl="7" algn="l">
              <a:lnSpc>
                <a:spcPct val="115000"/>
              </a:lnSpc>
              <a:spcBef>
                <a:spcPts val="0"/>
              </a:spcBef>
              <a:spcAft>
                <a:spcPts val="0"/>
              </a:spcAft>
              <a:buClr>
                <a:srgbClr val="FFFFFF"/>
              </a:buClr>
              <a:buSzPts val="2200"/>
              <a:buNone/>
              <a:defRPr b="1">
                <a:solidFill>
                  <a:srgbClr val="FFFFFF"/>
                </a:solidFill>
              </a:defRPr>
            </a:lvl8pPr>
            <a:lvl9pPr lvl="8" algn="l">
              <a:lnSpc>
                <a:spcPct val="115000"/>
              </a:lnSpc>
              <a:spcBef>
                <a:spcPts val="0"/>
              </a:spcBef>
              <a:spcAft>
                <a:spcPts val="0"/>
              </a:spcAft>
              <a:buClr>
                <a:srgbClr val="FFFFFF"/>
              </a:buClr>
              <a:buSzPts val="2200"/>
              <a:buNone/>
              <a:defRPr b="1">
                <a:solidFill>
                  <a:srgbClr val="FFFFFF"/>
                </a:solidFill>
              </a:defRPr>
            </a:lvl9pPr>
          </a:lstStyle>
          <a:p/>
        </p:txBody>
      </p:sp>
      <p:sp>
        <p:nvSpPr>
          <p:cNvPr id="128" name="Google Shape;128;p20"/>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
    <p:spTree>
      <p:nvGrpSpPr>
        <p:cNvPr id="129" name="Shape 129"/>
        <p:cNvGrpSpPr/>
        <p:nvPr/>
      </p:nvGrpSpPr>
      <p:grpSpPr>
        <a:xfrm>
          <a:off x="0" y="0"/>
          <a:ext cx="0" cy="0"/>
          <a:chOff x="0" y="0"/>
          <a:chExt cx="0" cy="0"/>
        </a:xfrm>
      </p:grpSpPr>
      <p:sp>
        <p:nvSpPr>
          <p:cNvPr id="130" name="Google Shape;130;p21"/>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1" name="Google Shape;131;p21"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32" name="Google Shape;132;p21"/>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1"/>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1"/>
          <p:cNvSpPr txBox="1"/>
          <p:nvPr>
            <p:ph type="title"/>
          </p:nvPr>
        </p:nvSpPr>
        <p:spPr>
          <a:xfrm>
            <a:off x="270000" y="1600575"/>
            <a:ext cx="8604000" cy="777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b="1" sz="3600"/>
            </a:lvl1pPr>
            <a:lvl2pPr lvl="1" algn="l">
              <a:lnSpc>
                <a:spcPct val="100000"/>
              </a:lnSpc>
              <a:spcBef>
                <a:spcPts val="0"/>
              </a:spcBef>
              <a:spcAft>
                <a:spcPts val="0"/>
              </a:spcAft>
              <a:buSzPts val="3600"/>
              <a:buNone/>
              <a:defRPr b="1" sz="3600"/>
            </a:lvl2pPr>
            <a:lvl3pPr lvl="2" algn="l">
              <a:lnSpc>
                <a:spcPct val="100000"/>
              </a:lnSpc>
              <a:spcBef>
                <a:spcPts val="0"/>
              </a:spcBef>
              <a:spcAft>
                <a:spcPts val="0"/>
              </a:spcAft>
              <a:buSzPts val="3600"/>
              <a:buNone/>
              <a:defRPr b="1" sz="3600"/>
            </a:lvl3pPr>
            <a:lvl4pPr lvl="3" algn="l">
              <a:lnSpc>
                <a:spcPct val="100000"/>
              </a:lnSpc>
              <a:spcBef>
                <a:spcPts val="0"/>
              </a:spcBef>
              <a:spcAft>
                <a:spcPts val="0"/>
              </a:spcAft>
              <a:buSzPts val="3600"/>
              <a:buNone/>
              <a:defRPr b="1" sz="3600"/>
            </a:lvl4pPr>
            <a:lvl5pPr lvl="4" algn="l">
              <a:lnSpc>
                <a:spcPct val="100000"/>
              </a:lnSpc>
              <a:spcBef>
                <a:spcPts val="0"/>
              </a:spcBef>
              <a:spcAft>
                <a:spcPts val="0"/>
              </a:spcAft>
              <a:buSzPts val="3600"/>
              <a:buNone/>
              <a:defRPr b="1" sz="3600"/>
            </a:lvl5pPr>
            <a:lvl6pPr lvl="5" algn="l">
              <a:lnSpc>
                <a:spcPct val="100000"/>
              </a:lnSpc>
              <a:spcBef>
                <a:spcPts val="0"/>
              </a:spcBef>
              <a:spcAft>
                <a:spcPts val="0"/>
              </a:spcAft>
              <a:buSzPts val="3600"/>
              <a:buNone/>
              <a:defRPr b="1" sz="3600"/>
            </a:lvl6pPr>
            <a:lvl7pPr lvl="6" algn="l">
              <a:lnSpc>
                <a:spcPct val="100000"/>
              </a:lnSpc>
              <a:spcBef>
                <a:spcPts val="0"/>
              </a:spcBef>
              <a:spcAft>
                <a:spcPts val="0"/>
              </a:spcAft>
              <a:buSzPts val="3600"/>
              <a:buNone/>
              <a:defRPr b="1" sz="3600"/>
            </a:lvl7pPr>
            <a:lvl8pPr lvl="7" algn="l">
              <a:lnSpc>
                <a:spcPct val="100000"/>
              </a:lnSpc>
              <a:spcBef>
                <a:spcPts val="0"/>
              </a:spcBef>
              <a:spcAft>
                <a:spcPts val="0"/>
              </a:spcAft>
              <a:buSzPts val="3600"/>
              <a:buNone/>
              <a:defRPr b="1" sz="3600"/>
            </a:lvl8pPr>
            <a:lvl9pPr lvl="8" algn="l">
              <a:lnSpc>
                <a:spcPct val="100000"/>
              </a:lnSpc>
              <a:spcBef>
                <a:spcPts val="0"/>
              </a:spcBef>
              <a:spcAft>
                <a:spcPts val="0"/>
              </a:spcAft>
              <a:buSzPts val="3600"/>
              <a:buNone/>
              <a:defRPr b="1" sz="3600"/>
            </a:lvl9pPr>
          </a:lstStyle>
          <a:p/>
        </p:txBody>
      </p:sp>
      <p:sp>
        <p:nvSpPr>
          <p:cNvPr id="135" name="Google Shape;135;p21"/>
          <p:cNvSpPr txBox="1"/>
          <p:nvPr>
            <p:ph idx="1" type="subTitle"/>
          </p:nvPr>
        </p:nvSpPr>
        <p:spPr>
          <a:xfrm>
            <a:off x="270000" y="2377575"/>
            <a:ext cx="8604000" cy="896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136" name="Google Shape;136;p21"/>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4">
    <p:spTree>
      <p:nvGrpSpPr>
        <p:cNvPr id="137" name="Shape 137"/>
        <p:cNvGrpSpPr/>
        <p:nvPr/>
      </p:nvGrpSpPr>
      <p:grpSpPr>
        <a:xfrm>
          <a:off x="0" y="0"/>
          <a:ext cx="0" cy="0"/>
          <a:chOff x="0" y="0"/>
          <a:chExt cx="0" cy="0"/>
        </a:xfrm>
      </p:grpSpPr>
      <p:sp>
        <p:nvSpPr>
          <p:cNvPr id="138" name="Google Shape;138;p22"/>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2"/>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2"/>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141" name="Google Shape;141;p22"/>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2"/>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43" name="Google Shape;143;p22"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44" name="Google Shape;144;p22"/>
          <p:cNvSpPr txBox="1"/>
          <p:nvPr>
            <p:ph idx="1" type="body"/>
          </p:nvPr>
        </p:nvSpPr>
        <p:spPr>
          <a:xfrm>
            <a:off x="270000" y="1167450"/>
            <a:ext cx="8604000" cy="31650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USTOM_5">
    <p:spTree>
      <p:nvGrpSpPr>
        <p:cNvPr id="145" name="Shape 145"/>
        <p:cNvGrpSpPr/>
        <p:nvPr/>
      </p:nvGrpSpPr>
      <p:grpSpPr>
        <a:xfrm>
          <a:off x="0" y="0"/>
          <a:ext cx="0" cy="0"/>
          <a:chOff x="0" y="0"/>
          <a:chExt cx="0" cy="0"/>
        </a:xfrm>
      </p:grpSpPr>
      <p:sp>
        <p:nvSpPr>
          <p:cNvPr id="146" name="Google Shape;146;p23"/>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3"/>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3"/>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49" name="Google Shape;149;p23"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50" name="Google Shape;150;p23"/>
          <p:cNvSpPr txBox="1"/>
          <p:nvPr>
            <p:ph idx="1" type="body"/>
          </p:nvPr>
        </p:nvSpPr>
        <p:spPr>
          <a:xfrm>
            <a:off x="274975" y="1666875"/>
            <a:ext cx="42588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51" name="Google Shape;151;p23"/>
          <p:cNvSpPr txBox="1"/>
          <p:nvPr>
            <p:ph idx="2" type="body"/>
          </p:nvPr>
        </p:nvSpPr>
        <p:spPr>
          <a:xfrm>
            <a:off x="4610100" y="1666875"/>
            <a:ext cx="42639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52" name="Google Shape;152;p23"/>
          <p:cNvSpPr txBox="1"/>
          <p:nvPr>
            <p:ph idx="3" type="subTitle"/>
          </p:nvPr>
        </p:nvSpPr>
        <p:spPr>
          <a:xfrm>
            <a:off x="2700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153" name="Google Shape;153;p23"/>
          <p:cNvSpPr txBox="1"/>
          <p:nvPr>
            <p:ph idx="4" type="subTitle"/>
          </p:nvPr>
        </p:nvSpPr>
        <p:spPr>
          <a:xfrm>
            <a:off x="46101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154" name="Google Shape;154;p23"/>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3"/>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CUSTOM_6">
    <p:spTree>
      <p:nvGrpSpPr>
        <p:cNvPr id="156" name="Shape 156"/>
        <p:cNvGrpSpPr/>
        <p:nvPr/>
      </p:nvGrpSpPr>
      <p:grpSpPr>
        <a:xfrm>
          <a:off x="0" y="0"/>
          <a:ext cx="0" cy="0"/>
          <a:chOff x="0" y="0"/>
          <a:chExt cx="0" cy="0"/>
        </a:xfrm>
      </p:grpSpPr>
      <p:sp>
        <p:nvSpPr>
          <p:cNvPr id="157" name="Google Shape;157;p24"/>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4"/>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59" name="Google Shape;159;p24"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7">
    <p:spTree>
      <p:nvGrpSpPr>
        <p:cNvPr id="160" name="Shape 160"/>
        <p:cNvGrpSpPr/>
        <p:nvPr/>
      </p:nvGrpSpPr>
      <p:grpSpPr>
        <a:xfrm>
          <a:off x="0" y="0"/>
          <a:ext cx="0" cy="0"/>
          <a:chOff x="0" y="0"/>
          <a:chExt cx="0" cy="0"/>
        </a:xfrm>
      </p:grpSpPr>
      <p:sp>
        <p:nvSpPr>
          <p:cNvPr id="161" name="Google Shape;161;p25"/>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
    <p:spTree>
      <p:nvGrpSpPr>
        <p:cNvPr id="166" name="Shape 166"/>
        <p:cNvGrpSpPr/>
        <p:nvPr/>
      </p:nvGrpSpPr>
      <p:grpSpPr>
        <a:xfrm>
          <a:off x="0" y="0"/>
          <a:ext cx="0" cy="0"/>
          <a:chOff x="0" y="0"/>
          <a:chExt cx="0" cy="0"/>
        </a:xfrm>
      </p:grpSpPr>
      <p:sp>
        <p:nvSpPr>
          <p:cNvPr id="167" name="Google Shape;167;p27"/>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7"/>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9" name="Google Shape;169;p27"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70" name="Google Shape;170;p27"/>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7"/>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172" name="Google Shape;172;p27"/>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
    <p:spTree>
      <p:nvGrpSpPr>
        <p:cNvPr id="173" name="Shape 173"/>
        <p:cNvGrpSpPr/>
        <p:nvPr/>
      </p:nvGrpSpPr>
      <p:grpSpPr>
        <a:xfrm>
          <a:off x="0" y="0"/>
          <a:ext cx="0" cy="0"/>
          <a:chOff x="0" y="0"/>
          <a:chExt cx="0" cy="0"/>
        </a:xfrm>
      </p:grpSpPr>
      <p:sp>
        <p:nvSpPr>
          <p:cNvPr id="174" name="Google Shape;174;p28"/>
          <p:cNvSpPr/>
          <p:nvPr/>
        </p:nvSpPr>
        <p:spPr>
          <a:xfrm>
            <a:off x="0" y="4016800"/>
            <a:ext cx="9144000" cy="5061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75" name="Google Shape;175;p28"/>
          <p:cNvSpPr/>
          <p:nvPr/>
        </p:nvSpPr>
        <p:spPr>
          <a:xfrm>
            <a:off x="0" y="4522925"/>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8"/>
          <p:cNvSpPr/>
          <p:nvPr/>
        </p:nvSpPr>
        <p:spPr>
          <a:xfrm>
            <a:off x="0" y="1309700"/>
            <a:ext cx="9144000" cy="27072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177" name="Google Shape;177;p28" title="CRIT_Colour_alpha.png"/>
          <p:cNvPicPr preferRelativeResize="0"/>
          <p:nvPr/>
        </p:nvPicPr>
        <p:blipFill rotWithShape="1">
          <a:blip r:embed="rId2">
            <a:alphaModFix/>
          </a:blip>
          <a:srcRect b="0" l="0" r="0" t="0"/>
          <a:stretch/>
        </p:blipFill>
        <p:spPr>
          <a:xfrm>
            <a:off x="359275" y="251999"/>
            <a:ext cx="2450924" cy="694425"/>
          </a:xfrm>
          <a:prstGeom prst="rect">
            <a:avLst/>
          </a:prstGeom>
          <a:noFill/>
          <a:ln>
            <a:noFill/>
          </a:ln>
        </p:spPr>
      </p:pic>
      <p:sp>
        <p:nvSpPr>
          <p:cNvPr id="178" name="Google Shape;178;p28"/>
          <p:cNvSpPr txBox="1"/>
          <p:nvPr>
            <p:ph type="title"/>
          </p:nvPr>
        </p:nvSpPr>
        <p:spPr>
          <a:xfrm>
            <a:off x="270000" y="1538300"/>
            <a:ext cx="8604000" cy="10779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rgbClr val="FFFFFF"/>
              </a:buClr>
              <a:buSzPts val="3600"/>
              <a:buNone/>
              <a:defRPr b="1" sz="3600">
                <a:solidFill>
                  <a:srgbClr val="FFFFFF"/>
                </a:solidFill>
              </a:defRPr>
            </a:lvl1pPr>
            <a:lvl2pPr lvl="1" algn="l">
              <a:lnSpc>
                <a:spcPct val="100000"/>
              </a:lnSpc>
              <a:spcBef>
                <a:spcPts val="0"/>
              </a:spcBef>
              <a:spcAft>
                <a:spcPts val="0"/>
              </a:spcAft>
              <a:buClr>
                <a:srgbClr val="FFFFFF"/>
              </a:buClr>
              <a:buSzPts val="3600"/>
              <a:buNone/>
              <a:defRPr b="1" sz="3600">
                <a:solidFill>
                  <a:srgbClr val="FFFFFF"/>
                </a:solidFill>
              </a:defRPr>
            </a:lvl2pPr>
            <a:lvl3pPr lvl="2" algn="l">
              <a:lnSpc>
                <a:spcPct val="100000"/>
              </a:lnSpc>
              <a:spcBef>
                <a:spcPts val="0"/>
              </a:spcBef>
              <a:spcAft>
                <a:spcPts val="0"/>
              </a:spcAft>
              <a:buClr>
                <a:srgbClr val="FFFFFF"/>
              </a:buClr>
              <a:buSzPts val="3600"/>
              <a:buNone/>
              <a:defRPr b="1" sz="3600">
                <a:solidFill>
                  <a:srgbClr val="FFFFFF"/>
                </a:solidFill>
              </a:defRPr>
            </a:lvl3pPr>
            <a:lvl4pPr lvl="3" algn="l">
              <a:lnSpc>
                <a:spcPct val="100000"/>
              </a:lnSpc>
              <a:spcBef>
                <a:spcPts val="0"/>
              </a:spcBef>
              <a:spcAft>
                <a:spcPts val="0"/>
              </a:spcAft>
              <a:buClr>
                <a:srgbClr val="FFFFFF"/>
              </a:buClr>
              <a:buSzPts val="3600"/>
              <a:buNone/>
              <a:defRPr b="1" sz="3600">
                <a:solidFill>
                  <a:srgbClr val="FFFFFF"/>
                </a:solidFill>
              </a:defRPr>
            </a:lvl4pPr>
            <a:lvl5pPr lvl="4" algn="l">
              <a:lnSpc>
                <a:spcPct val="100000"/>
              </a:lnSpc>
              <a:spcBef>
                <a:spcPts val="0"/>
              </a:spcBef>
              <a:spcAft>
                <a:spcPts val="0"/>
              </a:spcAft>
              <a:buClr>
                <a:srgbClr val="FFFFFF"/>
              </a:buClr>
              <a:buSzPts val="3600"/>
              <a:buNone/>
              <a:defRPr b="1" sz="3600">
                <a:solidFill>
                  <a:srgbClr val="FFFFFF"/>
                </a:solidFill>
              </a:defRPr>
            </a:lvl5pPr>
            <a:lvl6pPr lvl="5" algn="l">
              <a:lnSpc>
                <a:spcPct val="100000"/>
              </a:lnSpc>
              <a:spcBef>
                <a:spcPts val="0"/>
              </a:spcBef>
              <a:spcAft>
                <a:spcPts val="0"/>
              </a:spcAft>
              <a:buClr>
                <a:srgbClr val="FFFFFF"/>
              </a:buClr>
              <a:buSzPts val="3600"/>
              <a:buNone/>
              <a:defRPr b="1" sz="3600">
                <a:solidFill>
                  <a:srgbClr val="FFFFFF"/>
                </a:solidFill>
              </a:defRPr>
            </a:lvl6pPr>
            <a:lvl7pPr lvl="6" algn="l">
              <a:lnSpc>
                <a:spcPct val="100000"/>
              </a:lnSpc>
              <a:spcBef>
                <a:spcPts val="0"/>
              </a:spcBef>
              <a:spcAft>
                <a:spcPts val="0"/>
              </a:spcAft>
              <a:buClr>
                <a:srgbClr val="FFFFFF"/>
              </a:buClr>
              <a:buSzPts val="3600"/>
              <a:buNone/>
              <a:defRPr b="1" sz="3600">
                <a:solidFill>
                  <a:srgbClr val="FFFFFF"/>
                </a:solidFill>
              </a:defRPr>
            </a:lvl7pPr>
            <a:lvl8pPr lvl="7" algn="l">
              <a:lnSpc>
                <a:spcPct val="100000"/>
              </a:lnSpc>
              <a:spcBef>
                <a:spcPts val="0"/>
              </a:spcBef>
              <a:spcAft>
                <a:spcPts val="0"/>
              </a:spcAft>
              <a:buClr>
                <a:srgbClr val="FFFFFF"/>
              </a:buClr>
              <a:buSzPts val="3600"/>
              <a:buNone/>
              <a:defRPr b="1" sz="3600">
                <a:solidFill>
                  <a:srgbClr val="FFFFFF"/>
                </a:solidFill>
              </a:defRPr>
            </a:lvl8pPr>
            <a:lvl9pPr lvl="8" algn="l">
              <a:lnSpc>
                <a:spcPct val="100000"/>
              </a:lnSpc>
              <a:spcBef>
                <a:spcPts val="0"/>
              </a:spcBef>
              <a:spcAft>
                <a:spcPts val="0"/>
              </a:spcAft>
              <a:buClr>
                <a:srgbClr val="FFFFFF"/>
              </a:buClr>
              <a:buSzPts val="3600"/>
              <a:buNone/>
              <a:defRPr b="1" sz="3600">
                <a:solidFill>
                  <a:srgbClr val="FFFFFF"/>
                </a:solidFill>
              </a:defRPr>
            </a:lvl9pPr>
          </a:lstStyle>
          <a:p/>
        </p:txBody>
      </p:sp>
      <p:sp>
        <p:nvSpPr>
          <p:cNvPr id="179" name="Google Shape;179;p28"/>
          <p:cNvSpPr txBox="1"/>
          <p:nvPr>
            <p:ph idx="1" type="subTitle"/>
          </p:nvPr>
        </p:nvSpPr>
        <p:spPr>
          <a:xfrm>
            <a:off x="270000" y="2860675"/>
            <a:ext cx="8604000" cy="996300"/>
          </a:xfrm>
          <a:prstGeom prst="rect">
            <a:avLst/>
          </a:prstGeom>
          <a:noFill/>
          <a:ln>
            <a:noFill/>
          </a:ln>
        </p:spPr>
        <p:txBody>
          <a:bodyPr anchorCtr="0" anchor="b" bIns="91425" lIns="91425" spcFirstLastPara="1" rIns="91425" wrap="square" tIns="91425">
            <a:spAutoFit/>
          </a:bodyPr>
          <a:lstStyle>
            <a:lvl1pPr lvl="0" algn="l">
              <a:lnSpc>
                <a:spcPct val="115000"/>
              </a:lnSpc>
              <a:spcBef>
                <a:spcPts val="0"/>
              </a:spcBef>
              <a:spcAft>
                <a:spcPts val="0"/>
              </a:spcAft>
              <a:buClr>
                <a:srgbClr val="FFFFFF"/>
              </a:buClr>
              <a:buSzPts val="1800"/>
              <a:buNone/>
              <a:defRPr b="1" sz="1800">
                <a:solidFill>
                  <a:srgbClr val="FFFFFF"/>
                </a:solidFill>
              </a:defRPr>
            </a:lvl1pPr>
            <a:lvl2pPr lvl="1" algn="l">
              <a:lnSpc>
                <a:spcPct val="115000"/>
              </a:lnSpc>
              <a:spcBef>
                <a:spcPts val="0"/>
              </a:spcBef>
              <a:spcAft>
                <a:spcPts val="0"/>
              </a:spcAft>
              <a:buClr>
                <a:srgbClr val="FFFFFF"/>
              </a:buClr>
              <a:buSzPts val="2200"/>
              <a:buNone/>
              <a:defRPr b="1">
                <a:solidFill>
                  <a:srgbClr val="FFFFFF"/>
                </a:solidFill>
              </a:defRPr>
            </a:lvl2pPr>
            <a:lvl3pPr lvl="2" algn="l">
              <a:lnSpc>
                <a:spcPct val="115000"/>
              </a:lnSpc>
              <a:spcBef>
                <a:spcPts val="0"/>
              </a:spcBef>
              <a:spcAft>
                <a:spcPts val="0"/>
              </a:spcAft>
              <a:buClr>
                <a:srgbClr val="FFFFFF"/>
              </a:buClr>
              <a:buSzPts val="2200"/>
              <a:buNone/>
              <a:defRPr b="1">
                <a:solidFill>
                  <a:srgbClr val="FFFFFF"/>
                </a:solidFill>
              </a:defRPr>
            </a:lvl3pPr>
            <a:lvl4pPr lvl="3" algn="l">
              <a:lnSpc>
                <a:spcPct val="115000"/>
              </a:lnSpc>
              <a:spcBef>
                <a:spcPts val="0"/>
              </a:spcBef>
              <a:spcAft>
                <a:spcPts val="0"/>
              </a:spcAft>
              <a:buClr>
                <a:srgbClr val="FFFFFF"/>
              </a:buClr>
              <a:buSzPts val="2200"/>
              <a:buNone/>
              <a:defRPr b="1">
                <a:solidFill>
                  <a:srgbClr val="FFFFFF"/>
                </a:solidFill>
              </a:defRPr>
            </a:lvl4pPr>
            <a:lvl5pPr lvl="4" algn="l">
              <a:lnSpc>
                <a:spcPct val="115000"/>
              </a:lnSpc>
              <a:spcBef>
                <a:spcPts val="0"/>
              </a:spcBef>
              <a:spcAft>
                <a:spcPts val="0"/>
              </a:spcAft>
              <a:buClr>
                <a:srgbClr val="FFFFFF"/>
              </a:buClr>
              <a:buSzPts val="2200"/>
              <a:buNone/>
              <a:defRPr b="1">
                <a:solidFill>
                  <a:srgbClr val="FFFFFF"/>
                </a:solidFill>
              </a:defRPr>
            </a:lvl5pPr>
            <a:lvl6pPr lvl="5" algn="l">
              <a:lnSpc>
                <a:spcPct val="115000"/>
              </a:lnSpc>
              <a:spcBef>
                <a:spcPts val="0"/>
              </a:spcBef>
              <a:spcAft>
                <a:spcPts val="0"/>
              </a:spcAft>
              <a:buClr>
                <a:srgbClr val="FFFFFF"/>
              </a:buClr>
              <a:buSzPts val="2200"/>
              <a:buNone/>
              <a:defRPr b="1">
                <a:solidFill>
                  <a:srgbClr val="FFFFFF"/>
                </a:solidFill>
              </a:defRPr>
            </a:lvl6pPr>
            <a:lvl7pPr lvl="6" algn="l">
              <a:lnSpc>
                <a:spcPct val="115000"/>
              </a:lnSpc>
              <a:spcBef>
                <a:spcPts val="0"/>
              </a:spcBef>
              <a:spcAft>
                <a:spcPts val="0"/>
              </a:spcAft>
              <a:buClr>
                <a:srgbClr val="FFFFFF"/>
              </a:buClr>
              <a:buSzPts val="2200"/>
              <a:buNone/>
              <a:defRPr b="1">
                <a:solidFill>
                  <a:srgbClr val="FFFFFF"/>
                </a:solidFill>
              </a:defRPr>
            </a:lvl7pPr>
            <a:lvl8pPr lvl="7" algn="l">
              <a:lnSpc>
                <a:spcPct val="115000"/>
              </a:lnSpc>
              <a:spcBef>
                <a:spcPts val="0"/>
              </a:spcBef>
              <a:spcAft>
                <a:spcPts val="0"/>
              </a:spcAft>
              <a:buClr>
                <a:srgbClr val="FFFFFF"/>
              </a:buClr>
              <a:buSzPts val="2200"/>
              <a:buNone/>
              <a:defRPr b="1">
                <a:solidFill>
                  <a:srgbClr val="FFFFFF"/>
                </a:solidFill>
              </a:defRPr>
            </a:lvl8pPr>
            <a:lvl9pPr lvl="8" algn="l">
              <a:lnSpc>
                <a:spcPct val="115000"/>
              </a:lnSpc>
              <a:spcBef>
                <a:spcPts val="0"/>
              </a:spcBef>
              <a:spcAft>
                <a:spcPts val="0"/>
              </a:spcAft>
              <a:buClr>
                <a:srgbClr val="FFFFFF"/>
              </a:buClr>
              <a:buSzPts val="2200"/>
              <a:buNone/>
              <a:defRPr b="1">
                <a:solidFill>
                  <a:srgbClr val="FFFFFF"/>
                </a:solidFill>
              </a:defRPr>
            </a:lvl9pPr>
          </a:lstStyle>
          <a:p/>
        </p:txBody>
      </p:sp>
      <p:sp>
        <p:nvSpPr>
          <p:cNvPr id="180" name="Google Shape;180;p28"/>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
    <p:spTree>
      <p:nvGrpSpPr>
        <p:cNvPr id="181" name="Shape 181"/>
        <p:cNvGrpSpPr/>
        <p:nvPr/>
      </p:nvGrpSpPr>
      <p:grpSpPr>
        <a:xfrm>
          <a:off x="0" y="0"/>
          <a:ext cx="0" cy="0"/>
          <a:chOff x="0" y="0"/>
          <a:chExt cx="0" cy="0"/>
        </a:xfrm>
      </p:grpSpPr>
      <p:sp>
        <p:nvSpPr>
          <p:cNvPr id="182" name="Google Shape;182;p29"/>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3" name="Google Shape;183;p29"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84" name="Google Shape;184;p29"/>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9"/>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9"/>
          <p:cNvSpPr txBox="1"/>
          <p:nvPr>
            <p:ph type="title"/>
          </p:nvPr>
        </p:nvSpPr>
        <p:spPr>
          <a:xfrm>
            <a:off x="270000" y="1600575"/>
            <a:ext cx="8604000" cy="777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b="1" sz="3600"/>
            </a:lvl1pPr>
            <a:lvl2pPr lvl="1" algn="l">
              <a:lnSpc>
                <a:spcPct val="100000"/>
              </a:lnSpc>
              <a:spcBef>
                <a:spcPts val="0"/>
              </a:spcBef>
              <a:spcAft>
                <a:spcPts val="0"/>
              </a:spcAft>
              <a:buSzPts val="3600"/>
              <a:buNone/>
              <a:defRPr b="1" sz="3600"/>
            </a:lvl2pPr>
            <a:lvl3pPr lvl="2" algn="l">
              <a:lnSpc>
                <a:spcPct val="100000"/>
              </a:lnSpc>
              <a:spcBef>
                <a:spcPts val="0"/>
              </a:spcBef>
              <a:spcAft>
                <a:spcPts val="0"/>
              </a:spcAft>
              <a:buSzPts val="3600"/>
              <a:buNone/>
              <a:defRPr b="1" sz="3600"/>
            </a:lvl3pPr>
            <a:lvl4pPr lvl="3" algn="l">
              <a:lnSpc>
                <a:spcPct val="100000"/>
              </a:lnSpc>
              <a:spcBef>
                <a:spcPts val="0"/>
              </a:spcBef>
              <a:spcAft>
                <a:spcPts val="0"/>
              </a:spcAft>
              <a:buSzPts val="3600"/>
              <a:buNone/>
              <a:defRPr b="1" sz="3600"/>
            </a:lvl4pPr>
            <a:lvl5pPr lvl="4" algn="l">
              <a:lnSpc>
                <a:spcPct val="100000"/>
              </a:lnSpc>
              <a:spcBef>
                <a:spcPts val="0"/>
              </a:spcBef>
              <a:spcAft>
                <a:spcPts val="0"/>
              </a:spcAft>
              <a:buSzPts val="3600"/>
              <a:buNone/>
              <a:defRPr b="1" sz="3600"/>
            </a:lvl5pPr>
            <a:lvl6pPr lvl="5" algn="l">
              <a:lnSpc>
                <a:spcPct val="100000"/>
              </a:lnSpc>
              <a:spcBef>
                <a:spcPts val="0"/>
              </a:spcBef>
              <a:spcAft>
                <a:spcPts val="0"/>
              </a:spcAft>
              <a:buSzPts val="3600"/>
              <a:buNone/>
              <a:defRPr b="1" sz="3600"/>
            </a:lvl6pPr>
            <a:lvl7pPr lvl="6" algn="l">
              <a:lnSpc>
                <a:spcPct val="100000"/>
              </a:lnSpc>
              <a:spcBef>
                <a:spcPts val="0"/>
              </a:spcBef>
              <a:spcAft>
                <a:spcPts val="0"/>
              </a:spcAft>
              <a:buSzPts val="3600"/>
              <a:buNone/>
              <a:defRPr b="1" sz="3600"/>
            </a:lvl7pPr>
            <a:lvl8pPr lvl="7" algn="l">
              <a:lnSpc>
                <a:spcPct val="100000"/>
              </a:lnSpc>
              <a:spcBef>
                <a:spcPts val="0"/>
              </a:spcBef>
              <a:spcAft>
                <a:spcPts val="0"/>
              </a:spcAft>
              <a:buSzPts val="3600"/>
              <a:buNone/>
              <a:defRPr b="1" sz="3600"/>
            </a:lvl8pPr>
            <a:lvl9pPr lvl="8" algn="l">
              <a:lnSpc>
                <a:spcPct val="100000"/>
              </a:lnSpc>
              <a:spcBef>
                <a:spcPts val="0"/>
              </a:spcBef>
              <a:spcAft>
                <a:spcPts val="0"/>
              </a:spcAft>
              <a:buSzPts val="3600"/>
              <a:buNone/>
              <a:defRPr b="1" sz="3600"/>
            </a:lvl9pPr>
          </a:lstStyle>
          <a:p/>
        </p:txBody>
      </p:sp>
      <p:sp>
        <p:nvSpPr>
          <p:cNvPr id="187" name="Google Shape;187;p29"/>
          <p:cNvSpPr txBox="1"/>
          <p:nvPr>
            <p:ph idx="1" type="subTitle"/>
          </p:nvPr>
        </p:nvSpPr>
        <p:spPr>
          <a:xfrm>
            <a:off x="270000" y="2377575"/>
            <a:ext cx="8604000" cy="896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188" name="Google Shape;188;p29"/>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4">
    <p:spTree>
      <p:nvGrpSpPr>
        <p:cNvPr id="189" name="Shape 189"/>
        <p:cNvGrpSpPr/>
        <p:nvPr/>
      </p:nvGrpSpPr>
      <p:grpSpPr>
        <a:xfrm>
          <a:off x="0" y="0"/>
          <a:ext cx="0" cy="0"/>
          <a:chOff x="0" y="0"/>
          <a:chExt cx="0" cy="0"/>
        </a:xfrm>
      </p:grpSpPr>
      <p:sp>
        <p:nvSpPr>
          <p:cNvPr id="190" name="Google Shape;190;p30"/>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0"/>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0"/>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
        <p:nvSpPr>
          <p:cNvPr id="193" name="Google Shape;193;p30"/>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0"/>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195" name="Google Shape;195;p30"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196" name="Google Shape;196;p30"/>
          <p:cNvSpPr txBox="1"/>
          <p:nvPr>
            <p:ph idx="1" type="body"/>
          </p:nvPr>
        </p:nvSpPr>
        <p:spPr>
          <a:xfrm>
            <a:off x="270000" y="1167450"/>
            <a:ext cx="8604000" cy="31650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USTOM_5">
    <p:spTree>
      <p:nvGrpSpPr>
        <p:cNvPr id="197" name="Shape 197"/>
        <p:cNvGrpSpPr/>
        <p:nvPr/>
      </p:nvGrpSpPr>
      <p:grpSpPr>
        <a:xfrm>
          <a:off x="0" y="0"/>
          <a:ext cx="0" cy="0"/>
          <a:chOff x="0" y="0"/>
          <a:chExt cx="0" cy="0"/>
        </a:xfrm>
      </p:grpSpPr>
      <p:sp>
        <p:nvSpPr>
          <p:cNvPr id="198" name="Google Shape;198;p31"/>
          <p:cNvSpPr/>
          <p:nvPr/>
        </p:nvSpPr>
        <p:spPr>
          <a:xfrm>
            <a:off x="25" y="850800"/>
            <a:ext cx="9144000" cy="134400"/>
          </a:xfrm>
          <a:prstGeom prst="rect">
            <a:avLst/>
          </a:prstGeom>
          <a:solidFill>
            <a:srgbClr val="68ACE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1"/>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1"/>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01" name="Google Shape;201;p31"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
        <p:nvSpPr>
          <p:cNvPr id="202" name="Google Shape;202;p31"/>
          <p:cNvSpPr txBox="1"/>
          <p:nvPr>
            <p:ph idx="1" type="body"/>
          </p:nvPr>
        </p:nvSpPr>
        <p:spPr>
          <a:xfrm>
            <a:off x="274975" y="1666875"/>
            <a:ext cx="42588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203" name="Google Shape;203;p31"/>
          <p:cNvSpPr txBox="1"/>
          <p:nvPr>
            <p:ph idx="2" type="body"/>
          </p:nvPr>
        </p:nvSpPr>
        <p:spPr>
          <a:xfrm>
            <a:off x="4610100" y="1666875"/>
            <a:ext cx="4263900" cy="2708700"/>
          </a:xfrm>
          <a:prstGeom prst="rect">
            <a:avLst/>
          </a:prstGeom>
          <a:noFill/>
          <a:ln>
            <a:noFill/>
          </a:ln>
        </p:spPr>
        <p:txBody>
          <a:bodyPr anchorCtr="0" anchor="t" bIns="91425" lIns="91425" spcFirstLastPara="1" rIns="91425" wrap="square" tIns="91425">
            <a:spAutoFit/>
          </a:bodyPr>
          <a:lstStyle>
            <a:lvl1pPr indent="-368300" lvl="0" marL="457200" algn="l">
              <a:lnSpc>
                <a:spcPct val="115000"/>
              </a:lnSpc>
              <a:spcBef>
                <a:spcPts val="0"/>
              </a:spcBef>
              <a:spcAft>
                <a:spcPts val="0"/>
              </a:spcAft>
              <a:buSzPts val="22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204" name="Google Shape;204;p31"/>
          <p:cNvSpPr txBox="1"/>
          <p:nvPr>
            <p:ph idx="3" type="subTitle"/>
          </p:nvPr>
        </p:nvSpPr>
        <p:spPr>
          <a:xfrm>
            <a:off x="2700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205" name="Google Shape;205;p31"/>
          <p:cNvSpPr txBox="1"/>
          <p:nvPr>
            <p:ph idx="4" type="subTitle"/>
          </p:nvPr>
        </p:nvSpPr>
        <p:spPr>
          <a:xfrm>
            <a:off x="4610100" y="1091400"/>
            <a:ext cx="4263900" cy="6351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2200"/>
              <a:buNone/>
              <a:defRPr/>
            </a:lvl1pPr>
            <a:lvl2pPr lvl="1" algn="l">
              <a:lnSpc>
                <a:spcPct val="115000"/>
              </a:lnSpc>
              <a:spcBef>
                <a:spcPts val="0"/>
              </a:spcBef>
              <a:spcAft>
                <a:spcPts val="0"/>
              </a:spcAft>
              <a:buSzPts val="2200"/>
              <a:buNone/>
              <a:defRPr/>
            </a:lvl2pPr>
            <a:lvl3pPr lvl="2" algn="l">
              <a:lnSpc>
                <a:spcPct val="115000"/>
              </a:lnSpc>
              <a:spcBef>
                <a:spcPts val="0"/>
              </a:spcBef>
              <a:spcAft>
                <a:spcPts val="0"/>
              </a:spcAft>
              <a:buSzPts val="2200"/>
              <a:buNone/>
              <a:defRPr/>
            </a:lvl3pPr>
            <a:lvl4pPr lvl="3" algn="l">
              <a:lnSpc>
                <a:spcPct val="115000"/>
              </a:lnSpc>
              <a:spcBef>
                <a:spcPts val="0"/>
              </a:spcBef>
              <a:spcAft>
                <a:spcPts val="0"/>
              </a:spcAft>
              <a:buSzPts val="2200"/>
              <a:buNone/>
              <a:defRPr/>
            </a:lvl4pPr>
            <a:lvl5pPr lvl="4" algn="l">
              <a:lnSpc>
                <a:spcPct val="115000"/>
              </a:lnSpc>
              <a:spcBef>
                <a:spcPts val="0"/>
              </a:spcBef>
              <a:spcAft>
                <a:spcPts val="0"/>
              </a:spcAft>
              <a:buSzPts val="2200"/>
              <a:buNone/>
              <a:defRPr/>
            </a:lvl5pPr>
            <a:lvl6pPr lvl="5" algn="l">
              <a:lnSpc>
                <a:spcPct val="115000"/>
              </a:lnSpc>
              <a:spcBef>
                <a:spcPts val="0"/>
              </a:spcBef>
              <a:spcAft>
                <a:spcPts val="0"/>
              </a:spcAft>
              <a:buSzPts val="2200"/>
              <a:buNone/>
              <a:defRPr/>
            </a:lvl6pPr>
            <a:lvl7pPr lvl="6" algn="l">
              <a:lnSpc>
                <a:spcPct val="115000"/>
              </a:lnSpc>
              <a:spcBef>
                <a:spcPts val="0"/>
              </a:spcBef>
              <a:spcAft>
                <a:spcPts val="0"/>
              </a:spcAft>
              <a:buSzPts val="2200"/>
              <a:buNone/>
              <a:defRPr/>
            </a:lvl7pPr>
            <a:lvl8pPr lvl="7" algn="l">
              <a:lnSpc>
                <a:spcPct val="115000"/>
              </a:lnSpc>
              <a:spcBef>
                <a:spcPts val="0"/>
              </a:spcBef>
              <a:spcAft>
                <a:spcPts val="0"/>
              </a:spcAft>
              <a:buSzPts val="2200"/>
              <a:buNone/>
              <a:defRPr/>
            </a:lvl8pPr>
            <a:lvl9pPr lvl="8" algn="l">
              <a:lnSpc>
                <a:spcPct val="115000"/>
              </a:lnSpc>
              <a:spcBef>
                <a:spcPts val="0"/>
              </a:spcBef>
              <a:spcAft>
                <a:spcPts val="0"/>
              </a:spcAft>
              <a:buSzPts val="2200"/>
              <a:buNone/>
              <a:defRPr/>
            </a:lvl9pPr>
          </a:lstStyle>
          <a:p/>
        </p:txBody>
      </p:sp>
      <p:sp>
        <p:nvSpPr>
          <p:cNvPr id="206" name="Google Shape;206;p31"/>
          <p:cNvSpPr/>
          <p:nvPr/>
        </p:nvSpPr>
        <p:spPr>
          <a:xfrm>
            <a:off x="25" y="0"/>
            <a:ext cx="9144000" cy="850800"/>
          </a:xfrm>
          <a:prstGeom prst="rect">
            <a:avLst/>
          </a:prstGeom>
          <a:solidFill>
            <a:srgbClr val="0072C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1"/>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lvl1pPr lvl="0"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1pPr>
            <a:lvl2pPr lvl="1"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2pPr>
            <a:lvl3pPr lvl="2"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3pPr>
            <a:lvl4pPr lvl="3"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4pPr>
            <a:lvl5pPr lvl="4"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5pPr>
            <a:lvl6pPr lvl="5"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2800"/>
              <a:buNone/>
              <a:defRPr b="1" i="0" sz="2600" u="none" cap="none" strike="noStrike">
                <a:solidFill>
                  <a:srgbClr val="FFFFFF"/>
                </a:solidFill>
                <a:latin typeface="Arial"/>
                <a:ea typeface="Arial"/>
                <a:cs typeface="Arial"/>
                <a:sym typeface="Aria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CUSTOM_6">
    <p:spTree>
      <p:nvGrpSpPr>
        <p:cNvPr id="208" name="Shape 208"/>
        <p:cNvGrpSpPr/>
        <p:nvPr/>
      </p:nvGrpSpPr>
      <p:grpSpPr>
        <a:xfrm>
          <a:off x="0" y="0"/>
          <a:ext cx="0" cy="0"/>
          <a:chOff x="0" y="0"/>
          <a:chExt cx="0" cy="0"/>
        </a:xfrm>
      </p:grpSpPr>
      <p:sp>
        <p:nvSpPr>
          <p:cNvPr id="209" name="Google Shape;209;p32"/>
          <p:cNvSpPr/>
          <p:nvPr/>
        </p:nvSpPr>
        <p:spPr>
          <a:xfrm>
            <a:off x="25" y="4649100"/>
            <a:ext cx="9144000" cy="493800"/>
          </a:xfrm>
          <a:prstGeom prst="rect">
            <a:avLst/>
          </a:prstGeom>
          <a:solidFill>
            <a:srgbClr val="003E7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2"/>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11" name="Google Shape;211;p32" title="CRIT_Colour_alpha_rev.png"/>
          <p:cNvPicPr preferRelativeResize="0"/>
          <p:nvPr/>
        </p:nvPicPr>
        <p:blipFill rotWithShape="1">
          <a:blip r:embed="rId2">
            <a:alphaModFix/>
          </a:blip>
          <a:srcRect b="34768" l="0" r="0" t="0"/>
          <a:stretch/>
        </p:blipFill>
        <p:spPr>
          <a:xfrm>
            <a:off x="237375" y="4781225"/>
            <a:ext cx="1117343" cy="22955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7">
    <p:spTree>
      <p:nvGrpSpPr>
        <p:cNvPr id="212" name="Shape 212"/>
        <p:cNvGrpSpPr/>
        <p:nvPr/>
      </p:nvGrpSpPr>
      <p:grpSpPr>
        <a:xfrm>
          <a:off x="0" y="0"/>
          <a:ext cx="0" cy="0"/>
          <a:chOff x="0" y="0"/>
          <a:chExt cx="0" cy="0"/>
        </a:xfrm>
      </p:grpSpPr>
      <p:sp>
        <p:nvSpPr>
          <p:cNvPr id="213" name="Google Shape;213;p33"/>
          <p:cNvSpPr txBox="1"/>
          <p:nvPr>
            <p:ph idx="12" type="sldNum"/>
          </p:nvPr>
        </p:nvSpPr>
        <p:spPr>
          <a:xfrm>
            <a:off x="8556784" y="4749851"/>
            <a:ext cx="548700" cy="384900"/>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3E7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theme" Target="../theme/theme4.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0000" y="246600"/>
            <a:ext cx="84240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rgbClr val="003E72"/>
              </a:buClr>
              <a:buSzPts val="2800"/>
              <a:buNone/>
              <a:defRPr sz="2800">
                <a:solidFill>
                  <a:srgbClr val="003E72"/>
                </a:solidFill>
              </a:defRPr>
            </a:lvl1pPr>
            <a:lvl2pPr lvl="1">
              <a:spcBef>
                <a:spcPts val="0"/>
              </a:spcBef>
              <a:spcAft>
                <a:spcPts val="0"/>
              </a:spcAft>
              <a:buClr>
                <a:srgbClr val="003E72"/>
              </a:buClr>
              <a:buSzPts val="2800"/>
              <a:buNone/>
              <a:defRPr sz="2800">
                <a:solidFill>
                  <a:srgbClr val="003E72"/>
                </a:solidFill>
              </a:defRPr>
            </a:lvl2pPr>
            <a:lvl3pPr lvl="2">
              <a:spcBef>
                <a:spcPts val="0"/>
              </a:spcBef>
              <a:spcAft>
                <a:spcPts val="0"/>
              </a:spcAft>
              <a:buClr>
                <a:srgbClr val="003E72"/>
              </a:buClr>
              <a:buSzPts val="2800"/>
              <a:buNone/>
              <a:defRPr sz="2800">
                <a:solidFill>
                  <a:srgbClr val="003E72"/>
                </a:solidFill>
              </a:defRPr>
            </a:lvl3pPr>
            <a:lvl4pPr lvl="3">
              <a:spcBef>
                <a:spcPts val="0"/>
              </a:spcBef>
              <a:spcAft>
                <a:spcPts val="0"/>
              </a:spcAft>
              <a:buClr>
                <a:srgbClr val="003E72"/>
              </a:buClr>
              <a:buSzPts val="2800"/>
              <a:buNone/>
              <a:defRPr sz="2800">
                <a:solidFill>
                  <a:srgbClr val="003E72"/>
                </a:solidFill>
              </a:defRPr>
            </a:lvl4pPr>
            <a:lvl5pPr lvl="4">
              <a:spcBef>
                <a:spcPts val="0"/>
              </a:spcBef>
              <a:spcAft>
                <a:spcPts val="0"/>
              </a:spcAft>
              <a:buClr>
                <a:srgbClr val="003E72"/>
              </a:buClr>
              <a:buSzPts val="2800"/>
              <a:buNone/>
              <a:defRPr sz="2800">
                <a:solidFill>
                  <a:srgbClr val="003E72"/>
                </a:solidFill>
              </a:defRPr>
            </a:lvl5pPr>
            <a:lvl6pPr lvl="5">
              <a:spcBef>
                <a:spcPts val="0"/>
              </a:spcBef>
              <a:spcAft>
                <a:spcPts val="0"/>
              </a:spcAft>
              <a:buClr>
                <a:srgbClr val="003E72"/>
              </a:buClr>
              <a:buSzPts val="2800"/>
              <a:buNone/>
              <a:defRPr sz="2800">
                <a:solidFill>
                  <a:srgbClr val="003E72"/>
                </a:solidFill>
              </a:defRPr>
            </a:lvl6pPr>
            <a:lvl7pPr lvl="6">
              <a:spcBef>
                <a:spcPts val="0"/>
              </a:spcBef>
              <a:spcAft>
                <a:spcPts val="0"/>
              </a:spcAft>
              <a:buClr>
                <a:srgbClr val="003E72"/>
              </a:buClr>
              <a:buSzPts val="2800"/>
              <a:buNone/>
              <a:defRPr sz="2800">
                <a:solidFill>
                  <a:srgbClr val="003E72"/>
                </a:solidFill>
              </a:defRPr>
            </a:lvl7pPr>
            <a:lvl8pPr lvl="7">
              <a:spcBef>
                <a:spcPts val="0"/>
              </a:spcBef>
              <a:spcAft>
                <a:spcPts val="0"/>
              </a:spcAft>
              <a:buClr>
                <a:srgbClr val="003E72"/>
              </a:buClr>
              <a:buSzPts val="2800"/>
              <a:buNone/>
              <a:defRPr sz="2800">
                <a:solidFill>
                  <a:srgbClr val="003E72"/>
                </a:solidFill>
              </a:defRPr>
            </a:lvl8pPr>
            <a:lvl9pPr lvl="8">
              <a:spcBef>
                <a:spcPts val="0"/>
              </a:spcBef>
              <a:spcAft>
                <a:spcPts val="0"/>
              </a:spcAft>
              <a:buClr>
                <a:srgbClr val="003E72"/>
              </a:buClr>
              <a:buSzPts val="2800"/>
              <a:buNone/>
              <a:defRPr sz="2800">
                <a:solidFill>
                  <a:srgbClr val="003E72"/>
                </a:solidFill>
              </a:defRPr>
            </a:lvl9pPr>
          </a:lstStyle>
          <a:p/>
        </p:txBody>
      </p:sp>
      <p:sp>
        <p:nvSpPr>
          <p:cNvPr id="7" name="Google Shape;7;p1"/>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spAutoFit/>
          </a:bodyPr>
          <a:lstStyle>
            <a:lvl1pPr indent="-368300" lvl="0" marL="457200">
              <a:lnSpc>
                <a:spcPct val="115000"/>
              </a:lnSpc>
              <a:spcBef>
                <a:spcPts val="0"/>
              </a:spcBef>
              <a:spcAft>
                <a:spcPts val="0"/>
              </a:spcAft>
              <a:buClr>
                <a:srgbClr val="003E72"/>
              </a:buClr>
              <a:buSzPts val="2200"/>
              <a:buChar char="●"/>
              <a:defRPr sz="2200">
                <a:solidFill>
                  <a:srgbClr val="003E72"/>
                </a:solidFill>
              </a:defRPr>
            </a:lvl1pPr>
            <a:lvl2pPr indent="-368300" lvl="1" marL="914400">
              <a:lnSpc>
                <a:spcPct val="115000"/>
              </a:lnSpc>
              <a:spcBef>
                <a:spcPts val="0"/>
              </a:spcBef>
              <a:spcAft>
                <a:spcPts val="0"/>
              </a:spcAft>
              <a:buClr>
                <a:srgbClr val="003E72"/>
              </a:buClr>
              <a:buSzPts val="2200"/>
              <a:buChar char="○"/>
              <a:defRPr sz="2200">
                <a:solidFill>
                  <a:srgbClr val="003E72"/>
                </a:solidFill>
              </a:defRPr>
            </a:lvl2pPr>
            <a:lvl3pPr indent="-368300" lvl="2" marL="1371600">
              <a:lnSpc>
                <a:spcPct val="115000"/>
              </a:lnSpc>
              <a:spcBef>
                <a:spcPts val="0"/>
              </a:spcBef>
              <a:spcAft>
                <a:spcPts val="0"/>
              </a:spcAft>
              <a:buClr>
                <a:srgbClr val="003E72"/>
              </a:buClr>
              <a:buSzPts val="2200"/>
              <a:buChar char="■"/>
              <a:defRPr sz="2200">
                <a:solidFill>
                  <a:srgbClr val="003E72"/>
                </a:solidFill>
              </a:defRPr>
            </a:lvl3pPr>
            <a:lvl4pPr indent="-368300" lvl="3" marL="1828800">
              <a:lnSpc>
                <a:spcPct val="115000"/>
              </a:lnSpc>
              <a:spcBef>
                <a:spcPts val="0"/>
              </a:spcBef>
              <a:spcAft>
                <a:spcPts val="0"/>
              </a:spcAft>
              <a:buClr>
                <a:srgbClr val="003E72"/>
              </a:buClr>
              <a:buSzPts val="2200"/>
              <a:buChar char="●"/>
              <a:defRPr sz="2200">
                <a:solidFill>
                  <a:srgbClr val="003E72"/>
                </a:solidFill>
              </a:defRPr>
            </a:lvl4pPr>
            <a:lvl5pPr indent="-368300" lvl="4" marL="2286000">
              <a:lnSpc>
                <a:spcPct val="115000"/>
              </a:lnSpc>
              <a:spcBef>
                <a:spcPts val="0"/>
              </a:spcBef>
              <a:spcAft>
                <a:spcPts val="0"/>
              </a:spcAft>
              <a:buClr>
                <a:srgbClr val="003E72"/>
              </a:buClr>
              <a:buSzPts val="2200"/>
              <a:buChar char="○"/>
              <a:defRPr sz="2200">
                <a:solidFill>
                  <a:srgbClr val="003E72"/>
                </a:solidFill>
              </a:defRPr>
            </a:lvl5pPr>
            <a:lvl6pPr indent="-368300" lvl="5" marL="2743200">
              <a:lnSpc>
                <a:spcPct val="115000"/>
              </a:lnSpc>
              <a:spcBef>
                <a:spcPts val="0"/>
              </a:spcBef>
              <a:spcAft>
                <a:spcPts val="0"/>
              </a:spcAft>
              <a:buClr>
                <a:srgbClr val="003E72"/>
              </a:buClr>
              <a:buSzPts val="2200"/>
              <a:buChar char="■"/>
              <a:defRPr sz="2200">
                <a:solidFill>
                  <a:srgbClr val="003E72"/>
                </a:solidFill>
              </a:defRPr>
            </a:lvl6pPr>
            <a:lvl7pPr indent="-368300" lvl="6" marL="3200400">
              <a:lnSpc>
                <a:spcPct val="115000"/>
              </a:lnSpc>
              <a:spcBef>
                <a:spcPts val="0"/>
              </a:spcBef>
              <a:spcAft>
                <a:spcPts val="0"/>
              </a:spcAft>
              <a:buClr>
                <a:srgbClr val="003E72"/>
              </a:buClr>
              <a:buSzPts val="2200"/>
              <a:buChar char="●"/>
              <a:defRPr sz="2200">
                <a:solidFill>
                  <a:srgbClr val="003E72"/>
                </a:solidFill>
              </a:defRPr>
            </a:lvl7pPr>
            <a:lvl8pPr indent="-368300" lvl="7" marL="3657600">
              <a:lnSpc>
                <a:spcPct val="115000"/>
              </a:lnSpc>
              <a:spcBef>
                <a:spcPts val="0"/>
              </a:spcBef>
              <a:spcAft>
                <a:spcPts val="0"/>
              </a:spcAft>
              <a:buClr>
                <a:srgbClr val="003E72"/>
              </a:buClr>
              <a:buSzPts val="2200"/>
              <a:buChar char="○"/>
              <a:defRPr sz="2200">
                <a:solidFill>
                  <a:srgbClr val="003E72"/>
                </a:solidFill>
              </a:defRPr>
            </a:lvl8pPr>
            <a:lvl9pPr indent="-368300" lvl="8" marL="4114800">
              <a:lnSpc>
                <a:spcPct val="115000"/>
              </a:lnSpc>
              <a:spcBef>
                <a:spcPts val="0"/>
              </a:spcBef>
              <a:spcAft>
                <a:spcPts val="0"/>
              </a:spcAft>
              <a:buClr>
                <a:srgbClr val="003E72"/>
              </a:buClr>
              <a:buSzPts val="2200"/>
              <a:buChar char="■"/>
              <a:defRPr sz="2200">
                <a:solidFill>
                  <a:srgbClr val="003E72"/>
                </a:solidFill>
              </a:defRPr>
            </a:lvl9pPr>
          </a:lstStyle>
          <a:p/>
        </p:txBody>
      </p:sp>
      <p:sp>
        <p:nvSpPr>
          <p:cNvPr id="8" name="Google Shape;8;p1"/>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rgbClr val="FFFFFF"/>
                </a:solidFill>
              </a:defRPr>
            </a:lvl1pPr>
            <a:lvl2pPr lvl="1" algn="r">
              <a:buNone/>
              <a:defRPr sz="1000">
                <a:solidFill>
                  <a:srgbClr val="FFFFFF"/>
                </a:solidFill>
              </a:defRPr>
            </a:lvl2pPr>
            <a:lvl3pPr lvl="2" algn="r">
              <a:buNone/>
              <a:defRPr sz="1000">
                <a:solidFill>
                  <a:srgbClr val="FFFFFF"/>
                </a:solidFill>
              </a:defRPr>
            </a:lvl3pPr>
            <a:lvl4pPr lvl="3" algn="r">
              <a:buNone/>
              <a:defRPr sz="1000">
                <a:solidFill>
                  <a:srgbClr val="FFFFFF"/>
                </a:solidFill>
              </a:defRPr>
            </a:lvl4pPr>
            <a:lvl5pPr lvl="4" algn="r">
              <a:buNone/>
              <a:defRPr sz="1000">
                <a:solidFill>
                  <a:srgbClr val="FFFFFF"/>
                </a:solidFill>
              </a:defRPr>
            </a:lvl5pPr>
            <a:lvl6pPr lvl="5" algn="r">
              <a:buNone/>
              <a:defRPr sz="1000">
                <a:solidFill>
                  <a:srgbClr val="FFFFFF"/>
                </a:solidFill>
              </a:defRPr>
            </a:lvl6pPr>
            <a:lvl7pPr lvl="6" algn="r">
              <a:buNone/>
              <a:defRPr sz="1000">
                <a:solidFill>
                  <a:srgbClr val="FFFFFF"/>
                </a:solidFill>
              </a:defRPr>
            </a:lvl7pPr>
            <a:lvl8pPr lvl="7" algn="r">
              <a:buNone/>
              <a:defRPr sz="1000">
                <a:solidFill>
                  <a:srgbClr val="FFFFFF"/>
                </a:solidFill>
              </a:defRPr>
            </a:lvl8pPr>
            <a:lvl9pPr lvl="8" algn="r">
              <a:buNone/>
              <a:defRPr sz="1000">
                <a:solidFill>
                  <a:srgbClr val="FFFFFF"/>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0">
          <p15:clr>
            <a:srgbClr val="D9D9D9"/>
          </p15:clr>
        </p15:guide>
        <p15:guide id="2" pos="5590">
          <p15:clr>
            <a:srgbClr val="D9D9D9"/>
          </p15:clr>
        </p15:guide>
        <p15:guide id="3" pos="696">
          <p15:clr>
            <a:srgbClr val="D9D9D9"/>
          </p15:clr>
        </p15:guide>
        <p15:guide id="4" pos="744">
          <p15:clr>
            <a:srgbClr val="D9D9D9"/>
          </p15:clr>
        </p15:guide>
        <p15:guide id="5" pos="1176">
          <p15:clr>
            <a:srgbClr val="D9D9D9"/>
          </p15:clr>
        </p15:guide>
        <p15:guide id="6" pos="1560">
          <p15:clr>
            <a:srgbClr val="D9D9D9"/>
          </p15:clr>
        </p15:guide>
        <p15:guide id="7" pos="1992">
          <p15:clr>
            <a:srgbClr val="D9D9D9"/>
          </p15:clr>
        </p15:guide>
        <p15:guide id="8" pos="1608">
          <p15:clr>
            <a:srgbClr val="D9D9D9"/>
          </p15:clr>
        </p15:guide>
        <p15:guide id="9" pos="2040">
          <p15:clr>
            <a:srgbClr val="D9D9D9"/>
          </p15:clr>
        </p15:guide>
        <p15:guide id="10" pos="2424">
          <p15:clr>
            <a:srgbClr val="D9D9D9"/>
          </p15:clr>
        </p15:guide>
        <p15:guide id="11" pos="2856">
          <p15:clr>
            <a:srgbClr val="D9D9D9"/>
          </p15:clr>
        </p15:guide>
        <p15:guide id="12" pos="2472">
          <p15:clr>
            <a:srgbClr val="D9D9D9"/>
          </p15:clr>
        </p15:guide>
        <p15:guide id="13" pos="2904">
          <p15:clr>
            <a:srgbClr val="D9D9D9"/>
          </p15:clr>
        </p15:guide>
        <p15:guide id="14" pos="3288">
          <p15:clr>
            <a:srgbClr val="D9D9D9"/>
          </p15:clr>
        </p15:guide>
        <p15:guide id="15" pos="3336">
          <p15:clr>
            <a:srgbClr val="D9D9D9"/>
          </p15:clr>
        </p15:guide>
        <p15:guide id="16" pos="3720">
          <p15:clr>
            <a:srgbClr val="D9D9D9"/>
          </p15:clr>
        </p15:guide>
        <p15:guide id="17" pos="3768">
          <p15:clr>
            <a:srgbClr val="D9D9D9"/>
          </p15:clr>
        </p15:guide>
        <p15:guide id="18" pos="4152">
          <p15:clr>
            <a:srgbClr val="D9D9D9"/>
          </p15:clr>
        </p15:guide>
        <p15:guide id="19" pos="4200">
          <p15:clr>
            <a:srgbClr val="D9D9D9"/>
          </p15:clr>
        </p15:guide>
        <p15:guide id="20" pos="4584">
          <p15:clr>
            <a:srgbClr val="D9D9D9"/>
          </p15:clr>
        </p15:guide>
        <p15:guide id="21" pos="4632">
          <p15:clr>
            <a:srgbClr val="D9D9D9"/>
          </p15:clr>
        </p15:guide>
        <p15:guide id="22" pos="5016">
          <p15:clr>
            <a:srgbClr val="D9D9D9"/>
          </p15:clr>
        </p15:guide>
        <p15:guide id="23" pos="5064">
          <p15:clr>
            <a:srgbClr val="D9D9D9"/>
          </p15:clr>
        </p15:guide>
        <p15:guide id="24" pos="1128">
          <p15:clr>
            <a:srgbClr val="D9D9D9"/>
          </p15:clr>
        </p15:guide>
        <p15:guide id="25" orient="horz" pos="1730">
          <p15:clr>
            <a:srgbClr val="D9D9D9"/>
          </p15:clr>
        </p15:guide>
        <p15:guide id="26" orient="horz" pos="1802">
          <p15:clr>
            <a:srgbClr val="D9D9D9"/>
          </p15:clr>
        </p15:guide>
        <p15:guide id="27" pos="312">
          <p15:clr>
            <a:srgbClr val="EFEFEF"/>
          </p15:clr>
        </p15:guide>
        <p15:guide id="28" pos="5448">
          <p15:clr>
            <a:srgbClr val="EFEFEF"/>
          </p15:clr>
        </p15:guide>
        <p15:guide id="29" orient="horz" pos="621">
          <p15:clr>
            <a:srgbClr val="D9D9D9"/>
          </p15:clr>
        </p15:guide>
        <p15:guide id="30" orient="horz" pos="2929">
          <p15:clr>
            <a:srgbClr val="D9D9D9"/>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7" name="Shape 57"/>
        <p:cNvGrpSpPr/>
        <p:nvPr/>
      </p:nvGrpSpPr>
      <p:grpSpPr>
        <a:xfrm>
          <a:off x="0" y="0"/>
          <a:ext cx="0" cy="0"/>
          <a:chOff x="0" y="0"/>
          <a:chExt cx="0" cy="0"/>
        </a:xfrm>
      </p:grpSpPr>
      <p:sp>
        <p:nvSpPr>
          <p:cNvPr id="58" name="Google Shape;58;p9"/>
          <p:cNvSpPr txBox="1"/>
          <p:nvPr>
            <p:ph type="title"/>
          </p:nvPr>
        </p:nvSpPr>
        <p:spPr>
          <a:xfrm>
            <a:off x="360000" y="246600"/>
            <a:ext cx="8424000" cy="572700"/>
          </a:xfrm>
          <a:prstGeom prst="rect">
            <a:avLst/>
          </a:prstGeom>
          <a:noFill/>
          <a:ln>
            <a:noFill/>
          </a:ln>
        </p:spPr>
        <p:txBody>
          <a:bodyPr anchorCtr="0" anchor="t" bIns="91425" lIns="91425" spcFirstLastPara="1" rIns="91425" wrap="square" tIns="91425">
            <a:spAutoFit/>
          </a:bodyPr>
          <a:lstStyle>
            <a:lvl1pPr lvl="0"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1pPr>
            <a:lvl2pPr lvl="1"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2pPr>
            <a:lvl3pPr lvl="2"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3pPr>
            <a:lvl4pPr lvl="3"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4pPr>
            <a:lvl5pPr lvl="4"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5pPr>
            <a:lvl6pPr lvl="5"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6pPr>
            <a:lvl7pPr lvl="6"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7pPr>
            <a:lvl8pPr lvl="7"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8pPr>
            <a:lvl9pPr lvl="8"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9pPr>
          </a:lstStyle>
          <a:p/>
        </p:txBody>
      </p:sp>
      <p:sp>
        <p:nvSpPr>
          <p:cNvPr id="59" name="Google Shape;59;p9"/>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spAutoFit/>
          </a:bodyPr>
          <a:lstStyle>
            <a:lvl1pPr indent="-368300" lvl="0" marL="4572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1pPr>
            <a:lvl2pPr indent="-368300" lvl="1" marL="9144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2pPr>
            <a:lvl3pPr indent="-368300" lvl="2" marL="13716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3pPr>
            <a:lvl4pPr indent="-368300" lvl="3" marL="18288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4pPr>
            <a:lvl5pPr indent="-368300" lvl="4" marL="22860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5pPr>
            <a:lvl6pPr indent="-368300" lvl="5" marL="27432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6pPr>
            <a:lvl7pPr indent="-368300" lvl="6" marL="32004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7pPr>
            <a:lvl8pPr indent="-368300" lvl="7" marL="36576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8pPr>
            <a:lvl9pPr indent="-368300" lvl="8" marL="41148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9pPr>
          </a:lstStyle>
          <a:p/>
        </p:txBody>
      </p:sp>
      <p:sp>
        <p:nvSpPr>
          <p:cNvPr id="60" name="Google Shape;60;p9"/>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0">
          <p15:clr>
            <a:srgbClr val="D9D9D9"/>
          </p15:clr>
        </p15:guide>
        <p15:guide id="2" pos="5590">
          <p15:clr>
            <a:srgbClr val="D9D9D9"/>
          </p15:clr>
        </p15:guide>
        <p15:guide id="3" pos="696">
          <p15:clr>
            <a:srgbClr val="D9D9D9"/>
          </p15:clr>
        </p15:guide>
        <p15:guide id="4" pos="744">
          <p15:clr>
            <a:srgbClr val="D9D9D9"/>
          </p15:clr>
        </p15:guide>
        <p15:guide id="5" pos="1176">
          <p15:clr>
            <a:srgbClr val="D9D9D9"/>
          </p15:clr>
        </p15:guide>
        <p15:guide id="6" pos="1560">
          <p15:clr>
            <a:srgbClr val="D9D9D9"/>
          </p15:clr>
        </p15:guide>
        <p15:guide id="7" pos="1992">
          <p15:clr>
            <a:srgbClr val="D9D9D9"/>
          </p15:clr>
        </p15:guide>
        <p15:guide id="8" pos="1608">
          <p15:clr>
            <a:srgbClr val="D9D9D9"/>
          </p15:clr>
        </p15:guide>
        <p15:guide id="9" pos="2040">
          <p15:clr>
            <a:srgbClr val="D9D9D9"/>
          </p15:clr>
        </p15:guide>
        <p15:guide id="10" pos="2424">
          <p15:clr>
            <a:srgbClr val="D9D9D9"/>
          </p15:clr>
        </p15:guide>
        <p15:guide id="11" pos="2856">
          <p15:clr>
            <a:srgbClr val="D9D9D9"/>
          </p15:clr>
        </p15:guide>
        <p15:guide id="12" pos="2472">
          <p15:clr>
            <a:srgbClr val="D9D9D9"/>
          </p15:clr>
        </p15:guide>
        <p15:guide id="13" pos="2904">
          <p15:clr>
            <a:srgbClr val="D9D9D9"/>
          </p15:clr>
        </p15:guide>
        <p15:guide id="14" pos="3288">
          <p15:clr>
            <a:srgbClr val="D9D9D9"/>
          </p15:clr>
        </p15:guide>
        <p15:guide id="15" pos="3336">
          <p15:clr>
            <a:srgbClr val="D9D9D9"/>
          </p15:clr>
        </p15:guide>
        <p15:guide id="16" pos="3720">
          <p15:clr>
            <a:srgbClr val="D9D9D9"/>
          </p15:clr>
        </p15:guide>
        <p15:guide id="17" pos="3768">
          <p15:clr>
            <a:srgbClr val="D9D9D9"/>
          </p15:clr>
        </p15:guide>
        <p15:guide id="18" pos="4152">
          <p15:clr>
            <a:srgbClr val="D9D9D9"/>
          </p15:clr>
        </p15:guide>
        <p15:guide id="19" pos="4200">
          <p15:clr>
            <a:srgbClr val="D9D9D9"/>
          </p15:clr>
        </p15:guide>
        <p15:guide id="20" pos="4584">
          <p15:clr>
            <a:srgbClr val="D9D9D9"/>
          </p15:clr>
        </p15:guide>
        <p15:guide id="21" pos="4632">
          <p15:clr>
            <a:srgbClr val="D9D9D9"/>
          </p15:clr>
        </p15:guide>
        <p15:guide id="22" pos="5016">
          <p15:clr>
            <a:srgbClr val="D9D9D9"/>
          </p15:clr>
        </p15:guide>
        <p15:guide id="23" pos="5064">
          <p15:clr>
            <a:srgbClr val="D9D9D9"/>
          </p15:clr>
        </p15:guide>
        <p15:guide id="24" pos="1128">
          <p15:clr>
            <a:srgbClr val="D9D9D9"/>
          </p15:clr>
        </p15:guide>
        <p15:guide id="25" orient="horz" pos="1730">
          <p15:clr>
            <a:srgbClr val="D9D9D9"/>
          </p15:clr>
        </p15:guide>
        <p15:guide id="26" orient="horz" pos="1802">
          <p15:clr>
            <a:srgbClr val="D9D9D9"/>
          </p15:clr>
        </p15:guide>
        <p15:guide id="27" pos="312">
          <p15:clr>
            <a:srgbClr val="EFEFEF"/>
          </p15:clr>
        </p15:guide>
        <p15:guide id="28" pos="5448">
          <p15:clr>
            <a:srgbClr val="EFEFEF"/>
          </p15:clr>
        </p15:guide>
        <p15:guide id="29" orient="horz" pos="621">
          <p15:clr>
            <a:srgbClr val="D9D9D9"/>
          </p15:clr>
        </p15:guide>
        <p15:guide id="30" orient="horz" pos="2929">
          <p15:clr>
            <a:srgbClr val="D9D9D9"/>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110" name="Shape 110"/>
        <p:cNvGrpSpPr/>
        <p:nvPr/>
      </p:nvGrpSpPr>
      <p:grpSpPr>
        <a:xfrm>
          <a:off x="0" y="0"/>
          <a:ext cx="0" cy="0"/>
          <a:chOff x="0" y="0"/>
          <a:chExt cx="0" cy="0"/>
        </a:xfrm>
      </p:grpSpPr>
      <p:sp>
        <p:nvSpPr>
          <p:cNvPr id="111" name="Google Shape;111;p18"/>
          <p:cNvSpPr txBox="1"/>
          <p:nvPr>
            <p:ph type="title"/>
          </p:nvPr>
        </p:nvSpPr>
        <p:spPr>
          <a:xfrm>
            <a:off x="360000" y="246600"/>
            <a:ext cx="8424000" cy="572700"/>
          </a:xfrm>
          <a:prstGeom prst="rect">
            <a:avLst/>
          </a:prstGeom>
          <a:noFill/>
          <a:ln>
            <a:noFill/>
          </a:ln>
        </p:spPr>
        <p:txBody>
          <a:bodyPr anchorCtr="0" anchor="t" bIns="91425" lIns="91425" spcFirstLastPara="1" rIns="91425" wrap="square" tIns="91425">
            <a:spAutoFit/>
          </a:bodyPr>
          <a:lstStyle>
            <a:lvl1pPr lvl="0"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1pPr>
            <a:lvl2pPr lvl="1"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2pPr>
            <a:lvl3pPr lvl="2"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3pPr>
            <a:lvl4pPr lvl="3"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4pPr>
            <a:lvl5pPr lvl="4"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5pPr>
            <a:lvl6pPr lvl="5"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6pPr>
            <a:lvl7pPr lvl="6"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7pPr>
            <a:lvl8pPr lvl="7"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8pPr>
            <a:lvl9pPr lvl="8" marR="0" rtl="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9pPr>
          </a:lstStyle>
          <a:p/>
        </p:txBody>
      </p:sp>
      <p:sp>
        <p:nvSpPr>
          <p:cNvPr id="112" name="Google Shape;112;p18"/>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spAutoFit/>
          </a:bodyPr>
          <a:lstStyle>
            <a:lvl1pPr indent="-368300" lvl="0" marL="4572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1pPr>
            <a:lvl2pPr indent="-368300" lvl="1" marL="9144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2pPr>
            <a:lvl3pPr indent="-368300" lvl="2" marL="13716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3pPr>
            <a:lvl4pPr indent="-368300" lvl="3" marL="18288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4pPr>
            <a:lvl5pPr indent="-368300" lvl="4" marL="22860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5pPr>
            <a:lvl6pPr indent="-368300" lvl="5" marL="27432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6pPr>
            <a:lvl7pPr indent="-368300" lvl="6" marL="32004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7pPr>
            <a:lvl8pPr indent="-368300" lvl="7" marL="36576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8pPr>
            <a:lvl9pPr indent="-368300" lvl="8" marL="4114800" marR="0" rtl="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9pPr>
          </a:lstStyle>
          <a:p/>
        </p:txBody>
      </p:sp>
      <p:sp>
        <p:nvSpPr>
          <p:cNvPr id="113" name="Google Shape;113;p18"/>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0">
          <p15:clr>
            <a:srgbClr val="D9D9D9"/>
          </p15:clr>
        </p15:guide>
        <p15:guide id="2" pos="5590">
          <p15:clr>
            <a:srgbClr val="D9D9D9"/>
          </p15:clr>
        </p15:guide>
        <p15:guide id="3" pos="696">
          <p15:clr>
            <a:srgbClr val="D9D9D9"/>
          </p15:clr>
        </p15:guide>
        <p15:guide id="4" pos="744">
          <p15:clr>
            <a:srgbClr val="D9D9D9"/>
          </p15:clr>
        </p15:guide>
        <p15:guide id="5" pos="1176">
          <p15:clr>
            <a:srgbClr val="D9D9D9"/>
          </p15:clr>
        </p15:guide>
        <p15:guide id="6" pos="1560">
          <p15:clr>
            <a:srgbClr val="D9D9D9"/>
          </p15:clr>
        </p15:guide>
        <p15:guide id="7" pos="1992">
          <p15:clr>
            <a:srgbClr val="D9D9D9"/>
          </p15:clr>
        </p15:guide>
        <p15:guide id="8" pos="1608">
          <p15:clr>
            <a:srgbClr val="D9D9D9"/>
          </p15:clr>
        </p15:guide>
        <p15:guide id="9" pos="2040">
          <p15:clr>
            <a:srgbClr val="D9D9D9"/>
          </p15:clr>
        </p15:guide>
        <p15:guide id="10" pos="2424">
          <p15:clr>
            <a:srgbClr val="D9D9D9"/>
          </p15:clr>
        </p15:guide>
        <p15:guide id="11" pos="2856">
          <p15:clr>
            <a:srgbClr val="D9D9D9"/>
          </p15:clr>
        </p15:guide>
        <p15:guide id="12" pos="2472">
          <p15:clr>
            <a:srgbClr val="D9D9D9"/>
          </p15:clr>
        </p15:guide>
        <p15:guide id="13" pos="2904">
          <p15:clr>
            <a:srgbClr val="D9D9D9"/>
          </p15:clr>
        </p15:guide>
        <p15:guide id="14" pos="3288">
          <p15:clr>
            <a:srgbClr val="D9D9D9"/>
          </p15:clr>
        </p15:guide>
        <p15:guide id="15" pos="3336">
          <p15:clr>
            <a:srgbClr val="D9D9D9"/>
          </p15:clr>
        </p15:guide>
        <p15:guide id="16" pos="3720">
          <p15:clr>
            <a:srgbClr val="D9D9D9"/>
          </p15:clr>
        </p15:guide>
        <p15:guide id="17" pos="3768">
          <p15:clr>
            <a:srgbClr val="D9D9D9"/>
          </p15:clr>
        </p15:guide>
        <p15:guide id="18" pos="4152">
          <p15:clr>
            <a:srgbClr val="D9D9D9"/>
          </p15:clr>
        </p15:guide>
        <p15:guide id="19" pos="4200">
          <p15:clr>
            <a:srgbClr val="D9D9D9"/>
          </p15:clr>
        </p15:guide>
        <p15:guide id="20" pos="4584">
          <p15:clr>
            <a:srgbClr val="D9D9D9"/>
          </p15:clr>
        </p15:guide>
        <p15:guide id="21" pos="4632">
          <p15:clr>
            <a:srgbClr val="D9D9D9"/>
          </p15:clr>
        </p15:guide>
        <p15:guide id="22" pos="5016">
          <p15:clr>
            <a:srgbClr val="D9D9D9"/>
          </p15:clr>
        </p15:guide>
        <p15:guide id="23" pos="5064">
          <p15:clr>
            <a:srgbClr val="D9D9D9"/>
          </p15:clr>
        </p15:guide>
        <p15:guide id="24" pos="1128">
          <p15:clr>
            <a:srgbClr val="D9D9D9"/>
          </p15:clr>
        </p15:guide>
        <p15:guide id="25" orient="horz" pos="1730">
          <p15:clr>
            <a:srgbClr val="D9D9D9"/>
          </p15:clr>
        </p15:guide>
        <p15:guide id="26" orient="horz" pos="1802">
          <p15:clr>
            <a:srgbClr val="D9D9D9"/>
          </p15:clr>
        </p15:guide>
        <p15:guide id="27" pos="312">
          <p15:clr>
            <a:srgbClr val="EFEFEF"/>
          </p15:clr>
        </p15:guide>
        <p15:guide id="28" pos="5448">
          <p15:clr>
            <a:srgbClr val="EFEFEF"/>
          </p15:clr>
        </p15:guide>
        <p15:guide id="29" orient="horz" pos="621">
          <p15:clr>
            <a:srgbClr val="D9D9D9"/>
          </p15:clr>
        </p15:guide>
        <p15:guide id="30" orient="horz" pos="2929">
          <p15:clr>
            <a:srgbClr val="D9D9D9"/>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162" name="Shape 162"/>
        <p:cNvGrpSpPr/>
        <p:nvPr/>
      </p:nvGrpSpPr>
      <p:grpSpPr>
        <a:xfrm>
          <a:off x="0" y="0"/>
          <a:ext cx="0" cy="0"/>
          <a:chOff x="0" y="0"/>
          <a:chExt cx="0" cy="0"/>
        </a:xfrm>
      </p:grpSpPr>
      <p:sp>
        <p:nvSpPr>
          <p:cNvPr id="163" name="Google Shape;163;p26"/>
          <p:cNvSpPr txBox="1"/>
          <p:nvPr>
            <p:ph type="title"/>
          </p:nvPr>
        </p:nvSpPr>
        <p:spPr>
          <a:xfrm>
            <a:off x="360000" y="246600"/>
            <a:ext cx="8424000" cy="572700"/>
          </a:xfrm>
          <a:prstGeom prst="rect">
            <a:avLst/>
          </a:prstGeom>
          <a:noFill/>
          <a:ln>
            <a:noFill/>
          </a:ln>
        </p:spPr>
        <p:txBody>
          <a:bodyPr anchorCtr="0" anchor="t" bIns="91425" lIns="91425" spcFirstLastPara="1" rIns="91425" wrap="square" tIns="91425">
            <a:spAutoFit/>
          </a:bodyPr>
          <a:lstStyle>
            <a:lvl1pPr lvl="0"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1pPr>
            <a:lvl2pPr lvl="1"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2pPr>
            <a:lvl3pPr lvl="2"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3pPr>
            <a:lvl4pPr lvl="3"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4pPr>
            <a:lvl5pPr lvl="4"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5pPr>
            <a:lvl6pPr lvl="5"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6pPr>
            <a:lvl7pPr lvl="6"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7pPr>
            <a:lvl8pPr lvl="7"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8pPr>
            <a:lvl9pPr lvl="8" marR="0" algn="l">
              <a:lnSpc>
                <a:spcPct val="100000"/>
              </a:lnSpc>
              <a:spcBef>
                <a:spcPts val="0"/>
              </a:spcBef>
              <a:spcAft>
                <a:spcPts val="0"/>
              </a:spcAft>
              <a:buClr>
                <a:srgbClr val="003E72"/>
              </a:buClr>
              <a:buSzPts val="2800"/>
              <a:buFont typeface="Arial"/>
              <a:buNone/>
              <a:defRPr b="0" i="0" sz="2800" u="none" cap="none" strike="noStrike">
                <a:solidFill>
                  <a:srgbClr val="003E72"/>
                </a:solidFill>
                <a:latin typeface="Arial"/>
                <a:ea typeface="Arial"/>
                <a:cs typeface="Arial"/>
                <a:sym typeface="Arial"/>
              </a:defRPr>
            </a:lvl9pPr>
          </a:lstStyle>
          <a:p/>
        </p:txBody>
      </p:sp>
      <p:sp>
        <p:nvSpPr>
          <p:cNvPr id="164" name="Google Shape;164;p26"/>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spAutoFit/>
          </a:bodyPr>
          <a:lstStyle>
            <a:lvl1pPr indent="-368300" lvl="0" marL="4572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1pPr>
            <a:lvl2pPr indent="-368300" lvl="1" marL="9144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2pPr>
            <a:lvl3pPr indent="-368300" lvl="2" marL="13716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3pPr>
            <a:lvl4pPr indent="-368300" lvl="3" marL="18288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4pPr>
            <a:lvl5pPr indent="-368300" lvl="4" marL="22860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5pPr>
            <a:lvl6pPr indent="-368300" lvl="5" marL="27432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6pPr>
            <a:lvl7pPr indent="-368300" lvl="6" marL="32004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7pPr>
            <a:lvl8pPr indent="-368300" lvl="7" marL="36576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8pPr>
            <a:lvl9pPr indent="-368300" lvl="8" marL="4114800" marR="0" algn="l">
              <a:lnSpc>
                <a:spcPct val="115000"/>
              </a:lnSpc>
              <a:spcBef>
                <a:spcPts val="0"/>
              </a:spcBef>
              <a:spcAft>
                <a:spcPts val="0"/>
              </a:spcAft>
              <a:buClr>
                <a:srgbClr val="003E72"/>
              </a:buClr>
              <a:buSzPts val="2200"/>
              <a:buFont typeface="Arial"/>
              <a:buChar char="■"/>
              <a:defRPr b="0" i="0" sz="2200" u="none" cap="none" strike="noStrike">
                <a:solidFill>
                  <a:srgbClr val="003E72"/>
                </a:solidFill>
                <a:latin typeface="Arial"/>
                <a:ea typeface="Arial"/>
                <a:cs typeface="Arial"/>
                <a:sym typeface="Arial"/>
              </a:defRPr>
            </a:lvl9pPr>
          </a:lstStyle>
          <a:p/>
        </p:txBody>
      </p:sp>
      <p:sp>
        <p:nvSpPr>
          <p:cNvPr id="165" name="Google Shape;165;p26"/>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0">
          <p15:clr>
            <a:srgbClr val="D9D9D9"/>
          </p15:clr>
        </p15:guide>
        <p15:guide id="2" pos="5590">
          <p15:clr>
            <a:srgbClr val="D9D9D9"/>
          </p15:clr>
        </p15:guide>
        <p15:guide id="3" pos="696">
          <p15:clr>
            <a:srgbClr val="D9D9D9"/>
          </p15:clr>
        </p15:guide>
        <p15:guide id="4" pos="744">
          <p15:clr>
            <a:srgbClr val="D9D9D9"/>
          </p15:clr>
        </p15:guide>
        <p15:guide id="5" pos="1176">
          <p15:clr>
            <a:srgbClr val="D9D9D9"/>
          </p15:clr>
        </p15:guide>
        <p15:guide id="6" pos="1560">
          <p15:clr>
            <a:srgbClr val="D9D9D9"/>
          </p15:clr>
        </p15:guide>
        <p15:guide id="7" pos="1992">
          <p15:clr>
            <a:srgbClr val="D9D9D9"/>
          </p15:clr>
        </p15:guide>
        <p15:guide id="8" pos="1608">
          <p15:clr>
            <a:srgbClr val="D9D9D9"/>
          </p15:clr>
        </p15:guide>
        <p15:guide id="9" pos="2040">
          <p15:clr>
            <a:srgbClr val="D9D9D9"/>
          </p15:clr>
        </p15:guide>
        <p15:guide id="10" pos="2424">
          <p15:clr>
            <a:srgbClr val="D9D9D9"/>
          </p15:clr>
        </p15:guide>
        <p15:guide id="11" pos="2856">
          <p15:clr>
            <a:srgbClr val="D9D9D9"/>
          </p15:clr>
        </p15:guide>
        <p15:guide id="12" pos="2472">
          <p15:clr>
            <a:srgbClr val="D9D9D9"/>
          </p15:clr>
        </p15:guide>
        <p15:guide id="13" pos="2904">
          <p15:clr>
            <a:srgbClr val="D9D9D9"/>
          </p15:clr>
        </p15:guide>
        <p15:guide id="14" pos="3288">
          <p15:clr>
            <a:srgbClr val="D9D9D9"/>
          </p15:clr>
        </p15:guide>
        <p15:guide id="15" pos="3336">
          <p15:clr>
            <a:srgbClr val="D9D9D9"/>
          </p15:clr>
        </p15:guide>
        <p15:guide id="16" pos="3720">
          <p15:clr>
            <a:srgbClr val="D9D9D9"/>
          </p15:clr>
        </p15:guide>
        <p15:guide id="17" pos="3768">
          <p15:clr>
            <a:srgbClr val="D9D9D9"/>
          </p15:clr>
        </p15:guide>
        <p15:guide id="18" pos="4152">
          <p15:clr>
            <a:srgbClr val="D9D9D9"/>
          </p15:clr>
        </p15:guide>
        <p15:guide id="19" pos="4200">
          <p15:clr>
            <a:srgbClr val="D9D9D9"/>
          </p15:clr>
        </p15:guide>
        <p15:guide id="20" pos="4584">
          <p15:clr>
            <a:srgbClr val="D9D9D9"/>
          </p15:clr>
        </p15:guide>
        <p15:guide id="21" pos="4632">
          <p15:clr>
            <a:srgbClr val="D9D9D9"/>
          </p15:clr>
        </p15:guide>
        <p15:guide id="22" pos="5016">
          <p15:clr>
            <a:srgbClr val="D9D9D9"/>
          </p15:clr>
        </p15:guide>
        <p15:guide id="23" pos="5064">
          <p15:clr>
            <a:srgbClr val="D9D9D9"/>
          </p15:clr>
        </p15:guide>
        <p15:guide id="24" pos="1128">
          <p15:clr>
            <a:srgbClr val="D9D9D9"/>
          </p15:clr>
        </p15:guide>
        <p15:guide id="25" orient="horz" pos="1730">
          <p15:clr>
            <a:srgbClr val="D9D9D9"/>
          </p15:clr>
        </p15:guide>
        <p15:guide id="26" orient="horz" pos="1802">
          <p15:clr>
            <a:srgbClr val="D9D9D9"/>
          </p15:clr>
        </p15:guide>
        <p15:guide id="27" pos="312">
          <p15:clr>
            <a:srgbClr val="EFEFEF"/>
          </p15:clr>
        </p15:guide>
        <p15:guide id="28" pos="5448">
          <p15:clr>
            <a:srgbClr val="EFEFEF"/>
          </p15:clr>
        </p15:guide>
        <p15:guide id="29" orient="horz" pos="621">
          <p15:clr>
            <a:srgbClr val="D9D9D9"/>
          </p15:clr>
        </p15:guide>
        <p15:guide id="30" orient="horz" pos="2929">
          <p15:clr>
            <a:srgbClr val="D9D9D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s://docs.google.com/presentation/d/1ekpNcGu8dA0_tduphPnfSCe0_z5QwSZx_Ie8e5OfPCM/edit?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hyperlink" Target="https://docs.google.com/presentation/d/1ekpNcGu8dA0_tduphPnfSCe0_z5QwSZx_Ie8e5OfPCM/edit?usp=sharing" TargetMode="External"/><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hyperlink" Target="https://docs.google.com/presentation/d/1ekpNcGu8dA0_tduphPnfSCe0_z5QwSZx_Ie8e5OfPCM/edit?usp=sharing" TargetMode="External"/><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i.org/10.1021/acs.est.5c13541" TargetMode="External"/><Relationship Id="rId4" Type="http://schemas.openxmlformats.org/officeDocument/2006/relationships/hyperlink" Target="https://smartwatermagazine.com/news/idrica/protecting-planet-technological-trends-shaping-water-management-2024" TargetMode="External"/><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i.org/10.1021/acs.est.5c13541" TargetMode="External"/><Relationship Id="rId4" Type="http://schemas.openxmlformats.org/officeDocument/2006/relationships/image" Target="../media/image48.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doi.org/10.1021/acs.est.5c13541" TargetMode="External"/><Relationship Id="rId4" Type="http://schemas.openxmlformats.org/officeDocument/2006/relationships/image" Target="../media/image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23.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2.png"/><Relationship Id="rId4" Type="http://schemas.openxmlformats.org/officeDocument/2006/relationships/image" Target="../media/image31.png"/><Relationship Id="rId5" Type="http://schemas.openxmlformats.org/officeDocument/2006/relationships/image" Target="../media/image38.png"/><Relationship Id="rId6" Type="http://schemas.openxmlformats.org/officeDocument/2006/relationships/image" Target="../media/image32.png"/><Relationship Id="rId7"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image" Target="../media/image40.png"/><Relationship Id="rId6"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51.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55.png"/><Relationship Id="rId4" Type="http://schemas.openxmlformats.org/officeDocument/2006/relationships/image" Target="../media/image53.png"/><Relationship Id="rId5"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61.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44.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2.png"/><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7.png"/><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 Id="rId3"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 Id="rId3" Type="http://schemas.openxmlformats.org/officeDocument/2006/relationships/image" Target="../media/image7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 Id="rId3" Type="http://schemas.openxmlformats.org/officeDocument/2006/relationships/image" Target="../media/image7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 Id="rId3" Type="http://schemas.openxmlformats.org/officeDocument/2006/relationships/image" Target="../media/image60.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 Id="rId3" Type="http://schemas.openxmlformats.org/officeDocument/2006/relationships/image" Target="../media/image6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64.png"/><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270000" y="1538300"/>
            <a:ext cx="8735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GB"/>
              <a:t>KAUST Bioinformatics Summer School</a:t>
            </a:r>
            <a:endParaRPr/>
          </a:p>
        </p:txBody>
      </p:sp>
      <p:sp>
        <p:nvSpPr>
          <p:cNvPr id="219" name="Google Shape;219;p34"/>
          <p:cNvSpPr txBox="1"/>
          <p:nvPr>
            <p:ph idx="1" type="subTitle"/>
          </p:nvPr>
        </p:nvSpPr>
        <p:spPr>
          <a:xfrm>
            <a:off x="270000" y="2860675"/>
            <a:ext cx="8604000" cy="9342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GB"/>
              <a:t>Week 4 mini-presentations</a:t>
            </a:r>
            <a:endParaRPr/>
          </a:p>
          <a:p>
            <a:pPr indent="0" lvl="0" marL="0" rtl="0" algn="l">
              <a:spcBef>
                <a:spcPts val="1200"/>
              </a:spcBef>
              <a:spcAft>
                <a:spcPts val="1200"/>
              </a:spcAft>
              <a:buNone/>
            </a:pPr>
            <a:r>
              <a:rPr lang="en-GB"/>
              <a:t>Metagenomics</a:t>
            </a:r>
            <a:endParaRPr/>
          </a:p>
        </p:txBody>
      </p:sp>
      <p:sp>
        <p:nvSpPr>
          <p:cNvPr id="220" name="Google Shape;220;p34"/>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type="title"/>
          </p:nvPr>
        </p:nvSpPr>
        <p:spPr>
          <a:xfrm>
            <a:off x="270000" y="254700"/>
            <a:ext cx="8604000" cy="400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How to prepare your slide</a:t>
            </a:r>
            <a:endParaRPr/>
          </a:p>
        </p:txBody>
      </p:sp>
      <p:sp>
        <p:nvSpPr>
          <p:cNvPr id="226" name="Google Shape;226;p35"/>
          <p:cNvSpPr txBox="1"/>
          <p:nvPr>
            <p:ph idx="4294967295" type="body"/>
          </p:nvPr>
        </p:nvSpPr>
        <p:spPr>
          <a:xfrm>
            <a:off x="311700" y="1152475"/>
            <a:ext cx="8520600" cy="26166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GB" sz="2000"/>
              <a:t>Slide title: the question that you wanted to answer.</a:t>
            </a:r>
            <a:endParaRPr sz="2000"/>
          </a:p>
          <a:p>
            <a:pPr indent="-355600" lvl="0" marL="457200" rtl="0" algn="l">
              <a:spcBef>
                <a:spcPts val="0"/>
              </a:spcBef>
              <a:spcAft>
                <a:spcPts val="0"/>
              </a:spcAft>
              <a:buSzPts val="2000"/>
              <a:buChar char="●"/>
            </a:pPr>
            <a:r>
              <a:rPr lang="en-GB" sz="2000"/>
              <a:t>Include one figure from your analysis.</a:t>
            </a:r>
            <a:endParaRPr sz="2000"/>
          </a:p>
          <a:p>
            <a:pPr indent="-355600" lvl="0" marL="457200" rtl="0" algn="l">
              <a:spcBef>
                <a:spcPts val="0"/>
              </a:spcBef>
              <a:spcAft>
                <a:spcPts val="0"/>
              </a:spcAft>
              <a:buSzPts val="2000"/>
              <a:buChar char="●"/>
            </a:pPr>
            <a:r>
              <a:rPr lang="en-GB" sz="2000"/>
              <a:t>Add a few sentences to the slide:</a:t>
            </a:r>
            <a:endParaRPr sz="2000"/>
          </a:p>
          <a:p>
            <a:pPr indent="-355600" lvl="1" marL="914400" rtl="0" algn="l">
              <a:spcBef>
                <a:spcPts val="0"/>
              </a:spcBef>
              <a:spcAft>
                <a:spcPts val="0"/>
              </a:spcAft>
              <a:buSzPts val="2000"/>
              <a:buChar char="○"/>
            </a:pPr>
            <a:r>
              <a:rPr lang="en-GB" sz="2000"/>
              <a:t>(1-2 sentences) What did you do to answer the question, i.e. what analysis you ran.</a:t>
            </a:r>
            <a:endParaRPr sz="2000"/>
          </a:p>
          <a:p>
            <a:pPr indent="-355600" lvl="1" marL="914400" rtl="0" algn="l">
              <a:spcBef>
                <a:spcPts val="0"/>
              </a:spcBef>
              <a:spcAft>
                <a:spcPts val="0"/>
              </a:spcAft>
              <a:buSzPts val="2000"/>
              <a:buChar char="○"/>
            </a:pPr>
            <a:r>
              <a:rPr lang="en-GB" sz="2000"/>
              <a:t>(1-2 sentences) Your results/conclusions, which directly answers the question in the slide. </a:t>
            </a:r>
            <a:endParaRPr sz="2000"/>
          </a:p>
        </p:txBody>
      </p:sp>
      <p:sp>
        <p:nvSpPr>
          <p:cNvPr id="227" name="Google Shape;227;p35"/>
          <p:cNvSpPr txBox="1"/>
          <p:nvPr/>
        </p:nvSpPr>
        <p:spPr>
          <a:xfrm>
            <a:off x="1104900" y="3769075"/>
            <a:ext cx="7127700" cy="861900"/>
          </a:xfrm>
          <a:prstGeom prst="rect">
            <a:avLst/>
          </a:prstGeom>
          <a:solidFill>
            <a:srgbClr val="68ACE5">
              <a:alpha val="10000"/>
            </a:srgbClr>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200">
                <a:solidFill>
                  <a:srgbClr val="003E72"/>
                </a:solidFill>
              </a:rPr>
              <a:t>Add a new slide to this presentation with your name and question</a:t>
            </a:r>
            <a:endParaRPr sz="2200">
              <a:solidFill>
                <a:srgbClr val="003E72"/>
              </a:solidFill>
            </a:endParaRPr>
          </a:p>
        </p:txBody>
      </p:sp>
      <p:sp>
        <p:nvSpPr>
          <p:cNvPr id="228" name="Google Shape;228;p35"/>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type="title"/>
          </p:nvPr>
        </p:nvSpPr>
        <p:spPr>
          <a:xfrm>
            <a:off x="270000" y="254700"/>
            <a:ext cx="8604000" cy="400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Was anything actually lost?</a:t>
            </a:r>
            <a:endParaRPr/>
          </a:p>
        </p:txBody>
      </p:sp>
      <p:sp>
        <p:nvSpPr>
          <p:cNvPr id="234" name="Google Shape;234;p36"/>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235" name="Google Shape;235;p36"/>
          <p:cNvSpPr txBox="1"/>
          <p:nvPr/>
        </p:nvSpPr>
        <p:spPr>
          <a:xfrm>
            <a:off x="3337800" y="4671900"/>
            <a:ext cx="23922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100">
                <a:solidFill>
                  <a:schemeClr val="lt1"/>
                </a:solidFill>
              </a:rPr>
              <a:t>Hanyn A. Alturki</a:t>
            </a:r>
            <a:endParaRPr b="1" sz="2100">
              <a:solidFill>
                <a:schemeClr val="lt1"/>
              </a:solidFill>
            </a:endParaRPr>
          </a:p>
        </p:txBody>
      </p:sp>
      <p:sp>
        <p:nvSpPr>
          <p:cNvPr id="236" name="Google Shape;236;p36"/>
          <p:cNvSpPr txBox="1"/>
          <p:nvPr/>
        </p:nvSpPr>
        <p:spPr>
          <a:xfrm>
            <a:off x="655500" y="1877700"/>
            <a:ext cx="7833000" cy="1388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GB" sz="1700">
                <a:solidFill>
                  <a:srgbClr val="003E72"/>
                </a:solidFill>
              </a:rPr>
              <a:t>“By collapsing the data to genus level, we lost the sensitivity to detect fine-scale differences in species or strain abundances across case and control groups, but we minimized certain batch effects that plague comparisons across studies.”</a:t>
            </a:r>
            <a:endParaRPr b="1" sz="1700">
              <a:solidFill>
                <a:srgbClr val="003E72"/>
              </a:solidFill>
            </a:endParaRPr>
          </a:p>
          <a:p>
            <a:pPr indent="0" lvl="0" marL="0" rtl="0" algn="l">
              <a:spcBef>
                <a:spcPts val="0"/>
              </a:spcBef>
              <a:spcAft>
                <a:spcPts val="0"/>
              </a:spcAft>
              <a:buNone/>
            </a:pPr>
            <a:r>
              <a:t/>
            </a:r>
            <a:endParaRPr sz="2200">
              <a:solidFill>
                <a:srgbClr val="003E72"/>
              </a:solidFill>
            </a:endParaRPr>
          </a:p>
        </p:txBody>
      </p:sp>
      <p:sp>
        <p:nvSpPr>
          <p:cNvPr id="237" name="Google Shape;237;p36"/>
          <p:cNvSpPr txBox="1"/>
          <p:nvPr/>
        </p:nvSpPr>
        <p:spPr>
          <a:xfrm>
            <a:off x="1570800" y="3829175"/>
            <a:ext cx="60786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rPr>
              <a:t>My test case: </a:t>
            </a:r>
            <a:r>
              <a:rPr b="1" lang="en-GB" sz="1500">
                <a:solidFill>
                  <a:schemeClr val="dk1"/>
                </a:solidFill>
              </a:rPr>
              <a:t>crc_baxter</a:t>
            </a:r>
            <a:r>
              <a:rPr lang="en-GB" sz="1500">
                <a:solidFill>
                  <a:schemeClr val="dk1"/>
                </a:solidFill>
              </a:rPr>
              <a:t>, </a:t>
            </a:r>
            <a:r>
              <a:rPr b="1" lang="en-GB" sz="1500">
                <a:solidFill>
                  <a:schemeClr val="dk1"/>
                </a:solidFill>
              </a:rPr>
              <a:t>120</a:t>
            </a:r>
            <a:r>
              <a:rPr lang="en-GB" sz="1500">
                <a:solidFill>
                  <a:schemeClr val="dk1"/>
                </a:solidFill>
              </a:rPr>
              <a:t> Colorectal cancer and </a:t>
            </a:r>
            <a:r>
              <a:rPr b="1" lang="en-GB" sz="1500">
                <a:solidFill>
                  <a:schemeClr val="dk1"/>
                </a:solidFill>
              </a:rPr>
              <a:t>172</a:t>
            </a:r>
            <a:r>
              <a:rPr lang="en-GB" sz="1500">
                <a:solidFill>
                  <a:schemeClr val="dk1"/>
                </a:solidFill>
              </a:rPr>
              <a:t> Controls.</a:t>
            </a:r>
            <a:endParaRPr sz="1500">
              <a:solidFill>
                <a:schemeClr val="dk1"/>
              </a:solidFill>
            </a:endParaRPr>
          </a:p>
        </p:txBody>
      </p:sp>
      <p:sp>
        <p:nvSpPr>
          <p:cNvPr id="238" name="Google Shape;238;p36"/>
          <p:cNvSpPr txBox="1"/>
          <p:nvPr/>
        </p:nvSpPr>
        <p:spPr>
          <a:xfrm>
            <a:off x="572850" y="1352225"/>
            <a:ext cx="79221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0072CF"/>
                </a:solidFill>
                <a:latin typeface="Roboto"/>
                <a:ea typeface="Roboto"/>
                <a:cs typeface="Roboto"/>
                <a:sym typeface="Roboto"/>
              </a:rPr>
              <a:t>Duvallet </a:t>
            </a:r>
            <a:r>
              <a:rPr i="1" lang="en-GB" sz="1200">
                <a:solidFill>
                  <a:srgbClr val="0072CF"/>
                </a:solidFill>
                <a:latin typeface="Roboto"/>
                <a:ea typeface="Roboto"/>
                <a:cs typeface="Roboto"/>
                <a:sym typeface="Roboto"/>
              </a:rPr>
              <a:t>et al.</a:t>
            </a:r>
            <a:r>
              <a:rPr lang="en-GB" sz="1200">
                <a:solidFill>
                  <a:srgbClr val="0072CF"/>
                </a:solidFill>
                <a:latin typeface="Roboto"/>
                <a:ea typeface="Roboto"/>
                <a:cs typeface="Roboto"/>
                <a:sym typeface="Roboto"/>
              </a:rPr>
              <a:t> (2017) </a:t>
            </a:r>
            <a:r>
              <a:rPr b="1" lang="en-GB" sz="1200">
                <a:solidFill>
                  <a:srgbClr val="0072CF"/>
                </a:solidFill>
                <a:latin typeface="Roboto"/>
                <a:ea typeface="Roboto"/>
                <a:cs typeface="Roboto"/>
                <a:sym typeface="Roboto"/>
              </a:rPr>
              <a:t>Meta-analysis of gut microbiome studies identifies disease-specific and shared responses</a:t>
            </a:r>
            <a:endParaRPr sz="2000">
              <a:solidFill>
                <a:srgbClr val="0072C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244" name="Google Shape;244;p37"/>
          <p:cNvSpPr txBox="1"/>
          <p:nvPr/>
        </p:nvSpPr>
        <p:spPr>
          <a:xfrm>
            <a:off x="3337800" y="4671900"/>
            <a:ext cx="23922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100">
                <a:solidFill>
                  <a:schemeClr val="lt1"/>
                </a:solidFill>
              </a:rPr>
              <a:t>Hanyn A. Alturki</a:t>
            </a:r>
            <a:endParaRPr b="1" sz="2100">
              <a:solidFill>
                <a:schemeClr val="lt1"/>
              </a:solidFill>
            </a:endParaRPr>
          </a:p>
        </p:txBody>
      </p:sp>
      <p:graphicFrame>
        <p:nvGraphicFramePr>
          <p:cNvPr id="245" name="Google Shape;245;p37"/>
          <p:cNvGraphicFramePr/>
          <p:nvPr/>
        </p:nvGraphicFramePr>
        <p:xfrm>
          <a:off x="4768588" y="1846700"/>
          <a:ext cx="3000000" cy="3000000"/>
        </p:xfrm>
        <a:graphic>
          <a:graphicData uri="http://schemas.openxmlformats.org/drawingml/2006/table">
            <a:tbl>
              <a:tblPr>
                <a:noFill/>
                <a:tableStyleId>{2A2AA0BF-2830-4A47-AD1E-6B70793499B2}</a:tableStyleId>
              </a:tblPr>
              <a:tblGrid>
                <a:gridCol w="1573025"/>
                <a:gridCol w="1340250"/>
                <a:gridCol w="1192125"/>
              </a:tblGrid>
              <a:tr h="378975">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t>Genus</a:t>
                      </a:r>
                      <a:endParaRPr b="1" sz="11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t>OTU</a:t>
                      </a:r>
                      <a:endParaRPr b="1" sz="11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75350">
                <a:tc>
                  <a:txBody>
                    <a:bodyPr/>
                    <a:lstStyle/>
                    <a:p>
                      <a:pPr indent="0" lvl="0" marL="0" rtl="0" algn="ctr">
                        <a:lnSpc>
                          <a:spcPct val="115000"/>
                        </a:lnSpc>
                        <a:spcBef>
                          <a:spcPts val="0"/>
                        </a:spcBef>
                        <a:spcAft>
                          <a:spcPts val="0"/>
                        </a:spcAft>
                        <a:buNone/>
                      </a:pPr>
                      <a:r>
                        <a:rPr b="1" lang="en-GB" sz="1100"/>
                        <a:t>Features tested</a:t>
                      </a:r>
                      <a:endParaRPr b="1" sz="11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t>101</a:t>
                      </a:r>
                      <a:endParaRPr sz="12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t>945</a:t>
                      </a:r>
                      <a:endParaRPr sz="12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75350">
                <a:tc>
                  <a:txBody>
                    <a:bodyPr/>
                    <a:lstStyle/>
                    <a:p>
                      <a:pPr indent="0" lvl="0" marL="0" rtl="0" algn="ctr">
                        <a:lnSpc>
                          <a:spcPct val="115000"/>
                        </a:lnSpc>
                        <a:spcBef>
                          <a:spcPts val="0"/>
                        </a:spcBef>
                        <a:spcAft>
                          <a:spcPts val="0"/>
                        </a:spcAft>
                        <a:buNone/>
                      </a:pPr>
                      <a:r>
                        <a:rPr b="1" lang="en-GB" sz="1100"/>
                        <a:t>Significant (q &lt; 0.05)</a:t>
                      </a:r>
                      <a:endParaRPr b="1" sz="11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t>18</a:t>
                      </a:r>
                      <a:endParaRPr b="1" sz="12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t>5</a:t>
                      </a:r>
                      <a:endParaRPr b="1" sz="12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39350">
                <a:tc>
                  <a:txBody>
                    <a:bodyPr/>
                    <a:lstStyle/>
                    <a:p>
                      <a:pPr indent="0" lvl="0" marL="0" rtl="0" algn="ctr">
                        <a:lnSpc>
                          <a:spcPct val="115000"/>
                        </a:lnSpc>
                        <a:spcBef>
                          <a:spcPts val="0"/>
                        </a:spcBef>
                        <a:spcAft>
                          <a:spcPts val="0"/>
                        </a:spcAft>
                        <a:buNone/>
                      </a:pPr>
                      <a:r>
                        <a:rPr b="1" lang="en-GB" sz="1100"/>
                        <a:t>CRC pathogens recovered</a:t>
                      </a:r>
                      <a:endParaRPr b="1" sz="11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t>4 / 4</a:t>
                      </a:r>
                      <a:endParaRPr b="1" sz="12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t>2 / 4</a:t>
                      </a:r>
                      <a:endParaRPr b="1" sz="12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246" name="Google Shape;246;p37"/>
          <p:cNvSpPr txBox="1"/>
          <p:nvPr/>
        </p:nvSpPr>
        <p:spPr>
          <a:xfrm>
            <a:off x="0" y="1716025"/>
            <a:ext cx="4476900" cy="2522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GB" sz="1200"/>
              <a:t>Started with the ready-made bacteria count table from MicrobiomeHD.</a:t>
            </a:r>
            <a:endParaRPr sz="1200"/>
          </a:p>
          <a:p>
            <a:pPr indent="-304800" lvl="0" marL="457200" rtl="0" algn="l">
              <a:lnSpc>
                <a:spcPct val="115000"/>
              </a:lnSpc>
              <a:spcBef>
                <a:spcPts val="0"/>
              </a:spcBef>
              <a:spcAft>
                <a:spcPts val="0"/>
              </a:spcAft>
              <a:buSzPts val="1200"/>
              <a:buChar char="❏"/>
            </a:pPr>
            <a:r>
              <a:rPr lang="en-GB" sz="1200"/>
              <a:t>Turned counts into % of each sample, and dropped bacteria with no genus name.</a:t>
            </a:r>
            <a:endParaRPr sz="1200"/>
          </a:p>
          <a:p>
            <a:pPr indent="-304800" lvl="0" marL="457200" rtl="0" algn="l">
              <a:lnSpc>
                <a:spcPct val="115000"/>
              </a:lnSpc>
              <a:spcBef>
                <a:spcPts val="0"/>
              </a:spcBef>
              <a:spcAft>
                <a:spcPts val="0"/>
              </a:spcAft>
              <a:buSzPts val="1200"/>
              <a:buChar char="❏"/>
            </a:pPr>
            <a:r>
              <a:rPr lang="en-GB" sz="1200"/>
              <a:t>Analysed it at two zoom levels: grouped by genus vs. left as individual OTUs.</a:t>
            </a:r>
            <a:endParaRPr sz="1200"/>
          </a:p>
          <a:p>
            <a:pPr indent="-304800" lvl="0" marL="457200" rtl="0" algn="l">
              <a:lnSpc>
                <a:spcPct val="115000"/>
              </a:lnSpc>
              <a:spcBef>
                <a:spcPts val="0"/>
              </a:spcBef>
              <a:spcAft>
                <a:spcPts val="0"/>
              </a:spcAft>
              <a:buSzPts val="1200"/>
              <a:buChar char="❏"/>
            </a:pPr>
            <a:r>
              <a:rPr lang="en-GB" sz="1200"/>
              <a:t>At each level, ran two things: a per-genus test for differences (Kruskal–Wallis + FDR) and a whole-community map (PCoA).</a:t>
            </a:r>
            <a:endParaRPr sz="1200"/>
          </a:p>
          <a:p>
            <a:pPr indent="-304800" lvl="0" marL="457200" rtl="0" algn="l">
              <a:lnSpc>
                <a:spcPct val="115000"/>
              </a:lnSpc>
              <a:spcBef>
                <a:spcPts val="0"/>
              </a:spcBef>
              <a:spcAft>
                <a:spcPts val="0"/>
              </a:spcAft>
              <a:buSzPts val="1200"/>
              <a:buChar char="❏"/>
            </a:pPr>
            <a:r>
              <a:rPr lang="en-GB" sz="1200"/>
              <a:t>Compared which bacteria each zoom level and each method actually found.</a:t>
            </a:r>
            <a:endParaRPr/>
          </a:p>
          <a:p>
            <a:pPr indent="0" lvl="0" marL="0" rtl="0" algn="l">
              <a:spcBef>
                <a:spcPts val="0"/>
              </a:spcBef>
              <a:spcAft>
                <a:spcPts val="0"/>
              </a:spcAft>
              <a:buNone/>
            </a:pPr>
            <a:r>
              <a:t/>
            </a:r>
            <a:endParaRPr sz="2200">
              <a:solidFill>
                <a:srgbClr val="003E72"/>
              </a:solidFill>
            </a:endParaRPr>
          </a:p>
        </p:txBody>
      </p:sp>
      <p:sp>
        <p:nvSpPr>
          <p:cNvPr id="247" name="Google Shape;247;p37"/>
          <p:cNvSpPr txBox="1"/>
          <p:nvPr/>
        </p:nvSpPr>
        <p:spPr>
          <a:xfrm>
            <a:off x="150300" y="1191050"/>
            <a:ext cx="16404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3E72"/>
                </a:solidFill>
              </a:rPr>
              <a:t>What I did</a:t>
            </a:r>
            <a:endParaRPr b="1">
              <a:solidFill>
                <a:srgbClr val="003E72"/>
              </a:solidFill>
            </a:endParaRPr>
          </a:p>
        </p:txBody>
      </p:sp>
      <p:sp>
        <p:nvSpPr>
          <p:cNvPr id="248" name="Google Shape;248;p37"/>
          <p:cNvSpPr txBox="1"/>
          <p:nvPr>
            <p:ph type="title"/>
          </p:nvPr>
        </p:nvSpPr>
        <p:spPr>
          <a:xfrm>
            <a:off x="270000" y="254700"/>
            <a:ext cx="8604000" cy="400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Was anything actually lost?</a:t>
            </a:r>
            <a:endParaRPr/>
          </a:p>
        </p:txBody>
      </p:sp>
      <p:sp>
        <p:nvSpPr>
          <p:cNvPr id="249" name="Google Shape;249;p37"/>
          <p:cNvSpPr txBox="1"/>
          <p:nvPr/>
        </p:nvSpPr>
        <p:spPr>
          <a:xfrm>
            <a:off x="4685575" y="3574338"/>
            <a:ext cx="4685100" cy="533700"/>
          </a:xfrm>
          <a:prstGeom prst="rect">
            <a:avLst/>
          </a:prstGeom>
          <a:noFill/>
          <a:ln>
            <a:noFill/>
          </a:ln>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None/>
            </a:pPr>
            <a:r>
              <a:rPr lang="en-GB" sz="1100">
                <a:solidFill>
                  <a:srgbClr val="666666"/>
                </a:solidFill>
              </a:rPr>
              <a:t>Finer resolution tested ~9× more features but found fewer hits, and recovered less known biology.</a:t>
            </a:r>
            <a:endParaRPr sz="1100">
              <a:solidFill>
                <a:srgbClr val="666666"/>
              </a:solidFill>
            </a:endParaRPr>
          </a:p>
          <a:p>
            <a:pPr indent="0" lvl="0" marL="0" rtl="0" algn="l">
              <a:spcBef>
                <a:spcPts val="1200"/>
              </a:spcBef>
              <a:spcAft>
                <a:spcPts val="0"/>
              </a:spcAft>
              <a:buNone/>
            </a:pPr>
            <a:r>
              <a:t/>
            </a:r>
            <a:endParaRPr sz="2200">
              <a:solidFill>
                <a:srgbClr val="003E7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8"/>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255" name="Google Shape;255;p38"/>
          <p:cNvSpPr txBox="1"/>
          <p:nvPr/>
        </p:nvSpPr>
        <p:spPr>
          <a:xfrm>
            <a:off x="3337800" y="4671900"/>
            <a:ext cx="23922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100">
                <a:solidFill>
                  <a:schemeClr val="lt1"/>
                </a:solidFill>
              </a:rPr>
              <a:t>Hanyn A. Alturki</a:t>
            </a:r>
            <a:endParaRPr b="1" sz="2100">
              <a:solidFill>
                <a:schemeClr val="lt1"/>
              </a:solidFill>
            </a:endParaRPr>
          </a:p>
        </p:txBody>
      </p:sp>
      <p:pic>
        <p:nvPicPr>
          <p:cNvPr id="256" name="Google Shape;256;p38" title="image (1).png"/>
          <p:cNvPicPr preferRelativeResize="0"/>
          <p:nvPr/>
        </p:nvPicPr>
        <p:blipFill>
          <a:blip r:embed="rId3">
            <a:alphaModFix/>
          </a:blip>
          <a:stretch>
            <a:fillRect/>
          </a:stretch>
        </p:blipFill>
        <p:spPr>
          <a:xfrm>
            <a:off x="107698" y="1023027"/>
            <a:ext cx="2146803" cy="1837650"/>
          </a:xfrm>
          <a:prstGeom prst="rect">
            <a:avLst/>
          </a:prstGeom>
          <a:noFill/>
          <a:ln>
            <a:noFill/>
          </a:ln>
        </p:spPr>
      </p:pic>
      <p:pic>
        <p:nvPicPr>
          <p:cNvPr id="257" name="Google Shape;257;p38" title="image (3).png"/>
          <p:cNvPicPr preferRelativeResize="0"/>
          <p:nvPr/>
        </p:nvPicPr>
        <p:blipFill>
          <a:blip r:embed="rId4">
            <a:alphaModFix/>
          </a:blip>
          <a:stretch>
            <a:fillRect/>
          </a:stretch>
        </p:blipFill>
        <p:spPr>
          <a:xfrm>
            <a:off x="2358475" y="1004113"/>
            <a:ext cx="2392199" cy="1875475"/>
          </a:xfrm>
          <a:prstGeom prst="rect">
            <a:avLst/>
          </a:prstGeom>
          <a:noFill/>
          <a:ln>
            <a:noFill/>
          </a:ln>
        </p:spPr>
      </p:pic>
      <p:pic>
        <p:nvPicPr>
          <p:cNvPr id="258" name="Google Shape;258;p38" title="image.png"/>
          <p:cNvPicPr preferRelativeResize="0"/>
          <p:nvPr/>
        </p:nvPicPr>
        <p:blipFill>
          <a:blip r:embed="rId5">
            <a:alphaModFix/>
          </a:blip>
          <a:stretch>
            <a:fillRect/>
          </a:stretch>
        </p:blipFill>
        <p:spPr>
          <a:xfrm>
            <a:off x="5295900" y="1023025"/>
            <a:ext cx="3578098" cy="3023805"/>
          </a:xfrm>
          <a:prstGeom prst="rect">
            <a:avLst/>
          </a:prstGeom>
          <a:noFill/>
          <a:ln>
            <a:noFill/>
          </a:ln>
        </p:spPr>
      </p:pic>
      <p:sp>
        <p:nvSpPr>
          <p:cNvPr id="259" name="Google Shape;259;p38"/>
          <p:cNvSpPr txBox="1"/>
          <p:nvPr/>
        </p:nvSpPr>
        <p:spPr>
          <a:xfrm>
            <a:off x="5488050" y="4067313"/>
            <a:ext cx="35781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t>Box plot </a:t>
            </a:r>
            <a:r>
              <a:rPr lang="en-GB" sz="800"/>
              <a:t>– Relative abundance (log scale), H vs CRC; each point = one sample. Shifted up in CRC in every panel, yet &lt;1% abundance; absent in most healthy guts. All four significant (q &lt; 0.05).</a:t>
            </a:r>
            <a:endParaRPr sz="800">
              <a:solidFill>
                <a:srgbClr val="003E72"/>
              </a:solidFill>
            </a:endParaRPr>
          </a:p>
        </p:txBody>
      </p:sp>
      <p:sp>
        <p:nvSpPr>
          <p:cNvPr id="260" name="Google Shape;260;p38"/>
          <p:cNvSpPr txBox="1"/>
          <p:nvPr/>
        </p:nvSpPr>
        <p:spPr>
          <a:xfrm>
            <a:off x="270000" y="2860675"/>
            <a:ext cx="41901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800"/>
              <a:t>PCoA (Bray–Curtis), genus vs OTU.</a:t>
            </a:r>
            <a:r>
              <a:rPr lang="en-GB" sz="800"/>
              <a:t> Each point = one participant; H and CRC overlap at both resolutions, no community-level separation.</a:t>
            </a:r>
            <a:endParaRPr sz="800">
              <a:solidFill>
                <a:srgbClr val="003E72"/>
              </a:solidFill>
            </a:endParaRPr>
          </a:p>
        </p:txBody>
      </p:sp>
      <p:sp>
        <p:nvSpPr>
          <p:cNvPr id="261" name="Google Shape;261;p38"/>
          <p:cNvSpPr txBox="1"/>
          <p:nvPr/>
        </p:nvSpPr>
        <p:spPr>
          <a:xfrm>
            <a:off x="107700" y="3308875"/>
            <a:ext cx="5293800" cy="12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3E72"/>
                </a:solidFill>
              </a:rPr>
              <a:t>Take away:</a:t>
            </a:r>
            <a:r>
              <a:rPr lang="en-GB">
                <a:solidFill>
                  <a:srgbClr val="003E72"/>
                </a:solidFill>
              </a:rPr>
              <a:t> </a:t>
            </a:r>
            <a:r>
              <a:rPr lang="en-GB"/>
              <a:t>Standardized re-analysis of one CRC cohort shows the disease signal is real but rare, carried by a few low-abundance pathogens.</a:t>
            </a:r>
            <a:endParaRPr/>
          </a:p>
          <a:p>
            <a:pPr indent="0" lvl="0" marL="0" rtl="0" algn="l">
              <a:spcBef>
                <a:spcPts val="0"/>
              </a:spcBef>
              <a:spcAft>
                <a:spcPts val="0"/>
              </a:spcAft>
              <a:buNone/>
            </a:pPr>
            <a:r>
              <a:rPr lang="en-GB"/>
              <a:t>Collapsing to genus wins when a rare signal all points one way, because grouping f</a:t>
            </a:r>
            <a:r>
              <a:rPr lang="en-GB"/>
              <a:t>ocuses the signal</a:t>
            </a:r>
            <a:r>
              <a:rPr lang="en-GB"/>
              <a:t> instead of averaging it out. </a:t>
            </a:r>
            <a:endParaRPr/>
          </a:p>
          <a:p>
            <a:pPr indent="0" lvl="0" marL="0" rtl="0" algn="l">
              <a:spcBef>
                <a:spcPts val="0"/>
              </a:spcBef>
              <a:spcAft>
                <a:spcPts val="0"/>
              </a:spcAft>
              <a:buNone/>
            </a:pPr>
            <a:r>
              <a:t/>
            </a:r>
            <a:endParaRPr/>
          </a:p>
        </p:txBody>
      </p:sp>
      <p:sp>
        <p:nvSpPr>
          <p:cNvPr id="262" name="Google Shape;262;p38"/>
          <p:cNvSpPr txBox="1"/>
          <p:nvPr>
            <p:ph type="title"/>
          </p:nvPr>
        </p:nvSpPr>
        <p:spPr>
          <a:xfrm>
            <a:off x="270000" y="254700"/>
            <a:ext cx="8604000" cy="400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What about biology?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161275" y="65250"/>
            <a:ext cx="8886000" cy="7080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lang="en-GB" sz="2300"/>
              <a:t>Gut microbiome composition in Parkinson’s Disease: </a:t>
            </a:r>
            <a:endParaRPr sz="2300"/>
          </a:p>
          <a:p>
            <a:pPr indent="0" lvl="0" marL="0" rtl="0" algn="ctr">
              <a:spcBef>
                <a:spcPts val="0"/>
              </a:spcBef>
              <a:spcAft>
                <a:spcPts val="0"/>
              </a:spcAft>
              <a:buNone/>
            </a:pPr>
            <a:r>
              <a:rPr lang="en-GB" sz="2300"/>
              <a:t>an amplicon-based 16S rRNA reanalysis</a:t>
            </a:r>
            <a:endParaRPr sz="2200"/>
          </a:p>
        </p:txBody>
      </p:sp>
      <p:sp>
        <p:nvSpPr>
          <p:cNvPr id="268" name="Google Shape;268;p39"/>
          <p:cNvSpPr txBox="1"/>
          <p:nvPr>
            <p:ph idx="4294967295" type="body"/>
          </p:nvPr>
        </p:nvSpPr>
        <p:spPr>
          <a:xfrm>
            <a:off x="311700" y="1076356"/>
            <a:ext cx="8520600" cy="15546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GB" sz="2000"/>
              <a:t>Scheperjans et al., </a:t>
            </a:r>
            <a:r>
              <a:rPr b="1" lang="en-GB" sz="2000"/>
              <a:t>2014</a:t>
            </a:r>
            <a:r>
              <a:rPr lang="en-GB" sz="2000"/>
              <a:t> explored the association of PD motor/ non-motor symptoms and the </a:t>
            </a:r>
            <a:r>
              <a:rPr b="1" lang="en-GB" sz="2000"/>
              <a:t>fecal microbiome.</a:t>
            </a:r>
            <a:endParaRPr b="1" sz="2000"/>
          </a:p>
          <a:p>
            <a:pPr indent="-355600" lvl="0" marL="457200" rtl="0" algn="l">
              <a:spcBef>
                <a:spcPts val="0"/>
              </a:spcBef>
              <a:spcAft>
                <a:spcPts val="0"/>
              </a:spcAft>
              <a:buSzPts val="2000"/>
              <a:buChar char="●"/>
            </a:pPr>
            <a:r>
              <a:rPr b="1" lang="en-GB" sz="2000"/>
              <a:t>Roche 454 pyrosequencing</a:t>
            </a:r>
            <a:r>
              <a:rPr lang="en-GB" sz="2000"/>
              <a:t> of 74 </a:t>
            </a:r>
            <a:r>
              <a:rPr lang="en-GB" sz="2000"/>
              <a:t>healthy</a:t>
            </a:r>
            <a:r>
              <a:rPr lang="en-GB" sz="2000"/>
              <a:t> </a:t>
            </a:r>
            <a:r>
              <a:rPr lang="en-GB" sz="2000"/>
              <a:t>and</a:t>
            </a:r>
            <a:r>
              <a:rPr lang="en-GB" sz="2000"/>
              <a:t> 74 PD </a:t>
            </a:r>
            <a:r>
              <a:rPr lang="en-GB" sz="2000"/>
              <a:t>patients; resulting in a processed </a:t>
            </a:r>
            <a:r>
              <a:rPr b="1" lang="en-GB" sz="2000"/>
              <a:t>V1–V3</a:t>
            </a:r>
            <a:r>
              <a:rPr lang="en-GB" sz="2000"/>
              <a:t> 16S </a:t>
            </a:r>
            <a:r>
              <a:rPr b="1" lang="en-GB" sz="2000"/>
              <a:t>OTU dataset.</a:t>
            </a:r>
            <a:endParaRPr b="1" sz="2000"/>
          </a:p>
        </p:txBody>
      </p:sp>
      <p:sp>
        <p:nvSpPr>
          <p:cNvPr id="269" name="Google Shape;269;p39"/>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270" name="Google Shape;270;p39"/>
          <p:cNvSpPr txBox="1"/>
          <p:nvPr/>
        </p:nvSpPr>
        <p:spPr>
          <a:xfrm>
            <a:off x="3337800" y="4650152"/>
            <a:ext cx="23922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100">
                <a:solidFill>
                  <a:schemeClr val="lt1"/>
                </a:solidFill>
              </a:rPr>
              <a:t>Sara Althaqafi</a:t>
            </a:r>
            <a:endParaRPr b="1" sz="2100">
              <a:solidFill>
                <a:schemeClr val="lt1"/>
              </a:solidFill>
            </a:endParaRPr>
          </a:p>
        </p:txBody>
      </p:sp>
      <p:pic>
        <p:nvPicPr>
          <p:cNvPr id="271" name="Google Shape;271;p39" title="000015.png"/>
          <p:cNvPicPr preferRelativeResize="0"/>
          <p:nvPr/>
        </p:nvPicPr>
        <p:blipFill>
          <a:blip r:embed="rId3">
            <a:alphaModFix/>
          </a:blip>
          <a:stretch>
            <a:fillRect/>
          </a:stretch>
        </p:blipFill>
        <p:spPr>
          <a:xfrm>
            <a:off x="5981700" y="2636350"/>
            <a:ext cx="3065576" cy="1892861"/>
          </a:xfrm>
          <a:prstGeom prst="rect">
            <a:avLst/>
          </a:prstGeom>
          <a:noFill/>
          <a:ln>
            <a:noFill/>
          </a:ln>
        </p:spPr>
      </p:pic>
      <p:pic>
        <p:nvPicPr>
          <p:cNvPr id="272" name="Google Shape;272;p39" title="00001f.png"/>
          <p:cNvPicPr preferRelativeResize="0"/>
          <p:nvPr/>
        </p:nvPicPr>
        <p:blipFill>
          <a:blip r:embed="rId4">
            <a:alphaModFix/>
          </a:blip>
          <a:stretch>
            <a:fillRect/>
          </a:stretch>
        </p:blipFill>
        <p:spPr>
          <a:xfrm>
            <a:off x="2729623" y="2645588"/>
            <a:ext cx="3032999" cy="1874376"/>
          </a:xfrm>
          <a:prstGeom prst="rect">
            <a:avLst/>
          </a:prstGeom>
          <a:noFill/>
          <a:ln>
            <a:noFill/>
          </a:ln>
        </p:spPr>
      </p:pic>
      <p:sp>
        <p:nvSpPr>
          <p:cNvPr id="273" name="Google Shape;273;p39"/>
          <p:cNvSpPr/>
          <p:nvPr/>
        </p:nvSpPr>
        <p:spPr>
          <a:xfrm rot="-2082700">
            <a:off x="1017903" y="3230707"/>
            <a:ext cx="658007" cy="657001"/>
          </a:xfrm>
          <a:prstGeom prst="ellipse">
            <a:avLst/>
          </a:prstGeom>
          <a:solidFill>
            <a:srgbClr val="A1C2FA"/>
          </a:solidFill>
          <a:ln>
            <a:noFill/>
          </a:ln>
        </p:spPr>
        <p:txBody>
          <a:bodyPr anchorCtr="0" anchor="ctr" bIns="22725" lIns="45475" spcFirstLastPara="1" rIns="45475" wrap="square" tIns="22725">
            <a:noAutofit/>
          </a:bodyPr>
          <a:lstStyle/>
          <a:p>
            <a:pPr indent="0" lvl="0" marL="0" rtl="0" algn="l">
              <a:spcBef>
                <a:spcPts val="0"/>
              </a:spcBef>
              <a:spcAft>
                <a:spcPts val="0"/>
              </a:spcAft>
              <a:buNone/>
            </a:pPr>
            <a:r>
              <a:t/>
            </a:r>
            <a:endParaRPr/>
          </a:p>
        </p:txBody>
      </p:sp>
      <p:grpSp>
        <p:nvGrpSpPr>
          <p:cNvPr id="274" name="Google Shape;274;p39"/>
          <p:cNvGrpSpPr/>
          <p:nvPr/>
        </p:nvGrpSpPr>
        <p:grpSpPr>
          <a:xfrm>
            <a:off x="56116" y="2881233"/>
            <a:ext cx="1197074" cy="1089292"/>
            <a:chOff x="1978637" y="1202068"/>
            <a:chExt cx="2407147" cy="2190413"/>
          </a:xfrm>
        </p:grpSpPr>
        <p:sp>
          <p:nvSpPr>
            <p:cNvPr id="275" name="Google Shape;275;p39"/>
            <p:cNvSpPr/>
            <p:nvPr/>
          </p:nvSpPr>
          <p:spPr>
            <a:xfrm rot="-2081187">
              <a:off x="2278971" y="1519484"/>
              <a:ext cx="1601327" cy="1555582"/>
            </a:xfrm>
            <a:custGeom>
              <a:rect b="b" l="l" r="r" t="t"/>
              <a:pathLst>
                <a:path extrusionOk="0" h="240" w="246">
                  <a:moveTo>
                    <a:pt x="246" y="29"/>
                  </a:moveTo>
                  <a:cubicBezTo>
                    <a:pt x="241" y="19"/>
                    <a:pt x="235" y="9"/>
                    <a:pt x="228" y="0"/>
                  </a:cubicBezTo>
                  <a:cubicBezTo>
                    <a:pt x="111" y="25"/>
                    <a:pt x="19" y="120"/>
                    <a:pt x="0" y="240"/>
                  </a:cubicBezTo>
                  <a:cubicBezTo>
                    <a:pt x="11" y="237"/>
                    <a:pt x="22" y="234"/>
                    <a:pt x="34" y="232"/>
                  </a:cubicBezTo>
                  <a:cubicBezTo>
                    <a:pt x="56" y="128"/>
                    <a:pt x="140" y="46"/>
                    <a:pt x="246" y="29"/>
                  </a:cubicBezTo>
                  <a:close/>
                </a:path>
              </a:pathLst>
            </a:custGeom>
            <a:solidFill>
              <a:srgbClr val="A1C2FA"/>
            </a:solidFill>
            <a:ln cap="flat" cmpd="sng" w="95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76" name="Google Shape;276;p39"/>
            <p:cNvSpPr/>
            <p:nvPr/>
          </p:nvSpPr>
          <p:spPr>
            <a:xfrm rot="-2081188">
              <a:off x="2605674" y="1601249"/>
              <a:ext cx="1541190" cy="1320966"/>
            </a:xfrm>
            <a:custGeom>
              <a:rect b="b" l="l" r="r" t="t"/>
              <a:pathLst>
                <a:path extrusionOk="0" h="213" w="248">
                  <a:moveTo>
                    <a:pt x="142" y="213"/>
                  </a:moveTo>
                  <a:cubicBezTo>
                    <a:pt x="152" y="188"/>
                    <a:pt x="170" y="167"/>
                    <a:pt x="194" y="153"/>
                  </a:cubicBezTo>
                  <a:cubicBezTo>
                    <a:pt x="211" y="143"/>
                    <a:pt x="230" y="137"/>
                    <a:pt x="248" y="136"/>
                  </a:cubicBezTo>
                  <a:cubicBezTo>
                    <a:pt x="247" y="87"/>
                    <a:pt x="234" y="41"/>
                    <a:pt x="212" y="0"/>
                  </a:cubicBezTo>
                  <a:cubicBezTo>
                    <a:pt x="106" y="17"/>
                    <a:pt x="22" y="99"/>
                    <a:pt x="0" y="203"/>
                  </a:cubicBezTo>
                  <a:cubicBezTo>
                    <a:pt x="46" y="195"/>
                    <a:pt x="95" y="198"/>
                    <a:pt x="142" y="213"/>
                  </a:cubicBezTo>
                  <a:close/>
                </a:path>
              </a:pathLst>
            </a:custGeom>
            <a:solidFill>
              <a:srgbClr val="0C57D3"/>
            </a:solidFill>
            <a:ln cap="flat" cmpd="sng" w="63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77" name="Google Shape;277;p39"/>
            <p:cNvSpPr txBox="1"/>
            <p:nvPr/>
          </p:nvSpPr>
          <p:spPr>
            <a:xfrm rot="-4432199">
              <a:off x="2798390" y="1964894"/>
              <a:ext cx="1304451" cy="562537"/>
            </a:xfrm>
            <a:prstGeom prst="rect">
              <a:avLst/>
            </a:prstGeom>
            <a:noFill/>
            <a:ln>
              <a:noFill/>
            </a:ln>
          </p:spPr>
          <p:txBody>
            <a:bodyPr anchorCtr="0" anchor="ctr" bIns="45475" lIns="45475" spcFirstLastPara="1" rIns="45475" wrap="square" tIns="45475">
              <a:noAutofit/>
            </a:bodyPr>
            <a:lstStyle/>
            <a:p>
              <a:pPr indent="0" lvl="0" marL="0" rtl="0" algn="ctr">
                <a:spcBef>
                  <a:spcPts val="0"/>
                </a:spcBef>
                <a:spcAft>
                  <a:spcPts val="0"/>
                </a:spcAft>
                <a:buNone/>
              </a:pPr>
              <a:r>
                <a:rPr lang="en-GB" sz="497">
                  <a:solidFill>
                    <a:srgbClr val="FFFFFF"/>
                  </a:solidFill>
                  <a:latin typeface="Roboto"/>
                  <a:ea typeface="Roboto"/>
                  <a:cs typeface="Roboto"/>
                  <a:sym typeface="Roboto"/>
                </a:rPr>
                <a:t>Family-level comparison</a:t>
              </a:r>
              <a:endParaRPr sz="497">
                <a:solidFill>
                  <a:srgbClr val="FFFFFF"/>
                </a:solidFill>
                <a:latin typeface="Roboto"/>
                <a:ea typeface="Roboto"/>
                <a:cs typeface="Roboto"/>
                <a:sym typeface="Roboto"/>
              </a:endParaRPr>
            </a:p>
          </p:txBody>
        </p:sp>
      </p:grpSp>
      <p:grpSp>
        <p:nvGrpSpPr>
          <p:cNvPr id="278" name="Google Shape;278;p39"/>
          <p:cNvGrpSpPr/>
          <p:nvPr/>
        </p:nvGrpSpPr>
        <p:grpSpPr>
          <a:xfrm>
            <a:off x="497955" y="3576388"/>
            <a:ext cx="1048311" cy="1212001"/>
            <a:chOff x="2867112" y="2599927"/>
            <a:chExt cx="2108006" cy="2437164"/>
          </a:xfrm>
        </p:grpSpPr>
        <p:sp>
          <p:nvSpPr>
            <p:cNvPr id="279" name="Google Shape;279;p39"/>
            <p:cNvSpPr/>
            <p:nvPr/>
          </p:nvSpPr>
          <p:spPr>
            <a:xfrm rot="-2081188">
              <a:off x="3325156" y="2966530"/>
              <a:ext cx="1061085" cy="1941128"/>
            </a:xfrm>
            <a:custGeom>
              <a:rect b="b" l="l" r="r" t="t"/>
              <a:pathLst>
                <a:path extrusionOk="0" h="300" w="163">
                  <a:moveTo>
                    <a:pt x="32" y="39"/>
                  </a:moveTo>
                  <a:cubicBezTo>
                    <a:pt x="32" y="26"/>
                    <a:pt x="33" y="13"/>
                    <a:pt x="35" y="0"/>
                  </a:cubicBezTo>
                  <a:cubicBezTo>
                    <a:pt x="24" y="2"/>
                    <a:pt x="13" y="5"/>
                    <a:pt x="2" y="8"/>
                  </a:cubicBezTo>
                  <a:cubicBezTo>
                    <a:pt x="1" y="19"/>
                    <a:pt x="0" y="29"/>
                    <a:pt x="0" y="39"/>
                  </a:cubicBezTo>
                  <a:cubicBezTo>
                    <a:pt x="0" y="153"/>
                    <a:pt x="65" y="252"/>
                    <a:pt x="160" y="300"/>
                  </a:cubicBezTo>
                  <a:cubicBezTo>
                    <a:pt x="160" y="289"/>
                    <a:pt x="161" y="277"/>
                    <a:pt x="163" y="265"/>
                  </a:cubicBezTo>
                  <a:cubicBezTo>
                    <a:pt x="85" y="220"/>
                    <a:pt x="32" y="136"/>
                    <a:pt x="32" y="39"/>
                  </a:cubicBezTo>
                  <a:close/>
                </a:path>
              </a:pathLst>
            </a:custGeom>
            <a:solidFill>
              <a:srgbClr val="A1C2FA"/>
            </a:solidFill>
            <a:ln cap="flat" cmpd="sng" w="95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80" name="Google Shape;280;p39"/>
            <p:cNvSpPr/>
            <p:nvPr/>
          </p:nvSpPr>
          <p:spPr>
            <a:xfrm rot="-2081187">
              <a:off x="3456358" y="2773799"/>
              <a:ext cx="1138968" cy="1690435"/>
            </a:xfrm>
            <a:custGeom>
              <a:rect b="b" l="l" r="r" t="t"/>
              <a:pathLst>
                <a:path extrusionOk="0" h="273" w="183">
                  <a:moveTo>
                    <a:pt x="156" y="108"/>
                  </a:moveTo>
                  <a:cubicBezTo>
                    <a:pt x="139" y="79"/>
                    <a:pt x="136" y="46"/>
                    <a:pt x="144" y="16"/>
                  </a:cubicBezTo>
                  <a:cubicBezTo>
                    <a:pt x="97" y="2"/>
                    <a:pt x="48" y="0"/>
                    <a:pt x="3" y="8"/>
                  </a:cubicBezTo>
                  <a:cubicBezTo>
                    <a:pt x="1" y="21"/>
                    <a:pt x="0" y="34"/>
                    <a:pt x="0" y="47"/>
                  </a:cubicBezTo>
                  <a:cubicBezTo>
                    <a:pt x="0" y="144"/>
                    <a:pt x="53" y="228"/>
                    <a:pt x="131" y="273"/>
                  </a:cubicBezTo>
                  <a:cubicBezTo>
                    <a:pt x="138" y="227"/>
                    <a:pt x="155" y="182"/>
                    <a:pt x="183" y="141"/>
                  </a:cubicBezTo>
                  <a:cubicBezTo>
                    <a:pt x="173" y="132"/>
                    <a:pt x="163" y="121"/>
                    <a:pt x="156" y="108"/>
                  </a:cubicBezTo>
                  <a:close/>
                </a:path>
              </a:pathLst>
            </a:custGeom>
            <a:solidFill>
              <a:srgbClr val="0D5CDF"/>
            </a:solidFill>
            <a:ln cap="flat" cmpd="sng" w="63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81" name="Google Shape;281;p39"/>
            <p:cNvSpPr txBox="1"/>
            <p:nvPr/>
          </p:nvSpPr>
          <p:spPr>
            <a:xfrm rot="2156063">
              <a:off x="3231785" y="3231412"/>
              <a:ext cx="1304574" cy="562882"/>
            </a:xfrm>
            <a:prstGeom prst="rect">
              <a:avLst/>
            </a:prstGeom>
            <a:noFill/>
            <a:ln>
              <a:noFill/>
            </a:ln>
          </p:spPr>
          <p:txBody>
            <a:bodyPr anchorCtr="0" anchor="ctr" bIns="45475" lIns="45475" spcFirstLastPara="1" rIns="45475" wrap="square" tIns="45475">
              <a:noAutofit/>
            </a:bodyPr>
            <a:lstStyle/>
            <a:p>
              <a:pPr indent="0" lvl="0" marL="0" rtl="0" algn="ctr">
                <a:spcBef>
                  <a:spcPts val="0"/>
                </a:spcBef>
                <a:spcAft>
                  <a:spcPts val="0"/>
                </a:spcAft>
                <a:buNone/>
              </a:pPr>
              <a:r>
                <a:rPr lang="en-GB" sz="497">
                  <a:solidFill>
                    <a:srgbClr val="FFFFFF"/>
                  </a:solidFill>
                  <a:latin typeface="Roboto"/>
                  <a:ea typeface="Roboto"/>
                  <a:cs typeface="Roboto"/>
                  <a:sym typeface="Roboto"/>
                </a:rPr>
                <a:t>Bray-Curtis NMDS</a:t>
              </a:r>
              <a:endParaRPr sz="497">
                <a:solidFill>
                  <a:srgbClr val="FFFFFF"/>
                </a:solidFill>
                <a:latin typeface="Roboto"/>
                <a:ea typeface="Roboto"/>
                <a:cs typeface="Roboto"/>
                <a:sym typeface="Roboto"/>
              </a:endParaRPr>
            </a:p>
          </p:txBody>
        </p:sp>
      </p:grpSp>
      <p:grpSp>
        <p:nvGrpSpPr>
          <p:cNvPr id="282" name="Google Shape;282;p39"/>
          <p:cNvGrpSpPr/>
          <p:nvPr/>
        </p:nvGrpSpPr>
        <p:grpSpPr>
          <a:xfrm>
            <a:off x="1229186" y="3508998"/>
            <a:ext cx="1205707" cy="1043108"/>
            <a:chOff x="4337515" y="2464414"/>
            <a:chExt cx="2424506" cy="2097542"/>
          </a:xfrm>
        </p:grpSpPr>
        <p:sp>
          <p:nvSpPr>
            <p:cNvPr id="283" name="Google Shape;283;p39"/>
            <p:cNvSpPr/>
            <p:nvPr/>
          </p:nvSpPr>
          <p:spPr>
            <a:xfrm rot="-2081187">
              <a:off x="4648818" y="3375680"/>
              <a:ext cx="2119401" cy="640096"/>
            </a:xfrm>
            <a:custGeom>
              <a:rect b="b" l="l" r="r" t="t"/>
              <a:pathLst>
                <a:path extrusionOk="0" h="99" w="326">
                  <a:moveTo>
                    <a:pt x="119" y="67"/>
                  </a:moveTo>
                  <a:cubicBezTo>
                    <a:pt x="77" y="67"/>
                    <a:pt x="37" y="57"/>
                    <a:pt x="2" y="40"/>
                  </a:cubicBezTo>
                  <a:cubicBezTo>
                    <a:pt x="1" y="51"/>
                    <a:pt x="0" y="63"/>
                    <a:pt x="0" y="74"/>
                  </a:cubicBezTo>
                  <a:cubicBezTo>
                    <a:pt x="36" y="90"/>
                    <a:pt x="76" y="99"/>
                    <a:pt x="119" y="99"/>
                  </a:cubicBezTo>
                  <a:cubicBezTo>
                    <a:pt x="200" y="99"/>
                    <a:pt x="273" y="67"/>
                    <a:pt x="326" y="14"/>
                  </a:cubicBezTo>
                  <a:cubicBezTo>
                    <a:pt x="315" y="10"/>
                    <a:pt x="304" y="5"/>
                    <a:pt x="294" y="0"/>
                  </a:cubicBezTo>
                  <a:cubicBezTo>
                    <a:pt x="247" y="42"/>
                    <a:pt x="186" y="67"/>
                    <a:pt x="119" y="67"/>
                  </a:cubicBezTo>
                  <a:close/>
                </a:path>
              </a:pathLst>
            </a:custGeom>
            <a:solidFill>
              <a:srgbClr val="A1C2FA"/>
            </a:solidFill>
            <a:ln cap="flat" cmpd="sng" w="95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84" name="Google Shape;284;p39"/>
            <p:cNvSpPr/>
            <p:nvPr/>
          </p:nvSpPr>
          <p:spPr>
            <a:xfrm rot="-2081187">
              <a:off x="4457034" y="2893418"/>
              <a:ext cx="1815979" cy="987157"/>
            </a:xfrm>
            <a:custGeom>
              <a:rect b="b" l="l" r="r" t="t"/>
              <a:pathLst>
                <a:path extrusionOk="0" h="159" w="292">
                  <a:moveTo>
                    <a:pt x="182" y="1"/>
                  </a:moveTo>
                  <a:cubicBezTo>
                    <a:pt x="181" y="2"/>
                    <a:pt x="179" y="3"/>
                    <a:pt x="177" y="4"/>
                  </a:cubicBezTo>
                  <a:cubicBezTo>
                    <a:pt x="137" y="27"/>
                    <a:pt x="88" y="24"/>
                    <a:pt x="51" y="0"/>
                  </a:cubicBezTo>
                  <a:cubicBezTo>
                    <a:pt x="23" y="41"/>
                    <a:pt x="6" y="86"/>
                    <a:pt x="0" y="132"/>
                  </a:cubicBezTo>
                  <a:cubicBezTo>
                    <a:pt x="35" y="149"/>
                    <a:pt x="75" y="159"/>
                    <a:pt x="117" y="159"/>
                  </a:cubicBezTo>
                  <a:cubicBezTo>
                    <a:pt x="184" y="159"/>
                    <a:pt x="245" y="134"/>
                    <a:pt x="292" y="92"/>
                  </a:cubicBezTo>
                  <a:cubicBezTo>
                    <a:pt x="250" y="71"/>
                    <a:pt x="212" y="41"/>
                    <a:pt x="182" y="1"/>
                  </a:cubicBezTo>
                  <a:close/>
                </a:path>
              </a:pathLst>
            </a:custGeom>
            <a:solidFill>
              <a:srgbClr val="0E63F0"/>
            </a:solidFill>
            <a:ln cap="flat" cmpd="sng" w="63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85" name="Google Shape;285;p39"/>
            <p:cNvSpPr txBox="1"/>
            <p:nvPr/>
          </p:nvSpPr>
          <p:spPr>
            <a:xfrm rot="-2245873">
              <a:off x="4639442" y="3207930"/>
              <a:ext cx="1304523" cy="563064"/>
            </a:xfrm>
            <a:prstGeom prst="rect">
              <a:avLst/>
            </a:prstGeom>
            <a:noFill/>
            <a:ln>
              <a:noFill/>
            </a:ln>
          </p:spPr>
          <p:txBody>
            <a:bodyPr anchorCtr="0" anchor="ctr" bIns="45475" lIns="45475" spcFirstLastPara="1" rIns="45475" wrap="square" tIns="45475">
              <a:noAutofit/>
            </a:bodyPr>
            <a:lstStyle/>
            <a:p>
              <a:pPr indent="0" lvl="0" marL="0" rtl="0" algn="ctr">
                <a:spcBef>
                  <a:spcPts val="0"/>
                </a:spcBef>
                <a:spcAft>
                  <a:spcPts val="0"/>
                </a:spcAft>
                <a:buNone/>
              </a:pPr>
              <a:r>
                <a:rPr lang="en-GB" sz="497">
                  <a:solidFill>
                    <a:srgbClr val="FFFFFF"/>
                  </a:solidFill>
                  <a:latin typeface="Roboto"/>
                  <a:ea typeface="Roboto"/>
                  <a:cs typeface="Roboto"/>
                  <a:sym typeface="Roboto"/>
                </a:rPr>
                <a:t>Relative abundance</a:t>
              </a:r>
              <a:endParaRPr sz="497">
                <a:solidFill>
                  <a:srgbClr val="FFFFFF"/>
                </a:solidFill>
                <a:latin typeface="Roboto"/>
                <a:ea typeface="Roboto"/>
                <a:cs typeface="Roboto"/>
                <a:sym typeface="Roboto"/>
              </a:endParaRPr>
            </a:p>
          </p:txBody>
        </p:sp>
      </p:grpSp>
      <p:grpSp>
        <p:nvGrpSpPr>
          <p:cNvPr id="286" name="Google Shape;286;p39"/>
          <p:cNvGrpSpPr/>
          <p:nvPr/>
        </p:nvGrpSpPr>
        <p:grpSpPr>
          <a:xfrm>
            <a:off x="694877" y="2318918"/>
            <a:ext cx="1165723" cy="1178934"/>
            <a:chOff x="3263096" y="71333"/>
            <a:chExt cx="2344104" cy="2370669"/>
          </a:xfrm>
        </p:grpSpPr>
        <p:sp>
          <p:nvSpPr>
            <p:cNvPr id="287" name="Google Shape;287;p39"/>
            <p:cNvSpPr/>
            <p:nvPr/>
          </p:nvSpPr>
          <p:spPr>
            <a:xfrm rot="-2081187">
              <a:off x="3407226" y="525393"/>
              <a:ext cx="1943480" cy="1113468"/>
            </a:xfrm>
            <a:custGeom>
              <a:rect b="b" l="l" r="r" t="t"/>
              <a:pathLst>
                <a:path extrusionOk="0" h="172" w="299">
                  <a:moveTo>
                    <a:pt x="45" y="32"/>
                  </a:moveTo>
                  <a:cubicBezTo>
                    <a:pt x="146" y="32"/>
                    <a:pt x="233" y="89"/>
                    <a:pt x="276" y="172"/>
                  </a:cubicBezTo>
                  <a:cubicBezTo>
                    <a:pt x="284" y="164"/>
                    <a:pt x="292" y="155"/>
                    <a:pt x="299" y="146"/>
                  </a:cubicBezTo>
                  <a:cubicBezTo>
                    <a:pt x="248" y="59"/>
                    <a:pt x="153" y="0"/>
                    <a:pt x="45" y="0"/>
                  </a:cubicBezTo>
                  <a:cubicBezTo>
                    <a:pt x="30" y="0"/>
                    <a:pt x="14" y="1"/>
                    <a:pt x="0" y="3"/>
                  </a:cubicBezTo>
                  <a:cubicBezTo>
                    <a:pt x="6" y="13"/>
                    <a:pt x="12" y="23"/>
                    <a:pt x="18" y="33"/>
                  </a:cubicBezTo>
                  <a:cubicBezTo>
                    <a:pt x="27" y="32"/>
                    <a:pt x="36" y="32"/>
                    <a:pt x="45" y="32"/>
                  </a:cubicBezTo>
                  <a:close/>
                </a:path>
              </a:pathLst>
            </a:custGeom>
            <a:solidFill>
              <a:srgbClr val="A1C2FA"/>
            </a:solidFill>
            <a:ln cap="flat" cmpd="sng" w="95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88" name="Google Shape;288;p39"/>
            <p:cNvSpPr/>
            <p:nvPr/>
          </p:nvSpPr>
          <p:spPr>
            <a:xfrm rot="-2081187">
              <a:off x="3761328" y="760580"/>
              <a:ext cx="1606237" cy="1343790"/>
            </a:xfrm>
            <a:custGeom>
              <a:rect b="b" l="l" r="r" t="t"/>
              <a:pathLst>
                <a:path extrusionOk="0" h="217" w="258">
                  <a:moveTo>
                    <a:pt x="132" y="200"/>
                  </a:moveTo>
                  <a:cubicBezTo>
                    <a:pt x="135" y="205"/>
                    <a:pt x="138" y="211"/>
                    <a:pt x="140" y="217"/>
                  </a:cubicBezTo>
                  <a:cubicBezTo>
                    <a:pt x="186" y="200"/>
                    <a:pt x="227" y="174"/>
                    <a:pt x="258" y="140"/>
                  </a:cubicBezTo>
                  <a:cubicBezTo>
                    <a:pt x="215" y="57"/>
                    <a:pt x="128" y="0"/>
                    <a:pt x="27" y="0"/>
                  </a:cubicBezTo>
                  <a:cubicBezTo>
                    <a:pt x="18" y="0"/>
                    <a:pt x="9" y="0"/>
                    <a:pt x="0" y="1"/>
                  </a:cubicBezTo>
                  <a:cubicBezTo>
                    <a:pt x="21" y="43"/>
                    <a:pt x="34" y="90"/>
                    <a:pt x="34" y="140"/>
                  </a:cubicBezTo>
                  <a:cubicBezTo>
                    <a:pt x="74" y="142"/>
                    <a:pt x="111" y="163"/>
                    <a:pt x="132" y="200"/>
                  </a:cubicBezTo>
                  <a:close/>
                </a:path>
              </a:pathLst>
            </a:custGeom>
            <a:solidFill>
              <a:srgbClr val="0942A1"/>
            </a:solidFill>
            <a:ln cap="flat" cmpd="sng" w="63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89" name="Google Shape;289;p39"/>
            <p:cNvSpPr txBox="1"/>
            <p:nvPr/>
          </p:nvSpPr>
          <p:spPr>
            <a:xfrm>
              <a:off x="3919788" y="1123225"/>
              <a:ext cx="1304400" cy="563100"/>
            </a:xfrm>
            <a:prstGeom prst="rect">
              <a:avLst/>
            </a:prstGeom>
            <a:noFill/>
            <a:ln>
              <a:noFill/>
            </a:ln>
          </p:spPr>
          <p:txBody>
            <a:bodyPr anchorCtr="0" anchor="ctr" bIns="45475" lIns="45475" spcFirstLastPara="1" rIns="45475" wrap="square" tIns="45475">
              <a:noAutofit/>
            </a:bodyPr>
            <a:lstStyle/>
            <a:p>
              <a:pPr indent="0" lvl="0" marL="0" rtl="0" algn="ctr">
                <a:spcBef>
                  <a:spcPts val="0"/>
                </a:spcBef>
                <a:spcAft>
                  <a:spcPts val="0"/>
                </a:spcAft>
                <a:buNone/>
              </a:pPr>
              <a:r>
                <a:rPr lang="en-GB" sz="497">
                  <a:solidFill>
                    <a:srgbClr val="FFFFFF"/>
                  </a:solidFill>
                  <a:latin typeface="Roboto"/>
                  <a:ea typeface="Roboto"/>
                  <a:cs typeface="Roboto"/>
                  <a:sym typeface="Roboto"/>
                </a:rPr>
                <a:t>Pre-proccesing + phyloseq object</a:t>
              </a:r>
              <a:endParaRPr sz="497">
                <a:solidFill>
                  <a:srgbClr val="FFFFFF"/>
                </a:solidFill>
                <a:latin typeface="Roboto"/>
                <a:ea typeface="Roboto"/>
                <a:cs typeface="Roboto"/>
                <a:sym typeface="Roboto"/>
              </a:endParaRPr>
            </a:p>
          </p:txBody>
        </p:sp>
      </p:grpSp>
      <p:grpSp>
        <p:nvGrpSpPr>
          <p:cNvPr id="290" name="Google Shape;290;p39"/>
          <p:cNvGrpSpPr/>
          <p:nvPr/>
        </p:nvGrpSpPr>
        <p:grpSpPr>
          <a:xfrm>
            <a:off x="1356391" y="2683461"/>
            <a:ext cx="1128245" cy="1215401"/>
            <a:chOff x="4593307" y="804376"/>
            <a:chExt cx="2268741" cy="2444000"/>
          </a:xfrm>
        </p:grpSpPr>
        <p:sp>
          <p:nvSpPr>
            <p:cNvPr id="291" name="Google Shape;291;p39"/>
            <p:cNvSpPr/>
            <p:nvPr/>
          </p:nvSpPr>
          <p:spPr>
            <a:xfrm rot="-2081188">
              <a:off x="5623193" y="814800"/>
              <a:ext cx="698156" cy="2118270"/>
            </a:xfrm>
            <a:custGeom>
              <a:rect b="b" l="l" r="r" t="t"/>
              <a:pathLst>
                <a:path extrusionOk="0" h="328" w="107">
                  <a:moveTo>
                    <a:pt x="52" y="26"/>
                  </a:moveTo>
                  <a:cubicBezTo>
                    <a:pt x="67" y="59"/>
                    <a:pt x="75" y="95"/>
                    <a:pt x="75" y="132"/>
                  </a:cubicBezTo>
                  <a:cubicBezTo>
                    <a:pt x="75" y="204"/>
                    <a:pt x="46" y="268"/>
                    <a:pt x="0" y="315"/>
                  </a:cubicBezTo>
                  <a:cubicBezTo>
                    <a:pt x="10" y="320"/>
                    <a:pt x="21" y="325"/>
                    <a:pt x="32" y="328"/>
                  </a:cubicBezTo>
                  <a:cubicBezTo>
                    <a:pt x="78" y="276"/>
                    <a:pt x="107" y="208"/>
                    <a:pt x="107" y="132"/>
                  </a:cubicBezTo>
                  <a:cubicBezTo>
                    <a:pt x="107" y="85"/>
                    <a:pt x="95" y="40"/>
                    <a:pt x="75" y="0"/>
                  </a:cubicBezTo>
                  <a:cubicBezTo>
                    <a:pt x="68" y="9"/>
                    <a:pt x="60" y="18"/>
                    <a:pt x="52" y="26"/>
                  </a:cubicBezTo>
                  <a:close/>
                </a:path>
              </a:pathLst>
            </a:custGeom>
            <a:solidFill>
              <a:srgbClr val="A1C2FA"/>
            </a:solidFill>
            <a:ln cap="flat" cmpd="sng" w="95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92" name="Google Shape;292;p39"/>
            <p:cNvSpPr/>
            <p:nvPr/>
          </p:nvSpPr>
          <p:spPr>
            <a:xfrm rot="-2081187">
              <a:off x="5001092" y="1289142"/>
              <a:ext cx="1148261" cy="1791718"/>
            </a:xfrm>
            <a:custGeom>
              <a:rect b="b" l="l" r="r" t="t"/>
              <a:pathLst>
                <a:path extrusionOk="0" h="289" w="184">
                  <a:moveTo>
                    <a:pt x="161" y="0"/>
                  </a:moveTo>
                  <a:cubicBezTo>
                    <a:pt x="128" y="34"/>
                    <a:pt x="87" y="60"/>
                    <a:pt x="40" y="76"/>
                  </a:cubicBezTo>
                  <a:cubicBezTo>
                    <a:pt x="52" y="121"/>
                    <a:pt x="36" y="170"/>
                    <a:pt x="0" y="200"/>
                  </a:cubicBezTo>
                  <a:cubicBezTo>
                    <a:pt x="29" y="240"/>
                    <a:pt x="67" y="270"/>
                    <a:pt x="109" y="289"/>
                  </a:cubicBezTo>
                  <a:cubicBezTo>
                    <a:pt x="155" y="242"/>
                    <a:pt x="184" y="178"/>
                    <a:pt x="184" y="106"/>
                  </a:cubicBezTo>
                  <a:cubicBezTo>
                    <a:pt x="184" y="69"/>
                    <a:pt x="176" y="33"/>
                    <a:pt x="161" y="0"/>
                  </a:cubicBezTo>
                  <a:close/>
                </a:path>
              </a:pathLst>
            </a:custGeom>
            <a:solidFill>
              <a:srgbClr val="307AF3"/>
            </a:solidFill>
            <a:ln cap="flat" cmpd="sng" w="6325">
              <a:solidFill>
                <a:srgbClr val="FFFFFF"/>
              </a:solidFill>
              <a:prstDash val="solid"/>
              <a:miter lim="8000"/>
              <a:headEnd len="sm" w="sm" type="none"/>
              <a:tailEnd len="sm" w="sm" type="none"/>
            </a:ln>
          </p:spPr>
          <p:txBody>
            <a:bodyPr anchorCtr="0" anchor="t" bIns="22725" lIns="45475" spcFirstLastPara="1" rIns="45475" wrap="square" tIns="22725">
              <a:noAutofit/>
            </a:bodyPr>
            <a:lstStyle/>
            <a:p>
              <a:pPr indent="0" lvl="0" marL="0" rtl="0" algn="l">
                <a:spcBef>
                  <a:spcPts val="0"/>
                </a:spcBef>
                <a:spcAft>
                  <a:spcPts val="0"/>
                </a:spcAft>
                <a:buNone/>
              </a:pPr>
              <a:r>
                <a:t/>
              </a:r>
              <a:endParaRPr/>
            </a:p>
          </p:txBody>
        </p:sp>
        <p:sp>
          <p:nvSpPr>
            <p:cNvPr id="293" name="Google Shape;293;p39"/>
            <p:cNvSpPr txBox="1"/>
            <p:nvPr/>
          </p:nvSpPr>
          <p:spPr>
            <a:xfrm rot="4352156">
              <a:off x="5032997" y="1939707"/>
              <a:ext cx="1304532" cy="562935"/>
            </a:xfrm>
            <a:prstGeom prst="rect">
              <a:avLst/>
            </a:prstGeom>
            <a:noFill/>
            <a:ln>
              <a:noFill/>
            </a:ln>
          </p:spPr>
          <p:txBody>
            <a:bodyPr anchorCtr="0" anchor="ctr" bIns="45475" lIns="45475" spcFirstLastPara="1" rIns="45475" wrap="square" tIns="45475">
              <a:noAutofit/>
            </a:bodyPr>
            <a:lstStyle/>
            <a:p>
              <a:pPr indent="0" lvl="0" marL="0" rtl="0" algn="ctr">
                <a:spcBef>
                  <a:spcPts val="0"/>
                </a:spcBef>
                <a:spcAft>
                  <a:spcPts val="0"/>
                </a:spcAft>
                <a:buNone/>
              </a:pPr>
              <a:r>
                <a:rPr lang="en-GB" sz="497">
                  <a:solidFill>
                    <a:srgbClr val="FFFFFF"/>
                  </a:solidFill>
                  <a:latin typeface="Roboto"/>
                  <a:ea typeface="Roboto"/>
                  <a:cs typeface="Roboto"/>
                  <a:sym typeface="Roboto"/>
                </a:rPr>
                <a:t>Sparsity filtering + downstream QC</a:t>
              </a:r>
              <a:endParaRPr sz="497">
                <a:solidFill>
                  <a:srgbClr val="FFFFFF"/>
                </a:solidFill>
                <a:latin typeface="Roboto"/>
                <a:ea typeface="Roboto"/>
                <a:cs typeface="Roboto"/>
                <a:sym typeface="Roboto"/>
              </a:endParaRPr>
            </a:p>
          </p:txBody>
        </p:sp>
      </p:grpSp>
      <p:sp>
        <p:nvSpPr>
          <p:cNvPr id="294" name="Google Shape;294;p39"/>
          <p:cNvSpPr txBox="1"/>
          <p:nvPr/>
        </p:nvSpPr>
        <p:spPr>
          <a:xfrm>
            <a:off x="8323186" y="4390447"/>
            <a:ext cx="1105800" cy="3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u="sng">
                <a:solidFill>
                  <a:schemeClr val="hlink"/>
                </a:solidFill>
                <a:hlinkClick r:id="rId5"/>
              </a:rPr>
              <a:t>References</a:t>
            </a:r>
            <a:endParaRPr sz="10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300" name="Google Shape;300;p40"/>
          <p:cNvSpPr txBox="1"/>
          <p:nvPr/>
        </p:nvSpPr>
        <p:spPr>
          <a:xfrm>
            <a:off x="3337800" y="4650152"/>
            <a:ext cx="23922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100">
                <a:solidFill>
                  <a:schemeClr val="lt1"/>
                </a:solidFill>
              </a:rPr>
              <a:t>Sara Althaqafi</a:t>
            </a:r>
            <a:endParaRPr b="1" sz="2100">
              <a:solidFill>
                <a:schemeClr val="lt1"/>
              </a:solidFill>
            </a:endParaRPr>
          </a:p>
        </p:txBody>
      </p:sp>
      <p:grpSp>
        <p:nvGrpSpPr>
          <p:cNvPr id="301" name="Google Shape;301;p40"/>
          <p:cNvGrpSpPr/>
          <p:nvPr/>
        </p:nvGrpSpPr>
        <p:grpSpPr>
          <a:xfrm>
            <a:off x="164442" y="1631306"/>
            <a:ext cx="3694074" cy="2666786"/>
            <a:chOff x="85227" y="1720451"/>
            <a:chExt cx="3847192" cy="2777323"/>
          </a:xfrm>
        </p:grpSpPr>
        <p:grpSp>
          <p:nvGrpSpPr>
            <p:cNvPr id="302" name="Google Shape;302;p40"/>
            <p:cNvGrpSpPr/>
            <p:nvPr/>
          </p:nvGrpSpPr>
          <p:grpSpPr>
            <a:xfrm>
              <a:off x="152400" y="1720451"/>
              <a:ext cx="3780019" cy="2777301"/>
              <a:chOff x="152400" y="1720451"/>
              <a:chExt cx="3780019" cy="2777301"/>
            </a:xfrm>
          </p:grpSpPr>
          <p:pic>
            <p:nvPicPr>
              <p:cNvPr id="303" name="Google Shape;303;p40" title="bray_curtis_NMDS.png"/>
              <p:cNvPicPr preferRelativeResize="0"/>
              <p:nvPr/>
            </p:nvPicPr>
            <p:blipFill>
              <a:blip r:embed="rId3">
                <a:alphaModFix/>
              </a:blip>
              <a:stretch>
                <a:fillRect/>
              </a:stretch>
            </p:blipFill>
            <p:spPr>
              <a:xfrm>
                <a:off x="152400" y="1797475"/>
                <a:ext cx="3780019" cy="2700277"/>
              </a:xfrm>
              <a:prstGeom prst="rect">
                <a:avLst/>
              </a:prstGeom>
              <a:noFill/>
              <a:ln>
                <a:noFill/>
              </a:ln>
            </p:spPr>
          </p:pic>
          <p:sp>
            <p:nvSpPr>
              <p:cNvPr id="304" name="Google Shape;304;p40"/>
              <p:cNvSpPr txBox="1"/>
              <p:nvPr/>
            </p:nvSpPr>
            <p:spPr>
              <a:xfrm>
                <a:off x="1199550" y="1720451"/>
                <a:ext cx="1685700" cy="273600"/>
              </a:xfrm>
              <a:prstGeom prst="rect">
                <a:avLst/>
              </a:prstGeom>
              <a:noFill/>
              <a:ln>
                <a:noFill/>
              </a:ln>
            </p:spPr>
            <p:txBody>
              <a:bodyPr anchorCtr="0" anchor="t" bIns="87800" lIns="87800" spcFirstLastPara="1" rIns="87800" wrap="square" tIns="87800">
                <a:noAutofit/>
              </a:bodyPr>
              <a:lstStyle/>
              <a:p>
                <a:pPr indent="0" lvl="0" marL="0" rtl="0" algn="l">
                  <a:spcBef>
                    <a:spcPts val="0"/>
                  </a:spcBef>
                  <a:spcAft>
                    <a:spcPts val="0"/>
                  </a:spcAft>
                  <a:buNone/>
                </a:pPr>
                <a:r>
                  <a:rPr lang="en-GB" sz="768"/>
                  <a:t> - two-dimensional</a:t>
                </a:r>
                <a:endParaRPr sz="768"/>
              </a:p>
            </p:txBody>
          </p:sp>
        </p:grpSp>
        <p:sp>
          <p:nvSpPr>
            <p:cNvPr id="305" name="Google Shape;305;p40"/>
            <p:cNvSpPr txBox="1"/>
            <p:nvPr/>
          </p:nvSpPr>
          <p:spPr>
            <a:xfrm>
              <a:off x="1908002" y="4265274"/>
              <a:ext cx="456000" cy="232500"/>
            </a:xfrm>
            <a:prstGeom prst="rect">
              <a:avLst/>
            </a:prstGeom>
            <a:noFill/>
            <a:ln>
              <a:noFill/>
            </a:ln>
          </p:spPr>
          <p:txBody>
            <a:bodyPr anchorCtr="0" anchor="t" bIns="87800" lIns="87800" spcFirstLastPara="1" rIns="87800" wrap="square" tIns="87800">
              <a:noAutofit/>
            </a:bodyPr>
            <a:lstStyle/>
            <a:p>
              <a:pPr indent="0" lvl="0" marL="0" rtl="0" algn="l">
                <a:spcBef>
                  <a:spcPts val="0"/>
                </a:spcBef>
                <a:spcAft>
                  <a:spcPts val="0"/>
                </a:spcAft>
                <a:buNone/>
              </a:pPr>
              <a:r>
                <a:rPr lang="en-GB" sz="576"/>
                <a:t>(5.1%)</a:t>
              </a:r>
              <a:endParaRPr sz="576"/>
            </a:p>
          </p:txBody>
        </p:sp>
        <p:sp>
          <p:nvSpPr>
            <p:cNvPr id="306" name="Google Shape;306;p40"/>
            <p:cNvSpPr txBox="1"/>
            <p:nvPr/>
          </p:nvSpPr>
          <p:spPr>
            <a:xfrm rot="-5400000">
              <a:off x="-26523" y="2745172"/>
              <a:ext cx="456000" cy="232500"/>
            </a:xfrm>
            <a:prstGeom prst="rect">
              <a:avLst/>
            </a:prstGeom>
            <a:noFill/>
            <a:ln>
              <a:noFill/>
            </a:ln>
          </p:spPr>
          <p:txBody>
            <a:bodyPr anchorCtr="0" anchor="t" bIns="87800" lIns="87800" spcFirstLastPara="1" rIns="87800" wrap="square" tIns="87800">
              <a:noAutofit/>
            </a:bodyPr>
            <a:lstStyle/>
            <a:p>
              <a:pPr indent="0" lvl="0" marL="0" rtl="0" algn="l">
                <a:spcBef>
                  <a:spcPts val="0"/>
                </a:spcBef>
                <a:spcAft>
                  <a:spcPts val="0"/>
                </a:spcAft>
                <a:buNone/>
              </a:pPr>
              <a:r>
                <a:rPr lang="en-GB" sz="576"/>
                <a:t>(4.4%)</a:t>
              </a:r>
              <a:endParaRPr sz="576"/>
            </a:p>
          </p:txBody>
        </p:sp>
      </p:grpSp>
      <p:sp>
        <p:nvSpPr>
          <p:cNvPr id="307" name="Google Shape;307;p40"/>
          <p:cNvSpPr txBox="1"/>
          <p:nvPr>
            <p:ph idx="4294967295" type="body"/>
          </p:nvPr>
        </p:nvSpPr>
        <p:spPr>
          <a:xfrm>
            <a:off x="311700" y="1115233"/>
            <a:ext cx="8520600" cy="4926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GB" sz="2000"/>
              <a:t>Poor separation and stress-value in 3 dimensions, better in 3 (0.21).</a:t>
            </a:r>
            <a:endParaRPr b="1" sz="2000"/>
          </a:p>
        </p:txBody>
      </p:sp>
      <p:sp>
        <p:nvSpPr>
          <p:cNvPr id="308" name="Google Shape;308;p40"/>
          <p:cNvSpPr txBox="1"/>
          <p:nvPr>
            <p:ph type="title"/>
          </p:nvPr>
        </p:nvSpPr>
        <p:spPr>
          <a:xfrm>
            <a:off x="161275" y="65250"/>
            <a:ext cx="8886000" cy="7080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lang="en-GB" sz="2300"/>
              <a:t>Gut microbiome composition in Parkinson’s Disease: </a:t>
            </a:r>
            <a:endParaRPr sz="2300"/>
          </a:p>
          <a:p>
            <a:pPr indent="0" lvl="0" marL="0" rtl="0" algn="ctr">
              <a:spcBef>
                <a:spcPts val="0"/>
              </a:spcBef>
              <a:spcAft>
                <a:spcPts val="0"/>
              </a:spcAft>
              <a:buNone/>
            </a:pPr>
            <a:r>
              <a:rPr lang="en-GB" sz="2300"/>
              <a:t>an amplicon-based 16S rRNA reanalysis</a:t>
            </a:r>
            <a:endParaRPr sz="2200"/>
          </a:p>
        </p:txBody>
      </p:sp>
      <p:sp>
        <p:nvSpPr>
          <p:cNvPr id="309" name="Google Shape;309;p40"/>
          <p:cNvSpPr txBox="1"/>
          <p:nvPr/>
        </p:nvSpPr>
        <p:spPr>
          <a:xfrm>
            <a:off x="8323186" y="4390447"/>
            <a:ext cx="1105800" cy="3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u="sng">
                <a:solidFill>
                  <a:schemeClr val="hlink"/>
                </a:solidFill>
                <a:hlinkClick r:id="rId4"/>
              </a:rPr>
              <a:t>References</a:t>
            </a:r>
            <a:endParaRPr sz="1000">
              <a:solidFill>
                <a:schemeClr val="lt1"/>
              </a:solidFill>
            </a:endParaRPr>
          </a:p>
        </p:txBody>
      </p:sp>
      <p:pic>
        <p:nvPicPr>
          <p:cNvPr id="310" name="Google Shape;310;p40" title="alpha_diversity.png"/>
          <p:cNvPicPr preferRelativeResize="0"/>
          <p:nvPr/>
        </p:nvPicPr>
        <p:blipFill>
          <a:blip r:embed="rId5">
            <a:alphaModFix/>
          </a:blip>
          <a:stretch>
            <a:fillRect/>
          </a:stretch>
        </p:blipFill>
        <p:spPr>
          <a:xfrm>
            <a:off x="3924289" y="1631289"/>
            <a:ext cx="4923290" cy="27357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type="title"/>
          </p:nvPr>
        </p:nvSpPr>
        <p:spPr>
          <a:xfrm>
            <a:off x="270000" y="254700"/>
            <a:ext cx="8604000" cy="400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Prevotellaceae are 84% lower in Parkinson’s patients</a:t>
            </a:r>
            <a:endParaRPr/>
          </a:p>
        </p:txBody>
      </p:sp>
      <p:sp>
        <p:nvSpPr>
          <p:cNvPr id="316" name="Google Shape;316;p41"/>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317" name="Google Shape;317;p41"/>
          <p:cNvSpPr txBox="1"/>
          <p:nvPr/>
        </p:nvSpPr>
        <p:spPr>
          <a:xfrm>
            <a:off x="3337800" y="4650152"/>
            <a:ext cx="23922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2100">
                <a:solidFill>
                  <a:schemeClr val="lt1"/>
                </a:solidFill>
              </a:rPr>
              <a:t>Sara Althaqafi</a:t>
            </a:r>
            <a:endParaRPr b="1" sz="2100">
              <a:solidFill>
                <a:schemeClr val="lt1"/>
              </a:solidFill>
            </a:endParaRPr>
          </a:p>
        </p:txBody>
      </p:sp>
      <p:pic>
        <p:nvPicPr>
          <p:cNvPr id="318" name="Google Shape;318;p41" title="prevotellaceae_relative_abundance.png"/>
          <p:cNvPicPr preferRelativeResize="0"/>
          <p:nvPr/>
        </p:nvPicPr>
        <p:blipFill>
          <a:blip r:embed="rId3">
            <a:alphaModFix/>
          </a:blip>
          <a:stretch>
            <a:fillRect/>
          </a:stretch>
        </p:blipFill>
        <p:spPr>
          <a:xfrm>
            <a:off x="4903044" y="1067749"/>
            <a:ext cx="4078854" cy="3399026"/>
          </a:xfrm>
          <a:prstGeom prst="rect">
            <a:avLst/>
          </a:prstGeom>
          <a:noFill/>
          <a:ln>
            <a:noFill/>
          </a:ln>
        </p:spPr>
      </p:pic>
      <p:graphicFrame>
        <p:nvGraphicFramePr>
          <p:cNvPr id="319" name="Google Shape;319;p41"/>
          <p:cNvGraphicFramePr/>
          <p:nvPr/>
        </p:nvGraphicFramePr>
        <p:xfrm>
          <a:off x="756972" y="3004147"/>
          <a:ext cx="3000000" cy="3000000"/>
        </p:xfrm>
        <a:graphic>
          <a:graphicData uri="http://schemas.openxmlformats.org/drawingml/2006/table">
            <a:tbl>
              <a:tblPr>
                <a:noFill/>
                <a:tableStyleId>{6DF0C976-91A3-4E69-B422-33E72BCD969C}</a:tableStyleId>
              </a:tblPr>
              <a:tblGrid>
                <a:gridCol w="985650"/>
                <a:gridCol w="1475200"/>
                <a:gridCol w="832075"/>
              </a:tblGrid>
              <a:tr h="273825">
                <a:tc>
                  <a:txBody>
                    <a:bodyPr/>
                    <a:lstStyle/>
                    <a:p>
                      <a:pPr indent="0" lvl="0" marL="0" rtl="0" algn="ctr">
                        <a:lnSpc>
                          <a:spcPct val="115000"/>
                        </a:lnSpc>
                        <a:spcBef>
                          <a:spcPts val="0"/>
                        </a:spcBef>
                        <a:spcAft>
                          <a:spcPts val="0"/>
                        </a:spcAft>
                        <a:buNone/>
                      </a:pPr>
                      <a:r>
                        <a:rPr b="1" lang="en-GB" sz="900"/>
                        <a:t>Family</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Direction</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FDR</a:t>
                      </a:r>
                      <a:endParaRPr b="1" sz="900"/>
                    </a:p>
                  </a:txBody>
                  <a:tcPr marT="91425" marB="91425" marR="91425" marL="91425"/>
                </a:tc>
              </a:tr>
              <a:tr h="305475">
                <a:tc>
                  <a:txBody>
                    <a:bodyPr/>
                    <a:lstStyle/>
                    <a:p>
                      <a:pPr indent="0" lvl="0" marL="0" rtl="0" algn="ctr">
                        <a:spcBef>
                          <a:spcPts val="0"/>
                        </a:spcBef>
                        <a:spcAft>
                          <a:spcPts val="0"/>
                        </a:spcAft>
                        <a:buNone/>
                      </a:pPr>
                      <a:r>
                        <a:rPr lang="en-GB" sz="800"/>
                        <a:t>Rikenellaceae</a:t>
                      </a:r>
                      <a:endParaRPr sz="800"/>
                    </a:p>
                  </a:txBody>
                  <a:tcPr marT="91425" marB="91425" marR="91425" marL="91425"/>
                </a:tc>
                <a:tc>
                  <a:txBody>
                    <a:bodyPr/>
                    <a:lstStyle/>
                    <a:p>
                      <a:pPr indent="0" lvl="0" marL="0" rtl="0" algn="ctr">
                        <a:spcBef>
                          <a:spcPts val="0"/>
                        </a:spcBef>
                        <a:spcAft>
                          <a:spcPts val="0"/>
                        </a:spcAft>
                        <a:buNone/>
                      </a:pPr>
                      <a:r>
                        <a:rPr lang="en-GB" sz="800"/>
                        <a:t>Higher in Parkinson’s</a:t>
                      </a:r>
                      <a:endParaRPr sz="800"/>
                    </a:p>
                  </a:txBody>
                  <a:tcPr marT="91425" marB="91425" marR="91425" marL="91425"/>
                </a:tc>
                <a:tc>
                  <a:txBody>
                    <a:bodyPr/>
                    <a:lstStyle/>
                    <a:p>
                      <a:pPr indent="0" lvl="0" marL="0" rtl="0" algn="ctr">
                        <a:lnSpc>
                          <a:spcPct val="115000"/>
                        </a:lnSpc>
                        <a:spcBef>
                          <a:spcPts val="0"/>
                        </a:spcBef>
                        <a:spcAft>
                          <a:spcPts val="0"/>
                        </a:spcAft>
                        <a:buNone/>
                      </a:pPr>
                      <a:r>
                        <a:rPr lang="en-GB" sz="800"/>
                        <a:t>0.0026</a:t>
                      </a:r>
                      <a:endParaRPr sz="800"/>
                    </a:p>
                  </a:txBody>
                  <a:tcPr marT="91425" marB="91425" marR="91425" marL="91425"/>
                </a:tc>
              </a:tr>
              <a:tr h="305475">
                <a:tc>
                  <a:txBody>
                    <a:bodyPr/>
                    <a:lstStyle/>
                    <a:p>
                      <a:pPr indent="0" lvl="0" marL="0" rtl="0" algn="ctr">
                        <a:spcBef>
                          <a:spcPts val="0"/>
                        </a:spcBef>
                        <a:spcAft>
                          <a:spcPts val="0"/>
                        </a:spcAft>
                        <a:buNone/>
                      </a:pPr>
                      <a:r>
                        <a:rPr lang="en-GB" sz="800"/>
                        <a:t>Lactobacillaceae</a:t>
                      </a:r>
                      <a:endParaRPr sz="800"/>
                    </a:p>
                  </a:txBody>
                  <a:tcPr marT="91425" marB="91425" marR="91425" marL="91425"/>
                </a:tc>
                <a:tc>
                  <a:txBody>
                    <a:bodyPr/>
                    <a:lstStyle/>
                    <a:p>
                      <a:pPr indent="0" lvl="0" marL="0" rtl="0" algn="ctr">
                        <a:spcBef>
                          <a:spcPts val="0"/>
                        </a:spcBef>
                        <a:spcAft>
                          <a:spcPts val="0"/>
                        </a:spcAft>
                        <a:buNone/>
                      </a:pPr>
                      <a:r>
                        <a:rPr lang="en-GB" sz="800"/>
                        <a:t>Higher in Parkinson’s</a:t>
                      </a:r>
                      <a:endParaRPr sz="800"/>
                    </a:p>
                  </a:txBody>
                  <a:tcPr marT="91425" marB="91425" marR="91425" marL="91425"/>
                </a:tc>
                <a:tc>
                  <a:txBody>
                    <a:bodyPr/>
                    <a:lstStyle/>
                    <a:p>
                      <a:pPr indent="0" lvl="0" marL="0" rtl="0" algn="ctr">
                        <a:lnSpc>
                          <a:spcPct val="115000"/>
                        </a:lnSpc>
                        <a:spcBef>
                          <a:spcPts val="0"/>
                        </a:spcBef>
                        <a:spcAft>
                          <a:spcPts val="0"/>
                        </a:spcAft>
                        <a:buNone/>
                      </a:pPr>
                      <a:r>
                        <a:rPr lang="en-GB" sz="800"/>
                        <a:t>0.0031</a:t>
                      </a:r>
                      <a:endParaRPr sz="800"/>
                    </a:p>
                  </a:txBody>
                  <a:tcPr marT="91425" marB="91425" marR="91425" marL="91425"/>
                </a:tc>
              </a:tr>
              <a:tr h="305475">
                <a:tc>
                  <a:txBody>
                    <a:bodyPr/>
                    <a:lstStyle/>
                    <a:p>
                      <a:pPr indent="0" lvl="0" marL="0" rtl="0" algn="ctr">
                        <a:spcBef>
                          <a:spcPts val="0"/>
                        </a:spcBef>
                        <a:spcAft>
                          <a:spcPts val="0"/>
                        </a:spcAft>
                        <a:buNone/>
                      </a:pPr>
                      <a:r>
                        <a:rPr lang="en-GB" sz="800"/>
                        <a:t>Prevotellaceae</a:t>
                      </a:r>
                      <a:endParaRPr sz="800"/>
                    </a:p>
                  </a:txBody>
                  <a:tcPr marT="91425" marB="91425" marR="91425" marL="91425"/>
                </a:tc>
                <a:tc>
                  <a:txBody>
                    <a:bodyPr/>
                    <a:lstStyle/>
                    <a:p>
                      <a:pPr indent="0" lvl="0" marL="0" rtl="0" algn="ctr">
                        <a:spcBef>
                          <a:spcPts val="0"/>
                        </a:spcBef>
                        <a:spcAft>
                          <a:spcPts val="0"/>
                        </a:spcAft>
                        <a:buNone/>
                      </a:pPr>
                      <a:r>
                        <a:rPr lang="en-GB" sz="800"/>
                        <a:t>Higher in healthy</a:t>
                      </a:r>
                      <a:endParaRPr sz="800"/>
                    </a:p>
                  </a:txBody>
                  <a:tcPr marT="91425" marB="91425" marR="91425" marL="91425"/>
                </a:tc>
                <a:tc>
                  <a:txBody>
                    <a:bodyPr/>
                    <a:lstStyle/>
                    <a:p>
                      <a:pPr indent="0" lvl="0" marL="0" rtl="0" algn="ctr">
                        <a:lnSpc>
                          <a:spcPct val="115000"/>
                        </a:lnSpc>
                        <a:spcBef>
                          <a:spcPts val="0"/>
                        </a:spcBef>
                        <a:spcAft>
                          <a:spcPts val="0"/>
                        </a:spcAft>
                        <a:buNone/>
                      </a:pPr>
                      <a:r>
                        <a:rPr lang="en-GB" sz="800"/>
                        <a:t>0.0045</a:t>
                      </a:r>
                      <a:endParaRPr sz="800"/>
                    </a:p>
                  </a:txBody>
                  <a:tcPr marT="91425" marB="91425" marR="91425" marL="91425"/>
                </a:tc>
              </a:tr>
              <a:tr h="305475">
                <a:tc>
                  <a:txBody>
                    <a:bodyPr/>
                    <a:lstStyle/>
                    <a:p>
                      <a:pPr indent="0" lvl="0" marL="0" rtl="0" algn="ctr">
                        <a:spcBef>
                          <a:spcPts val="0"/>
                        </a:spcBef>
                        <a:spcAft>
                          <a:spcPts val="0"/>
                        </a:spcAft>
                        <a:buNone/>
                      </a:pPr>
                      <a:r>
                        <a:rPr lang="en-GB" sz="800"/>
                        <a:t>Pasteurellaceae</a:t>
                      </a:r>
                      <a:endParaRPr sz="800"/>
                    </a:p>
                  </a:txBody>
                  <a:tcPr marT="91425" marB="91425" marR="91425" marL="91425"/>
                </a:tc>
                <a:tc>
                  <a:txBody>
                    <a:bodyPr/>
                    <a:lstStyle/>
                    <a:p>
                      <a:pPr indent="0" lvl="0" marL="0" rtl="0" algn="ctr">
                        <a:spcBef>
                          <a:spcPts val="0"/>
                        </a:spcBef>
                        <a:spcAft>
                          <a:spcPts val="0"/>
                        </a:spcAft>
                        <a:buNone/>
                      </a:pPr>
                      <a:r>
                        <a:rPr lang="en-GB" sz="800"/>
                        <a:t>Higher in healthy</a:t>
                      </a:r>
                      <a:endParaRPr sz="800"/>
                    </a:p>
                  </a:txBody>
                  <a:tcPr marT="91425" marB="91425" marR="91425" marL="91425"/>
                </a:tc>
                <a:tc>
                  <a:txBody>
                    <a:bodyPr/>
                    <a:lstStyle/>
                    <a:p>
                      <a:pPr indent="0" lvl="0" marL="0" rtl="0" algn="ctr">
                        <a:lnSpc>
                          <a:spcPct val="115000"/>
                        </a:lnSpc>
                        <a:spcBef>
                          <a:spcPts val="0"/>
                        </a:spcBef>
                        <a:spcAft>
                          <a:spcPts val="0"/>
                        </a:spcAft>
                        <a:buNone/>
                      </a:pPr>
                      <a:r>
                        <a:rPr lang="en-GB" sz="800"/>
                        <a:t>0.0060</a:t>
                      </a:r>
                      <a:endParaRPr sz="800"/>
                    </a:p>
                  </a:txBody>
                  <a:tcPr marT="91425" marB="91425" marR="91425" marL="91425"/>
                </a:tc>
              </a:tr>
            </a:tbl>
          </a:graphicData>
        </a:graphic>
      </p:graphicFrame>
      <p:sp>
        <p:nvSpPr>
          <p:cNvPr id="320" name="Google Shape;320;p41"/>
          <p:cNvSpPr txBox="1"/>
          <p:nvPr/>
        </p:nvSpPr>
        <p:spPr>
          <a:xfrm>
            <a:off x="8323186" y="4390447"/>
            <a:ext cx="1105800" cy="3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u="sng">
                <a:solidFill>
                  <a:schemeClr val="hlink"/>
                </a:solidFill>
                <a:hlinkClick r:id="rId4"/>
              </a:rPr>
              <a:t>References</a:t>
            </a:r>
            <a:endParaRPr sz="1000">
              <a:solidFill>
                <a:schemeClr val="lt1"/>
              </a:solidFill>
            </a:endParaRPr>
          </a:p>
        </p:txBody>
      </p:sp>
      <p:pic>
        <p:nvPicPr>
          <p:cNvPr id="321" name="Google Shape;321;p41" title="family_composition.png"/>
          <p:cNvPicPr preferRelativeResize="0"/>
          <p:nvPr/>
        </p:nvPicPr>
        <p:blipFill>
          <a:blip r:embed="rId5">
            <a:alphaModFix/>
          </a:blip>
          <a:stretch>
            <a:fillRect/>
          </a:stretch>
        </p:blipFill>
        <p:spPr>
          <a:xfrm>
            <a:off x="643200" y="1066752"/>
            <a:ext cx="3666601" cy="1833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270000" y="104400"/>
            <a:ext cx="8421600" cy="7389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lang="en-GB" sz="2400"/>
              <a:t>Does Wastewater Treatment Reduce Antibiotic Resistance Genes Burden? </a:t>
            </a:r>
            <a:endParaRPr sz="2400"/>
          </a:p>
        </p:txBody>
      </p:sp>
      <p:sp>
        <p:nvSpPr>
          <p:cNvPr id="327" name="Google Shape;327;p42"/>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328" name="Google Shape;328;p42"/>
          <p:cNvSpPr txBox="1"/>
          <p:nvPr>
            <p:ph type="title"/>
          </p:nvPr>
        </p:nvSpPr>
        <p:spPr>
          <a:xfrm>
            <a:off x="399300" y="4711350"/>
            <a:ext cx="8421600" cy="3693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b="0" lang="en-GB" sz="2400"/>
              <a:t>Mada Hazazi</a:t>
            </a:r>
            <a:r>
              <a:rPr lang="en-GB" sz="2400"/>
              <a:t> </a:t>
            </a:r>
            <a:endParaRPr sz="2400"/>
          </a:p>
        </p:txBody>
      </p:sp>
      <p:sp>
        <p:nvSpPr>
          <p:cNvPr id="329" name="Google Shape;329;p42"/>
          <p:cNvSpPr txBox="1"/>
          <p:nvPr/>
        </p:nvSpPr>
        <p:spPr>
          <a:xfrm>
            <a:off x="8039100" y="412800"/>
            <a:ext cx="8880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u="sng">
                <a:solidFill>
                  <a:schemeClr val="hlink"/>
                </a:solidFill>
                <a:hlinkClick r:id="rId3"/>
              </a:rPr>
              <a:t>Reference</a:t>
            </a:r>
            <a:r>
              <a:rPr lang="en-GB" sz="2200">
                <a:solidFill>
                  <a:srgbClr val="003E72"/>
                </a:solidFill>
              </a:rPr>
              <a:t> </a:t>
            </a:r>
            <a:endParaRPr sz="2200">
              <a:solidFill>
                <a:srgbClr val="003E72"/>
              </a:solidFill>
            </a:endParaRPr>
          </a:p>
        </p:txBody>
      </p:sp>
      <p:sp>
        <p:nvSpPr>
          <p:cNvPr id="330" name="Google Shape;330;p42"/>
          <p:cNvSpPr txBox="1"/>
          <p:nvPr/>
        </p:nvSpPr>
        <p:spPr>
          <a:xfrm>
            <a:off x="354600" y="1252425"/>
            <a:ext cx="4689900" cy="3049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GB" sz="1600">
                <a:solidFill>
                  <a:srgbClr val="003E72"/>
                </a:solidFill>
              </a:rPr>
              <a:t>Background</a:t>
            </a:r>
            <a:r>
              <a:rPr lang="en-GB">
                <a:solidFill>
                  <a:srgbClr val="003E72"/>
                </a:solidFill>
              </a:rPr>
              <a:t> </a:t>
            </a:r>
            <a:endParaRPr>
              <a:solidFill>
                <a:srgbClr val="003E72"/>
              </a:solidFill>
            </a:endParaRPr>
          </a:p>
          <a:p>
            <a:pPr indent="0" lvl="0" marL="0" rtl="0" algn="just">
              <a:lnSpc>
                <a:spcPct val="115000"/>
              </a:lnSpc>
              <a:spcBef>
                <a:spcPts val="0"/>
              </a:spcBef>
              <a:spcAft>
                <a:spcPts val="0"/>
              </a:spcAft>
              <a:buNone/>
            </a:pPr>
            <a:r>
              <a:t/>
            </a:r>
            <a:endParaRPr>
              <a:solidFill>
                <a:srgbClr val="003E72"/>
              </a:solidFill>
            </a:endParaRPr>
          </a:p>
          <a:p>
            <a:pPr indent="-317500" lvl="0" marL="457200" rtl="0" algn="just">
              <a:lnSpc>
                <a:spcPct val="115000"/>
              </a:lnSpc>
              <a:spcBef>
                <a:spcPts val="0"/>
              </a:spcBef>
              <a:spcAft>
                <a:spcPts val="0"/>
              </a:spcAft>
              <a:buClr>
                <a:srgbClr val="003E72"/>
              </a:buClr>
              <a:buSzPts val="1400"/>
              <a:buChar char="-"/>
            </a:pPr>
            <a:r>
              <a:rPr lang="en-GB">
                <a:solidFill>
                  <a:srgbClr val="003E72"/>
                </a:solidFill>
              </a:rPr>
              <a:t>Treated wastewater is increasingly reused to </a:t>
            </a:r>
            <a:r>
              <a:rPr lang="en-GB">
                <a:solidFill>
                  <a:srgbClr val="003E72"/>
                </a:solidFill>
              </a:rPr>
              <a:t>maintain</a:t>
            </a:r>
            <a:r>
              <a:rPr lang="en-GB">
                <a:solidFill>
                  <a:srgbClr val="003E72"/>
                </a:solidFill>
              </a:rPr>
              <a:t> sustainability</a:t>
            </a:r>
            <a:endParaRPr>
              <a:solidFill>
                <a:srgbClr val="003E72"/>
              </a:solidFill>
            </a:endParaRPr>
          </a:p>
          <a:p>
            <a:pPr indent="-317500" lvl="0" marL="457200" rtl="0" algn="just">
              <a:lnSpc>
                <a:spcPct val="115000"/>
              </a:lnSpc>
              <a:spcBef>
                <a:spcPts val="0"/>
              </a:spcBef>
              <a:spcAft>
                <a:spcPts val="0"/>
              </a:spcAft>
              <a:buClr>
                <a:srgbClr val="2B2B2B"/>
              </a:buClr>
              <a:buSzPts val="1400"/>
              <a:buChar char="-"/>
            </a:pPr>
            <a:r>
              <a:rPr lang="en-GB">
                <a:solidFill>
                  <a:schemeClr val="dk1"/>
                </a:solidFill>
              </a:rPr>
              <a:t>Antimicrobial resistance (AMR) is a growing global health threat wastewater is a key environmental reservoir and dispersal route for resistance gene</a:t>
            </a:r>
            <a:r>
              <a:rPr lang="en-GB">
                <a:solidFill>
                  <a:srgbClr val="2B2B2B"/>
                </a:solidFill>
              </a:rPr>
              <a:t>s</a:t>
            </a:r>
            <a:endParaRPr>
              <a:solidFill>
                <a:srgbClr val="003E72"/>
              </a:solidFill>
            </a:endParaRPr>
          </a:p>
          <a:p>
            <a:pPr indent="-317500" lvl="0" marL="457200" rtl="0" algn="just">
              <a:lnSpc>
                <a:spcPct val="115000"/>
              </a:lnSpc>
              <a:spcBef>
                <a:spcPts val="0"/>
              </a:spcBef>
              <a:spcAft>
                <a:spcPts val="0"/>
              </a:spcAft>
              <a:buClr>
                <a:schemeClr val="dk1"/>
              </a:buClr>
              <a:buSzPts val="1400"/>
              <a:buChar char="-"/>
            </a:pPr>
            <a:r>
              <a:rPr lang="en-GB">
                <a:solidFill>
                  <a:schemeClr val="dk1"/>
                </a:solidFill>
              </a:rPr>
              <a:t>Filtration reduces microbial load, but doesn't necessarily eliminate genetic material or the risk of multidrug-resistant (MDR) organisms surviving treatment</a:t>
            </a:r>
            <a:endParaRPr>
              <a:solidFill>
                <a:schemeClr val="dk1"/>
              </a:solidFill>
            </a:endParaRPr>
          </a:p>
          <a:p>
            <a:pPr indent="0" lvl="0" marL="457200" rtl="0" algn="just">
              <a:lnSpc>
                <a:spcPct val="115000"/>
              </a:lnSpc>
              <a:spcBef>
                <a:spcPts val="0"/>
              </a:spcBef>
              <a:spcAft>
                <a:spcPts val="0"/>
              </a:spcAft>
              <a:buNone/>
            </a:pPr>
            <a:r>
              <a:t/>
            </a:r>
            <a:endParaRPr>
              <a:solidFill>
                <a:srgbClr val="2B2B2B"/>
              </a:solidFill>
            </a:endParaRPr>
          </a:p>
        </p:txBody>
      </p:sp>
      <p:sp>
        <p:nvSpPr>
          <p:cNvPr id="331" name="Google Shape;331;p42"/>
          <p:cNvSpPr txBox="1"/>
          <p:nvPr/>
        </p:nvSpPr>
        <p:spPr>
          <a:xfrm>
            <a:off x="6744350" y="4181475"/>
            <a:ext cx="8880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u="sng">
                <a:solidFill>
                  <a:schemeClr val="hlink"/>
                </a:solidFill>
                <a:hlinkClick r:id="rId4"/>
              </a:rPr>
              <a:t>Reference</a:t>
            </a:r>
            <a:r>
              <a:rPr lang="en-GB" sz="2200">
                <a:solidFill>
                  <a:srgbClr val="003E72"/>
                </a:solidFill>
              </a:rPr>
              <a:t> </a:t>
            </a:r>
            <a:endParaRPr sz="2200">
              <a:solidFill>
                <a:srgbClr val="003E72"/>
              </a:solidFill>
            </a:endParaRPr>
          </a:p>
        </p:txBody>
      </p:sp>
      <p:pic>
        <p:nvPicPr>
          <p:cNvPr id="332" name="Google Shape;332;p42" title="4637d6a6-2aa9-48fd-88a9-1fdd5581f83c.png"/>
          <p:cNvPicPr preferRelativeResize="0"/>
          <p:nvPr/>
        </p:nvPicPr>
        <p:blipFill>
          <a:blip r:embed="rId5">
            <a:alphaModFix/>
          </a:blip>
          <a:stretch>
            <a:fillRect/>
          </a:stretch>
        </p:blipFill>
        <p:spPr>
          <a:xfrm>
            <a:off x="5475725" y="1215700"/>
            <a:ext cx="2998199" cy="31232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270000" y="104400"/>
            <a:ext cx="8421600" cy="7389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lang="en-GB" sz="2400"/>
              <a:t>Does Wastewater Treatment Reduce Antibiotic Resistance Genes Burden? </a:t>
            </a:r>
            <a:endParaRPr sz="2400"/>
          </a:p>
        </p:txBody>
      </p:sp>
      <p:sp>
        <p:nvSpPr>
          <p:cNvPr id="338" name="Google Shape;338;p43"/>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339" name="Google Shape;339;p43"/>
          <p:cNvSpPr txBox="1"/>
          <p:nvPr>
            <p:ph type="title"/>
          </p:nvPr>
        </p:nvSpPr>
        <p:spPr>
          <a:xfrm>
            <a:off x="399300" y="4711350"/>
            <a:ext cx="8421600" cy="3693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b="0" lang="en-GB" sz="2400"/>
              <a:t>Mada Hazazi</a:t>
            </a:r>
            <a:r>
              <a:rPr lang="en-GB" sz="2400"/>
              <a:t> </a:t>
            </a:r>
            <a:endParaRPr sz="2400"/>
          </a:p>
        </p:txBody>
      </p:sp>
      <p:sp>
        <p:nvSpPr>
          <p:cNvPr id="340" name="Google Shape;340;p43"/>
          <p:cNvSpPr txBox="1"/>
          <p:nvPr/>
        </p:nvSpPr>
        <p:spPr>
          <a:xfrm>
            <a:off x="8039100" y="412800"/>
            <a:ext cx="8880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u="sng">
                <a:solidFill>
                  <a:schemeClr val="hlink"/>
                </a:solidFill>
                <a:hlinkClick r:id="rId3"/>
              </a:rPr>
              <a:t>Reference</a:t>
            </a:r>
            <a:r>
              <a:rPr lang="en-GB" sz="2200">
                <a:solidFill>
                  <a:srgbClr val="003E72"/>
                </a:solidFill>
              </a:rPr>
              <a:t> </a:t>
            </a:r>
            <a:endParaRPr sz="2200">
              <a:solidFill>
                <a:srgbClr val="003E72"/>
              </a:solidFill>
            </a:endParaRPr>
          </a:p>
        </p:txBody>
      </p:sp>
      <p:sp>
        <p:nvSpPr>
          <p:cNvPr id="341" name="Google Shape;341;p43"/>
          <p:cNvSpPr txBox="1"/>
          <p:nvPr/>
        </p:nvSpPr>
        <p:spPr>
          <a:xfrm>
            <a:off x="162300" y="1122525"/>
            <a:ext cx="3000000" cy="431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GB" sz="1600">
                <a:solidFill>
                  <a:schemeClr val="dk1"/>
                </a:solidFill>
              </a:rPr>
              <a:t>Workflow </a:t>
            </a:r>
            <a:endParaRPr/>
          </a:p>
        </p:txBody>
      </p:sp>
      <p:pic>
        <p:nvPicPr>
          <p:cNvPr id="342" name="Google Shape;342;p43" title="acfbd2d5-748d-4139-bf41-68c386b3372f.png"/>
          <p:cNvPicPr preferRelativeResize="0"/>
          <p:nvPr/>
        </p:nvPicPr>
        <p:blipFill>
          <a:blip r:embed="rId4">
            <a:alphaModFix/>
          </a:blip>
          <a:stretch>
            <a:fillRect/>
          </a:stretch>
        </p:blipFill>
        <p:spPr>
          <a:xfrm>
            <a:off x="550300" y="1553625"/>
            <a:ext cx="7750999" cy="1120271"/>
          </a:xfrm>
          <a:prstGeom prst="rect">
            <a:avLst/>
          </a:prstGeom>
          <a:noFill/>
          <a:ln>
            <a:noFill/>
          </a:ln>
        </p:spPr>
      </p:pic>
      <p:graphicFrame>
        <p:nvGraphicFramePr>
          <p:cNvPr id="343" name="Google Shape;343;p43"/>
          <p:cNvGraphicFramePr/>
          <p:nvPr/>
        </p:nvGraphicFramePr>
        <p:xfrm>
          <a:off x="948150" y="2733600"/>
          <a:ext cx="3000000" cy="3000000"/>
        </p:xfrm>
        <a:graphic>
          <a:graphicData uri="http://schemas.openxmlformats.org/drawingml/2006/table">
            <a:tbl>
              <a:tblPr>
                <a:noFill/>
                <a:tableStyleId>{6DF0C976-91A3-4E69-B422-33E72BCD969C}</a:tableStyleId>
              </a:tblPr>
              <a:tblGrid>
                <a:gridCol w="2018675"/>
                <a:gridCol w="2018675"/>
              </a:tblGrid>
              <a:tr h="381000">
                <a:tc>
                  <a:txBody>
                    <a:bodyPr/>
                    <a:lstStyle/>
                    <a:p>
                      <a:pPr indent="0" lvl="0" marL="0" rtl="0" algn="ctr">
                        <a:spcBef>
                          <a:spcPts val="0"/>
                        </a:spcBef>
                        <a:spcAft>
                          <a:spcPts val="0"/>
                        </a:spcAft>
                        <a:buNone/>
                      </a:pPr>
                      <a:r>
                        <a:rPr lang="en-GB" sz="1100"/>
                        <a:t>Sample </a:t>
                      </a:r>
                      <a:endParaRPr sz="1100"/>
                    </a:p>
                  </a:txBody>
                  <a:tcPr marT="91425" marB="91425" marR="91425" marL="91425"/>
                </a:tc>
                <a:tc>
                  <a:txBody>
                    <a:bodyPr/>
                    <a:lstStyle/>
                    <a:p>
                      <a:pPr indent="0" lvl="0" marL="0" rtl="0" algn="ctr">
                        <a:spcBef>
                          <a:spcPts val="0"/>
                        </a:spcBef>
                        <a:spcAft>
                          <a:spcPts val="0"/>
                        </a:spcAft>
                        <a:buNone/>
                      </a:pPr>
                      <a:r>
                        <a:rPr lang="en-GB" sz="1100"/>
                        <a:t>6 (3 before treatment, 3 after treatment) </a:t>
                      </a:r>
                      <a:endParaRPr sz="1100"/>
                    </a:p>
                  </a:txBody>
                  <a:tcPr marT="91425" marB="91425" marR="91425" marL="91425"/>
                </a:tc>
              </a:tr>
              <a:tr h="381000">
                <a:tc>
                  <a:txBody>
                    <a:bodyPr/>
                    <a:lstStyle/>
                    <a:p>
                      <a:pPr indent="0" lvl="0" marL="0" rtl="0" algn="ctr">
                        <a:spcBef>
                          <a:spcPts val="0"/>
                        </a:spcBef>
                        <a:spcAft>
                          <a:spcPts val="0"/>
                        </a:spcAft>
                        <a:buNone/>
                      </a:pPr>
                      <a:r>
                        <a:rPr lang="en-GB" sz="1100"/>
                        <a:t>Genome bins </a:t>
                      </a:r>
                      <a:endParaRPr sz="1100"/>
                    </a:p>
                  </a:txBody>
                  <a:tcPr marT="91425" marB="91425" marR="91425" marL="91425"/>
                </a:tc>
                <a:tc>
                  <a:txBody>
                    <a:bodyPr/>
                    <a:lstStyle/>
                    <a:p>
                      <a:pPr indent="0" lvl="0" marL="0" rtl="0" algn="ctr">
                        <a:spcBef>
                          <a:spcPts val="0"/>
                        </a:spcBef>
                        <a:spcAft>
                          <a:spcPts val="0"/>
                        </a:spcAft>
                        <a:buNone/>
                      </a:pPr>
                      <a:r>
                        <a:rPr lang="en-GB" sz="1100"/>
                        <a:t>52</a:t>
                      </a:r>
                      <a:endParaRPr sz="1100"/>
                    </a:p>
                  </a:txBody>
                  <a:tcPr marT="91425" marB="91425" marR="91425" marL="91425"/>
                </a:tc>
              </a:tr>
              <a:tr h="381000">
                <a:tc>
                  <a:txBody>
                    <a:bodyPr/>
                    <a:lstStyle/>
                    <a:p>
                      <a:pPr indent="0" lvl="0" marL="0" rtl="0" algn="ctr">
                        <a:spcBef>
                          <a:spcPts val="0"/>
                        </a:spcBef>
                        <a:spcAft>
                          <a:spcPts val="0"/>
                        </a:spcAft>
                        <a:buNone/>
                      </a:pPr>
                      <a:r>
                        <a:rPr lang="en-GB" sz="1100"/>
                        <a:t>Genome bins passed quality filter</a:t>
                      </a:r>
                      <a:endParaRPr sz="1100"/>
                    </a:p>
                  </a:txBody>
                  <a:tcPr marT="91425" marB="91425" marR="91425" marL="91425"/>
                </a:tc>
                <a:tc>
                  <a:txBody>
                    <a:bodyPr/>
                    <a:lstStyle/>
                    <a:p>
                      <a:pPr indent="0" lvl="0" marL="0" rtl="0" algn="ctr">
                        <a:spcBef>
                          <a:spcPts val="0"/>
                        </a:spcBef>
                        <a:spcAft>
                          <a:spcPts val="0"/>
                        </a:spcAft>
                        <a:buNone/>
                      </a:pPr>
                      <a:r>
                        <a:rPr lang="en-GB" sz="1100"/>
                        <a:t>13</a:t>
                      </a:r>
                      <a:endParaRPr sz="1100"/>
                    </a:p>
                  </a:txBody>
                  <a:tcPr marT="91425" marB="91425" marR="91425" marL="91425"/>
                </a:tc>
              </a:tr>
              <a:tr h="381000">
                <a:tc>
                  <a:txBody>
                    <a:bodyPr/>
                    <a:lstStyle/>
                    <a:p>
                      <a:pPr indent="0" lvl="0" marL="0" rtl="0" algn="ctr">
                        <a:spcBef>
                          <a:spcPts val="0"/>
                        </a:spcBef>
                        <a:spcAft>
                          <a:spcPts val="0"/>
                        </a:spcAft>
                        <a:buNone/>
                      </a:pPr>
                      <a:r>
                        <a:rPr lang="en-GB" sz="1100"/>
                        <a:t>Bins with resistance gene</a:t>
                      </a:r>
                      <a:endParaRPr sz="1100"/>
                    </a:p>
                  </a:txBody>
                  <a:tcPr marT="91425" marB="91425" marR="91425" marL="91425"/>
                </a:tc>
                <a:tc>
                  <a:txBody>
                    <a:bodyPr/>
                    <a:lstStyle/>
                    <a:p>
                      <a:pPr indent="0" lvl="0" marL="0" rtl="0" algn="ctr">
                        <a:spcBef>
                          <a:spcPts val="0"/>
                        </a:spcBef>
                        <a:spcAft>
                          <a:spcPts val="0"/>
                        </a:spcAft>
                        <a:buNone/>
                      </a:pPr>
                      <a:r>
                        <a:rPr lang="en-GB" sz="1100"/>
                        <a:t>6</a:t>
                      </a:r>
                      <a:endParaRPr sz="1100"/>
                    </a:p>
                  </a:txBody>
                  <a:tcPr marT="91425" marB="91425" marR="91425" marL="91425"/>
                </a:tc>
              </a:tr>
            </a:tbl>
          </a:graphicData>
        </a:graphic>
      </p:graphicFrame>
      <p:pic>
        <p:nvPicPr>
          <p:cNvPr id="344" name="Google Shape;344;p43" title="fig4_bin_arg_count_barplot.png"/>
          <p:cNvPicPr preferRelativeResize="0"/>
          <p:nvPr/>
        </p:nvPicPr>
        <p:blipFill>
          <a:blip r:embed="rId5">
            <a:alphaModFix/>
          </a:blip>
          <a:stretch>
            <a:fillRect/>
          </a:stretch>
        </p:blipFill>
        <p:spPr>
          <a:xfrm>
            <a:off x="5400300" y="2690200"/>
            <a:ext cx="2742185" cy="19588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4"/>
          <p:cNvSpPr txBox="1"/>
          <p:nvPr>
            <p:ph type="title"/>
          </p:nvPr>
        </p:nvSpPr>
        <p:spPr>
          <a:xfrm>
            <a:off x="270000" y="104400"/>
            <a:ext cx="8421600" cy="7389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lang="en-GB" sz="2400"/>
              <a:t>Does Wastewater Treatment Reduce Antibiotic Resistance Genes Burden? </a:t>
            </a:r>
            <a:endParaRPr sz="2400"/>
          </a:p>
        </p:txBody>
      </p:sp>
      <p:sp>
        <p:nvSpPr>
          <p:cNvPr id="350" name="Google Shape;350;p44"/>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351" name="Google Shape;351;p44"/>
          <p:cNvSpPr txBox="1"/>
          <p:nvPr>
            <p:ph type="title"/>
          </p:nvPr>
        </p:nvSpPr>
        <p:spPr>
          <a:xfrm>
            <a:off x="399300" y="4711350"/>
            <a:ext cx="8421600" cy="369300"/>
          </a:xfrm>
          <a:prstGeom prst="rect">
            <a:avLst/>
          </a:prstGeom>
        </p:spPr>
        <p:txBody>
          <a:bodyPr anchorCtr="0" anchor="ctr" bIns="0" lIns="0" spcFirstLastPara="1" rIns="0" wrap="square" tIns="0">
            <a:spAutoFit/>
          </a:bodyPr>
          <a:lstStyle/>
          <a:p>
            <a:pPr indent="0" lvl="0" marL="0" rtl="0" algn="ctr">
              <a:spcBef>
                <a:spcPts val="0"/>
              </a:spcBef>
              <a:spcAft>
                <a:spcPts val="0"/>
              </a:spcAft>
              <a:buNone/>
            </a:pPr>
            <a:r>
              <a:rPr b="0" lang="en-GB" sz="2400"/>
              <a:t>Mada Hazazi</a:t>
            </a:r>
            <a:r>
              <a:rPr lang="en-GB" sz="2400"/>
              <a:t> </a:t>
            </a:r>
            <a:endParaRPr sz="2400"/>
          </a:p>
        </p:txBody>
      </p:sp>
      <p:sp>
        <p:nvSpPr>
          <p:cNvPr id="352" name="Google Shape;352;p44"/>
          <p:cNvSpPr txBox="1"/>
          <p:nvPr/>
        </p:nvSpPr>
        <p:spPr>
          <a:xfrm>
            <a:off x="8039100" y="412800"/>
            <a:ext cx="8880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u="sng">
                <a:solidFill>
                  <a:schemeClr val="hlink"/>
                </a:solidFill>
                <a:hlinkClick r:id="rId3"/>
              </a:rPr>
              <a:t>Reference</a:t>
            </a:r>
            <a:r>
              <a:rPr lang="en-GB" sz="2200">
                <a:solidFill>
                  <a:srgbClr val="003E72"/>
                </a:solidFill>
              </a:rPr>
              <a:t> </a:t>
            </a:r>
            <a:endParaRPr sz="2200">
              <a:solidFill>
                <a:srgbClr val="003E72"/>
              </a:solidFill>
            </a:endParaRPr>
          </a:p>
        </p:txBody>
      </p:sp>
      <p:sp>
        <p:nvSpPr>
          <p:cNvPr id="353" name="Google Shape;353;p44"/>
          <p:cNvSpPr txBox="1"/>
          <p:nvPr/>
        </p:nvSpPr>
        <p:spPr>
          <a:xfrm>
            <a:off x="162300" y="1368950"/>
            <a:ext cx="3976200" cy="1847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GB" sz="1600">
                <a:solidFill>
                  <a:schemeClr val="dk1"/>
                </a:solidFill>
              </a:rPr>
              <a:t>Key findings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en-GB" sz="1600">
                <a:solidFill>
                  <a:schemeClr val="dk1"/>
                </a:solidFill>
              </a:rPr>
              <a:t>0/4 post-treatment and 6/9 pre-treatment passed quality filter with a resistance genes</a:t>
            </a:r>
            <a:endParaRPr sz="1600">
              <a:solidFill>
                <a:schemeClr val="dk1"/>
              </a:solidFill>
            </a:endParaRPr>
          </a:p>
          <a:p>
            <a:pPr indent="-330200" lvl="0" marL="457200" rtl="0" algn="just">
              <a:lnSpc>
                <a:spcPct val="115000"/>
              </a:lnSpc>
              <a:spcBef>
                <a:spcPts val="0"/>
              </a:spcBef>
              <a:spcAft>
                <a:spcPts val="0"/>
              </a:spcAft>
              <a:buClr>
                <a:schemeClr val="dk1"/>
              </a:buClr>
              <a:buSzPts val="1600"/>
              <a:buChar char="-"/>
            </a:pPr>
            <a:r>
              <a:rPr lang="en-GB" sz="1600">
                <a:solidFill>
                  <a:schemeClr val="dk1"/>
                </a:solidFill>
              </a:rPr>
              <a:t>2/6 genes shows multidrug resistance </a:t>
            </a:r>
            <a:r>
              <a:rPr lang="en-GB" sz="1600">
                <a:solidFill>
                  <a:schemeClr val="dk1"/>
                </a:solidFill>
              </a:rPr>
              <a:t>pattern</a:t>
            </a:r>
            <a:r>
              <a:rPr lang="en-GB" sz="1600">
                <a:solidFill>
                  <a:schemeClr val="dk1"/>
                </a:solidFill>
              </a:rPr>
              <a:t> </a:t>
            </a:r>
            <a:endParaRPr sz="1600">
              <a:solidFill>
                <a:schemeClr val="dk1"/>
              </a:solidFill>
            </a:endParaRPr>
          </a:p>
        </p:txBody>
      </p:sp>
      <p:pic>
        <p:nvPicPr>
          <p:cNvPr id="354" name="Google Shape;354;p44" title="Screenshot 2026-08-06 at 12.12.17 PM.png"/>
          <p:cNvPicPr preferRelativeResize="0"/>
          <p:nvPr/>
        </p:nvPicPr>
        <p:blipFill>
          <a:blip r:embed="rId4">
            <a:alphaModFix/>
          </a:blip>
          <a:stretch>
            <a:fillRect/>
          </a:stretch>
        </p:blipFill>
        <p:spPr>
          <a:xfrm>
            <a:off x="4317150" y="1138500"/>
            <a:ext cx="4700702" cy="33853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txBox="1"/>
          <p:nvPr>
            <p:ph type="title"/>
          </p:nvPr>
        </p:nvSpPr>
        <p:spPr>
          <a:xfrm>
            <a:off x="270000" y="160425"/>
            <a:ext cx="8604000" cy="755700"/>
          </a:xfrm>
          <a:prstGeom prst="rect">
            <a:avLst/>
          </a:prstGeom>
        </p:spPr>
        <p:txBody>
          <a:bodyPr anchorCtr="0" anchor="ctr" bIns="0" lIns="0" spcFirstLastPara="1" rIns="0" wrap="square" tIns="0">
            <a:spAutoFit/>
          </a:bodyPr>
          <a:lstStyle/>
          <a:p>
            <a:pPr indent="0" lvl="0" marL="0" rtl="0" algn="ctr">
              <a:lnSpc>
                <a:spcPct val="103636"/>
              </a:lnSpc>
              <a:spcBef>
                <a:spcPts val="0"/>
              </a:spcBef>
              <a:spcAft>
                <a:spcPts val="0"/>
              </a:spcAft>
              <a:buNone/>
            </a:pPr>
            <a:r>
              <a:rPr lang="en-GB" sz="1500">
                <a:solidFill>
                  <a:schemeClr val="lt1"/>
                </a:solidFill>
              </a:rPr>
              <a:t>How does the gut microbiome change across the adenoma–carcinoma sequence, and which microbial signatures distinguish healthy, adenoma and colorectal cancer patients?</a:t>
            </a:r>
            <a:endParaRPr sz="1500">
              <a:solidFill>
                <a:schemeClr val="lt1"/>
              </a:solidFill>
            </a:endParaRPr>
          </a:p>
          <a:p>
            <a:pPr indent="0" lvl="0" marL="0" rtl="0" algn="l">
              <a:spcBef>
                <a:spcPts val="0"/>
              </a:spcBef>
              <a:spcAft>
                <a:spcPts val="0"/>
              </a:spcAft>
              <a:buNone/>
            </a:pPr>
            <a:r>
              <a:t/>
            </a:r>
            <a:endParaRPr sz="1800">
              <a:solidFill>
                <a:schemeClr val="lt1"/>
              </a:solidFill>
            </a:endParaRPr>
          </a:p>
        </p:txBody>
      </p:sp>
      <p:sp>
        <p:nvSpPr>
          <p:cNvPr id="360" name="Google Shape;360;p45"/>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361" name="Google Shape;361;p45"/>
          <p:cNvSpPr txBox="1"/>
          <p:nvPr/>
        </p:nvSpPr>
        <p:spPr>
          <a:xfrm>
            <a:off x="592700" y="4705175"/>
            <a:ext cx="8672700" cy="678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050">
                <a:solidFill>
                  <a:schemeClr val="lt1"/>
                </a:solidFill>
              </a:rPr>
              <a:t>Fadia Ashmawi </a:t>
            </a:r>
            <a:r>
              <a:rPr lang="en-GB" sz="1050">
                <a:solidFill>
                  <a:schemeClr val="lt1"/>
                </a:solidFill>
              </a:rPr>
              <a:t> (Re-analysis of Baxter et al. (2016) </a:t>
            </a:r>
            <a:r>
              <a:rPr i="1" lang="en-GB" sz="1050">
                <a:solidFill>
                  <a:schemeClr val="lt1"/>
                </a:solidFill>
              </a:rPr>
              <a:t>Genome Medicine</a:t>
            </a:r>
            <a:r>
              <a:rPr lang="en-GB" sz="1050">
                <a:solidFill>
                  <a:schemeClr val="lt1"/>
                </a:solidFill>
              </a:rPr>
              <a:t> 8:37- 490 stool samples, 16S rRNA V4)</a:t>
            </a:r>
            <a:endParaRPr sz="1050">
              <a:solidFill>
                <a:schemeClr val="lt1"/>
              </a:solidFill>
            </a:endParaRPr>
          </a:p>
          <a:p>
            <a:pPr indent="0" lvl="0" marL="0" rtl="0" algn="ctr">
              <a:spcBef>
                <a:spcPts val="0"/>
              </a:spcBef>
              <a:spcAft>
                <a:spcPts val="0"/>
              </a:spcAft>
              <a:buNone/>
            </a:pPr>
            <a:r>
              <a:t/>
            </a:r>
            <a:endParaRPr sz="2000">
              <a:solidFill>
                <a:schemeClr val="lt1"/>
              </a:solidFill>
            </a:endParaRPr>
          </a:p>
        </p:txBody>
      </p:sp>
      <p:pic>
        <p:nvPicPr>
          <p:cNvPr id="362" name="Google Shape;362;p45"/>
          <p:cNvPicPr preferRelativeResize="0"/>
          <p:nvPr/>
        </p:nvPicPr>
        <p:blipFill>
          <a:blip r:embed="rId3">
            <a:alphaModFix/>
          </a:blip>
          <a:stretch>
            <a:fillRect/>
          </a:stretch>
        </p:blipFill>
        <p:spPr>
          <a:xfrm>
            <a:off x="308100" y="1139750"/>
            <a:ext cx="8604001" cy="2448687"/>
          </a:xfrm>
          <a:prstGeom prst="rect">
            <a:avLst/>
          </a:prstGeom>
          <a:noFill/>
          <a:ln>
            <a:noFill/>
          </a:ln>
        </p:spPr>
      </p:pic>
      <p:pic>
        <p:nvPicPr>
          <p:cNvPr id="363" name="Google Shape;363;p45"/>
          <p:cNvPicPr preferRelativeResize="0"/>
          <p:nvPr/>
        </p:nvPicPr>
        <p:blipFill>
          <a:blip r:embed="rId4">
            <a:alphaModFix/>
          </a:blip>
          <a:stretch>
            <a:fillRect/>
          </a:stretch>
        </p:blipFill>
        <p:spPr>
          <a:xfrm>
            <a:off x="487875" y="3704250"/>
            <a:ext cx="8092039" cy="816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270000" y="160425"/>
            <a:ext cx="8604000" cy="755700"/>
          </a:xfrm>
          <a:prstGeom prst="rect">
            <a:avLst/>
          </a:prstGeom>
        </p:spPr>
        <p:txBody>
          <a:bodyPr anchorCtr="0" anchor="ctr" bIns="0" lIns="0" spcFirstLastPara="1" rIns="0" wrap="square" tIns="0">
            <a:spAutoFit/>
          </a:bodyPr>
          <a:lstStyle/>
          <a:p>
            <a:pPr indent="0" lvl="0" marL="0" rtl="0" algn="ctr">
              <a:lnSpc>
                <a:spcPct val="103636"/>
              </a:lnSpc>
              <a:spcBef>
                <a:spcPts val="0"/>
              </a:spcBef>
              <a:spcAft>
                <a:spcPts val="0"/>
              </a:spcAft>
              <a:buNone/>
            </a:pPr>
            <a:r>
              <a:rPr lang="en-GB" sz="1500">
                <a:solidFill>
                  <a:schemeClr val="lt1"/>
                </a:solidFill>
              </a:rPr>
              <a:t>How does the gut microbiome change across the adenoma–carcinoma sequence, and which microbial signatures distinguish healthy, adenoma and colorectal cancer patients?</a:t>
            </a:r>
            <a:endParaRPr sz="1500">
              <a:solidFill>
                <a:schemeClr val="lt1"/>
              </a:solidFill>
            </a:endParaRPr>
          </a:p>
          <a:p>
            <a:pPr indent="0" lvl="0" marL="0" rtl="0" algn="l">
              <a:spcBef>
                <a:spcPts val="0"/>
              </a:spcBef>
              <a:spcAft>
                <a:spcPts val="0"/>
              </a:spcAft>
              <a:buNone/>
            </a:pPr>
            <a:r>
              <a:t/>
            </a:r>
            <a:endParaRPr sz="1800">
              <a:solidFill>
                <a:schemeClr val="lt1"/>
              </a:solidFill>
            </a:endParaRPr>
          </a:p>
        </p:txBody>
      </p:sp>
      <p:sp>
        <p:nvSpPr>
          <p:cNvPr id="369" name="Google Shape;369;p46"/>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370" name="Google Shape;370;p46"/>
          <p:cNvSpPr txBox="1"/>
          <p:nvPr/>
        </p:nvSpPr>
        <p:spPr>
          <a:xfrm>
            <a:off x="592700" y="4705175"/>
            <a:ext cx="8672700" cy="678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050">
                <a:solidFill>
                  <a:schemeClr val="lt1"/>
                </a:solidFill>
              </a:rPr>
              <a:t>Fadia Ashmawi </a:t>
            </a:r>
            <a:r>
              <a:rPr lang="en-GB" sz="1050">
                <a:solidFill>
                  <a:schemeClr val="lt1"/>
                </a:solidFill>
              </a:rPr>
              <a:t> (Re-analysis of Baxter et al. (2016) </a:t>
            </a:r>
            <a:r>
              <a:rPr i="1" lang="en-GB" sz="1050">
                <a:solidFill>
                  <a:schemeClr val="lt1"/>
                </a:solidFill>
              </a:rPr>
              <a:t>Genome Medicine</a:t>
            </a:r>
            <a:r>
              <a:rPr lang="en-GB" sz="1050">
                <a:solidFill>
                  <a:schemeClr val="lt1"/>
                </a:solidFill>
              </a:rPr>
              <a:t> 8:37- 490 stool samples, 16S rRNA V4)</a:t>
            </a:r>
            <a:endParaRPr sz="1050">
              <a:solidFill>
                <a:schemeClr val="lt1"/>
              </a:solidFill>
            </a:endParaRPr>
          </a:p>
          <a:p>
            <a:pPr indent="0" lvl="0" marL="0" rtl="0" algn="ctr">
              <a:spcBef>
                <a:spcPts val="0"/>
              </a:spcBef>
              <a:spcAft>
                <a:spcPts val="0"/>
              </a:spcAft>
              <a:buNone/>
            </a:pPr>
            <a:r>
              <a:t/>
            </a:r>
            <a:endParaRPr sz="2000">
              <a:solidFill>
                <a:schemeClr val="lt1"/>
              </a:solidFill>
            </a:endParaRPr>
          </a:p>
        </p:txBody>
      </p:sp>
      <p:sp>
        <p:nvSpPr>
          <p:cNvPr id="371" name="Google Shape;371;p46"/>
          <p:cNvSpPr txBox="1"/>
          <p:nvPr/>
        </p:nvSpPr>
        <p:spPr>
          <a:xfrm>
            <a:off x="857250" y="1827600"/>
            <a:ext cx="3146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rgbClr val="003E72"/>
              </a:solidFill>
            </a:endParaRPr>
          </a:p>
        </p:txBody>
      </p:sp>
      <p:sp>
        <p:nvSpPr>
          <p:cNvPr id="372" name="Google Shape;372;p46"/>
          <p:cNvSpPr txBox="1"/>
          <p:nvPr/>
        </p:nvSpPr>
        <p:spPr>
          <a:xfrm>
            <a:off x="1089450" y="4088263"/>
            <a:ext cx="6965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GB" sz="1100" u="sng">
                <a:solidFill>
                  <a:srgbClr val="232323"/>
                </a:solidFill>
              </a:rPr>
              <a:t>They used random-forest importance inside a classifier. I used a negative-binomial GLM with FDR control. Two unrelated methods, the same five organisms — which is stronger evidence than either alone.</a:t>
            </a:r>
            <a:endParaRPr i="1" sz="1000" u="sng">
              <a:solidFill>
                <a:srgbClr val="003E72"/>
              </a:solidFill>
            </a:endParaRPr>
          </a:p>
        </p:txBody>
      </p:sp>
      <p:graphicFrame>
        <p:nvGraphicFramePr>
          <p:cNvPr id="373" name="Google Shape;373;p46"/>
          <p:cNvGraphicFramePr/>
          <p:nvPr/>
        </p:nvGraphicFramePr>
        <p:xfrm>
          <a:off x="4864800" y="1158538"/>
          <a:ext cx="3000000" cy="3000000"/>
        </p:xfrm>
        <a:graphic>
          <a:graphicData uri="http://schemas.openxmlformats.org/drawingml/2006/table">
            <a:tbl>
              <a:tblPr>
                <a:noFill/>
                <a:tableStyleId>{2A2AA0BF-2830-4A47-AD1E-6B70793499B2}</a:tableStyleId>
              </a:tblPr>
              <a:tblGrid>
                <a:gridCol w="1023950"/>
                <a:gridCol w="1055700"/>
                <a:gridCol w="1158400"/>
                <a:gridCol w="833000"/>
              </a:tblGrid>
              <a:tr h="258075">
                <a:tc>
                  <a:txBody>
                    <a:bodyPr/>
                    <a:lstStyle/>
                    <a:p>
                      <a:pPr indent="0" lvl="0" marL="0" rtl="0" algn="ctr">
                        <a:lnSpc>
                          <a:spcPct val="115000"/>
                        </a:lnSpc>
                        <a:spcBef>
                          <a:spcPts val="0"/>
                        </a:spcBef>
                        <a:spcAft>
                          <a:spcPts val="0"/>
                        </a:spcAft>
                        <a:buNone/>
                      </a:pPr>
                      <a:r>
                        <a:rPr b="1" i="1" lang="en-GB" sz="750" u="sng">
                          <a:solidFill>
                            <a:srgbClr val="FFFFFF"/>
                          </a:solidFill>
                        </a:rPr>
                        <a:t>Genre</a:t>
                      </a:r>
                      <a:endParaRPr b="1" i="1" sz="750" u="sng">
                        <a:solidFill>
                          <a:srgbClr val="FFFFFF"/>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rgbClr val="12283F"/>
                    </a:solidFill>
                  </a:tcPr>
                </a:tc>
                <a:tc>
                  <a:txBody>
                    <a:bodyPr/>
                    <a:lstStyle/>
                    <a:p>
                      <a:pPr indent="0" lvl="0" marL="0" rtl="0" algn="ctr">
                        <a:lnSpc>
                          <a:spcPct val="115000"/>
                        </a:lnSpc>
                        <a:spcBef>
                          <a:spcPts val="0"/>
                        </a:spcBef>
                        <a:spcAft>
                          <a:spcPts val="0"/>
                        </a:spcAft>
                        <a:buNone/>
                      </a:pPr>
                      <a:r>
                        <a:rPr b="1" i="1" lang="en-GB" sz="750" u="sng">
                          <a:solidFill>
                            <a:srgbClr val="FFFFFF"/>
                          </a:solidFill>
                        </a:rPr>
                        <a:t>Baxter et al.</a:t>
                      </a:r>
                      <a:endParaRPr b="1" i="1" sz="750" u="sng">
                        <a:solidFill>
                          <a:srgbClr val="FFFFFF"/>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rgbClr val="12283F"/>
                    </a:solidFill>
                  </a:tcPr>
                </a:tc>
                <a:tc>
                  <a:txBody>
                    <a:bodyPr/>
                    <a:lstStyle/>
                    <a:p>
                      <a:pPr indent="0" lvl="0" marL="0" rtl="0" algn="ctr">
                        <a:lnSpc>
                          <a:spcPct val="115000"/>
                        </a:lnSpc>
                        <a:spcBef>
                          <a:spcPts val="0"/>
                        </a:spcBef>
                        <a:spcAft>
                          <a:spcPts val="0"/>
                        </a:spcAft>
                        <a:buNone/>
                      </a:pPr>
                      <a:r>
                        <a:rPr b="1" i="1" lang="en-GB" sz="750" u="sng">
                          <a:solidFill>
                            <a:srgbClr val="FFFFFF"/>
                          </a:solidFill>
                        </a:rPr>
                        <a:t>This work</a:t>
                      </a:r>
                      <a:endParaRPr b="1" i="1" sz="750" u="sng">
                        <a:solidFill>
                          <a:srgbClr val="FFFFFF"/>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rgbClr val="12283F"/>
                    </a:solidFill>
                  </a:tcPr>
                </a:tc>
                <a:tc>
                  <a:txBody>
                    <a:bodyPr/>
                    <a:lstStyle/>
                    <a:p>
                      <a:pPr indent="0" lvl="0" marL="0" rtl="0" algn="ctr">
                        <a:lnSpc>
                          <a:spcPct val="115000"/>
                        </a:lnSpc>
                        <a:spcBef>
                          <a:spcPts val="0"/>
                        </a:spcBef>
                        <a:spcAft>
                          <a:spcPts val="0"/>
                        </a:spcAft>
                        <a:buNone/>
                      </a:pPr>
                      <a:r>
                        <a:rPr b="1" i="1" lang="en-GB" sz="750" u="sng">
                          <a:solidFill>
                            <a:srgbClr val="FFFFFF"/>
                          </a:solidFill>
                        </a:rPr>
                        <a:t>Replication</a:t>
                      </a:r>
                      <a:endParaRPr b="1" i="1" sz="750" u="sng">
                        <a:solidFill>
                          <a:srgbClr val="FFFFFF"/>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rgbClr val="12283F"/>
                    </a:solidFill>
                  </a:tcPr>
                </a:tc>
              </a:tr>
              <a:tr h="247625">
                <a:tc>
                  <a:txBody>
                    <a:bodyPr/>
                    <a:lstStyle/>
                    <a:p>
                      <a:pPr indent="0" lvl="0" marL="0" rtl="0" algn="l">
                        <a:lnSpc>
                          <a:spcPct val="115000"/>
                        </a:lnSpc>
                        <a:spcBef>
                          <a:spcPts val="0"/>
                        </a:spcBef>
                        <a:spcAft>
                          <a:spcPts val="0"/>
                        </a:spcAft>
                        <a:buNone/>
                      </a:pPr>
                      <a:r>
                        <a:rPr b="1" lang="en-GB" sz="800">
                          <a:solidFill>
                            <a:srgbClr val="232323"/>
                          </a:solidFill>
                        </a:rPr>
                        <a:t>Cohort</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172 / 198 / 120</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172 / 198 / 120</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1B9E77"/>
                          </a:solidFill>
                        </a:rPr>
                        <a:t>Exact</a:t>
                      </a:r>
                      <a:endParaRPr b="1" sz="800">
                        <a:solidFill>
                          <a:srgbClr val="1B9E77"/>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247625">
                <a:tc>
                  <a:txBody>
                    <a:bodyPr/>
                    <a:lstStyle/>
                    <a:p>
                      <a:pPr indent="0" lvl="0" marL="0" rtl="0" algn="l">
                        <a:lnSpc>
                          <a:spcPct val="115000"/>
                        </a:lnSpc>
                        <a:spcBef>
                          <a:spcPts val="0"/>
                        </a:spcBef>
                        <a:spcAft>
                          <a:spcPts val="0"/>
                        </a:spcAft>
                        <a:buNone/>
                      </a:pPr>
                      <a:r>
                        <a:rPr b="1" lang="en-GB" sz="800">
                          <a:solidFill>
                            <a:srgbClr val="232323"/>
                          </a:solidFill>
                        </a:rPr>
                        <a:t>Age, median</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60 (29–89)</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60 (29–89)</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1B9E77"/>
                          </a:solidFill>
                        </a:rPr>
                        <a:t>Exact</a:t>
                      </a:r>
                      <a:endParaRPr b="1" sz="800">
                        <a:solidFill>
                          <a:srgbClr val="1B9E77"/>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247625">
                <a:tc>
                  <a:txBody>
                    <a:bodyPr/>
                    <a:lstStyle/>
                    <a:p>
                      <a:pPr indent="0" lvl="0" marL="0" rtl="0" algn="l">
                        <a:lnSpc>
                          <a:spcPct val="115000"/>
                        </a:lnSpc>
                        <a:spcBef>
                          <a:spcPts val="0"/>
                        </a:spcBef>
                        <a:spcAft>
                          <a:spcPts val="0"/>
                        </a:spcAft>
                        <a:buNone/>
                      </a:pPr>
                      <a:r>
                        <a:rPr b="1" lang="en-GB" sz="800">
                          <a:solidFill>
                            <a:srgbClr val="232323"/>
                          </a:solidFill>
                        </a:rPr>
                        <a:t>FIT-positive</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75.0 / 15.7 / 2.9%</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75.0 / 15.7 / 2.9%</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1B9E77"/>
                          </a:solidFill>
                        </a:rPr>
                        <a:t>Exact</a:t>
                      </a:r>
                      <a:endParaRPr b="1" sz="800">
                        <a:solidFill>
                          <a:srgbClr val="1B9E77"/>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247625">
                <a:tc>
                  <a:txBody>
                    <a:bodyPr/>
                    <a:lstStyle/>
                    <a:p>
                      <a:pPr indent="0" lvl="0" marL="0" rtl="0" algn="l">
                        <a:lnSpc>
                          <a:spcPct val="115000"/>
                        </a:lnSpc>
                        <a:spcBef>
                          <a:spcPts val="0"/>
                        </a:spcBef>
                        <a:spcAft>
                          <a:spcPts val="0"/>
                        </a:spcAft>
                        <a:buNone/>
                      </a:pPr>
                      <a:r>
                        <a:rPr b="1" lang="en-GB" sz="800">
                          <a:solidFill>
                            <a:srgbClr val="232323"/>
                          </a:solidFill>
                        </a:rPr>
                        <a:t>CRC genera</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6 named</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5 of 6 recovered</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1B9E77"/>
                          </a:solidFill>
                        </a:rPr>
                        <a:t>Strong</a:t>
                      </a:r>
                      <a:endParaRPr b="1" sz="800">
                        <a:solidFill>
                          <a:srgbClr val="1B9E77"/>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247625">
                <a:tc>
                  <a:txBody>
                    <a:bodyPr/>
                    <a:lstStyle/>
                    <a:p>
                      <a:pPr indent="0" lvl="0" marL="0" rtl="0" algn="l">
                        <a:lnSpc>
                          <a:spcPct val="115000"/>
                        </a:lnSpc>
                        <a:spcBef>
                          <a:spcPts val="0"/>
                        </a:spcBef>
                        <a:spcAft>
                          <a:spcPts val="0"/>
                        </a:spcAft>
                        <a:buNone/>
                      </a:pPr>
                      <a:r>
                        <a:rPr b="1" lang="en-GB" sz="800">
                          <a:solidFill>
                            <a:srgbClr val="232323"/>
                          </a:solidFill>
                        </a:rPr>
                        <a:t>Method</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Random forest</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Neg-binomial GLM</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1B9E77"/>
                          </a:solidFill>
                        </a:rPr>
                        <a:t>Independent</a:t>
                      </a:r>
                      <a:endParaRPr b="1" sz="800">
                        <a:solidFill>
                          <a:srgbClr val="1B9E77"/>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383625">
                <a:tc>
                  <a:txBody>
                    <a:bodyPr/>
                    <a:lstStyle/>
                    <a:p>
                      <a:pPr indent="0" lvl="0" marL="0" rtl="0" algn="l">
                        <a:lnSpc>
                          <a:spcPct val="115000"/>
                        </a:lnSpc>
                        <a:spcBef>
                          <a:spcPts val="0"/>
                        </a:spcBef>
                        <a:spcAft>
                          <a:spcPts val="0"/>
                        </a:spcAft>
                        <a:buNone/>
                      </a:pPr>
                      <a:r>
                        <a:rPr b="1" lang="en-GB" sz="800">
                          <a:solidFill>
                            <a:srgbClr val="232323"/>
                          </a:solidFill>
                        </a:rPr>
                        <a:t>Lachnospiraceae</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Enriched in normals</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Family flat; 3 genera down</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B26B00"/>
                          </a:solidFill>
                        </a:rPr>
                        <a:t>Partial</a:t>
                      </a:r>
                      <a:endParaRPr b="1" sz="800">
                        <a:solidFill>
                          <a:srgbClr val="B26B00"/>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247625">
                <a:tc>
                  <a:txBody>
                    <a:bodyPr/>
                    <a:lstStyle/>
                    <a:p>
                      <a:pPr indent="0" lvl="0" marL="0" rtl="0" algn="l">
                        <a:lnSpc>
                          <a:spcPct val="115000"/>
                        </a:lnSpc>
                        <a:spcBef>
                          <a:spcPts val="0"/>
                        </a:spcBef>
                        <a:spcAft>
                          <a:spcPts val="0"/>
                        </a:spcAft>
                        <a:buNone/>
                      </a:pPr>
                      <a:r>
                        <a:rPr b="1" lang="en-GB" sz="800">
                          <a:solidFill>
                            <a:srgbClr val="232323"/>
                          </a:solidFill>
                        </a:rPr>
                        <a:t>Effect of sex</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p = 0.07</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p = 0.013, R² = 0.004</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B26B00"/>
                          </a:solidFill>
                        </a:rPr>
                        <a:t>Both tiny</a:t>
                      </a:r>
                      <a:endParaRPr b="1" sz="800">
                        <a:solidFill>
                          <a:srgbClr val="B26B00"/>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383625">
                <a:tc>
                  <a:txBody>
                    <a:bodyPr/>
                    <a:lstStyle/>
                    <a:p>
                      <a:pPr indent="0" lvl="0" marL="0" rtl="0" algn="l">
                        <a:lnSpc>
                          <a:spcPct val="115000"/>
                        </a:lnSpc>
                        <a:spcBef>
                          <a:spcPts val="0"/>
                        </a:spcBef>
                        <a:spcAft>
                          <a:spcPts val="0"/>
                        </a:spcAft>
                        <a:buNone/>
                      </a:pPr>
                      <a:r>
                        <a:rPr b="1" lang="en-GB" sz="800">
                          <a:solidFill>
                            <a:srgbClr val="232323"/>
                          </a:solidFill>
                        </a:rPr>
                        <a:t>Prevotella</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One OTU enriched</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Genus: not significant</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B2182B"/>
                          </a:solidFill>
                        </a:rPr>
                        <a:t>Not recovered</a:t>
                      </a:r>
                      <a:endParaRPr b="1" sz="800">
                        <a:solidFill>
                          <a:srgbClr val="B2182B"/>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r h="247625">
                <a:tc>
                  <a:txBody>
                    <a:bodyPr/>
                    <a:lstStyle/>
                    <a:p>
                      <a:pPr indent="0" lvl="0" marL="0" rtl="0" algn="l">
                        <a:lnSpc>
                          <a:spcPct val="115000"/>
                        </a:lnSpc>
                        <a:spcBef>
                          <a:spcPts val="0"/>
                        </a:spcBef>
                        <a:spcAft>
                          <a:spcPts val="0"/>
                        </a:spcAft>
                        <a:buNone/>
                      </a:pPr>
                      <a:r>
                        <a:rPr b="1" lang="en-GB" sz="800">
                          <a:solidFill>
                            <a:srgbClr val="232323"/>
                          </a:solidFill>
                        </a:rPr>
                        <a:t>Alpha diversity</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GB" sz="800">
                          <a:solidFill>
                            <a:srgbClr val="232323"/>
                          </a:solidFill>
                        </a:rPr>
                        <a:t>Not reported</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232323"/>
                          </a:solidFill>
                        </a:rPr>
                        <a:t>Chao1 p = 7.8 × 10⁻⁷</a:t>
                      </a:r>
                      <a:endParaRPr b="1" sz="800">
                        <a:solidFill>
                          <a:srgbClr val="232323"/>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solidFill>
                            <a:srgbClr val="1B9E77"/>
                          </a:solidFill>
                        </a:rPr>
                        <a:t>New</a:t>
                      </a:r>
                      <a:endParaRPr b="1" sz="800">
                        <a:solidFill>
                          <a:srgbClr val="1B9E77"/>
                        </a:solidFill>
                      </a:endParaRPr>
                    </a:p>
                  </a:txBody>
                  <a:tcPr marT="50800" marB="50800" marR="50800" marL="50800" anchor="ctr">
                    <a:lnL cap="flat" cmpd="sng" w="6350">
                      <a:solidFill>
                        <a:srgbClr val="DFE4E8"/>
                      </a:solidFill>
                      <a:prstDash val="solid"/>
                      <a:round/>
                      <a:headEnd len="sm" w="sm" type="none"/>
                      <a:tailEnd len="sm" w="sm" type="none"/>
                    </a:lnL>
                    <a:lnR cap="flat" cmpd="sng" w="6350">
                      <a:solidFill>
                        <a:srgbClr val="DFE4E8"/>
                      </a:solidFill>
                      <a:prstDash val="solid"/>
                      <a:round/>
                      <a:headEnd len="sm" w="sm" type="none"/>
                      <a:tailEnd len="sm" w="sm" type="none"/>
                    </a:lnR>
                    <a:lnT cap="flat" cmpd="sng" w="6350">
                      <a:solidFill>
                        <a:srgbClr val="DFE4E8"/>
                      </a:solidFill>
                      <a:prstDash val="solid"/>
                      <a:round/>
                      <a:headEnd len="sm" w="sm" type="none"/>
                      <a:tailEnd len="sm" w="sm" type="none"/>
                    </a:lnT>
                    <a:lnB cap="flat" cmpd="sng" w="6350">
                      <a:solidFill>
                        <a:srgbClr val="DFE4E8"/>
                      </a:solidFill>
                      <a:prstDash val="solid"/>
                      <a:round/>
                      <a:headEnd len="sm" w="sm" type="none"/>
                      <a:tailEnd len="sm" w="sm" type="none"/>
                    </a:lnB>
                  </a:tcPr>
                </a:tc>
              </a:tr>
            </a:tbl>
          </a:graphicData>
        </a:graphic>
      </p:graphicFrame>
      <p:pic>
        <p:nvPicPr>
          <p:cNvPr id="374" name="Google Shape;374;p46" title="FIG4_paper_comparison.png"/>
          <p:cNvPicPr preferRelativeResize="0"/>
          <p:nvPr/>
        </p:nvPicPr>
        <p:blipFill>
          <a:blip r:embed="rId3">
            <a:alphaModFix/>
          </a:blip>
          <a:stretch>
            <a:fillRect/>
          </a:stretch>
        </p:blipFill>
        <p:spPr>
          <a:xfrm>
            <a:off x="0" y="1088700"/>
            <a:ext cx="4792248" cy="2905876"/>
          </a:xfrm>
          <a:prstGeom prst="rect">
            <a:avLst/>
          </a:prstGeom>
          <a:noFill/>
          <a:ln>
            <a:noFill/>
          </a:ln>
        </p:spPr>
      </p:pic>
      <p:sp>
        <p:nvSpPr>
          <p:cNvPr id="375" name="Google Shape;375;p46"/>
          <p:cNvSpPr/>
          <p:nvPr/>
        </p:nvSpPr>
        <p:spPr>
          <a:xfrm>
            <a:off x="500075" y="1137050"/>
            <a:ext cx="3315900" cy="2859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46"/>
          <p:cNvSpPr txBox="1"/>
          <p:nvPr/>
        </p:nvSpPr>
        <p:spPr>
          <a:xfrm>
            <a:off x="367950" y="1194863"/>
            <a:ext cx="43695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100">
                <a:solidFill>
                  <a:srgbClr val="2B2B2B"/>
                </a:solidFill>
              </a:rPr>
              <a:t>Reproduction of Baxter et al. (2016) CRC-associated genera</a:t>
            </a:r>
            <a:endParaRPr b="1" sz="1100">
              <a:solidFill>
                <a:srgbClr val="2B2B2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7"/>
          <p:cNvSpPr txBox="1"/>
          <p:nvPr>
            <p:ph type="title"/>
          </p:nvPr>
        </p:nvSpPr>
        <p:spPr>
          <a:xfrm>
            <a:off x="270000" y="160425"/>
            <a:ext cx="8604000" cy="755700"/>
          </a:xfrm>
          <a:prstGeom prst="rect">
            <a:avLst/>
          </a:prstGeom>
        </p:spPr>
        <p:txBody>
          <a:bodyPr anchorCtr="0" anchor="ctr" bIns="0" lIns="0" spcFirstLastPara="1" rIns="0" wrap="square" tIns="0">
            <a:spAutoFit/>
          </a:bodyPr>
          <a:lstStyle/>
          <a:p>
            <a:pPr indent="0" lvl="0" marL="0" rtl="0" algn="ctr">
              <a:lnSpc>
                <a:spcPct val="103636"/>
              </a:lnSpc>
              <a:spcBef>
                <a:spcPts val="0"/>
              </a:spcBef>
              <a:spcAft>
                <a:spcPts val="0"/>
              </a:spcAft>
              <a:buNone/>
            </a:pPr>
            <a:r>
              <a:rPr lang="en-GB" sz="1500">
                <a:solidFill>
                  <a:schemeClr val="lt1"/>
                </a:solidFill>
              </a:rPr>
              <a:t>How does the gut microbiome change across the adenoma–carcinoma sequence, and which microbial signatures distinguish healthy, adenoma and colorectal cancer patients?</a:t>
            </a:r>
            <a:endParaRPr sz="1500">
              <a:solidFill>
                <a:schemeClr val="lt1"/>
              </a:solidFill>
            </a:endParaRPr>
          </a:p>
          <a:p>
            <a:pPr indent="0" lvl="0" marL="0" rtl="0" algn="l">
              <a:spcBef>
                <a:spcPts val="0"/>
              </a:spcBef>
              <a:spcAft>
                <a:spcPts val="0"/>
              </a:spcAft>
              <a:buNone/>
            </a:pPr>
            <a:r>
              <a:t/>
            </a:r>
            <a:endParaRPr sz="1800">
              <a:solidFill>
                <a:schemeClr val="lt1"/>
              </a:solidFill>
            </a:endParaRPr>
          </a:p>
        </p:txBody>
      </p:sp>
      <p:sp>
        <p:nvSpPr>
          <p:cNvPr id="382" name="Google Shape;382;p47"/>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383" name="Google Shape;383;p47"/>
          <p:cNvSpPr txBox="1"/>
          <p:nvPr/>
        </p:nvSpPr>
        <p:spPr>
          <a:xfrm>
            <a:off x="592700" y="4705175"/>
            <a:ext cx="8672700" cy="678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050">
                <a:solidFill>
                  <a:schemeClr val="lt1"/>
                </a:solidFill>
              </a:rPr>
              <a:t>Fadia Ashmawi </a:t>
            </a:r>
            <a:r>
              <a:rPr lang="en-GB" sz="1050">
                <a:solidFill>
                  <a:schemeClr val="lt1"/>
                </a:solidFill>
              </a:rPr>
              <a:t> (Re-analysis of Baxter et al. (2016) </a:t>
            </a:r>
            <a:r>
              <a:rPr i="1" lang="en-GB" sz="1050">
                <a:solidFill>
                  <a:schemeClr val="lt1"/>
                </a:solidFill>
              </a:rPr>
              <a:t>Genome Medicine</a:t>
            </a:r>
            <a:r>
              <a:rPr lang="en-GB" sz="1050">
                <a:solidFill>
                  <a:schemeClr val="lt1"/>
                </a:solidFill>
              </a:rPr>
              <a:t> 8:37- 490 stool samples, 16S rRNA V4)</a:t>
            </a:r>
            <a:endParaRPr sz="1050">
              <a:solidFill>
                <a:schemeClr val="lt1"/>
              </a:solidFill>
            </a:endParaRPr>
          </a:p>
          <a:p>
            <a:pPr indent="0" lvl="0" marL="0" rtl="0" algn="ctr">
              <a:spcBef>
                <a:spcPts val="0"/>
              </a:spcBef>
              <a:spcAft>
                <a:spcPts val="0"/>
              </a:spcAft>
              <a:buNone/>
            </a:pPr>
            <a:r>
              <a:t/>
            </a:r>
            <a:endParaRPr sz="2000">
              <a:solidFill>
                <a:schemeClr val="lt1"/>
              </a:solidFill>
            </a:endParaRPr>
          </a:p>
        </p:txBody>
      </p:sp>
      <p:pic>
        <p:nvPicPr>
          <p:cNvPr id="384" name="Google Shape;384;p47" title="FIG5_progression_cleveland.png"/>
          <p:cNvPicPr preferRelativeResize="0"/>
          <p:nvPr/>
        </p:nvPicPr>
        <p:blipFill>
          <a:blip r:embed="rId3">
            <a:alphaModFix/>
          </a:blip>
          <a:stretch>
            <a:fillRect/>
          </a:stretch>
        </p:blipFill>
        <p:spPr>
          <a:xfrm>
            <a:off x="270371" y="985200"/>
            <a:ext cx="4296428" cy="2332801"/>
          </a:xfrm>
          <a:prstGeom prst="rect">
            <a:avLst/>
          </a:prstGeom>
          <a:noFill/>
          <a:ln>
            <a:noFill/>
          </a:ln>
        </p:spPr>
      </p:pic>
      <p:pic>
        <p:nvPicPr>
          <p:cNvPr id="385" name="Google Shape;385;p47" title="FIG5_progression.png"/>
          <p:cNvPicPr preferRelativeResize="0"/>
          <p:nvPr/>
        </p:nvPicPr>
        <p:blipFill rotWithShape="1">
          <a:blip r:embed="rId4">
            <a:alphaModFix/>
          </a:blip>
          <a:srcRect b="4516" l="0" r="0" t="0"/>
          <a:stretch/>
        </p:blipFill>
        <p:spPr>
          <a:xfrm>
            <a:off x="4631625" y="985200"/>
            <a:ext cx="4148977" cy="2332793"/>
          </a:xfrm>
          <a:prstGeom prst="rect">
            <a:avLst/>
          </a:prstGeom>
          <a:noFill/>
          <a:ln>
            <a:noFill/>
          </a:ln>
        </p:spPr>
      </p:pic>
      <p:sp>
        <p:nvSpPr>
          <p:cNvPr id="386" name="Google Shape;386;p47"/>
          <p:cNvSpPr txBox="1"/>
          <p:nvPr/>
        </p:nvSpPr>
        <p:spPr>
          <a:xfrm>
            <a:off x="382075" y="3288450"/>
            <a:ext cx="8672700" cy="168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100" u="sng">
                <a:solidFill>
                  <a:schemeClr val="accent1"/>
                </a:solidFill>
              </a:rPr>
              <a:t>Results</a:t>
            </a:r>
            <a:r>
              <a:rPr b="1" lang="en-GB" sz="1100">
                <a:solidFill>
                  <a:schemeClr val="accent1"/>
                </a:solidFill>
              </a:rPr>
              <a:t>:</a:t>
            </a:r>
            <a:r>
              <a:rPr b="1" lang="en-GB" sz="1100"/>
              <a:t> </a:t>
            </a:r>
            <a:r>
              <a:rPr lang="en-GB" sz="1100"/>
              <a:t>Richness decreased significantly in carcinoma, while abundance-weighted diversity remained unchanged, indicating a loss of rare taxa. Five oral-associated genera increased progressively across the adenoma–carcinoma sequence, with adenoma showing an intermediate microbial profile.</a:t>
            </a:r>
            <a:endParaRPr sz="1100"/>
          </a:p>
          <a:p>
            <a:pPr indent="0" lvl="0" marL="0" rtl="0" algn="l">
              <a:lnSpc>
                <a:spcPct val="115000"/>
              </a:lnSpc>
              <a:spcBef>
                <a:spcPts val="1400"/>
              </a:spcBef>
              <a:spcAft>
                <a:spcPts val="0"/>
              </a:spcAft>
              <a:buNone/>
            </a:pPr>
            <a:r>
              <a:rPr b="1" lang="en-GB" sz="1100" u="sng">
                <a:solidFill>
                  <a:schemeClr val="accent1"/>
                </a:solidFill>
              </a:rPr>
              <a:t>Improvements</a:t>
            </a:r>
            <a:r>
              <a:rPr b="1" lang="en-GB" sz="1100">
                <a:solidFill>
                  <a:schemeClr val="accent1"/>
                </a:solidFill>
              </a:rPr>
              <a:t>:</a:t>
            </a:r>
            <a:r>
              <a:rPr b="1" lang="en-GB" sz="1100"/>
              <a:t> </a:t>
            </a:r>
            <a:r>
              <a:rPr lang="en-GB" sz="1100"/>
              <a:t>Future work should use compositionally aware methods (e.g., ANCOM-BC or ALDEx2), analyse adenoma subtypes separately, perform OTU/ASV-level analyses, and validate findings with a random forest classifier and an age-matched cohort.</a:t>
            </a:r>
            <a:endParaRPr sz="1100"/>
          </a:p>
          <a:p>
            <a:pPr indent="0" lvl="0" marL="0" rtl="0" algn="l">
              <a:lnSpc>
                <a:spcPct val="115000"/>
              </a:lnSpc>
              <a:spcBef>
                <a:spcPts val="1400"/>
              </a:spcBef>
              <a:spcAft>
                <a:spcPts val="1400"/>
              </a:spcAft>
              <a:buNone/>
            </a:pPr>
            <a:r>
              <a:t/>
            </a:r>
            <a:endParaRPr b="1"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8"/>
          <p:cNvSpPr txBox="1"/>
          <p:nvPr>
            <p:ph type="title"/>
          </p:nvPr>
        </p:nvSpPr>
        <p:spPr>
          <a:xfrm>
            <a:off x="270000" y="191450"/>
            <a:ext cx="8792700" cy="5850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900">
                <a:solidFill>
                  <a:schemeClr val="lt1"/>
                </a:solidFill>
              </a:rPr>
              <a:t>Does NSAID Use Shape the Gut Microbiome in Colorectal Cancer Patients?</a:t>
            </a:r>
            <a:endParaRPr sz="1900">
              <a:solidFill>
                <a:schemeClr val="lt1"/>
              </a:solidFill>
            </a:endParaRPr>
          </a:p>
          <a:p>
            <a:pPr indent="0" lvl="0" marL="0" rtl="0" algn="l">
              <a:spcBef>
                <a:spcPts val="0"/>
              </a:spcBef>
              <a:spcAft>
                <a:spcPts val="0"/>
              </a:spcAft>
              <a:buNone/>
            </a:pPr>
            <a:r>
              <a:rPr lang="en-GB" sz="1900">
                <a:solidFill>
                  <a:schemeClr val="lt1"/>
                </a:solidFill>
              </a:rPr>
              <a:t>~ Dalia</a:t>
            </a:r>
            <a:endParaRPr/>
          </a:p>
        </p:txBody>
      </p:sp>
      <p:sp>
        <p:nvSpPr>
          <p:cNvPr id="392" name="Google Shape;392;p48"/>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393" name="Google Shape;393;p48"/>
          <p:cNvPicPr preferRelativeResize="0"/>
          <p:nvPr/>
        </p:nvPicPr>
        <p:blipFill>
          <a:blip r:embed="rId3">
            <a:alphaModFix/>
          </a:blip>
          <a:stretch>
            <a:fillRect/>
          </a:stretch>
        </p:blipFill>
        <p:spPr>
          <a:xfrm>
            <a:off x="97600" y="2357075"/>
            <a:ext cx="4436300" cy="2218150"/>
          </a:xfrm>
          <a:prstGeom prst="rect">
            <a:avLst/>
          </a:prstGeom>
          <a:noFill/>
          <a:ln>
            <a:noFill/>
          </a:ln>
        </p:spPr>
      </p:pic>
      <p:pic>
        <p:nvPicPr>
          <p:cNvPr id="394" name="Google Shape;394;p48"/>
          <p:cNvPicPr preferRelativeResize="0"/>
          <p:nvPr/>
        </p:nvPicPr>
        <p:blipFill>
          <a:blip r:embed="rId4">
            <a:alphaModFix/>
          </a:blip>
          <a:stretch>
            <a:fillRect/>
          </a:stretch>
        </p:blipFill>
        <p:spPr>
          <a:xfrm>
            <a:off x="4572000" y="2357088"/>
            <a:ext cx="4436300" cy="2218137"/>
          </a:xfrm>
          <a:prstGeom prst="rect">
            <a:avLst/>
          </a:prstGeom>
          <a:noFill/>
          <a:ln>
            <a:noFill/>
          </a:ln>
        </p:spPr>
      </p:pic>
      <p:sp>
        <p:nvSpPr>
          <p:cNvPr id="395" name="Google Shape;395;p48"/>
          <p:cNvSpPr txBox="1"/>
          <p:nvPr/>
        </p:nvSpPr>
        <p:spPr>
          <a:xfrm>
            <a:off x="1563150" y="4722900"/>
            <a:ext cx="6360900" cy="34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sz="1050">
                <a:solidFill>
                  <a:schemeClr val="lt1"/>
                </a:solidFill>
              </a:rPr>
              <a:t>Re-analysis of Baxter et al. (2016) </a:t>
            </a:r>
            <a:r>
              <a:rPr i="1" lang="en-GB" sz="1050">
                <a:solidFill>
                  <a:schemeClr val="lt1"/>
                </a:solidFill>
              </a:rPr>
              <a:t>Genome Medicine</a:t>
            </a:r>
            <a:r>
              <a:rPr lang="en-GB" sz="1050">
                <a:solidFill>
                  <a:schemeClr val="lt1"/>
                </a:solidFill>
              </a:rPr>
              <a:t> 8:37- 490 stool samples, 16S rRNA V4</a:t>
            </a:r>
            <a:endParaRPr/>
          </a:p>
        </p:txBody>
      </p:sp>
      <p:pic>
        <p:nvPicPr>
          <p:cNvPr id="396" name="Google Shape;396;p48" title="pipeline_workflow.png"/>
          <p:cNvPicPr preferRelativeResize="0"/>
          <p:nvPr/>
        </p:nvPicPr>
        <p:blipFill rotWithShape="1">
          <a:blip r:embed="rId5">
            <a:alphaModFix/>
          </a:blip>
          <a:srcRect b="19329" l="0" r="0" t="25477"/>
          <a:stretch/>
        </p:blipFill>
        <p:spPr>
          <a:xfrm>
            <a:off x="270000" y="1056275"/>
            <a:ext cx="8604001" cy="130080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9"/>
          <p:cNvSpPr txBox="1"/>
          <p:nvPr>
            <p:ph type="title"/>
          </p:nvPr>
        </p:nvSpPr>
        <p:spPr>
          <a:xfrm>
            <a:off x="270000" y="191450"/>
            <a:ext cx="8774700" cy="5850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900"/>
              <a:t>Does NSAID Use Shape the Gut Microbiome in Colorectal Cancer Patients?</a:t>
            </a:r>
            <a:endParaRPr sz="1900"/>
          </a:p>
          <a:p>
            <a:pPr indent="0" lvl="0" marL="0" rtl="0" algn="l">
              <a:spcBef>
                <a:spcPts val="0"/>
              </a:spcBef>
              <a:spcAft>
                <a:spcPts val="0"/>
              </a:spcAft>
              <a:buNone/>
            </a:pPr>
            <a:r>
              <a:rPr lang="en-GB" sz="1900"/>
              <a:t>~ Dalia</a:t>
            </a:r>
            <a:endParaRPr sz="1900"/>
          </a:p>
        </p:txBody>
      </p:sp>
      <p:sp>
        <p:nvSpPr>
          <p:cNvPr id="402" name="Google Shape;402;p49"/>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pic>
        <p:nvPicPr>
          <p:cNvPr id="403" name="Google Shape;403;p49"/>
          <p:cNvPicPr preferRelativeResize="0"/>
          <p:nvPr/>
        </p:nvPicPr>
        <p:blipFill>
          <a:blip r:embed="rId3">
            <a:alphaModFix/>
          </a:blip>
          <a:stretch>
            <a:fillRect/>
          </a:stretch>
        </p:blipFill>
        <p:spPr>
          <a:xfrm>
            <a:off x="4000500" y="1393800"/>
            <a:ext cx="5181599" cy="2590800"/>
          </a:xfrm>
          <a:prstGeom prst="rect">
            <a:avLst/>
          </a:prstGeom>
          <a:noFill/>
          <a:ln>
            <a:noFill/>
          </a:ln>
        </p:spPr>
      </p:pic>
      <p:sp>
        <p:nvSpPr>
          <p:cNvPr id="404" name="Google Shape;404;p49"/>
          <p:cNvSpPr txBox="1"/>
          <p:nvPr/>
        </p:nvSpPr>
        <p:spPr>
          <a:xfrm>
            <a:off x="-27950" y="1108450"/>
            <a:ext cx="4169100" cy="414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100"/>
              <a:t>Results</a:t>
            </a:r>
            <a:endParaRPr b="1" sz="1100"/>
          </a:p>
          <a:p>
            <a:pPr indent="-298450" lvl="0" marL="457200" rtl="0" algn="l">
              <a:lnSpc>
                <a:spcPct val="115000"/>
              </a:lnSpc>
              <a:spcBef>
                <a:spcPts val="1200"/>
              </a:spcBef>
              <a:spcAft>
                <a:spcPts val="0"/>
              </a:spcAft>
              <a:buSzPts val="1100"/>
              <a:buChar char="●"/>
            </a:pPr>
            <a:r>
              <a:rPr lang="en-GB" sz="1100"/>
              <a:t>Gut microbial diversity significantly higher in NSAID-exposed patients (p = 0.012), strongest in the adenoma subgroup (p = 0.007)</a:t>
            </a:r>
            <a:endParaRPr sz="1100"/>
          </a:p>
          <a:p>
            <a:pPr indent="-298450" lvl="0" marL="457200" rtl="0" algn="l">
              <a:lnSpc>
                <a:spcPct val="115000"/>
              </a:lnSpc>
              <a:spcBef>
                <a:spcPts val="0"/>
              </a:spcBef>
              <a:spcAft>
                <a:spcPts val="0"/>
              </a:spcAft>
              <a:buSzPts val="1100"/>
              <a:buChar char="●"/>
            </a:pPr>
            <a:r>
              <a:rPr lang="en-GB" sz="1100"/>
              <a:t>2 of 254 genera significantly different, Erysipelotrichaceae_incertae_sedi and Porphyromonas both decreased with NSAID exposure, including </a:t>
            </a:r>
            <a:r>
              <a:rPr i="1" lang="en-GB" sz="1100"/>
              <a:t>Porphyromonas</a:t>
            </a:r>
            <a:r>
              <a:rPr lang="en-GB" sz="1100"/>
              <a:t>, a known CRC-associated pathogen (Duvallet et al. 2017)</a:t>
            </a:r>
            <a:endParaRPr sz="1100"/>
          </a:p>
          <a:p>
            <a:pPr indent="0" lvl="0" marL="0" rtl="0" algn="l">
              <a:lnSpc>
                <a:spcPct val="115000"/>
              </a:lnSpc>
              <a:spcBef>
                <a:spcPts val="1200"/>
              </a:spcBef>
              <a:spcAft>
                <a:spcPts val="0"/>
              </a:spcAft>
              <a:buNone/>
            </a:pPr>
            <a:r>
              <a:rPr b="1" lang="en-GB" sz="1100"/>
              <a:t>Limitations</a:t>
            </a:r>
            <a:endParaRPr b="1" sz="1100"/>
          </a:p>
          <a:p>
            <a:pPr indent="-298450" lvl="0" marL="457200" rtl="0" algn="l">
              <a:lnSpc>
                <a:spcPct val="115000"/>
              </a:lnSpc>
              <a:spcBef>
                <a:spcPts val="1200"/>
              </a:spcBef>
              <a:spcAft>
                <a:spcPts val="0"/>
              </a:spcAft>
              <a:buSzPts val="1100"/>
              <a:buChar char="●"/>
            </a:pPr>
            <a:r>
              <a:rPr lang="en-GB" sz="1100"/>
              <a:t>Cross-sectional data; association only, not causation</a:t>
            </a:r>
            <a:endParaRPr sz="1100"/>
          </a:p>
          <a:p>
            <a:pPr indent="-298450" lvl="0" marL="457200" rtl="0" algn="l">
              <a:lnSpc>
                <a:spcPct val="115000"/>
              </a:lnSpc>
              <a:spcBef>
                <a:spcPts val="0"/>
              </a:spcBef>
              <a:spcAft>
                <a:spcPts val="0"/>
              </a:spcAft>
              <a:buSzPts val="1100"/>
              <a:buChar char="●"/>
            </a:pPr>
            <a:r>
              <a:rPr lang="en-GB" sz="1100"/>
              <a:t>NSAID recorded as a whole drug class, not dose or duration</a:t>
            </a:r>
            <a:endParaRPr sz="1100"/>
          </a:p>
          <a:p>
            <a:pPr indent="-298450" lvl="0" marL="457200" rtl="0" algn="l">
              <a:lnSpc>
                <a:spcPct val="115000"/>
              </a:lnSpc>
              <a:spcBef>
                <a:spcPts val="0"/>
              </a:spcBef>
              <a:spcAft>
                <a:spcPts val="0"/>
              </a:spcAft>
              <a:buSzPts val="1100"/>
              <a:buChar char="●"/>
            </a:pPr>
            <a:r>
              <a:rPr lang="en-GB" sz="1100"/>
              <a:t>Single dataset; hypothesis-generating, needs validation</a:t>
            </a:r>
            <a:endParaRPr sz="1100"/>
          </a:p>
          <a:p>
            <a:pPr indent="0" lvl="0" marL="0" rtl="0" algn="just">
              <a:lnSpc>
                <a:spcPct val="100000"/>
              </a:lnSpc>
              <a:spcBef>
                <a:spcPts val="1200"/>
              </a:spcBef>
              <a:spcAft>
                <a:spcPts val="0"/>
              </a:spcAft>
              <a:buNone/>
            </a:pPr>
            <a:r>
              <a:t/>
            </a:r>
            <a:endParaRPr b="1" sz="1700"/>
          </a:p>
          <a:p>
            <a:pPr indent="0" lvl="0" marL="0" rtl="0" algn="l">
              <a:spcBef>
                <a:spcPts val="1200"/>
              </a:spcBef>
              <a:spcAft>
                <a:spcPts val="0"/>
              </a:spcAft>
              <a:buNone/>
            </a:pPr>
            <a:r>
              <a:t/>
            </a:r>
            <a:endParaRPr b="1" sz="1300">
              <a:solidFill>
                <a:srgbClr val="2B2B2B"/>
              </a:solidFill>
            </a:endParaRPr>
          </a:p>
        </p:txBody>
      </p:sp>
      <p:sp>
        <p:nvSpPr>
          <p:cNvPr id="405" name="Google Shape;405;p49"/>
          <p:cNvSpPr txBox="1"/>
          <p:nvPr/>
        </p:nvSpPr>
        <p:spPr>
          <a:xfrm>
            <a:off x="1725750" y="4722900"/>
            <a:ext cx="5692500" cy="34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sz="1050">
                <a:solidFill>
                  <a:schemeClr val="lt1"/>
                </a:solidFill>
              </a:rPr>
              <a:t>Re-analysis of Baxter et al. (2016) </a:t>
            </a:r>
            <a:r>
              <a:rPr i="1" lang="en-GB" sz="1050">
                <a:solidFill>
                  <a:schemeClr val="lt1"/>
                </a:solidFill>
              </a:rPr>
              <a:t>Genome Medicine</a:t>
            </a:r>
            <a:r>
              <a:rPr lang="en-GB" sz="1050">
                <a:solidFill>
                  <a:schemeClr val="lt1"/>
                </a:solidFill>
              </a:rPr>
              <a:t> 8:37- 490 stool samples, 16S rRNA V4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0"/>
          <p:cNvSpPr txBox="1"/>
          <p:nvPr>
            <p:ph type="title"/>
          </p:nvPr>
        </p:nvSpPr>
        <p:spPr>
          <a:xfrm>
            <a:off x="60600" y="185750"/>
            <a:ext cx="9099000" cy="261600"/>
          </a:xfrm>
          <a:prstGeom prst="rect">
            <a:avLst/>
          </a:prstGeom>
        </p:spPr>
        <p:txBody>
          <a:bodyPr anchorCtr="0" anchor="ctr" bIns="0" lIns="0" spcFirstLastPara="1" rIns="0" wrap="square" tIns="0">
            <a:spAutoFit/>
          </a:bodyPr>
          <a:lstStyle/>
          <a:p>
            <a:pPr indent="0" lvl="0" marL="0" rtl="0" algn="ctr">
              <a:lnSpc>
                <a:spcPct val="115000"/>
              </a:lnSpc>
              <a:spcBef>
                <a:spcPts val="1200"/>
              </a:spcBef>
              <a:spcAft>
                <a:spcPts val="1200"/>
              </a:spcAft>
              <a:buNone/>
            </a:pPr>
            <a:r>
              <a:rPr lang="en-GB" sz="1700">
                <a:solidFill>
                  <a:schemeClr val="lt1"/>
                </a:solidFill>
              </a:rPr>
              <a:t>16S rRNA Gene Analysis Pipeline for the HMP2 Inflammatory Bowel Disease Cohort</a:t>
            </a:r>
            <a:endParaRPr sz="1700">
              <a:solidFill>
                <a:schemeClr val="lt1"/>
              </a:solidFill>
            </a:endParaRPr>
          </a:p>
        </p:txBody>
      </p:sp>
      <p:sp>
        <p:nvSpPr>
          <p:cNvPr id="411" name="Google Shape;411;p50"/>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412" name="Google Shape;412;p50" title="plot_zoom_png-1.png"/>
          <p:cNvPicPr preferRelativeResize="0"/>
          <p:nvPr/>
        </p:nvPicPr>
        <p:blipFill>
          <a:blip r:embed="rId3">
            <a:alphaModFix/>
          </a:blip>
          <a:stretch>
            <a:fillRect/>
          </a:stretch>
        </p:blipFill>
        <p:spPr>
          <a:xfrm>
            <a:off x="2552700" y="868775"/>
            <a:ext cx="6591826" cy="3731749"/>
          </a:xfrm>
          <a:prstGeom prst="rect">
            <a:avLst/>
          </a:prstGeom>
          <a:noFill/>
          <a:ln>
            <a:noFill/>
          </a:ln>
        </p:spPr>
      </p:pic>
      <p:sp>
        <p:nvSpPr>
          <p:cNvPr id="413" name="Google Shape;413;p50"/>
          <p:cNvSpPr txBox="1"/>
          <p:nvPr/>
        </p:nvSpPr>
        <p:spPr>
          <a:xfrm>
            <a:off x="3283800" y="4634400"/>
            <a:ext cx="2500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lt1"/>
                </a:solidFill>
              </a:rPr>
              <a:t>Turky AlSulaiman</a:t>
            </a:r>
            <a:endParaRPr sz="2200">
              <a:solidFill>
                <a:schemeClr val="lt1"/>
              </a:solidFill>
            </a:endParaRPr>
          </a:p>
        </p:txBody>
      </p:sp>
      <p:sp>
        <p:nvSpPr>
          <p:cNvPr id="414" name="Google Shape;414;p50"/>
          <p:cNvSpPr txBox="1"/>
          <p:nvPr/>
        </p:nvSpPr>
        <p:spPr>
          <a:xfrm>
            <a:off x="-117000" y="985200"/>
            <a:ext cx="2596200" cy="39249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0"/>
              </a:spcAft>
              <a:buNone/>
            </a:pPr>
            <a:r>
              <a:rPr b="1" lang="en-GB" sz="1300"/>
              <a:t>Project Overview</a:t>
            </a:r>
            <a:endParaRPr b="1" sz="1300"/>
          </a:p>
          <a:p>
            <a:pPr indent="-292100" lvl="0" marL="457200" rtl="0" algn="l">
              <a:lnSpc>
                <a:spcPct val="100000"/>
              </a:lnSpc>
              <a:spcBef>
                <a:spcPts val="1200"/>
              </a:spcBef>
              <a:spcAft>
                <a:spcPts val="0"/>
              </a:spcAft>
              <a:buSzPts val="1000"/>
              <a:buChar char="●"/>
            </a:pPr>
            <a:r>
              <a:rPr lang="en-GB" sz="1000"/>
              <a:t>Human Microbiome Project 2 (HMP2) 16S rRNA gene sequencing dataset</a:t>
            </a:r>
            <a:endParaRPr sz="1000"/>
          </a:p>
          <a:p>
            <a:pPr indent="-292100" lvl="0" marL="457200" rtl="0" algn="l">
              <a:lnSpc>
                <a:spcPct val="100000"/>
              </a:lnSpc>
              <a:spcBef>
                <a:spcPts val="0"/>
              </a:spcBef>
              <a:spcAft>
                <a:spcPts val="0"/>
              </a:spcAft>
              <a:buSzPts val="1000"/>
              <a:buChar char="●"/>
            </a:pPr>
            <a:r>
              <a:rPr lang="en-GB" sz="1000"/>
              <a:t>Human gut biopsy samples from the ileum and rectum</a:t>
            </a:r>
            <a:endParaRPr sz="1000"/>
          </a:p>
          <a:p>
            <a:pPr indent="-292100" lvl="0" marL="457200" rtl="0" algn="l">
              <a:lnSpc>
                <a:spcPct val="100000"/>
              </a:lnSpc>
              <a:spcBef>
                <a:spcPts val="0"/>
              </a:spcBef>
              <a:spcAft>
                <a:spcPts val="0"/>
              </a:spcAft>
              <a:buSzPts val="1000"/>
              <a:buChar char="●"/>
            </a:pPr>
            <a:r>
              <a:rPr lang="en-GB" sz="1000"/>
              <a:t>Study groups: Crohn’s disease, Ulcerative colitis, and healthy controls</a:t>
            </a:r>
            <a:endParaRPr sz="1000"/>
          </a:p>
          <a:p>
            <a:pPr indent="-292100" lvl="0" marL="457200" rtl="0" algn="l">
              <a:lnSpc>
                <a:spcPct val="100000"/>
              </a:lnSpc>
              <a:spcBef>
                <a:spcPts val="0"/>
              </a:spcBef>
              <a:spcAft>
                <a:spcPts val="0"/>
              </a:spcAft>
              <a:buSzPts val="1000"/>
              <a:buChar char="●"/>
            </a:pPr>
            <a:r>
              <a:rPr lang="en-GB" sz="1000"/>
              <a:t>DADA2 pipeline for quality control, ASV inference, and chimera removal</a:t>
            </a:r>
            <a:endParaRPr sz="1000"/>
          </a:p>
          <a:p>
            <a:pPr indent="-292100" lvl="0" marL="457200" rtl="0" algn="l">
              <a:lnSpc>
                <a:spcPct val="100000"/>
              </a:lnSpc>
              <a:spcBef>
                <a:spcPts val="0"/>
              </a:spcBef>
              <a:spcAft>
                <a:spcPts val="0"/>
              </a:spcAft>
              <a:buSzPts val="1000"/>
              <a:buChar char="●"/>
            </a:pPr>
            <a:r>
              <a:rPr lang="en-GB" sz="1000"/>
              <a:t>Taxonomic assignment using the SILVA v138.2 reference database</a:t>
            </a:r>
            <a:endParaRPr sz="1000"/>
          </a:p>
          <a:p>
            <a:pPr indent="-292100" lvl="0" marL="457200" rtl="0" algn="l">
              <a:lnSpc>
                <a:spcPct val="100000"/>
              </a:lnSpc>
              <a:spcBef>
                <a:spcPts val="0"/>
              </a:spcBef>
              <a:spcAft>
                <a:spcPts val="0"/>
              </a:spcAft>
              <a:buSzPts val="1000"/>
              <a:buChar char="●"/>
            </a:pPr>
            <a:r>
              <a:rPr lang="en-GB" sz="1000"/>
              <a:t>Alpha diversity analysis (Shannon index)</a:t>
            </a:r>
            <a:endParaRPr sz="1000"/>
          </a:p>
          <a:p>
            <a:pPr indent="-292100" lvl="0" marL="457200" rtl="0" algn="l">
              <a:lnSpc>
                <a:spcPct val="100000"/>
              </a:lnSpc>
              <a:spcBef>
                <a:spcPts val="0"/>
              </a:spcBef>
              <a:spcAft>
                <a:spcPts val="0"/>
              </a:spcAft>
              <a:buSzPts val="1000"/>
              <a:buChar char="●"/>
            </a:pPr>
            <a:r>
              <a:rPr lang="en-GB" sz="1000"/>
              <a:t>Beta diversity analysis (Bray–Curtis NMDS and PERMANOVA)</a:t>
            </a:r>
            <a:endParaRPr sz="1000"/>
          </a:p>
          <a:p>
            <a:pPr indent="-292100" lvl="0" marL="457200" rtl="0" algn="l">
              <a:lnSpc>
                <a:spcPct val="100000"/>
              </a:lnSpc>
              <a:spcBef>
                <a:spcPts val="0"/>
              </a:spcBef>
              <a:spcAft>
                <a:spcPts val="0"/>
              </a:spcAft>
              <a:buSzPts val="1000"/>
              <a:buChar char="●"/>
            </a:pPr>
            <a:r>
              <a:rPr lang="en-GB" sz="1000"/>
              <a:t>Relative abundance analysis of the top 20 bacterial genera</a:t>
            </a:r>
            <a:endParaRPr sz="1000"/>
          </a:p>
          <a:p>
            <a:pPr indent="0" lvl="0" marL="0" rtl="0" algn="l">
              <a:lnSpc>
                <a:spcPct val="100000"/>
              </a:lnSpc>
              <a:spcBef>
                <a:spcPts val="1200"/>
              </a:spcBef>
              <a:spcAft>
                <a:spcPts val="0"/>
              </a:spcAft>
              <a:buNone/>
            </a:pPr>
            <a:r>
              <a:t/>
            </a:r>
            <a:endParaRPr sz="1000">
              <a:solidFill>
                <a:srgbClr val="003E7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1"/>
          <p:cNvSpPr txBox="1"/>
          <p:nvPr>
            <p:ph type="title"/>
          </p:nvPr>
        </p:nvSpPr>
        <p:spPr>
          <a:xfrm>
            <a:off x="308100" y="168400"/>
            <a:ext cx="8604000" cy="261600"/>
          </a:xfrm>
          <a:prstGeom prst="rect">
            <a:avLst/>
          </a:prstGeom>
        </p:spPr>
        <p:txBody>
          <a:bodyPr anchorCtr="0" anchor="ctr" bIns="0" lIns="0" spcFirstLastPara="1" rIns="0" wrap="square" tIns="0">
            <a:spAutoFit/>
          </a:bodyPr>
          <a:lstStyle/>
          <a:p>
            <a:pPr indent="0" lvl="0" marL="0" rtl="0" algn="l">
              <a:lnSpc>
                <a:spcPct val="115000"/>
              </a:lnSpc>
              <a:spcBef>
                <a:spcPts val="1200"/>
              </a:spcBef>
              <a:spcAft>
                <a:spcPts val="1200"/>
              </a:spcAft>
              <a:buNone/>
            </a:pPr>
            <a:r>
              <a:rPr lang="en-GB" sz="1700">
                <a:solidFill>
                  <a:schemeClr val="lt1"/>
                </a:solidFill>
              </a:rPr>
              <a:t>16S rRNA Gene Analysis Pipeline for the HMP2 Inflammatory Bowel Disease Cohort</a:t>
            </a:r>
            <a:endParaRPr/>
          </a:p>
        </p:txBody>
      </p:sp>
      <p:sp>
        <p:nvSpPr>
          <p:cNvPr id="420" name="Google Shape;420;p51"/>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pic>
        <p:nvPicPr>
          <p:cNvPr id="421" name="Google Shape;421;p51" title="Beta_Diversity_NMDS.png"/>
          <p:cNvPicPr preferRelativeResize="0"/>
          <p:nvPr/>
        </p:nvPicPr>
        <p:blipFill>
          <a:blip r:embed="rId3">
            <a:alphaModFix/>
          </a:blip>
          <a:stretch>
            <a:fillRect/>
          </a:stretch>
        </p:blipFill>
        <p:spPr>
          <a:xfrm>
            <a:off x="-23500" y="599950"/>
            <a:ext cx="9234427" cy="4049150"/>
          </a:xfrm>
          <a:prstGeom prst="rect">
            <a:avLst/>
          </a:prstGeom>
          <a:noFill/>
          <a:ln>
            <a:noFill/>
          </a:ln>
        </p:spPr>
      </p:pic>
      <p:sp>
        <p:nvSpPr>
          <p:cNvPr id="422" name="Google Shape;422;p51"/>
          <p:cNvSpPr txBox="1"/>
          <p:nvPr/>
        </p:nvSpPr>
        <p:spPr>
          <a:xfrm>
            <a:off x="0" y="0"/>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700">
              <a:solidFill>
                <a:schemeClr val="lt1"/>
              </a:solidFill>
            </a:endParaRPr>
          </a:p>
        </p:txBody>
      </p:sp>
      <p:sp>
        <p:nvSpPr>
          <p:cNvPr id="423" name="Google Shape;423;p51"/>
          <p:cNvSpPr txBox="1"/>
          <p:nvPr/>
        </p:nvSpPr>
        <p:spPr>
          <a:xfrm>
            <a:off x="3283800" y="4634400"/>
            <a:ext cx="2500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lt1"/>
                </a:solidFill>
              </a:rPr>
              <a:t>Turky AlSulaiman</a:t>
            </a:r>
            <a:endParaRPr sz="22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2"/>
          <p:cNvSpPr txBox="1"/>
          <p:nvPr>
            <p:ph type="title"/>
          </p:nvPr>
        </p:nvSpPr>
        <p:spPr>
          <a:xfrm>
            <a:off x="308100" y="189475"/>
            <a:ext cx="8604000" cy="261600"/>
          </a:xfrm>
          <a:prstGeom prst="rect">
            <a:avLst/>
          </a:prstGeom>
        </p:spPr>
        <p:txBody>
          <a:bodyPr anchorCtr="0" anchor="ctr" bIns="0" lIns="0" spcFirstLastPara="1" rIns="0" wrap="square" tIns="0">
            <a:spAutoFit/>
          </a:bodyPr>
          <a:lstStyle/>
          <a:p>
            <a:pPr indent="0" lvl="0" marL="0" rtl="0" algn="ctr">
              <a:lnSpc>
                <a:spcPct val="115000"/>
              </a:lnSpc>
              <a:spcBef>
                <a:spcPts val="1200"/>
              </a:spcBef>
              <a:spcAft>
                <a:spcPts val="1200"/>
              </a:spcAft>
              <a:buNone/>
            </a:pPr>
            <a:r>
              <a:rPr lang="en-GB" sz="1700">
                <a:solidFill>
                  <a:schemeClr val="lt1"/>
                </a:solidFill>
              </a:rPr>
              <a:t>16S rRNA Gene Analysis Pipeline for the HMP2 Inflammatory Bowel Disease Cohort</a:t>
            </a:r>
            <a:endParaRPr/>
          </a:p>
        </p:txBody>
      </p:sp>
      <p:sp>
        <p:nvSpPr>
          <p:cNvPr id="429" name="Google Shape;429;p52"/>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430" name="Google Shape;430;p52"/>
          <p:cNvSpPr txBox="1"/>
          <p:nvPr/>
        </p:nvSpPr>
        <p:spPr>
          <a:xfrm>
            <a:off x="3283800" y="4634400"/>
            <a:ext cx="2500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lt1"/>
                </a:solidFill>
              </a:rPr>
              <a:t>Turky AlSulaiman</a:t>
            </a:r>
            <a:endParaRPr sz="2200">
              <a:solidFill>
                <a:schemeClr val="lt1"/>
              </a:solidFill>
            </a:endParaRPr>
          </a:p>
        </p:txBody>
      </p:sp>
      <p:pic>
        <p:nvPicPr>
          <p:cNvPr id="431" name="Google Shape;431;p52" title="Top20_Genera.png"/>
          <p:cNvPicPr preferRelativeResize="0"/>
          <p:nvPr/>
        </p:nvPicPr>
        <p:blipFill>
          <a:blip r:embed="rId3">
            <a:alphaModFix/>
          </a:blip>
          <a:stretch>
            <a:fillRect/>
          </a:stretch>
        </p:blipFill>
        <p:spPr>
          <a:xfrm>
            <a:off x="932025" y="852925"/>
            <a:ext cx="7744727" cy="3785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3"/>
          <p:cNvSpPr txBox="1"/>
          <p:nvPr>
            <p:ph type="title"/>
          </p:nvPr>
        </p:nvSpPr>
        <p:spPr>
          <a:xfrm>
            <a:off x="270000" y="363100"/>
            <a:ext cx="8604000" cy="27699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1800">
                <a:solidFill>
                  <a:srgbClr val="FFFFFF"/>
                </a:solidFill>
                <a:latin typeface="Arial"/>
                <a:ea typeface="Arial"/>
                <a:cs typeface="Arial"/>
                <a:sym typeface="Arial"/>
              </a:rPr>
              <a:t>Every patient's gut is broken differently; every donor's looks the same</a:t>
            </a:r>
            <a:endParaRPr/>
          </a:p>
        </p:txBody>
      </p:sp>
      <p:sp>
        <p:nvSpPr>
          <p:cNvPr id="437" name="Google Shape;437;p53"/>
          <p:cNvSpPr txBox="1"/>
          <p:nvPr/>
        </p:nvSpPr>
        <p:spPr>
          <a:xfrm>
            <a:off x="274320" y="969264"/>
            <a:ext cx="8595360"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200" u="none" cap="none" strike="noStrike">
                <a:solidFill>
                  <a:srgbClr val="9E2A2B"/>
                </a:solidFill>
                <a:latin typeface="Arial"/>
                <a:ea typeface="Arial"/>
                <a:cs typeface="Arial"/>
                <a:sym typeface="Arial"/>
              </a:rPr>
              <a:t>RESULT:  </a:t>
            </a:r>
            <a:r>
              <a:rPr b="0" i="0" lang="en-GB" sz="1200" u="none" cap="none" strike="noStrike">
                <a:solidFill>
                  <a:srgbClr val="1A2233"/>
                </a:solidFill>
                <a:latin typeface="Arial"/>
                <a:ea typeface="Arial"/>
                <a:cs typeface="Arial"/>
                <a:sym typeface="Arial"/>
              </a:rPr>
              <a:t>Patients share no common disrupted state - each is dominated by a different organism</a:t>
            </a:r>
            <a:endParaRPr/>
          </a:p>
        </p:txBody>
      </p:sp>
      <p:sp>
        <p:nvSpPr>
          <p:cNvPr id="438" name="Google Shape;438;p53"/>
          <p:cNvSpPr txBox="1"/>
          <p:nvPr/>
        </p:nvSpPr>
        <p:spPr>
          <a:xfrm>
            <a:off x="274320" y="4187952"/>
            <a:ext cx="8595360"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GB" sz="800" u="none" cap="none" strike="noStrike">
                <a:solidFill>
                  <a:srgbClr val="003E72"/>
                </a:solidFill>
                <a:latin typeface="Arial"/>
                <a:ea typeface="Arial"/>
                <a:cs typeface="Arial"/>
                <a:sym typeface="Arial"/>
              </a:rPr>
              <a:t>Data: Duvallet et al. 2017, Nat Commun (s41467-017-01973-8) - cdi_youngster study, Youngster et al. 2014, Clin Infect Dis 58:1515.  100 stool samples from 23 people: 19 patients sampled before and after FMT, plus 4 healthy donors.  16S rRNA V4, 100%-identity OTUs named against SILVA v138.1 (92% to genus), pooled into 286 genera holding 95.1% of reads.  Top 15 genera shown; grey = all others.</a:t>
            </a:r>
            <a:endParaRPr/>
          </a:p>
        </p:txBody>
      </p:sp>
      <p:sp>
        <p:nvSpPr>
          <p:cNvPr id="439" name="Google Shape;439;p53"/>
          <p:cNvSpPr txBox="1"/>
          <p:nvPr/>
        </p:nvSpPr>
        <p:spPr>
          <a:xfrm>
            <a:off x="2880360" y="4764072"/>
            <a:ext cx="32918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FFFFFF"/>
                </a:solidFill>
                <a:latin typeface="Arial"/>
                <a:ea typeface="Arial"/>
                <a:cs typeface="Arial"/>
                <a:sym typeface="Arial"/>
              </a:rPr>
              <a:t>Ryan: CDI &amp; FMT</a:t>
            </a:r>
            <a:endParaRPr b="0" i="0" sz="1400" u="none" cap="none" strike="noStrike">
              <a:solidFill>
                <a:srgbClr val="000000"/>
              </a:solidFill>
              <a:latin typeface="Arial"/>
              <a:ea typeface="Arial"/>
              <a:cs typeface="Arial"/>
              <a:sym typeface="Arial"/>
            </a:endParaRPr>
          </a:p>
        </p:txBody>
      </p:sp>
      <p:pic>
        <p:nvPicPr>
          <p:cNvPr descr="composition_Genus.png" id="440" name="Google Shape;440;p53"/>
          <p:cNvPicPr preferRelativeResize="0"/>
          <p:nvPr/>
        </p:nvPicPr>
        <p:blipFill rotWithShape="1">
          <a:blip r:embed="rId3">
            <a:alphaModFix/>
          </a:blip>
          <a:srcRect b="0" l="0" r="0" t="0"/>
          <a:stretch/>
        </p:blipFill>
        <p:spPr>
          <a:xfrm>
            <a:off x="444917" y="1280160"/>
            <a:ext cx="8254165" cy="28803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4"/>
          <p:cNvSpPr txBox="1"/>
          <p:nvPr>
            <p:ph type="title"/>
          </p:nvPr>
        </p:nvSpPr>
        <p:spPr>
          <a:xfrm>
            <a:off x="270000" y="363100"/>
            <a:ext cx="8604000" cy="27699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1800">
                <a:solidFill>
                  <a:srgbClr val="FFFFFF"/>
                </a:solidFill>
                <a:latin typeface="Arial"/>
                <a:ea typeface="Arial"/>
                <a:cs typeface="Arial"/>
                <a:sym typeface="Arial"/>
              </a:rPr>
              <a:t>The fibre-fermenters come back; the invaders fall away</a:t>
            </a:r>
            <a:endParaRPr/>
          </a:p>
        </p:txBody>
      </p:sp>
      <p:sp>
        <p:nvSpPr>
          <p:cNvPr id="446" name="Google Shape;446;p54"/>
          <p:cNvSpPr txBox="1"/>
          <p:nvPr/>
        </p:nvSpPr>
        <p:spPr>
          <a:xfrm>
            <a:off x="274320" y="4187952"/>
            <a:ext cx="8595360"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800" u="none" cap="none" strike="noStrike">
                <a:solidFill>
                  <a:srgbClr val="003E72"/>
                </a:solidFill>
                <a:latin typeface="Arial"/>
                <a:ea typeface="Arial"/>
                <a:cs typeface="Arial"/>
                <a:sym typeface="Arial"/>
              </a:rPr>
              <a:t>Genera selected by Wilcoxon test, CDI patients vs donors, Benjamini-Hochberg q &lt; 0.05.  Shown: the 6 depleted genera most abundant in donors, plus both enriched genera.  * = movement after FMT not significant after correction (Klebsiella q = 0.054, Veillonella q = 0.096). </a:t>
            </a:r>
            <a:endParaRPr/>
          </a:p>
        </p:txBody>
      </p:sp>
      <p:sp>
        <p:nvSpPr>
          <p:cNvPr id="447" name="Google Shape;447;p54"/>
          <p:cNvSpPr txBox="1"/>
          <p:nvPr/>
        </p:nvSpPr>
        <p:spPr>
          <a:xfrm>
            <a:off x="2880360" y="4764072"/>
            <a:ext cx="32918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FFFFFF"/>
                </a:solidFill>
                <a:latin typeface="Arial"/>
                <a:ea typeface="Arial"/>
                <a:cs typeface="Arial"/>
                <a:sym typeface="Arial"/>
              </a:rPr>
              <a:t>Ryan: CDI &amp; FMT</a:t>
            </a:r>
            <a:endParaRPr b="0" i="0" sz="1400" u="none" cap="none" strike="noStrike">
              <a:solidFill>
                <a:srgbClr val="000000"/>
              </a:solidFill>
              <a:latin typeface="Arial"/>
              <a:ea typeface="Arial"/>
              <a:cs typeface="Arial"/>
              <a:sym typeface="Arial"/>
            </a:endParaRPr>
          </a:p>
        </p:txBody>
      </p:sp>
      <p:sp>
        <p:nvSpPr>
          <p:cNvPr id="448" name="Google Shape;448;p54"/>
          <p:cNvSpPr txBox="1"/>
          <p:nvPr/>
        </p:nvSpPr>
        <p:spPr>
          <a:xfrm>
            <a:off x="274320" y="969264"/>
            <a:ext cx="859536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200" u="none" cap="none" strike="noStrike">
                <a:solidFill>
                  <a:srgbClr val="9E2A2B"/>
                </a:solidFill>
                <a:latin typeface="Arial"/>
                <a:ea typeface="Arial"/>
                <a:cs typeface="Arial"/>
                <a:sym typeface="Arial"/>
              </a:rPr>
              <a:t>RESULT:  </a:t>
            </a:r>
            <a:r>
              <a:rPr b="0" i="0" lang="en-GB" sz="1200" u="none" cap="none" strike="noStrike">
                <a:solidFill>
                  <a:srgbClr val="1A2233"/>
                </a:solidFill>
                <a:latin typeface="Arial"/>
                <a:ea typeface="Arial"/>
                <a:cs typeface="Arial"/>
                <a:sym typeface="Arial"/>
              </a:rPr>
              <a:t>The good bacteria wiped out by infection come back after the FMT transplant; the ones that took over fades</a:t>
            </a:r>
            <a:endParaRPr b="0" i="0" sz="1200" u="none" cap="none" strike="noStrike">
              <a:solidFill>
                <a:srgbClr val="1A2233"/>
              </a:solidFill>
              <a:latin typeface="Arial"/>
              <a:ea typeface="Arial"/>
              <a:cs typeface="Arial"/>
              <a:sym typeface="Arial"/>
            </a:endParaRPr>
          </a:p>
        </p:txBody>
      </p:sp>
      <p:sp>
        <p:nvSpPr>
          <p:cNvPr id="449" name="Google Shape;449;p54"/>
          <p:cNvSpPr txBox="1"/>
          <p:nvPr/>
        </p:nvSpPr>
        <p:spPr>
          <a:xfrm>
            <a:off x="310896" y="1316736"/>
            <a:ext cx="2761488" cy="2577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200" u="none" cap="none" strike="noStrike">
                <a:solidFill>
                  <a:srgbClr val="9E2A2B"/>
                </a:solidFill>
                <a:latin typeface="Arial"/>
                <a:ea typeface="Arial"/>
                <a:cs typeface="Arial"/>
                <a:sym typeface="Arial"/>
              </a:rPr>
              <a:t>53 genera differ:  </a:t>
            </a:r>
            <a:r>
              <a:rPr b="0" i="0" lang="en-GB" sz="1200" u="none" cap="none" strike="noStrike">
                <a:solidFill>
                  <a:srgbClr val="1A2233"/>
                </a:solidFill>
                <a:latin typeface="Arial"/>
                <a:ea typeface="Arial"/>
                <a:cs typeface="Arial"/>
                <a:sym typeface="Arial"/>
              </a:rPr>
              <a:t>Between patients and donors. 51 depleted, only 2 enriched</a:t>
            </a:r>
            <a:endParaRPr/>
          </a:p>
          <a:p>
            <a:pPr indent="0" lvl="0" marL="0" marR="0" rtl="0" algn="l">
              <a:lnSpc>
                <a:spcPct val="100000"/>
              </a:lnSpc>
              <a:spcBef>
                <a:spcPts val="700"/>
              </a:spcBef>
              <a:spcAft>
                <a:spcPts val="0"/>
              </a:spcAft>
              <a:buNone/>
            </a:pPr>
            <a:r>
              <a:rPr b="1" i="0" lang="en-GB" sz="1200" u="none" cap="none" strike="noStrike">
                <a:solidFill>
                  <a:srgbClr val="9E2A2B"/>
                </a:solidFill>
                <a:latin typeface="Arial"/>
                <a:ea typeface="Arial"/>
                <a:cs typeface="Arial"/>
                <a:sym typeface="Arial"/>
              </a:rPr>
              <a:t>What is lost:  </a:t>
            </a:r>
            <a:r>
              <a:rPr b="0" i="0" lang="en-GB" sz="1200" u="none" cap="none" strike="noStrike">
                <a:solidFill>
                  <a:srgbClr val="1A2233"/>
                </a:solidFill>
                <a:latin typeface="Arial"/>
                <a:ea typeface="Arial"/>
                <a:cs typeface="Arial"/>
                <a:sym typeface="Arial"/>
              </a:rPr>
              <a:t>Fibre-fermenting anaerobes. They make butyrate, which fuels the colon lining and keeps the gut oxygen-free</a:t>
            </a:r>
            <a:endParaRPr/>
          </a:p>
          <a:p>
            <a:pPr indent="0" lvl="0" marL="0" marR="0" rtl="0" algn="l">
              <a:lnSpc>
                <a:spcPct val="100000"/>
              </a:lnSpc>
              <a:spcBef>
                <a:spcPts val="700"/>
              </a:spcBef>
              <a:spcAft>
                <a:spcPts val="0"/>
              </a:spcAft>
              <a:buNone/>
            </a:pPr>
            <a:r>
              <a:rPr b="1" i="0" lang="en-GB" sz="1200" u="none" cap="none" strike="noStrike">
                <a:solidFill>
                  <a:srgbClr val="9E2A2B"/>
                </a:solidFill>
                <a:latin typeface="Arial"/>
                <a:ea typeface="Arial"/>
                <a:cs typeface="Arial"/>
                <a:sym typeface="Arial"/>
              </a:rPr>
              <a:t>What moves in:  </a:t>
            </a:r>
            <a:r>
              <a:rPr b="0" i="0" lang="en-GB" sz="1200" u="none" cap="none" strike="noStrike">
                <a:solidFill>
                  <a:srgbClr val="1A2233"/>
                </a:solidFill>
                <a:latin typeface="Arial"/>
                <a:ea typeface="Arial"/>
                <a:cs typeface="Arial"/>
                <a:sym typeface="Arial"/>
              </a:rPr>
              <a:t>Klebsiella and Veillonella; Opportunists that grow once that oxygen-free state is gone</a:t>
            </a:r>
            <a:endParaRPr/>
          </a:p>
          <a:p>
            <a:pPr indent="0" lvl="0" marL="0" marR="0" rtl="0" algn="l">
              <a:lnSpc>
                <a:spcPct val="100000"/>
              </a:lnSpc>
              <a:spcBef>
                <a:spcPts val="700"/>
              </a:spcBef>
              <a:spcAft>
                <a:spcPts val="0"/>
              </a:spcAft>
              <a:buNone/>
            </a:pPr>
            <a:r>
              <a:rPr b="1" i="0" lang="en-GB" sz="1200" u="none" cap="none" strike="noStrike">
                <a:solidFill>
                  <a:srgbClr val="9E2A2B"/>
                </a:solidFill>
                <a:latin typeface="Arial"/>
                <a:ea typeface="Arial"/>
                <a:cs typeface="Arial"/>
                <a:sym typeface="Arial"/>
              </a:rPr>
              <a:t>After FMT:  </a:t>
            </a:r>
            <a:r>
              <a:rPr b="0" i="0" lang="en-GB" sz="1200" u="none" cap="none" strike="noStrike">
                <a:solidFill>
                  <a:srgbClr val="1A2233"/>
                </a:solidFill>
                <a:latin typeface="Arial"/>
                <a:ea typeface="Arial"/>
                <a:cs typeface="Arial"/>
                <a:sym typeface="Arial"/>
              </a:rPr>
              <a:t>The anaerobes return, but not fully.</a:t>
            </a:r>
            <a:endParaRPr b="0" i="0" sz="1200" u="none" cap="none" strike="noStrike">
              <a:solidFill>
                <a:srgbClr val="1A2233"/>
              </a:solidFill>
              <a:latin typeface="Arial"/>
              <a:ea typeface="Arial"/>
              <a:cs typeface="Arial"/>
              <a:sym typeface="Arial"/>
            </a:endParaRPr>
          </a:p>
        </p:txBody>
      </p:sp>
      <p:pic>
        <p:nvPicPr>
          <p:cNvPr descr="slide2_key_players_final.png" id="450" name="Google Shape;450;p54"/>
          <p:cNvPicPr preferRelativeResize="0"/>
          <p:nvPr/>
        </p:nvPicPr>
        <p:blipFill rotWithShape="1">
          <a:blip r:embed="rId3">
            <a:alphaModFix/>
          </a:blip>
          <a:srcRect b="0" l="0" r="0" t="0"/>
          <a:stretch/>
        </p:blipFill>
        <p:spPr>
          <a:xfrm>
            <a:off x="3274610" y="1225296"/>
            <a:ext cx="5502570" cy="296265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5"/>
          <p:cNvSpPr txBox="1"/>
          <p:nvPr>
            <p:ph type="title"/>
          </p:nvPr>
        </p:nvSpPr>
        <p:spPr>
          <a:xfrm>
            <a:off x="270000" y="254700"/>
            <a:ext cx="8604000" cy="2154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400">
                <a:solidFill>
                  <a:srgbClr val="FFFFFF"/>
                </a:solidFill>
              </a:rPr>
              <a:t>How does the gut microbiome differ between CD, UC, and nonIBD individuals? </a:t>
            </a:r>
            <a:endParaRPr sz="2800"/>
          </a:p>
        </p:txBody>
      </p:sp>
      <p:sp>
        <p:nvSpPr>
          <p:cNvPr id="456" name="Google Shape;456;p55"/>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SzPts val="1000"/>
              <a:buFont typeface="Arial"/>
              <a:buNone/>
            </a:pPr>
            <a:fld id="{00000000-1234-1234-1234-123412341234}" type="slidenum">
              <a:rPr lang="en-GB"/>
              <a:t>‹#›</a:t>
            </a:fld>
            <a:endParaRPr/>
          </a:p>
        </p:txBody>
      </p:sp>
      <p:pic>
        <p:nvPicPr>
          <p:cNvPr id="457" name="Google Shape;457;p55" title="ChatGPT Image Aug 7, 2026 at 12_19_27 AM.png"/>
          <p:cNvPicPr preferRelativeResize="0"/>
          <p:nvPr/>
        </p:nvPicPr>
        <p:blipFill rotWithShape="1">
          <a:blip r:embed="rId3">
            <a:alphaModFix/>
          </a:blip>
          <a:srcRect b="1844" l="18503" r="19738" t="1593"/>
          <a:stretch/>
        </p:blipFill>
        <p:spPr>
          <a:xfrm>
            <a:off x="44675" y="1058450"/>
            <a:ext cx="3238499" cy="3375852"/>
          </a:xfrm>
          <a:prstGeom prst="rect">
            <a:avLst/>
          </a:prstGeom>
          <a:noFill/>
          <a:ln>
            <a:noFill/>
          </a:ln>
        </p:spPr>
      </p:pic>
      <p:pic>
        <p:nvPicPr>
          <p:cNvPr id="458" name="Google Shape;458;p55" title="plot_zoom_png.png"/>
          <p:cNvPicPr preferRelativeResize="0"/>
          <p:nvPr/>
        </p:nvPicPr>
        <p:blipFill>
          <a:blip r:embed="rId4">
            <a:alphaModFix/>
          </a:blip>
          <a:stretch>
            <a:fillRect/>
          </a:stretch>
        </p:blipFill>
        <p:spPr>
          <a:xfrm>
            <a:off x="4096463" y="1278826"/>
            <a:ext cx="3618073" cy="2585847"/>
          </a:xfrm>
          <a:prstGeom prst="rect">
            <a:avLst/>
          </a:prstGeom>
          <a:noFill/>
          <a:ln>
            <a:noFill/>
          </a:ln>
        </p:spPr>
      </p:pic>
      <p:sp>
        <p:nvSpPr>
          <p:cNvPr id="459" name="Google Shape;459;p55"/>
          <p:cNvSpPr txBox="1"/>
          <p:nvPr/>
        </p:nvSpPr>
        <p:spPr>
          <a:xfrm>
            <a:off x="4263900" y="3971400"/>
            <a:ext cx="3775200" cy="2439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Char char="●"/>
            </a:pPr>
            <a:r>
              <a:rPr lang="en-GB" sz="1000">
                <a:solidFill>
                  <a:schemeClr val="dk1"/>
                </a:solidFill>
              </a:rPr>
              <a:t>CD samples showed lower alpha diversity than nonIBD, while UC displayed intermediate diversity.</a:t>
            </a:r>
            <a:endParaRPr sz="2000">
              <a:solidFill>
                <a:schemeClr val="dk1"/>
              </a:solidFill>
            </a:endParaRPr>
          </a:p>
        </p:txBody>
      </p:sp>
      <p:sp>
        <p:nvSpPr>
          <p:cNvPr id="460" name="Google Shape;460;p55"/>
          <p:cNvSpPr txBox="1"/>
          <p:nvPr/>
        </p:nvSpPr>
        <p:spPr>
          <a:xfrm>
            <a:off x="1986925" y="4731775"/>
            <a:ext cx="13416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rPr>
              <a:t>Lames</a:t>
            </a:r>
            <a:endParaRPr sz="2200">
              <a:solidFill>
                <a:srgbClr val="003E7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6"/>
          <p:cNvSpPr txBox="1"/>
          <p:nvPr>
            <p:ph type="title"/>
          </p:nvPr>
        </p:nvSpPr>
        <p:spPr>
          <a:xfrm>
            <a:off x="270000" y="254700"/>
            <a:ext cx="8604000" cy="646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1400">
                <a:solidFill>
                  <a:srgbClr val="FFFFFF"/>
                </a:solidFill>
              </a:rPr>
              <a:t>How does the gut microbiome differ between CD, UC, and nonIBD individuals? </a:t>
            </a:r>
            <a:endParaRPr sz="2800">
              <a:solidFill>
                <a:schemeClr val="lt1"/>
              </a:solidFill>
            </a:endParaRPr>
          </a:p>
          <a:p>
            <a:pPr indent="0" lvl="0" marL="0" rtl="0" algn="l">
              <a:spcBef>
                <a:spcPts val="0"/>
              </a:spcBef>
              <a:spcAft>
                <a:spcPts val="0"/>
              </a:spcAft>
              <a:buNone/>
            </a:pPr>
            <a:r>
              <a:t/>
            </a:r>
            <a:endParaRPr sz="2800"/>
          </a:p>
        </p:txBody>
      </p:sp>
      <p:sp>
        <p:nvSpPr>
          <p:cNvPr id="466" name="Google Shape;466;p56"/>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SzPts val="1000"/>
              <a:buFont typeface="Arial"/>
              <a:buNone/>
            </a:pPr>
            <a:fld id="{00000000-1234-1234-1234-123412341234}" type="slidenum">
              <a:rPr lang="en-GB"/>
              <a:t>‹#›</a:t>
            </a:fld>
            <a:endParaRPr/>
          </a:p>
        </p:txBody>
      </p:sp>
      <p:pic>
        <p:nvPicPr>
          <p:cNvPr id="467" name="Google Shape;467;p56" title="plot_zoom_png-1.png"/>
          <p:cNvPicPr preferRelativeResize="0"/>
          <p:nvPr/>
        </p:nvPicPr>
        <p:blipFill>
          <a:blip r:embed="rId3">
            <a:alphaModFix/>
          </a:blip>
          <a:stretch>
            <a:fillRect/>
          </a:stretch>
        </p:blipFill>
        <p:spPr>
          <a:xfrm>
            <a:off x="103925" y="1038582"/>
            <a:ext cx="3081777" cy="2202568"/>
          </a:xfrm>
          <a:prstGeom prst="rect">
            <a:avLst/>
          </a:prstGeom>
          <a:noFill/>
          <a:ln>
            <a:noFill/>
          </a:ln>
        </p:spPr>
      </p:pic>
      <p:sp>
        <p:nvSpPr>
          <p:cNvPr id="468" name="Google Shape;468;p56"/>
          <p:cNvSpPr txBox="1"/>
          <p:nvPr/>
        </p:nvSpPr>
        <p:spPr>
          <a:xfrm>
            <a:off x="-179187" y="3241150"/>
            <a:ext cx="3648000" cy="4992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Char char="●"/>
            </a:pPr>
            <a:r>
              <a:rPr lang="en-GB" sz="1000">
                <a:solidFill>
                  <a:schemeClr val="dk1"/>
                </a:solidFill>
              </a:rPr>
              <a:t>Host disease significantly influenced overall gut microbial composition</a:t>
            </a:r>
            <a:endParaRPr sz="1000">
              <a:solidFill>
                <a:schemeClr val="dk1"/>
              </a:solidFill>
            </a:endParaRPr>
          </a:p>
          <a:p>
            <a:pPr indent="0" lvl="0" marL="0" rtl="0" algn="ctr">
              <a:spcBef>
                <a:spcPts val="0"/>
              </a:spcBef>
              <a:spcAft>
                <a:spcPts val="0"/>
              </a:spcAft>
              <a:buNone/>
            </a:pPr>
            <a:r>
              <a:rPr lang="en-GB" sz="1000">
                <a:solidFill>
                  <a:srgbClr val="666666"/>
                </a:solidFill>
              </a:rPr>
              <a:t>PERMANOVA: </a:t>
            </a:r>
            <a:endParaRPr sz="1000">
              <a:solidFill>
                <a:srgbClr val="666666"/>
              </a:solidFill>
            </a:endParaRPr>
          </a:p>
          <a:p>
            <a:pPr indent="0" lvl="0" marL="0" rtl="0" algn="ctr">
              <a:spcBef>
                <a:spcPts val="0"/>
              </a:spcBef>
              <a:spcAft>
                <a:spcPts val="0"/>
              </a:spcAft>
              <a:buNone/>
            </a:pPr>
            <a:r>
              <a:rPr lang="en-GB" sz="1000">
                <a:solidFill>
                  <a:srgbClr val="666666"/>
                </a:solidFill>
              </a:rPr>
              <a:t>Host disease R² = 0.065, p = 0.005; </a:t>
            </a:r>
            <a:endParaRPr sz="1000">
              <a:solidFill>
                <a:srgbClr val="666666"/>
              </a:solidFill>
            </a:endParaRPr>
          </a:p>
          <a:p>
            <a:pPr indent="0" lvl="0" marL="0" rtl="0" algn="ctr">
              <a:spcBef>
                <a:spcPts val="0"/>
              </a:spcBef>
              <a:spcAft>
                <a:spcPts val="0"/>
              </a:spcAft>
              <a:buNone/>
            </a:pPr>
            <a:r>
              <a:rPr lang="en-GB" sz="1000">
                <a:solidFill>
                  <a:srgbClr val="666666"/>
                </a:solidFill>
              </a:rPr>
              <a:t>isolation source R² = 0.013, p = 0.977.</a:t>
            </a:r>
            <a:endParaRPr sz="2000">
              <a:solidFill>
                <a:srgbClr val="666666"/>
              </a:solidFill>
            </a:endParaRPr>
          </a:p>
        </p:txBody>
      </p:sp>
      <p:pic>
        <p:nvPicPr>
          <p:cNvPr id="469" name="Google Shape;469;p56" title="Kelative abundance of the top 20 taxa by phylum.png"/>
          <p:cNvPicPr preferRelativeResize="0"/>
          <p:nvPr/>
        </p:nvPicPr>
        <p:blipFill>
          <a:blip r:embed="rId4">
            <a:alphaModFix/>
          </a:blip>
          <a:stretch>
            <a:fillRect/>
          </a:stretch>
        </p:blipFill>
        <p:spPr>
          <a:xfrm>
            <a:off x="3118825" y="1041638"/>
            <a:ext cx="2906352" cy="2077202"/>
          </a:xfrm>
          <a:prstGeom prst="rect">
            <a:avLst/>
          </a:prstGeom>
          <a:noFill/>
          <a:ln>
            <a:noFill/>
          </a:ln>
        </p:spPr>
      </p:pic>
      <p:pic>
        <p:nvPicPr>
          <p:cNvPr id="470" name="Google Shape;470;p56" title="plot_zoom_png.png"/>
          <p:cNvPicPr preferRelativeResize="0"/>
          <p:nvPr/>
        </p:nvPicPr>
        <p:blipFill>
          <a:blip r:embed="rId5">
            <a:alphaModFix/>
          </a:blip>
          <a:stretch>
            <a:fillRect/>
          </a:stretch>
        </p:blipFill>
        <p:spPr>
          <a:xfrm>
            <a:off x="6025185" y="1041638"/>
            <a:ext cx="3186067" cy="2077201"/>
          </a:xfrm>
          <a:prstGeom prst="rect">
            <a:avLst/>
          </a:prstGeom>
          <a:noFill/>
          <a:ln>
            <a:noFill/>
          </a:ln>
        </p:spPr>
      </p:pic>
      <p:sp>
        <p:nvSpPr>
          <p:cNvPr id="471" name="Google Shape;471;p56"/>
          <p:cNvSpPr txBox="1"/>
          <p:nvPr/>
        </p:nvSpPr>
        <p:spPr>
          <a:xfrm>
            <a:off x="-77937" y="4063325"/>
            <a:ext cx="3445500" cy="1539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Char char="●"/>
            </a:pPr>
            <a:r>
              <a:rPr lang="en-GB" sz="900">
                <a:solidFill>
                  <a:schemeClr val="dk1"/>
                </a:solidFill>
              </a:rPr>
              <a:t>PCoA revealed substantial overlap between disease groups, indicating modest disease-associated differences.</a:t>
            </a:r>
            <a:endParaRPr sz="1900">
              <a:solidFill>
                <a:schemeClr val="dk1"/>
              </a:solidFill>
            </a:endParaRPr>
          </a:p>
        </p:txBody>
      </p:sp>
      <p:sp>
        <p:nvSpPr>
          <p:cNvPr id="472" name="Google Shape;472;p56"/>
          <p:cNvSpPr txBox="1"/>
          <p:nvPr/>
        </p:nvSpPr>
        <p:spPr>
          <a:xfrm>
            <a:off x="3848100" y="3526275"/>
            <a:ext cx="4823400" cy="3852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1200"/>
              </a:spcBef>
              <a:spcAft>
                <a:spcPts val="0"/>
              </a:spcAft>
              <a:buClr>
                <a:schemeClr val="dk1"/>
              </a:buClr>
              <a:buSzPts val="900"/>
              <a:buChar char="●"/>
            </a:pPr>
            <a:r>
              <a:rPr b="1" lang="en-GB" sz="900">
                <a:solidFill>
                  <a:schemeClr val="dk1"/>
                </a:solidFill>
              </a:rPr>
              <a:t>The overall microbial community composition was similar across groups, with no complete separation between CD, UC, and nonIBD.</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GB" sz="900">
                <a:solidFill>
                  <a:schemeClr val="dk1"/>
                </a:solidFill>
              </a:rPr>
              <a:t>CD samples exhibited greater inter-individual variability than nonIBD and UC.</a:t>
            </a:r>
            <a:endParaRPr b="1" sz="900">
              <a:solidFill>
                <a:schemeClr val="dk1"/>
              </a:solidFill>
            </a:endParaRPr>
          </a:p>
          <a:p>
            <a:pPr indent="0" lvl="0" marL="0" rtl="0" algn="l">
              <a:spcBef>
                <a:spcPts val="1200"/>
              </a:spcBef>
              <a:spcAft>
                <a:spcPts val="0"/>
              </a:spcAft>
              <a:buNone/>
            </a:pPr>
            <a:r>
              <a:t/>
            </a:r>
            <a:endParaRPr sz="2000">
              <a:solidFill>
                <a:schemeClr val="dk1"/>
              </a:solidFill>
            </a:endParaRPr>
          </a:p>
        </p:txBody>
      </p:sp>
      <p:sp>
        <p:nvSpPr>
          <p:cNvPr id="473" name="Google Shape;473;p56"/>
          <p:cNvSpPr txBox="1"/>
          <p:nvPr/>
        </p:nvSpPr>
        <p:spPr>
          <a:xfrm>
            <a:off x="1986900" y="4690775"/>
            <a:ext cx="1861200" cy="2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rPr>
              <a:t>Lames</a:t>
            </a:r>
            <a:endParaRPr sz="2200">
              <a:solidFill>
                <a:srgbClr val="003E7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7"/>
          <p:cNvSpPr txBox="1"/>
          <p:nvPr>
            <p:ph type="title"/>
          </p:nvPr>
        </p:nvSpPr>
        <p:spPr>
          <a:xfrm>
            <a:off x="270000" y="286525"/>
            <a:ext cx="8774700" cy="292500"/>
          </a:xfrm>
          <a:prstGeom prst="rect">
            <a:avLst/>
          </a:prstGeom>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GB" sz="1900">
                <a:solidFill>
                  <a:srgbClr val="FFFFFF"/>
                </a:solidFill>
              </a:rPr>
              <a:t>Pipeline &amp; results: healthy vs colorectal cancer, genus-level 16S</a:t>
            </a:r>
            <a:endParaRPr sz="1900"/>
          </a:p>
        </p:txBody>
      </p:sp>
      <p:sp>
        <p:nvSpPr>
          <p:cNvPr id="479" name="Google Shape;479;p57"/>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480" name="Google Shape;480;p57"/>
          <p:cNvSpPr txBox="1"/>
          <p:nvPr/>
        </p:nvSpPr>
        <p:spPr>
          <a:xfrm>
            <a:off x="1725750" y="4722900"/>
            <a:ext cx="56925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i="1" lang="en-GB">
                <a:solidFill>
                  <a:schemeClr val="lt1"/>
                </a:solidFill>
              </a:rPr>
              <a:t>Lena Alghamdi</a:t>
            </a:r>
            <a:endParaRPr b="1" i="1">
              <a:solidFill>
                <a:schemeClr val="lt1"/>
              </a:solidFill>
            </a:endParaRPr>
          </a:p>
        </p:txBody>
      </p:sp>
      <p:pic>
        <p:nvPicPr>
          <p:cNvPr id="481" name="Google Shape;481;p57"/>
          <p:cNvPicPr preferRelativeResize="0"/>
          <p:nvPr/>
        </p:nvPicPr>
        <p:blipFill>
          <a:blip r:embed="rId3">
            <a:alphaModFix/>
          </a:blip>
          <a:stretch>
            <a:fillRect/>
          </a:stretch>
        </p:blipFill>
        <p:spPr>
          <a:xfrm>
            <a:off x="152400" y="1800787"/>
            <a:ext cx="8839201" cy="2840167"/>
          </a:xfrm>
          <a:prstGeom prst="rect">
            <a:avLst/>
          </a:prstGeom>
          <a:noFill/>
          <a:ln>
            <a:noFill/>
          </a:ln>
        </p:spPr>
      </p:pic>
      <p:pic>
        <p:nvPicPr>
          <p:cNvPr id="482" name="Google Shape;482;p57"/>
          <p:cNvPicPr preferRelativeResize="0"/>
          <p:nvPr/>
        </p:nvPicPr>
        <p:blipFill>
          <a:blip r:embed="rId4">
            <a:alphaModFix/>
          </a:blip>
          <a:stretch>
            <a:fillRect/>
          </a:stretch>
        </p:blipFill>
        <p:spPr>
          <a:xfrm>
            <a:off x="152400" y="1041711"/>
            <a:ext cx="8839201" cy="716975"/>
          </a:xfrm>
          <a:prstGeom prst="rect">
            <a:avLst/>
          </a:prstGeom>
          <a:noFill/>
          <a:ln>
            <a:noFill/>
          </a:ln>
        </p:spPr>
      </p:pic>
      <p:pic>
        <p:nvPicPr>
          <p:cNvPr id="483" name="Google Shape;483;p57" title="progression_heatmap_full_uncapped.png"/>
          <p:cNvPicPr preferRelativeResize="0"/>
          <p:nvPr/>
        </p:nvPicPr>
        <p:blipFill>
          <a:blip r:embed="rId5">
            <a:alphaModFix/>
          </a:blip>
          <a:stretch>
            <a:fillRect/>
          </a:stretch>
        </p:blipFill>
        <p:spPr>
          <a:xfrm>
            <a:off x="3162300" y="2447500"/>
            <a:ext cx="2709074" cy="2095001"/>
          </a:xfrm>
          <a:prstGeom prst="rect">
            <a:avLst/>
          </a:prstGeom>
          <a:noFill/>
          <a:ln>
            <a:noFill/>
          </a:ln>
        </p:spPr>
      </p:pic>
      <p:pic>
        <p:nvPicPr>
          <p:cNvPr id="484" name="Google Shape;484;p57"/>
          <p:cNvPicPr preferRelativeResize="0"/>
          <p:nvPr/>
        </p:nvPicPr>
        <p:blipFill>
          <a:blip r:embed="rId6">
            <a:alphaModFix/>
          </a:blip>
          <a:stretch>
            <a:fillRect/>
          </a:stretch>
        </p:blipFill>
        <p:spPr>
          <a:xfrm>
            <a:off x="6116250" y="2447500"/>
            <a:ext cx="2749550" cy="2126301"/>
          </a:xfrm>
          <a:prstGeom prst="rect">
            <a:avLst/>
          </a:prstGeom>
          <a:noFill/>
          <a:ln>
            <a:noFill/>
          </a:ln>
        </p:spPr>
      </p:pic>
      <p:pic>
        <p:nvPicPr>
          <p:cNvPr id="485" name="Google Shape;485;p57"/>
          <p:cNvPicPr preferRelativeResize="0"/>
          <p:nvPr/>
        </p:nvPicPr>
        <p:blipFill rotWithShape="1">
          <a:blip r:embed="rId7">
            <a:alphaModFix/>
          </a:blip>
          <a:srcRect b="0" l="0" r="0" t="7995"/>
          <a:stretch/>
        </p:blipFill>
        <p:spPr>
          <a:xfrm>
            <a:off x="270000" y="2447500"/>
            <a:ext cx="2643575" cy="2126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8"/>
          <p:cNvSpPr txBox="1"/>
          <p:nvPr>
            <p:ph type="title"/>
          </p:nvPr>
        </p:nvSpPr>
        <p:spPr>
          <a:xfrm>
            <a:off x="270000" y="286525"/>
            <a:ext cx="8774700" cy="292500"/>
          </a:xfrm>
          <a:prstGeom prst="rect">
            <a:avLst/>
          </a:prstGeom>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GB" sz="1900">
                <a:solidFill>
                  <a:srgbClr val="FFFFFF"/>
                </a:solidFill>
              </a:rPr>
              <a:t>Does the signal survive adjustment for age, BMI and sex?</a:t>
            </a:r>
            <a:endParaRPr sz="1900">
              <a:solidFill>
                <a:srgbClr val="FFFFFF"/>
              </a:solidFill>
            </a:endParaRPr>
          </a:p>
        </p:txBody>
      </p:sp>
      <p:sp>
        <p:nvSpPr>
          <p:cNvPr id="491" name="Google Shape;491;p58"/>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GB"/>
              <a:t>‹#›</a:t>
            </a:fld>
            <a:endParaRPr/>
          </a:p>
        </p:txBody>
      </p:sp>
      <p:sp>
        <p:nvSpPr>
          <p:cNvPr id="492" name="Google Shape;492;p58"/>
          <p:cNvSpPr txBox="1"/>
          <p:nvPr/>
        </p:nvSpPr>
        <p:spPr>
          <a:xfrm>
            <a:off x="1725750" y="4722900"/>
            <a:ext cx="56925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i="1" lang="en-GB">
                <a:solidFill>
                  <a:schemeClr val="lt1"/>
                </a:solidFill>
              </a:rPr>
              <a:t>Lena Alghamdi</a:t>
            </a:r>
            <a:endParaRPr b="1" i="1">
              <a:solidFill>
                <a:schemeClr val="lt1"/>
              </a:solidFill>
            </a:endParaRPr>
          </a:p>
        </p:txBody>
      </p:sp>
      <p:pic>
        <p:nvPicPr>
          <p:cNvPr id="493" name="Google Shape;493;p58"/>
          <p:cNvPicPr preferRelativeResize="0"/>
          <p:nvPr/>
        </p:nvPicPr>
        <p:blipFill>
          <a:blip r:embed="rId3">
            <a:alphaModFix/>
          </a:blip>
          <a:stretch>
            <a:fillRect/>
          </a:stretch>
        </p:blipFill>
        <p:spPr>
          <a:xfrm>
            <a:off x="152400" y="992915"/>
            <a:ext cx="8839197" cy="438967"/>
          </a:xfrm>
          <a:prstGeom prst="rect">
            <a:avLst/>
          </a:prstGeom>
          <a:noFill/>
          <a:ln>
            <a:noFill/>
          </a:ln>
        </p:spPr>
      </p:pic>
      <p:pic>
        <p:nvPicPr>
          <p:cNvPr id="494" name="Google Shape;494;p58"/>
          <p:cNvPicPr preferRelativeResize="0"/>
          <p:nvPr/>
        </p:nvPicPr>
        <p:blipFill>
          <a:blip r:embed="rId4">
            <a:alphaModFix/>
          </a:blip>
          <a:stretch>
            <a:fillRect/>
          </a:stretch>
        </p:blipFill>
        <p:spPr>
          <a:xfrm>
            <a:off x="267952" y="1388546"/>
            <a:ext cx="4951751" cy="2954324"/>
          </a:xfrm>
          <a:prstGeom prst="rect">
            <a:avLst/>
          </a:prstGeom>
          <a:noFill/>
          <a:ln>
            <a:noFill/>
          </a:ln>
        </p:spPr>
      </p:pic>
      <p:sp>
        <p:nvSpPr>
          <p:cNvPr id="495" name="Google Shape;495;p58"/>
          <p:cNvSpPr txBox="1"/>
          <p:nvPr/>
        </p:nvSpPr>
        <p:spPr>
          <a:xfrm>
            <a:off x="152400" y="4239935"/>
            <a:ext cx="5067300" cy="554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i="1" lang="en-GB" sz="800">
                <a:solidFill>
                  <a:srgbClr val="6B7280"/>
                </a:solidFill>
              </a:rPr>
              <a:t>Lost significance after adjustment (partly demographic): Collinsella, Clostridium_XVIII, Methylobacterium, Citrobacter, Robinsoniella, Oribacterium, Acinetobacter.</a:t>
            </a:r>
            <a:endParaRPr sz="800">
              <a:solidFill>
                <a:srgbClr val="003E72"/>
              </a:solidFill>
            </a:endParaRPr>
          </a:p>
        </p:txBody>
      </p:sp>
      <p:pic>
        <p:nvPicPr>
          <p:cNvPr id="496" name="Google Shape;496;p58"/>
          <p:cNvPicPr preferRelativeResize="0"/>
          <p:nvPr/>
        </p:nvPicPr>
        <p:blipFill>
          <a:blip r:embed="rId5">
            <a:alphaModFix/>
          </a:blip>
          <a:stretch>
            <a:fillRect/>
          </a:stretch>
        </p:blipFill>
        <p:spPr>
          <a:xfrm>
            <a:off x="5358899" y="1388568"/>
            <a:ext cx="3632751" cy="2954300"/>
          </a:xfrm>
          <a:prstGeom prst="rect">
            <a:avLst/>
          </a:prstGeom>
          <a:noFill/>
          <a:ln>
            <a:noFill/>
          </a:ln>
        </p:spPr>
      </p:pic>
      <p:pic>
        <p:nvPicPr>
          <p:cNvPr id="497" name="Google Shape;497;p58" title="adjustment_comparison_labeled.png"/>
          <p:cNvPicPr preferRelativeResize="0"/>
          <p:nvPr/>
        </p:nvPicPr>
        <p:blipFill>
          <a:blip r:embed="rId6">
            <a:alphaModFix/>
          </a:blip>
          <a:stretch>
            <a:fillRect/>
          </a:stretch>
        </p:blipFill>
        <p:spPr>
          <a:xfrm>
            <a:off x="5476337" y="1485321"/>
            <a:ext cx="3397873" cy="27607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9"/>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2800"/>
              <a:buNone/>
            </a:pPr>
            <a:r>
              <a:rPr b="1" lang="en-GB" sz="1800">
                <a:solidFill>
                  <a:srgbClr val="FFFFFF"/>
                </a:solidFill>
                <a:latin typeface="Arial"/>
                <a:ea typeface="Arial"/>
                <a:cs typeface="Arial"/>
                <a:sym typeface="Arial"/>
              </a:rPr>
              <a:t>How are IBD status and biopsy location associated with the mucosal bacterial community?</a:t>
            </a:r>
            <a:endParaRPr/>
          </a:p>
        </p:txBody>
      </p:sp>
      <p:sp>
        <p:nvSpPr>
          <p:cNvPr id="503" name="Google Shape;503;p59"/>
          <p:cNvSpPr txBox="1"/>
          <p:nvPr/>
        </p:nvSpPr>
        <p:spPr>
          <a:xfrm>
            <a:off x="320040" y="804672"/>
            <a:ext cx="85038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GB" sz="1150" u="none" cap="none" strike="noStrike">
                <a:latin typeface="Arial"/>
                <a:ea typeface="Arial"/>
                <a:cs typeface="Arial"/>
                <a:sym typeface="Arial"/>
              </a:rPr>
              <a:t>50 paired-end 16S mucosal samples   |   CD 30 · nonIBD 14 · UC 6 (exploratory)   |   Ileum 25 · Rectum 25</a:t>
            </a:r>
            <a:endParaRPr/>
          </a:p>
        </p:txBody>
      </p:sp>
      <p:pic>
        <p:nvPicPr>
          <p:cNvPr descr="workflow_diagram_final_nebula.png" id="504" name="Google Shape;504;p59"/>
          <p:cNvPicPr preferRelativeResize="0"/>
          <p:nvPr/>
        </p:nvPicPr>
        <p:blipFill rotWithShape="1">
          <a:blip r:embed="rId3">
            <a:alphaModFix/>
          </a:blip>
          <a:srcRect b="0" l="0" r="0" t="0"/>
          <a:stretch/>
        </p:blipFill>
        <p:spPr>
          <a:xfrm>
            <a:off x="256032" y="1101852"/>
            <a:ext cx="3886200" cy="3264408"/>
          </a:xfrm>
          <a:prstGeom prst="rect">
            <a:avLst/>
          </a:prstGeom>
          <a:noFill/>
          <a:ln>
            <a:noFill/>
          </a:ln>
        </p:spPr>
      </p:pic>
      <p:pic>
        <p:nvPicPr>
          <p:cNvPr descr="read_retention_plot_final_nebula.png" id="505" name="Google Shape;505;p59"/>
          <p:cNvPicPr preferRelativeResize="0"/>
          <p:nvPr/>
        </p:nvPicPr>
        <p:blipFill rotWithShape="1">
          <a:blip r:embed="rId4">
            <a:alphaModFix/>
          </a:blip>
          <a:srcRect b="0" l="0" r="0" t="0"/>
          <a:stretch/>
        </p:blipFill>
        <p:spPr>
          <a:xfrm>
            <a:off x="4251960" y="1377834"/>
            <a:ext cx="4590288" cy="2712442"/>
          </a:xfrm>
          <a:prstGeom prst="rect">
            <a:avLst/>
          </a:prstGeom>
          <a:noFill/>
          <a:ln>
            <a:noFill/>
          </a:ln>
        </p:spPr>
      </p:pic>
      <p:sp>
        <p:nvSpPr>
          <p:cNvPr id="506" name="Google Shape;506;p59"/>
          <p:cNvSpPr/>
          <p:nvPr/>
        </p:nvSpPr>
        <p:spPr>
          <a:xfrm>
            <a:off x="256032" y="4453128"/>
            <a:ext cx="8586216" cy="16459"/>
          </a:xfrm>
          <a:prstGeom prst="rect">
            <a:avLst/>
          </a:prstGeom>
          <a:solidFill>
            <a:srgbClr val="D7E3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9"/>
          <p:cNvSpPr txBox="1"/>
          <p:nvPr/>
        </p:nvSpPr>
        <p:spPr>
          <a:xfrm>
            <a:off x="457200" y="4489704"/>
            <a:ext cx="8183879" cy="20116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GB" sz="1050" u="none" cap="none" strike="noStrike">
                <a:solidFill>
                  <a:srgbClr val="1F2A44"/>
                </a:solidFill>
                <a:latin typeface="Arial"/>
                <a:ea typeface="Arial"/>
                <a:cs typeface="Arial"/>
                <a:sym typeface="Arial"/>
              </a:rPr>
              <a:t>80.36% of raw read pairs were retained to the non-chimeric sequence table; 1,663 bacterial ASVs remained after taxonomy cleaning.</a:t>
            </a:r>
            <a:endParaRPr/>
          </a:p>
        </p:txBody>
      </p:sp>
      <p:sp>
        <p:nvSpPr>
          <p:cNvPr id="508" name="Google Shape;508;p59"/>
          <p:cNvSpPr txBox="1"/>
          <p:nvPr/>
        </p:nvSpPr>
        <p:spPr>
          <a:xfrm>
            <a:off x="3154680" y="4663440"/>
            <a:ext cx="2834640"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GB" sz="1050" u="none" cap="none" strike="noStrike">
                <a:solidFill>
                  <a:srgbClr val="FFFFFF"/>
                </a:solidFill>
                <a:latin typeface="Arial"/>
                <a:ea typeface="Arial"/>
                <a:cs typeface="Arial"/>
                <a:sym typeface="Arial"/>
              </a:rPr>
              <a:t>Almokhtar Aljarodi</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0"/>
          <p:cNvSpPr txBox="1"/>
          <p:nvPr>
            <p:ph type="title"/>
          </p:nvPr>
        </p:nvSpPr>
        <p:spPr>
          <a:xfrm>
            <a:off x="270000" y="254700"/>
            <a:ext cx="8604000" cy="4938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2800"/>
              <a:buNone/>
            </a:pPr>
            <a:r>
              <a:rPr b="1" lang="en-GB" sz="1800">
                <a:solidFill>
                  <a:srgbClr val="FFFFFF"/>
                </a:solidFill>
                <a:latin typeface="Arial"/>
                <a:ea typeface="Arial"/>
                <a:cs typeface="Arial"/>
                <a:sym typeface="Arial"/>
              </a:rPr>
              <a:t>Diversity results and interpretation</a:t>
            </a:r>
            <a:endParaRPr/>
          </a:p>
        </p:txBody>
      </p:sp>
      <p:sp>
        <p:nvSpPr>
          <p:cNvPr id="514" name="Google Shape;514;p60"/>
          <p:cNvSpPr txBox="1"/>
          <p:nvPr/>
        </p:nvSpPr>
        <p:spPr>
          <a:xfrm>
            <a:off x="320040" y="804672"/>
            <a:ext cx="85038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GB" sz="1150" u="none" cap="none" strike="noStrike">
                <a:latin typeface="Arial"/>
                <a:ea typeface="Arial"/>
                <a:cs typeface="Arial"/>
                <a:sym typeface="Arial"/>
              </a:rPr>
              <a:t>Bray</a:t>
            </a:r>
            <a:r>
              <a:rPr b="1" lang="en-GB" sz="1150"/>
              <a:t>-</a:t>
            </a:r>
            <a:r>
              <a:rPr b="1" i="0" lang="en-GB" sz="1150" u="none" cap="none" strike="noStrike">
                <a:latin typeface="Arial"/>
                <a:ea typeface="Arial"/>
                <a:cs typeface="Arial"/>
                <a:sym typeface="Arial"/>
              </a:rPr>
              <a:t>Curtis community structure and within-sample diversity</a:t>
            </a:r>
            <a:endParaRPr/>
          </a:p>
        </p:txBody>
      </p:sp>
      <p:pic>
        <p:nvPicPr>
          <p:cNvPr descr="alpha_diversity_plot_final_nebula.png" id="515" name="Google Shape;515;p60"/>
          <p:cNvPicPr preferRelativeResize="0"/>
          <p:nvPr/>
        </p:nvPicPr>
        <p:blipFill rotWithShape="1">
          <a:blip r:embed="rId3">
            <a:alphaModFix/>
          </a:blip>
          <a:srcRect b="0" l="0" r="0" t="0"/>
          <a:stretch/>
        </p:blipFill>
        <p:spPr>
          <a:xfrm>
            <a:off x="4716018" y="1051560"/>
            <a:ext cx="3909060" cy="3127248"/>
          </a:xfrm>
          <a:prstGeom prst="rect">
            <a:avLst/>
          </a:prstGeom>
          <a:noFill/>
          <a:ln>
            <a:noFill/>
          </a:ln>
        </p:spPr>
      </p:pic>
      <p:sp>
        <p:nvSpPr>
          <p:cNvPr id="516" name="Google Shape;516;p60"/>
          <p:cNvSpPr/>
          <p:nvPr/>
        </p:nvSpPr>
        <p:spPr>
          <a:xfrm>
            <a:off x="256032" y="4242816"/>
            <a:ext cx="8586216" cy="16459"/>
          </a:xfrm>
          <a:prstGeom prst="rect">
            <a:avLst/>
          </a:prstGeom>
          <a:solidFill>
            <a:srgbClr val="D7E3E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60"/>
          <p:cNvSpPr txBox="1"/>
          <p:nvPr/>
        </p:nvSpPr>
        <p:spPr>
          <a:xfrm>
            <a:off x="3048599" y="4350325"/>
            <a:ext cx="4135500" cy="14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919" u="none" cap="none" strike="noStrike">
                <a:solidFill>
                  <a:srgbClr val="1F2A44"/>
                </a:solidFill>
                <a:latin typeface="Arial"/>
                <a:ea typeface="Arial"/>
                <a:cs typeface="Arial"/>
                <a:sym typeface="Arial"/>
              </a:rPr>
              <a:t>No significant alpha-diversity or biopsy-location association. </a:t>
            </a:r>
            <a:endParaRPr/>
          </a:p>
        </p:txBody>
      </p:sp>
      <p:pic>
        <p:nvPicPr>
          <p:cNvPr descr="github_repository_qr.png" id="518" name="Google Shape;518;p60"/>
          <p:cNvPicPr preferRelativeResize="0"/>
          <p:nvPr/>
        </p:nvPicPr>
        <p:blipFill rotWithShape="1">
          <a:blip r:embed="rId4">
            <a:alphaModFix/>
          </a:blip>
          <a:srcRect b="0" l="0" r="0" t="0"/>
          <a:stretch/>
        </p:blipFill>
        <p:spPr>
          <a:xfrm>
            <a:off x="7573773" y="4608550"/>
            <a:ext cx="534976" cy="534951"/>
          </a:xfrm>
          <a:prstGeom prst="rect">
            <a:avLst/>
          </a:prstGeom>
          <a:noFill/>
          <a:ln>
            <a:noFill/>
          </a:ln>
        </p:spPr>
      </p:pic>
      <p:sp>
        <p:nvSpPr>
          <p:cNvPr id="519" name="Google Shape;519;p60"/>
          <p:cNvSpPr txBox="1"/>
          <p:nvPr/>
        </p:nvSpPr>
        <p:spPr>
          <a:xfrm>
            <a:off x="3154680" y="4663440"/>
            <a:ext cx="2834640"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GB" sz="1050" u="none" cap="none" strike="noStrike">
                <a:solidFill>
                  <a:srgbClr val="FFFFFF"/>
                </a:solidFill>
                <a:latin typeface="Arial"/>
                <a:ea typeface="Arial"/>
                <a:cs typeface="Arial"/>
                <a:sym typeface="Arial"/>
              </a:rPr>
              <a:t>Almokhtar Aljarodi</a:t>
            </a:r>
            <a:endParaRPr/>
          </a:p>
        </p:txBody>
      </p:sp>
      <p:pic>
        <p:nvPicPr>
          <p:cNvPr id="520" name="Google Shape;520;p60"/>
          <p:cNvPicPr preferRelativeResize="0"/>
          <p:nvPr/>
        </p:nvPicPr>
        <p:blipFill>
          <a:blip r:embed="rId5">
            <a:alphaModFix/>
          </a:blip>
          <a:stretch>
            <a:fillRect/>
          </a:stretch>
        </p:blipFill>
        <p:spPr>
          <a:xfrm>
            <a:off x="373175" y="1086488"/>
            <a:ext cx="3961174" cy="2925850"/>
          </a:xfrm>
          <a:prstGeom prst="rect">
            <a:avLst/>
          </a:prstGeom>
          <a:noFill/>
          <a:ln>
            <a:noFill/>
          </a:ln>
        </p:spPr>
      </p:pic>
      <p:sp>
        <p:nvSpPr>
          <p:cNvPr id="521" name="Google Shape;521;p60"/>
          <p:cNvSpPr txBox="1"/>
          <p:nvPr/>
        </p:nvSpPr>
        <p:spPr>
          <a:xfrm>
            <a:off x="7318402" y="4286025"/>
            <a:ext cx="1330200" cy="3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rgbClr val="003E72"/>
                </a:solidFill>
              </a:rPr>
              <a:t>Reference/github</a:t>
            </a:r>
            <a:endParaRPr sz="1000">
              <a:solidFill>
                <a:srgbClr val="003E7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1"/>
          <p:cNvSpPr txBox="1"/>
          <p:nvPr>
            <p:ph type="title"/>
          </p:nvPr>
        </p:nvSpPr>
        <p:spPr>
          <a:xfrm>
            <a:off x="270000" y="254700"/>
            <a:ext cx="8604000" cy="8004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Objective 1 — Anatomy vs. Pathology</a:t>
            </a:r>
            <a:endParaRPr/>
          </a:p>
          <a:p>
            <a:pPr indent="0" lvl="0" marL="0" rtl="0" algn="l">
              <a:spcBef>
                <a:spcPts val="0"/>
              </a:spcBef>
              <a:spcAft>
                <a:spcPts val="0"/>
              </a:spcAft>
              <a:buNone/>
            </a:pPr>
            <a:r>
              <a:t/>
            </a:r>
            <a:endParaRPr/>
          </a:p>
        </p:txBody>
      </p:sp>
      <p:sp>
        <p:nvSpPr>
          <p:cNvPr id="527" name="Google Shape;527;p61"/>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SzPts val="1000"/>
              <a:buFont typeface="Arial"/>
              <a:buNone/>
            </a:pPr>
            <a:fld id="{00000000-1234-1234-1234-123412341234}" type="slidenum">
              <a:rPr lang="en-GB"/>
              <a:t>‹#›</a:t>
            </a:fld>
            <a:endParaRPr/>
          </a:p>
        </p:txBody>
      </p:sp>
      <p:pic>
        <p:nvPicPr>
          <p:cNvPr id="528" name="Google Shape;528;p61"/>
          <p:cNvPicPr preferRelativeResize="0"/>
          <p:nvPr/>
        </p:nvPicPr>
        <p:blipFill>
          <a:blip r:embed="rId3">
            <a:alphaModFix/>
          </a:blip>
          <a:stretch>
            <a:fillRect/>
          </a:stretch>
        </p:blipFill>
        <p:spPr>
          <a:xfrm>
            <a:off x="152400" y="1130900"/>
            <a:ext cx="5962825" cy="3442950"/>
          </a:xfrm>
          <a:prstGeom prst="rect">
            <a:avLst/>
          </a:prstGeom>
          <a:noFill/>
          <a:ln>
            <a:noFill/>
          </a:ln>
        </p:spPr>
      </p:pic>
      <p:pic>
        <p:nvPicPr>
          <p:cNvPr id="529" name="Google Shape;529;p61"/>
          <p:cNvPicPr preferRelativeResize="0"/>
          <p:nvPr/>
        </p:nvPicPr>
        <p:blipFill>
          <a:blip r:embed="rId4">
            <a:alphaModFix/>
          </a:blip>
          <a:stretch>
            <a:fillRect/>
          </a:stretch>
        </p:blipFill>
        <p:spPr>
          <a:xfrm>
            <a:off x="6217375" y="1496538"/>
            <a:ext cx="2723975" cy="272827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2"/>
          <p:cNvSpPr txBox="1"/>
          <p:nvPr>
            <p:ph type="title"/>
          </p:nvPr>
        </p:nvSpPr>
        <p:spPr>
          <a:xfrm>
            <a:off x="270000" y="254700"/>
            <a:ext cx="9313200" cy="8004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Objectives 2 &amp; 3 — Dysbiosis &amp; Differential Abundance</a:t>
            </a:r>
            <a:endParaRPr/>
          </a:p>
          <a:p>
            <a:pPr indent="0" lvl="0" marL="0" rtl="0" algn="l">
              <a:spcBef>
                <a:spcPts val="0"/>
              </a:spcBef>
              <a:spcAft>
                <a:spcPts val="0"/>
              </a:spcAft>
              <a:buNone/>
            </a:pPr>
            <a:r>
              <a:t/>
            </a:r>
            <a:endParaRPr/>
          </a:p>
        </p:txBody>
      </p:sp>
      <p:sp>
        <p:nvSpPr>
          <p:cNvPr id="535" name="Google Shape;535;p62"/>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SzPts val="1000"/>
              <a:buFont typeface="Arial"/>
              <a:buNone/>
            </a:pPr>
            <a:fld id="{00000000-1234-1234-1234-123412341234}" type="slidenum">
              <a:rPr lang="en-GB"/>
              <a:t>‹#›</a:t>
            </a:fld>
            <a:endParaRPr/>
          </a:p>
        </p:txBody>
      </p:sp>
      <p:pic>
        <p:nvPicPr>
          <p:cNvPr id="536" name="Google Shape;536;p62"/>
          <p:cNvPicPr preferRelativeResize="0"/>
          <p:nvPr/>
        </p:nvPicPr>
        <p:blipFill>
          <a:blip r:embed="rId3">
            <a:alphaModFix/>
          </a:blip>
          <a:stretch>
            <a:fillRect/>
          </a:stretch>
        </p:blipFill>
        <p:spPr>
          <a:xfrm>
            <a:off x="13350" y="985850"/>
            <a:ext cx="6297926" cy="3663950"/>
          </a:xfrm>
          <a:prstGeom prst="rect">
            <a:avLst/>
          </a:prstGeom>
          <a:noFill/>
          <a:ln>
            <a:noFill/>
          </a:ln>
        </p:spPr>
      </p:pic>
      <p:pic>
        <p:nvPicPr>
          <p:cNvPr id="537" name="Google Shape;537;p62"/>
          <p:cNvPicPr preferRelativeResize="0"/>
          <p:nvPr/>
        </p:nvPicPr>
        <p:blipFill>
          <a:blip r:embed="rId4">
            <a:alphaModFix/>
          </a:blip>
          <a:stretch>
            <a:fillRect/>
          </a:stretch>
        </p:blipFill>
        <p:spPr>
          <a:xfrm>
            <a:off x="6262613" y="1205575"/>
            <a:ext cx="2527937" cy="331021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3"/>
          <p:cNvSpPr txBox="1"/>
          <p:nvPr>
            <p:ph type="title"/>
          </p:nvPr>
        </p:nvSpPr>
        <p:spPr>
          <a:xfrm>
            <a:off x="366750" y="175350"/>
            <a:ext cx="8604000" cy="3387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i="1" lang="en-GB" sz="2200">
                <a:solidFill>
                  <a:schemeClr val="lt1"/>
                </a:solidFill>
              </a:rPr>
              <a:t>Technical Pipeline &amp; Overall Community Composition</a:t>
            </a:r>
            <a:endParaRPr sz="2200">
              <a:solidFill>
                <a:schemeClr val="lt1"/>
              </a:solidFill>
            </a:endParaRPr>
          </a:p>
        </p:txBody>
      </p:sp>
      <p:sp>
        <p:nvSpPr>
          <p:cNvPr id="543" name="Google Shape;543;p63"/>
          <p:cNvSpPr txBox="1"/>
          <p:nvPr>
            <p:ph idx="4294967295" type="body"/>
          </p:nvPr>
        </p:nvSpPr>
        <p:spPr>
          <a:xfrm>
            <a:off x="0" y="810075"/>
            <a:ext cx="8520600" cy="492600"/>
          </a:xfrm>
          <a:prstGeom prst="rect">
            <a:avLst/>
          </a:prstGeom>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GB" sz="1100">
                <a:solidFill>
                  <a:srgbClr val="000000"/>
                </a:solidFill>
              </a:rPr>
              <a:t>[ </a:t>
            </a:r>
            <a:r>
              <a:rPr b="1" lang="en-GB" sz="1100">
                <a:solidFill>
                  <a:srgbClr val="000000"/>
                </a:solidFill>
              </a:rPr>
              <a:t>Phase 1:</a:t>
            </a:r>
            <a:r>
              <a:rPr lang="en-GB" sz="1100">
                <a:solidFill>
                  <a:srgbClr val="000000"/>
                </a:solidFill>
              </a:rPr>
              <a:t> QC &amp; Filtering ] &gt; [ </a:t>
            </a:r>
            <a:r>
              <a:rPr b="1" lang="en-GB" sz="1100">
                <a:solidFill>
                  <a:srgbClr val="000000"/>
                </a:solidFill>
              </a:rPr>
              <a:t>Phase 2:</a:t>
            </a:r>
            <a:r>
              <a:rPr lang="en-GB" sz="1100">
                <a:solidFill>
                  <a:srgbClr val="000000"/>
                </a:solidFill>
              </a:rPr>
              <a:t> Denoising &amp; Assembly ] &gt;[ </a:t>
            </a:r>
            <a:r>
              <a:rPr b="1" lang="en-GB" sz="1100">
                <a:solidFill>
                  <a:srgbClr val="000000"/>
                </a:solidFill>
              </a:rPr>
              <a:t>Phase 3:</a:t>
            </a:r>
            <a:r>
              <a:rPr lang="en-GB" sz="1100">
                <a:solidFill>
                  <a:srgbClr val="000000"/>
                </a:solidFill>
              </a:rPr>
              <a:t> Taxonomy &amp; Integration ]</a:t>
            </a:r>
            <a:endParaRPr sz="2000"/>
          </a:p>
        </p:txBody>
      </p:sp>
      <p:sp>
        <p:nvSpPr>
          <p:cNvPr id="544" name="Google Shape;544;p63"/>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545" name="Google Shape;545;p63"/>
          <p:cNvSpPr txBox="1"/>
          <p:nvPr>
            <p:ph type="title"/>
          </p:nvPr>
        </p:nvSpPr>
        <p:spPr>
          <a:xfrm>
            <a:off x="1501775" y="4734450"/>
            <a:ext cx="2743200" cy="32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100"/>
              <a:t>Ahmed Mawlawi</a:t>
            </a:r>
            <a:endParaRPr sz="2100"/>
          </a:p>
        </p:txBody>
      </p:sp>
      <p:pic>
        <p:nvPicPr>
          <p:cNvPr id="546" name="Google Shape;546;p63"/>
          <p:cNvPicPr preferRelativeResize="0"/>
          <p:nvPr/>
        </p:nvPicPr>
        <p:blipFill>
          <a:blip r:embed="rId3">
            <a:alphaModFix/>
          </a:blip>
          <a:stretch>
            <a:fillRect/>
          </a:stretch>
        </p:blipFill>
        <p:spPr>
          <a:xfrm>
            <a:off x="120775" y="1217325"/>
            <a:ext cx="3492249" cy="3431777"/>
          </a:xfrm>
          <a:prstGeom prst="rect">
            <a:avLst/>
          </a:prstGeom>
          <a:noFill/>
          <a:ln>
            <a:noFill/>
          </a:ln>
        </p:spPr>
      </p:pic>
      <p:pic>
        <p:nvPicPr>
          <p:cNvPr id="547" name="Google Shape;547;p63"/>
          <p:cNvPicPr preferRelativeResize="0"/>
          <p:nvPr/>
        </p:nvPicPr>
        <p:blipFill>
          <a:blip r:embed="rId4">
            <a:alphaModFix/>
          </a:blip>
          <a:stretch>
            <a:fillRect/>
          </a:stretch>
        </p:blipFill>
        <p:spPr>
          <a:xfrm>
            <a:off x="3665950" y="1399613"/>
            <a:ext cx="5530977" cy="269258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4"/>
          <p:cNvSpPr txBox="1"/>
          <p:nvPr>
            <p:ph type="title"/>
          </p:nvPr>
        </p:nvSpPr>
        <p:spPr>
          <a:xfrm>
            <a:off x="366750" y="175350"/>
            <a:ext cx="8604000" cy="3387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i="1" lang="en-GB" sz="2200">
                <a:solidFill>
                  <a:schemeClr val="lt1"/>
                </a:solidFill>
              </a:rPr>
              <a:t>Anatomical vs. Pathological Diversity</a:t>
            </a:r>
            <a:endParaRPr sz="2200">
              <a:solidFill>
                <a:schemeClr val="lt1"/>
              </a:solidFill>
            </a:endParaRPr>
          </a:p>
        </p:txBody>
      </p:sp>
      <p:sp>
        <p:nvSpPr>
          <p:cNvPr id="553" name="Google Shape;553;p64"/>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554" name="Google Shape;554;p64"/>
          <p:cNvSpPr txBox="1"/>
          <p:nvPr>
            <p:ph type="title"/>
          </p:nvPr>
        </p:nvSpPr>
        <p:spPr>
          <a:xfrm>
            <a:off x="1501775" y="4734450"/>
            <a:ext cx="2743200" cy="32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100"/>
              <a:t>Ahmed Mawlawi</a:t>
            </a:r>
            <a:endParaRPr sz="2100"/>
          </a:p>
        </p:txBody>
      </p:sp>
      <p:pic>
        <p:nvPicPr>
          <p:cNvPr id="555" name="Google Shape;555;p64"/>
          <p:cNvPicPr preferRelativeResize="0"/>
          <p:nvPr/>
        </p:nvPicPr>
        <p:blipFill>
          <a:blip r:embed="rId3">
            <a:alphaModFix/>
          </a:blip>
          <a:stretch>
            <a:fillRect/>
          </a:stretch>
        </p:blipFill>
        <p:spPr>
          <a:xfrm>
            <a:off x="148950" y="745800"/>
            <a:ext cx="4461160" cy="4000200"/>
          </a:xfrm>
          <a:prstGeom prst="rect">
            <a:avLst/>
          </a:prstGeom>
          <a:noFill/>
          <a:ln>
            <a:noFill/>
          </a:ln>
        </p:spPr>
      </p:pic>
      <p:pic>
        <p:nvPicPr>
          <p:cNvPr id="556" name="Google Shape;556;p64"/>
          <p:cNvPicPr preferRelativeResize="0"/>
          <p:nvPr/>
        </p:nvPicPr>
        <p:blipFill>
          <a:blip r:embed="rId4">
            <a:alphaModFix/>
          </a:blip>
          <a:stretch>
            <a:fillRect/>
          </a:stretch>
        </p:blipFill>
        <p:spPr>
          <a:xfrm>
            <a:off x="4879858" y="835076"/>
            <a:ext cx="3873618" cy="34733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5"/>
          <p:cNvSpPr txBox="1"/>
          <p:nvPr>
            <p:ph type="title"/>
          </p:nvPr>
        </p:nvSpPr>
        <p:spPr>
          <a:xfrm>
            <a:off x="366750" y="175350"/>
            <a:ext cx="8604000" cy="3387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i="1" lang="en-GB" sz="2200">
                <a:solidFill>
                  <a:schemeClr val="lt1"/>
                </a:solidFill>
              </a:rPr>
              <a:t>Dysbiosis Profiling &amp; Biomarker Discovery</a:t>
            </a:r>
            <a:endParaRPr sz="2200">
              <a:solidFill>
                <a:schemeClr val="lt1"/>
              </a:solidFill>
            </a:endParaRPr>
          </a:p>
        </p:txBody>
      </p:sp>
      <p:sp>
        <p:nvSpPr>
          <p:cNvPr id="562" name="Google Shape;562;p65"/>
          <p:cNvSpPr txBox="1"/>
          <p:nvPr>
            <p:ph idx="12" type="sldNum"/>
          </p:nvPr>
        </p:nvSpPr>
        <p:spPr>
          <a:xfrm>
            <a:off x="8301300" y="4819050"/>
            <a:ext cx="572700" cy="153900"/>
          </a:xfrm>
          <a:prstGeom prst="rect">
            <a:avLst/>
          </a:prstGeom>
        </p:spPr>
        <p:txBody>
          <a:bodyPr anchorCtr="0" anchor="ctr"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
        <p:nvSpPr>
          <p:cNvPr id="563" name="Google Shape;563;p65"/>
          <p:cNvSpPr txBox="1"/>
          <p:nvPr>
            <p:ph type="title"/>
          </p:nvPr>
        </p:nvSpPr>
        <p:spPr>
          <a:xfrm>
            <a:off x="1501775" y="4734450"/>
            <a:ext cx="2743200" cy="32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sz="2100"/>
              <a:t>Ahmed Mawlawi</a:t>
            </a:r>
            <a:endParaRPr sz="2100"/>
          </a:p>
        </p:txBody>
      </p:sp>
      <p:pic>
        <p:nvPicPr>
          <p:cNvPr id="564" name="Google Shape;564;p65"/>
          <p:cNvPicPr preferRelativeResize="0"/>
          <p:nvPr/>
        </p:nvPicPr>
        <p:blipFill>
          <a:blip r:embed="rId3">
            <a:alphaModFix/>
          </a:blip>
          <a:stretch>
            <a:fillRect/>
          </a:stretch>
        </p:blipFill>
        <p:spPr>
          <a:xfrm>
            <a:off x="-4676" y="1096438"/>
            <a:ext cx="4508949" cy="3055620"/>
          </a:xfrm>
          <a:prstGeom prst="rect">
            <a:avLst/>
          </a:prstGeom>
          <a:noFill/>
          <a:ln>
            <a:noFill/>
          </a:ln>
        </p:spPr>
      </p:pic>
      <p:pic>
        <p:nvPicPr>
          <p:cNvPr id="565" name="Google Shape;565;p65"/>
          <p:cNvPicPr preferRelativeResize="0"/>
          <p:nvPr/>
        </p:nvPicPr>
        <p:blipFill>
          <a:blip r:embed="rId4">
            <a:alphaModFix/>
          </a:blip>
          <a:stretch>
            <a:fillRect/>
          </a:stretch>
        </p:blipFill>
        <p:spPr>
          <a:xfrm>
            <a:off x="4572000" y="1043965"/>
            <a:ext cx="4508949" cy="305557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6"/>
          <p:cNvSpPr txBox="1"/>
          <p:nvPr>
            <p:ph type="title"/>
          </p:nvPr>
        </p:nvSpPr>
        <p:spPr>
          <a:xfrm>
            <a:off x="274320" y="201168"/>
            <a:ext cx="86046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2800">
                <a:solidFill>
                  <a:srgbClr val="FFFFFF"/>
                </a:solidFill>
                <a:latin typeface="Arial"/>
                <a:ea typeface="Arial"/>
                <a:cs typeface="Arial"/>
                <a:sym typeface="Arial"/>
              </a:rPr>
              <a:t>58% of 10.6 M reads survive to 12,902 ASVs</a:t>
            </a:r>
            <a:endParaRPr b="0" sz="1400"/>
          </a:p>
        </p:txBody>
      </p:sp>
      <p:sp>
        <p:nvSpPr>
          <p:cNvPr id="571" name="Google Shape;571;p66"/>
          <p:cNvSpPr/>
          <p:nvPr/>
        </p:nvSpPr>
        <p:spPr>
          <a:xfrm>
            <a:off x="274320" y="1131566"/>
            <a:ext cx="8595300" cy="4023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66"/>
          <p:cNvSpPr txBox="1"/>
          <p:nvPr/>
        </p:nvSpPr>
        <p:spPr>
          <a:xfrm>
            <a:off x="411480" y="1149853"/>
            <a:ext cx="8321100" cy="3141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3E72"/>
                </a:solidFill>
                <a:latin typeface="Arial"/>
                <a:ea typeface="Arial"/>
                <a:cs typeface="Arial"/>
                <a:sym typeface="Arial"/>
              </a:rPr>
              <a:t>Aim: what reshapes an oil-well microbiome — the supplement, or time?</a:t>
            </a:r>
            <a:endParaRPr b="0" i="0" sz="1400" u="none" cap="none" strike="noStrike">
              <a:solidFill>
                <a:srgbClr val="000000"/>
              </a:solidFill>
              <a:latin typeface="Arial"/>
              <a:ea typeface="Arial"/>
              <a:cs typeface="Arial"/>
              <a:sym typeface="Arial"/>
            </a:endParaRPr>
          </a:p>
        </p:txBody>
      </p:sp>
      <p:sp>
        <p:nvSpPr>
          <p:cNvPr id="573" name="Google Shape;573;p66"/>
          <p:cNvSpPr/>
          <p:nvPr/>
        </p:nvSpPr>
        <p:spPr>
          <a:xfrm>
            <a:off x="274358" y="1682441"/>
            <a:ext cx="1645800" cy="530400"/>
          </a:xfrm>
          <a:prstGeom prst="roundRect">
            <a:avLst>
              <a:gd fmla="val 12000" name="adj"/>
            </a:avLst>
          </a:prstGeom>
          <a:solidFill>
            <a:srgbClr val="0072C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66"/>
          <p:cNvSpPr txBox="1"/>
          <p:nvPr/>
        </p:nvSpPr>
        <p:spPr>
          <a:xfrm>
            <a:off x="347283" y="1765767"/>
            <a:ext cx="1572900" cy="314100"/>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Arial"/>
                <a:ea typeface="Arial"/>
                <a:cs typeface="Arial"/>
                <a:sym typeface="Arial"/>
              </a:rPr>
              <a:t>Raw reads</a:t>
            </a:r>
            <a:endParaRPr b="0" i="0" sz="1400" u="none" cap="none" strike="noStrike">
              <a:solidFill>
                <a:srgbClr val="000000"/>
              </a:solidFill>
              <a:latin typeface="Arial"/>
              <a:ea typeface="Arial"/>
              <a:cs typeface="Arial"/>
              <a:sym typeface="Arial"/>
            </a:endParaRPr>
          </a:p>
        </p:txBody>
      </p:sp>
      <p:sp>
        <p:nvSpPr>
          <p:cNvPr id="575" name="Google Shape;575;p66"/>
          <p:cNvSpPr/>
          <p:nvPr/>
        </p:nvSpPr>
        <p:spPr>
          <a:xfrm rot="5400000">
            <a:off x="1915682" y="1846925"/>
            <a:ext cx="100500" cy="201300"/>
          </a:xfrm>
          <a:prstGeom prst="triangle">
            <a:avLst>
              <a:gd fmla="val 50000" name="adj"/>
            </a:avLst>
          </a:prstGeom>
          <a:solidFill>
            <a:srgbClr val="68AC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66"/>
          <p:cNvSpPr txBox="1"/>
          <p:nvPr/>
        </p:nvSpPr>
        <p:spPr>
          <a:xfrm>
            <a:off x="160748" y="2419206"/>
            <a:ext cx="1920300" cy="7758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ENA PRJNA894184</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74 samples</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148 FASTQ files</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250 bp paired-end</a:t>
            </a:r>
            <a:endParaRPr b="0" i="0" sz="1200" u="none" cap="none" strike="noStrike">
              <a:solidFill>
                <a:srgbClr val="000000"/>
              </a:solidFill>
              <a:latin typeface="Arial"/>
              <a:ea typeface="Arial"/>
              <a:cs typeface="Arial"/>
              <a:sym typeface="Arial"/>
            </a:endParaRPr>
          </a:p>
        </p:txBody>
      </p:sp>
      <p:sp>
        <p:nvSpPr>
          <p:cNvPr id="577" name="Google Shape;577;p66"/>
          <p:cNvSpPr txBox="1"/>
          <p:nvPr/>
        </p:nvSpPr>
        <p:spPr>
          <a:xfrm>
            <a:off x="122673" y="3282585"/>
            <a:ext cx="1920300" cy="5604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003E72"/>
                </a:solidFill>
                <a:latin typeface="Arial"/>
                <a:ea typeface="Arial"/>
                <a:cs typeface="Arial"/>
                <a:sym typeface="Arial"/>
              </a:rPr>
              <a:t>10,607,522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5A5A5A"/>
                </a:solidFill>
                <a:latin typeface="Arial"/>
                <a:ea typeface="Arial"/>
                <a:cs typeface="Arial"/>
                <a:sym typeface="Arial"/>
              </a:rPr>
              <a:t>reads</a:t>
            </a:r>
            <a:endParaRPr b="0" i="0" sz="1400" u="none" cap="none" strike="noStrike">
              <a:solidFill>
                <a:srgbClr val="000000"/>
              </a:solidFill>
              <a:latin typeface="Arial"/>
              <a:ea typeface="Arial"/>
              <a:cs typeface="Arial"/>
              <a:sym typeface="Arial"/>
            </a:endParaRPr>
          </a:p>
        </p:txBody>
      </p:sp>
      <p:sp>
        <p:nvSpPr>
          <p:cNvPr id="578" name="Google Shape;578;p66"/>
          <p:cNvSpPr/>
          <p:nvPr/>
        </p:nvSpPr>
        <p:spPr>
          <a:xfrm>
            <a:off x="2011717" y="1682441"/>
            <a:ext cx="1645800" cy="530400"/>
          </a:xfrm>
          <a:prstGeom prst="roundRect">
            <a:avLst>
              <a:gd fmla="val 12000" name="adj"/>
            </a:avLst>
          </a:prstGeom>
          <a:solidFill>
            <a:srgbClr val="0072C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66"/>
          <p:cNvSpPr txBox="1"/>
          <p:nvPr/>
        </p:nvSpPr>
        <p:spPr>
          <a:xfrm>
            <a:off x="2048156" y="1765767"/>
            <a:ext cx="1572900" cy="314100"/>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Arial"/>
                <a:ea typeface="Arial"/>
                <a:cs typeface="Arial"/>
                <a:sym typeface="Arial"/>
              </a:rPr>
              <a:t>Filter &amp; trim</a:t>
            </a:r>
            <a:endParaRPr b="0" i="0" sz="1400" u="none" cap="none" strike="noStrike">
              <a:solidFill>
                <a:srgbClr val="000000"/>
              </a:solidFill>
              <a:latin typeface="Arial"/>
              <a:ea typeface="Arial"/>
              <a:cs typeface="Arial"/>
              <a:sym typeface="Arial"/>
            </a:endParaRPr>
          </a:p>
        </p:txBody>
      </p:sp>
      <p:sp>
        <p:nvSpPr>
          <p:cNvPr id="580" name="Google Shape;580;p66"/>
          <p:cNvSpPr/>
          <p:nvPr/>
        </p:nvSpPr>
        <p:spPr>
          <a:xfrm rot="5400000">
            <a:off x="3653042" y="1846925"/>
            <a:ext cx="100500" cy="201300"/>
          </a:xfrm>
          <a:prstGeom prst="triangle">
            <a:avLst>
              <a:gd fmla="val 50000" name="adj"/>
            </a:avLst>
          </a:prstGeom>
          <a:solidFill>
            <a:srgbClr val="68AC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66"/>
          <p:cNvSpPr txBox="1"/>
          <p:nvPr/>
        </p:nvSpPr>
        <p:spPr>
          <a:xfrm>
            <a:off x="1898108" y="2419206"/>
            <a:ext cx="1920300" cy="7758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filterAndTrim</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trimLeft 19 / 20</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truncLen 240 / 220</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maxEE 2,2 · truncQ 2</a:t>
            </a:r>
            <a:endParaRPr b="0" i="0" sz="1200" u="none" cap="none" strike="noStrike">
              <a:solidFill>
                <a:srgbClr val="000000"/>
              </a:solidFill>
              <a:latin typeface="Arial"/>
              <a:ea typeface="Arial"/>
              <a:cs typeface="Arial"/>
              <a:sym typeface="Arial"/>
            </a:endParaRPr>
          </a:p>
        </p:txBody>
      </p:sp>
      <p:sp>
        <p:nvSpPr>
          <p:cNvPr id="582" name="Google Shape;582;p66"/>
          <p:cNvSpPr txBox="1"/>
          <p:nvPr/>
        </p:nvSpPr>
        <p:spPr>
          <a:xfrm>
            <a:off x="1860033" y="3282585"/>
            <a:ext cx="1920300" cy="5604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003E72"/>
                </a:solidFill>
                <a:latin typeface="Arial"/>
                <a:ea typeface="Arial"/>
                <a:cs typeface="Arial"/>
                <a:sym typeface="Arial"/>
              </a:rPr>
              <a:t>9,485,615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5A5A5A"/>
                </a:solidFill>
                <a:latin typeface="Arial"/>
                <a:ea typeface="Arial"/>
                <a:cs typeface="Arial"/>
                <a:sym typeface="Arial"/>
              </a:rPr>
              <a:t>reads  (89.4%)</a:t>
            </a:r>
            <a:endParaRPr b="0" i="0" sz="1400" u="none" cap="none" strike="noStrike">
              <a:solidFill>
                <a:srgbClr val="000000"/>
              </a:solidFill>
              <a:latin typeface="Arial"/>
              <a:ea typeface="Arial"/>
              <a:cs typeface="Arial"/>
              <a:sym typeface="Arial"/>
            </a:endParaRPr>
          </a:p>
        </p:txBody>
      </p:sp>
      <p:sp>
        <p:nvSpPr>
          <p:cNvPr id="583" name="Google Shape;583;p66"/>
          <p:cNvSpPr/>
          <p:nvPr/>
        </p:nvSpPr>
        <p:spPr>
          <a:xfrm>
            <a:off x="3749078" y="1682441"/>
            <a:ext cx="1645800" cy="530400"/>
          </a:xfrm>
          <a:prstGeom prst="roundRect">
            <a:avLst>
              <a:gd fmla="val 12000" name="adj"/>
            </a:avLst>
          </a:prstGeom>
          <a:solidFill>
            <a:srgbClr val="0072C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66"/>
          <p:cNvSpPr txBox="1"/>
          <p:nvPr/>
        </p:nvSpPr>
        <p:spPr>
          <a:xfrm>
            <a:off x="3785529" y="1660329"/>
            <a:ext cx="1572900" cy="560400"/>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Clr>
                <a:srgbClr val="000000"/>
              </a:buClr>
              <a:buSzPts val="1800"/>
              <a:buFont typeface="Arial"/>
              <a:buNone/>
            </a:pPr>
            <a:r>
              <a:rPr b="1" i="0" lang="en-GB" sz="1700" u="none" cap="none" strike="noStrike">
                <a:solidFill>
                  <a:srgbClr val="FFFFFF"/>
                </a:solidFill>
                <a:latin typeface="Arial"/>
                <a:ea typeface="Arial"/>
                <a:cs typeface="Arial"/>
                <a:sym typeface="Arial"/>
              </a:rPr>
              <a:t>Denoise &amp; merge</a:t>
            </a:r>
            <a:endParaRPr b="0" i="0" sz="1300" u="none" cap="none" strike="noStrike">
              <a:solidFill>
                <a:srgbClr val="000000"/>
              </a:solidFill>
              <a:latin typeface="Arial"/>
              <a:ea typeface="Arial"/>
              <a:cs typeface="Arial"/>
              <a:sym typeface="Arial"/>
            </a:endParaRPr>
          </a:p>
        </p:txBody>
      </p:sp>
      <p:sp>
        <p:nvSpPr>
          <p:cNvPr id="585" name="Google Shape;585;p66"/>
          <p:cNvSpPr/>
          <p:nvPr/>
        </p:nvSpPr>
        <p:spPr>
          <a:xfrm rot="5400000">
            <a:off x="5390402" y="1846925"/>
            <a:ext cx="100500" cy="201300"/>
          </a:xfrm>
          <a:prstGeom prst="triangle">
            <a:avLst>
              <a:gd fmla="val 50000" name="adj"/>
            </a:avLst>
          </a:prstGeom>
          <a:solidFill>
            <a:srgbClr val="68AC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66"/>
          <p:cNvSpPr txBox="1"/>
          <p:nvPr/>
        </p:nvSpPr>
        <p:spPr>
          <a:xfrm>
            <a:off x="3635468" y="2419206"/>
            <a:ext cx="1920300" cy="7758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dada + mergePairs</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learned error model</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overlap ≥ 12 bp</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seen: 48–51 bp</a:t>
            </a:r>
            <a:endParaRPr b="0" i="0" sz="1200" u="none" cap="none" strike="noStrike">
              <a:solidFill>
                <a:srgbClr val="000000"/>
              </a:solidFill>
              <a:latin typeface="Arial"/>
              <a:ea typeface="Arial"/>
              <a:cs typeface="Arial"/>
              <a:sym typeface="Arial"/>
            </a:endParaRPr>
          </a:p>
        </p:txBody>
      </p:sp>
      <p:sp>
        <p:nvSpPr>
          <p:cNvPr id="587" name="Google Shape;587;p66"/>
          <p:cNvSpPr txBox="1"/>
          <p:nvPr/>
        </p:nvSpPr>
        <p:spPr>
          <a:xfrm>
            <a:off x="3597393" y="3282585"/>
            <a:ext cx="1920300" cy="5604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003E72"/>
                </a:solidFill>
                <a:latin typeface="Arial"/>
                <a:ea typeface="Arial"/>
                <a:cs typeface="Arial"/>
                <a:sym typeface="Arial"/>
              </a:rPr>
              <a:t>8,873,208</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5A5A5A"/>
                </a:solidFill>
                <a:latin typeface="Arial"/>
                <a:ea typeface="Arial"/>
                <a:cs typeface="Arial"/>
                <a:sym typeface="Arial"/>
              </a:rPr>
              <a:t>reads  (83.6%)</a:t>
            </a:r>
            <a:endParaRPr b="0" i="0" sz="1400" u="none" cap="none" strike="noStrike">
              <a:solidFill>
                <a:srgbClr val="000000"/>
              </a:solidFill>
              <a:latin typeface="Arial"/>
              <a:ea typeface="Arial"/>
              <a:cs typeface="Arial"/>
              <a:sym typeface="Arial"/>
            </a:endParaRPr>
          </a:p>
        </p:txBody>
      </p:sp>
      <p:sp>
        <p:nvSpPr>
          <p:cNvPr id="588" name="Google Shape;588;p66"/>
          <p:cNvSpPr/>
          <p:nvPr/>
        </p:nvSpPr>
        <p:spPr>
          <a:xfrm>
            <a:off x="5486438" y="1682441"/>
            <a:ext cx="1645800" cy="530400"/>
          </a:xfrm>
          <a:prstGeom prst="roundRect">
            <a:avLst>
              <a:gd fmla="val 12000" name="adj"/>
            </a:avLst>
          </a:prstGeom>
          <a:solidFill>
            <a:srgbClr val="0072C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66"/>
          <p:cNvSpPr txBox="1"/>
          <p:nvPr/>
        </p:nvSpPr>
        <p:spPr>
          <a:xfrm>
            <a:off x="5522888" y="1660317"/>
            <a:ext cx="1572900" cy="560400"/>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Clr>
                <a:srgbClr val="000000"/>
              </a:buClr>
              <a:buSzPts val="1800"/>
              <a:buFont typeface="Arial"/>
              <a:buNone/>
            </a:pPr>
            <a:r>
              <a:rPr b="1" i="0" lang="en-GB" sz="1700" u="none" cap="none" strike="noStrike">
                <a:solidFill>
                  <a:srgbClr val="FFFFFF"/>
                </a:solidFill>
                <a:latin typeface="Arial"/>
                <a:ea typeface="Arial"/>
                <a:cs typeface="Arial"/>
                <a:sym typeface="Arial"/>
              </a:rPr>
              <a:t>Remove chimeras</a:t>
            </a:r>
            <a:endParaRPr b="0" i="0" sz="1300" u="none" cap="none" strike="noStrike">
              <a:solidFill>
                <a:srgbClr val="000000"/>
              </a:solidFill>
              <a:latin typeface="Arial"/>
              <a:ea typeface="Arial"/>
              <a:cs typeface="Arial"/>
              <a:sym typeface="Arial"/>
            </a:endParaRPr>
          </a:p>
        </p:txBody>
      </p:sp>
      <p:sp>
        <p:nvSpPr>
          <p:cNvPr id="590" name="Google Shape;590;p66"/>
          <p:cNvSpPr/>
          <p:nvPr/>
        </p:nvSpPr>
        <p:spPr>
          <a:xfrm rot="5400000">
            <a:off x="7127762" y="1846925"/>
            <a:ext cx="100500" cy="201300"/>
          </a:xfrm>
          <a:prstGeom prst="triangle">
            <a:avLst>
              <a:gd fmla="val 50000" name="adj"/>
            </a:avLst>
          </a:prstGeom>
          <a:solidFill>
            <a:srgbClr val="68AC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66"/>
          <p:cNvSpPr txBox="1"/>
          <p:nvPr/>
        </p:nvSpPr>
        <p:spPr>
          <a:xfrm>
            <a:off x="5349203" y="2347181"/>
            <a:ext cx="1920300" cy="9606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removeBimeraDenovo</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consensus method</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102,467 chimeric</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ASVs (Amplicon Sequence Variant</a:t>
            </a:r>
            <a:r>
              <a:rPr lang="en-GB" sz="1200">
                <a:solidFill>
                  <a:srgbClr val="5A5A5A"/>
                </a:solidFill>
              </a:rPr>
              <a:t>s) </a:t>
            </a:r>
            <a:r>
              <a:rPr b="0" i="0" lang="en-GB" sz="1200" u="none" cap="none" strike="noStrike">
                <a:solidFill>
                  <a:srgbClr val="5A5A5A"/>
                </a:solidFill>
                <a:latin typeface="Arial"/>
                <a:ea typeface="Arial"/>
                <a:cs typeface="Arial"/>
                <a:sym typeface="Arial"/>
              </a:rPr>
              <a:t>removed</a:t>
            </a:r>
            <a:endParaRPr b="0" i="0" sz="1200" u="none" cap="none" strike="noStrike">
              <a:solidFill>
                <a:srgbClr val="000000"/>
              </a:solidFill>
              <a:latin typeface="Arial"/>
              <a:ea typeface="Arial"/>
              <a:cs typeface="Arial"/>
              <a:sym typeface="Arial"/>
            </a:endParaRPr>
          </a:p>
        </p:txBody>
      </p:sp>
      <p:sp>
        <p:nvSpPr>
          <p:cNvPr id="592" name="Google Shape;592;p66"/>
          <p:cNvSpPr txBox="1"/>
          <p:nvPr/>
        </p:nvSpPr>
        <p:spPr>
          <a:xfrm>
            <a:off x="5334753" y="3282585"/>
            <a:ext cx="1920300" cy="5604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003E72"/>
                </a:solidFill>
                <a:latin typeface="Arial"/>
                <a:ea typeface="Arial"/>
                <a:cs typeface="Arial"/>
                <a:sym typeface="Arial"/>
              </a:rPr>
              <a:t>6,181,969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5A5A5A"/>
                </a:solidFill>
                <a:latin typeface="Arial"/>
                <a:ea typeface="Arial"/>
                <a:cs typeface="Arial"/>
                <a:sym typeface="Arial"/>
              </a:rPr>
              <a:t>reads  (58.3%)</a:t>
            </a:r>
            <a:endParaRPr b="0" i="0" sz="1400" u="none" cap="none" strike="noStrike">
              <a:solidFill>
                <a:srgbClr val="000000"/>
              </a:solidFill>
              <a:latin typeface="Arial"/>
              <a:ea typeface="Arial"/>
              <a:cs typeface="Arial"/>
              <a:sym typeface="Arial"/>
            </a:endParaRPr>
          </a:p>
        </p:txBody>
      </p:sp>
      <p:sp>
        <p:nvSpPr>
          <p:cNvPr id="593" name="Google Shape;593;p66"/>
          <p:cNvSpPr/>
          <p:nvPr/>
        </p:nvSpPr>
        <p:spPr>
          <a:xfrm>
            <a:off x="7223798" y="1682441"/>
            <a:ext cx="1645800" cy="530400"/>
          </a:xfrm>
          <a:prstGeom prst="roundRect">
            <a:avLst>
              <a:gd fmla="val 12000" name="adj"/>
            </a:avLst>
          </a:prstGeom>
          <a:solidFill>
            <a:srgbClr val="0072C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66"/>
          <p:cNvSpPr txBox="1"/>
          <p:nvPr/>
        </p:nvSpPr>
        <p:spPr>
          <a:xfrm>
            <a:off x="7223824" y="1660317"/>
            <a:ext cx="1572900" cy="560400"/>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Clr>
                <a:srgbClr val="000000"/>
              </a:buClr>
              <a:buSzPts val="1800"/>
              <a:buFont typeface="Arial"/>
              <a:buNone/>
            </a:pPr>
            <a:r>
              <a:rPr b="1" i="0" lang="en-GB" sz="1700" u="none" cap="none" strike="noStrike">
                <a:solidFill>
                  <a:srgbClr val="FFFFFF"/>
                </a:solidFill>
                <a:latin typeface="Arial"/>
                <a:ea typeface="Arial"/>
                <a:cs typeface="Arial"/>
                <a:sym typeface="Arial"/>
              </a:rPr>
              <a:t>Assign taxonomy</a:t>
            </a:r>
            <a:endParaRPr b="0" i="0" sz="1300" u="none" cap="none" strike="noStrike">
              <a:solidFill>
                <a:srgbClr val="000000"/>
              </a:solidFill>
              <a:latin typeface="Arial"/>
              <a:ea typeface="Arial"/>
              <a:cs typeface="Arial"/>
              <a:sym typeface="Arial"/>
            </a:endParaRPr>
          </a:p>
        </p:txBody>
      </p:sp>
      <p:sp>
        <p:nvSpPr>
          <p:cNvPr id="595" name="Google Shape;595;p66"/>
          <p:cNvSpPr txBox="1"/>
          <p:nvPr/>
        </p:nvSpPr>
        <p:spPr>
          <a:xfrm>
            <a:off x="7110188" y="2565181"/>
            <a:ext cx="1920300" cy="5910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assignTaxonomy</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SILVA v138.1</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5A5A5A"/>
                </a:solidFill>
                <a:latin typeface="Arial"/>
                <a:ea typeface="Arial"/>
                <a:cs typeface="Arial"/>
                <a:sym typeface="Arial"/>
              </a:rPr>
              <a:t>minBoot = 50</a:t>
            </a:r>
            <a:endParaRPr b="0" i="0" sz="1200" u="none" cap="none" strike="noStrike">
              <a:solidFill>
                <a:srgbClr val="000000"/>
              </a:solidFill>
              <a:latin typeface="Arial"/>
              <a:ea typeface="Arial"/>
              <a:cs typeface="Arial"/>
              <a:sym typeface="Arial"/>
            </a:endParaRPr>
          </a:p>
        </p:txBody>
      </p:sp>
      <p:sp>
        <p:nvSpPr>
          <p:cNvPr id="596" name="Google Shape;596;p66"/>
          <p:cNvSpPr txBox="1"/>
          <p:nvPr/>
        </p:nvSpPr>
        <p:spPr>
          <a:xfrm>
            <a:off x="7072113" y="3282585"/>
            <a:ext cx="1920300" cy="5604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2000"/>
              <a:buFont typeface="Arial"/>
              <a:buNone/>
            </a:pPr>
            <a:r>
              <a:rPr b="1" i="0" lang="en-GB" sz="2000" u="none" cap="none" strike="noStrike">
                <a:solidFill>
                  <a:srgbClr val="003E72"/>
                </a:solidFill>
                <a:latin typeface="Arial"/>
                <a:ea typeface="Arial"/>
                <a:cs typeface="Arial"/>
                <a:sym typeface="Arial"/>
              </a:rPr>
              <a:t>12,902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5A5A5A"/>
                </a:solidFill>
                <a:latin typeface="Arial"/>
                <a:ea typeface="Arial"/>
                <a:cs typeface="Arial"/>
                <a:sym typeface="Arial"/>
              </a:rPr>
              <a:t>ASVs kept</a:t>
            </a:r>
            <a:endParaRPr b="0" i="0" sz="1400" u="none" cap="none" strike="noStrike">
              <a:solidFill>
                <a:srgbClr val="000000"/>
              </a:solidFill>
              <a:latin typeface="Arial"/>
              <a:ea typeface="Arial"/>
              <a:cs typeface="Arial"/>
              <a:sym typeface="Arial"/>
            </a:endParaRPr>
          </a:p>
        </p:txBody>
      </p:sp>
      <p:sp>
        <p:nvSpPr>
          <p:cNvPr id="597" name="Google Shape;597;p66"/>
          <p:cNvSpPr/>
          <p:nvPr/>
        </p:nvSpPr>
        <p:spPr>
          <a:xfrm>
            <a:off x="274350" y="4046071"/>
            <a:ext cx="8595300" cy="4023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66"/>
          <p:cNvSpPr txBox="1"/>
          <p:nvPr/>
        </p:nvSpPr>
        <p:spPr>
          <a:xfrm>
            <a:off x="416025" y="4121076"/>
            <a:ext cx="8321100" cy="2523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3E72"/>
                </a:solidFill>
                <a:latin typeface="Arial"/>
                <a:ea typeface="Arial"/>
                <a:cs typeface="Arial"/>
                <a:sym typeface="Arial"/>
              </a:rPr>
              <a:t>16S rRNA amplicon (515f–926r) · 74 microcosms from oil Well D · 4 supplements × 6 days × 3 replicates</a:t>
            </a:r>
            <a:endParaRPr b="0" i="0" sz="1400" u="none" cap="none" strike="noStrike">
              <a:solidFill>
                <a:srgbClr val="000000"/>
              </a:solidFill>
              <a:latin typeface="Arial"/>
              <a:ea typeface="Arial"/>
              <a:cs typeface="Arial"/>
              <a:sym typeface="Arial"/>
            </a:endParaRPr>
          </a:p>
        </p:txBody>
      </p:sp>
      <p:sp>
        <p:nvSpPr>
          <p:cNvPr id="599" name="Google Shape;599;p66"/>
          <p:cNvSpPr txBox="1"/>
          <p:nvPr/>
        </p:nvSpPr>
        <p:spPr>
          <a:xfrm>
            <a:off x="893950" y="4759276"/>
            <a:ext cx="8321100" cy="2601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450"/>
              <a:buFont typeface="Arial"/>
              <a:buNone/>
            </a:pPr>
            <a:r>
              <a:rPr b="1" i="0" lang="en-GB" sz="1450" u="none" cap="none" strike="noStrike">
                <a:solidFill>
                  <a:schemeClr val="lt1"/>
                </a:solidFill>
                <a:latin typeface="Arial"/>
                <a:ea typeface="Arial"/>
                <a:cs typeface="Arial"/>
                <a:sym typeface="Arial"/>
              </a:rPr>
              <a:t>Thikra </a:t>
            </a:r>
            <a:r>
              <a:rPr b="0" i="0" lang="en-GB" sz="1150" u="none" cap="none" strike="noStrike">
                <a:solidFill>
                  <a:schemeClr val="lt1"/>
                </a:solidFill>
                <a:latin typeface="Arial"/>
                <a:ea typeface="Arial"/>
                <a:cs typeface="Arial"/>
                <a:sym typeface="Arial"/>
              </a:rPr>
              <a:t>  · </a:t>
            </a:r>
            <a:r>
              <a:rPr b="0" i="0" lang="en-GB" sz="1100" u="none" cap="none" strike="noStrike">
                <a:solidFill>
                  <a:schemeClr val="lt1"/>
                </a:solidFill>
                <a:latin typeface="Arial"/>
                <a:ea typeface="Arial"/>
                <a:cs typeface="Arial"/>
                <a:sym typeface="Arial"/>
              </a:rPr>
              <a:t> Hillman et al. (2022), </a:t>
            </a:r>
            <a:r>
              <a:rPr b="0" i="1" lang="en-GB" sz="1100" u="none" cap="none" strike="noStrike">
                <a:solidFill>
                  <a:schemeClr val="lt1"/>
                </a:solidFill>
                <a:latin typeface="Arial"/>
                <a:ea typeface="Arial"/>
                <a:cs typeface="Arial"/>
                <a:sym typeface="Arial"/>
              </a:rPr>
              <a:t>AIChE Journal, 68</a:t>
            </a:r>
            <a:r>
              <a:rPr b="0" i="0" lang="en-GB" sz="1100" u="none" cap="none" strike="noStrike">
                <a:solidFill>
                  <a:schemeClr val="lt1"/>
                </a:solidFill>
                <a:latin typeface="Arial"/>
                <a:ea typeface="Arial"/>
                <a:cs typeface="Arial"/>
                <a:sym typeface="Arial"/>
              </a:rPr>
              <a:t>(12), e17927. https://doi.org/10.1002/aic.17927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7"/>
          <p:cNvSpPr txBox="1"/>
          <p:nvPr>
            <p:ph type="title"/>
          </p:nvPr>
        </p:nvSpPr>
        <p:spPr>
          <a:xfrm>
            <a:off x="274320" y="201168"/>
            <a:ext cx="86046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2800">
                <a:solidFill>
                  <a:srgbClr val="FFFFFF"/>
                </a:solidFill>
                <a:latin typeface="Arial"/>
                <a:ea typeface="Arial"/>
                <a:cs typeface="Arial"/>
                <a:sym typeface="Arial"/>
              </a:rPr>
              <a:t>Treated communities diverge, then reconverge</a:t>
            </a:r>
            <a:endParaRPr/>
          </a:p>
        </p:txBody>
      </p:sp>
      <p:pic>
        <p:nvPicPr>
          <p:cNvPr descr="panel2_crop.png" id="605" name="Google Shape;605;p67"/>
          <p:cNvPicPr preferRelativeResize="0"/>
          <p:nvPr/>
        </p:nvPicPr>
        <p:blipFill rotWithShape="1">
          <a:blip r:embed="rId3">
            <a:alphaModFix/>
          </a:blip>
          <a:srcRect b="0" l="0" r="0" t="0"/>
          <a:stretch/>
        </p:blipFill>
        <p:spPr>
          <a:xfrm>
            <a:off x="86800" y="985850"/>
            <a:ext cx="5693726" cy="3604226"/>
          </a:xfrm>
          <a:prstGeom prst="rect">
            <a:avLst/>
          </a:prstGeom>
          <a:noFill/>
          <a:ln>
            <a:noFill/>
          </a:ln>
        </p:spPr>
      </p:pic>
      <p:sp>
        <p:nvSpPr>
          <p:cNvPr id="606" name="Google Shape;606;p67"/>
          <p:cNvSpPr/>
          <p:nvPr/>
        </p:nvSpPr>
        <p:spPr>
          <a:xfrm>
            <a:off x="5981700" y="2312331"/>
            <a:ext cx="3017400" cy="12579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67"/>
          <p:cNvSpPr txBox="1"/>
          <p:nvPr/>
        </p:nvSpPr>
        <p:spPr>
          <a:xfrm>
            <a:off x="6091338" y="2414921"/>
            <a:ext cx="2798100" cy="10527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2200"/>
              <a:buFont typeface="Arial"/>
              <a:buNone/>
            </a:pPr>
            <a:r>
              <a:rPr b="1" i="0" lang="en-GB" sz="2200" u="none" cap="none" strike="noStrike">
                <a:solidFill>
                  <a:srgbClr val="003E72"/>
                </a:solidFill>
                <a:latin typeface="Arial"/>
                <a:ea typeface="Arial"/>
                <a:cs typeface="Arial"/>
                <a:sym typeface="Arial"/>
              </a:rPr>
              <a:t>The treatment effect is a detour, not a destination.</a:t>
            </a:r>
            <a:endParaRPr b="0" i="0" sz="2100" u="none" cap="none" strike="noStrike">
              <a:solidFill>
                <a:srgbClr val="000000"/>
              </a:solidFill>
              <a:latin typeface="Arial"/>
              <a:ea typeface="Arial"/>
              <a:cs typeface="Arial"/>
              <a:sym typeface="Arial"/>
            </a:endParaRPr>
          </a:p>
        </p:txBody>
      </p:sp>
      <p:sp>
        <p:nvSpPr>
          <p:cNvPr id="608" name="Google Shape;608;p67"/>
          <p:cNvSpPr txBox="1"/>
          <p:nvPr/>
        </p:nvSpPr>
        <p:spPr>
          <a:xfrm>
            <a:off x="893950" y="4759276"/>
            <a:ext cx="8321100" cy="2601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450"/>
              <a:buFont typeface="Arial"/>
              <a:buNone/>
            </a:pPr>
            <a:r>
              <a:rPr b="1" i="0" lang="en-GB" sz="1450" u="none" cap="none" strike="noStrike">
                <a:solidFill>
                  <a:schemeClr val="lt1"/>
                </a:solidFill>
                <a:latin typeface="Arial"/>
                <a:ea typeface="Arial"/>
                <a:cs typeface="Arial"/>
                <a:sym typeface="Arial"/>
              </a:rPr>
              <a:t>Thikra </a:t>
            </a:r>
            <a:r>
              <a:rPr b="0" i="0" lang="en-GB" sz="1150" u="none" cap="none" strike="noStrike">
                <a:solidFill>
                  <a:schemeClr val="lt1"/>
                </a:solidFill>
                <a:latin typeface="Arial"/>
                <a:ea typeface="Arial"/>
                <a:cs typeface="Arial"/>
                <a:sym typeface="Arial"/>
              </a:rPr>
              <a:t>  · </a:t>
            </a:r>
            <a:r>
              <a:rPr b="0" i="0" lang="en-GB" sz="1100" u="none" cap="none" strike="noStrike">
                <a:solidFill>
                  <a:schemeClr val="lt1"/>
                </a:solidFill>
                <a:latin typeface="Arial"/>
                <a:ea typeface="Arial"/>
                <a:cs typeface="Arial"/>
                <a:sym typeface="Arial"/>
              </a:rPr>
              <a:t> Hillman et al. (2022), </a:t>
            </a:r>
            <a:r>
              <a:rPr b="0" i="1" lang="en-GB" sz="1100" u="none" cap="none" strike="noStrike">
                <a:solidFill>
                  <a:schemeClr val="lt1"/>
                </a:solidFill>
                <a:latin typeface="Arial"/>
                <a:ea typeface="Arial"/>
                <a:cs typeface="Arial"/>
                <a:sym typeface="Arial"/>
              </a:rPr>
              <a:t>AIChE Journal, 68</a:t>
            </a:r>
            <a:r>
              <a:rPr b="0" i="0" lang="en-GB" sz="1100" u="none" cap="none" strike="noStrike">
                <a:solidFill>
                  <a:schemeClr val="lt1"/>
                </a:solidFill>
                <a:latin typeface="Arial"/>
                <a:ea typeface="Arial"/>
                <a:cs typeface="Arial"/>
                <a:sym typeface="Arial"/>
              </a:rPr>
              <a:t>(12), e17927. https://doi.org/10.1002/aic.17927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8"/>
          <p:cNvSpPr txBox="1"/>
          <p:nvPr>
            <p:ph type="title"/>
          </p:nvPr>
        </p:nvSpPr>
        <p:spPr>
          <a:xfrm>
            <a:off x="274320" y="201168"/>
            <a:ext cx="86046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2800">
                <a:solidFill>
                  <a:srgbClr val="FFFFFF"/>
                </a:solidFill>
                <a:latin typeface="Arial"/>
                <a:ea typeface="Arial"/>
                <a:cs typeface="Arial"/>
                <a:sym typeface="Arial"/>
              </a:rPr>
              <a:t>Incubation day explains 56%; supplement 15%</a:t>
            </a:r>
            <a:endParaRPr/>
          </a:p>
        </p:txBody>
      </p:sp>
      <p:pic>
        <p:nvPicPr>
          <p:cNvPr descr="panel3_crop.png" id="614" name="Google Shape;614;p68"/>
          <p:cNvPicPr preferRelativeResize="0"/>
          <p:nvPr/>
        </p:nvPicPr>
        <p:blipFill rotWithShape="1">
          <a:blip r:embed="rId3">
            <a:alphaModFix/>
          </a:blip>
          <a:srcRect b="0" l="0" r="0" t="0"/>
          <a:stretch/>
        </p:blipFill>
        <p:spPr>
          <a:xfrm>
            <a:off x="274320" y="1097280"/>
            <a:ext cx="5669282" cy="3136393"/>
          </a:xfrm>
          <a:prstGeom prst="rect">
            <a:avLst/>
          </a:prstGeom>
          <a:noFill/>
          <a:ln>
            <a:noFill/>
          </a:ln>
        </p:spPr>
      </p:pic>
      <p:sp>
        <p:nvSpPr>
          <p:cNvPr id="615" name="Google Shape;615;p68"/>
          <p:cNvSpPr txBox="1"/>
          <p:nvPr/>
        </p:nvSpPr>
        <p:spPr>
          <a:xfrm>
            <a:off x="274320" y="4279392"/>
            <a:ext cx="5760600" cy="2523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0" i="1" lang="en-GB" sz="1400" u="none" cap="none" strike="noStrike">
                <a:solidFill>
                  <a:srgbClr val="5A5A5A"/>
                </a:solidFill>
                <a:latin typeface="Arial"/>
                <a:ea typeface="Arial"/>
                <a:cs typeface="Arial"/>
                <a:sym typeface="Arial"/>
              </a:rPr>
              <a:t>Separate PERMANOVA within each day · n = 12 · all days p ≤ 0.016</a:t>
            </a:r>
            <a:endParaRPr b="0" i="0" sz="1400" u="none" cap="none" strike="noStrike">
              <a:solidFill>
                <a:srgbClr val="000000"/>
              </a:solidFill>
              <a:latin typeface="Arial"/>
              <a:ea typeface="Arial"/>
              <a:cs typeface="Arial"/>
              <a:sym typeface="Arial"/>
            </a:endParaRPr>
          </a:p>
        </p:txBody>
      </p:sp>
      <p:sp>
        <p:nvSpPr>
          <p:cNvPr id="616" name="Google Shape;616;p68"/>
          <p:cNvSpPr/>
          <p:nvPr/>
        </p:nvSpPr>
        <p:spPr>
          <a:xfrm>
            <a:off x="6126480" y="1115568"/>
            <a:ext cx="2743200" cy="6585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68"/>
          <p:cNvSpPr txBox="1"/>
          <p:nvPr/>
        </p:nvSpPr>
        <p:spPr>
          <a:xfrm>
            <a:off x="6263640" y="1133856"/>
            <a:ext cx="960000" cy="4680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3E72"/>
                </a:solidFill>
                <a:latin typeface="Arial"/>
                <a:ea typeface="Arial"/>
                <a:cs typeface="Arial"/>
                <a:sym typeface="Arial"/>
              </a:rPr>
              <a:t>56%</a:t>
            </a:r>
            <a:endParaRPr b="0" i="0" sz="1400" u="none" cap="none" strike="noStrike">
              <a:solidFill>
                <a:srgbClr val="000000"/>
              </a:solidFill>
              <a:latin typeface="Arial"/>
              <a:ea typeface="Arial"/>
              <a:cs typeface="Arial"/>
              <a:sym typeface="Arial"/>
            </a:endParaRPr>
          </a:p>
        </p:txBody>
      </p:sp>
      <p:sp>
        <p:nvSpPr>
          <p:cNvPr id="618" name="Google Shape;618;p68"/>
          <p:cNvSpPr txBox="1"/>
          <p:nvPr/>
        </p:nvSpPr>
        <p:spPr>
          <a:xfrm>
            <a:off x="7242048" y="1318606"/>
            <a:ext cx="1554600" cy="2523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3A3A3A"/>
                </a:solidFill>
                <a:latin typeface="Arial"/>
                <a:ea typeface="Arial"/>
                <a:cs typeface="Arial"/>
                <a:sym typeface="Arial"/>
              </a:rPr>
              <a:t>incubation day</a:t>
            </a:r>
            <a:endParaRPr b="1" i="0" sz="1400" u="none" cap="none" strike="noStrike">
              <a:solidFill>
                <a:srgbClr val="000000"/>
              </a:solidFill>
              <a:latin typeface="Arial"/>
              <a:ea typeface="Arial"/>
              <a:cs typeface="Arial"/>
              <a:sym typeface="Arial"/>
            </a:endParaRPr>
          </a:p>
        </p:txBody>
      </p:sp>
      <p:sp>
        <p:nvSpPr>
          <p:cNvPr id="619" name="Google Shape;619;p68"/>
          <p:cNvSpPr/>
          <p:nvPr/>
        </p:nvSpPr>
        <p:spPr>
          <a:xfrm>
            <a:off x="6126480" y="1865376"/>
            <a:ext cx="2743200" cy="6585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68"/>
          <p:cNvSpPr txBox="1"/>
          <p:nvPr/>
        </p:nvSpPr>
        <p:spPr>
          <a:xfrm>
            <a:off x="6263640" y="1883664"/>
            <a:ext cx="960000" cy="4680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2CF"/>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
        <p:nvSpPr>
          <p:cNvPr id="621" name="Google Shape;621;p68"/>
          <p:cNvSpPr txBox="1"/>
          <p:nvPr/>
        </p:nvSpPr>
        <p:spPr>
          <a:xfrm>
            <a:off x="7185598" y="1960539"/>
            <a:ext cx="1554600" cy="468000"/>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3A3A3A"/>
                </a:solidFill>
                <a:latin typeface="Arial"/>
                <a:ea typeface="Arial"/>
                <a:cs typeface="Arial"/>
                <a:sym typeface="Arial"/>
              </a:rPr>
              <a:t>mineral supplement</a:t>
            </a:r>
            <a:endParaRPr b="1" i="0" sz="1400" u="none" cap="none" strike="noStrike">
              <a:solidFill>
                <a:srgbClr val="000000"/>
              </a:solidFill>
              <a:latin typeface="Arial"/>
              <a:ea typeface="Arial"/>
              <a:cs typeface="Arial"/>
              <a:sym typeface="Arial"/>
            </a:endParaRPr>
          </a:p>
        </p:txBody>
      </p:sp>
      <p:sp>
        <p:nvSpPr>
          <p:cNvPr id="622" name="Google Shape;622;p68"/>
          <p:cNvSpPr/>
          <p:nvPr/>
        </p:nvSpPr>
        <p:spPr>
          <a:xfrm>
            <a:off x="6126480" y="2615184"/>
            <a:ext cx="2743200" cy="6585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68"/>
          <p:cNvSpPr txBox="1"/>
          <p:nvPr/>
        </p:nvSpPr>
        <p:spPr>
          <a:xfrm>
            <a:off x="6263640" y="2633472"/>
            <a:ext cx="960000" cy="4680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68ACE5"/>
                </a:solidFill>
                <a:latin typeface="Arial"/>
                <a:ea typeface="Arial"/>
                <a:cs typeface="Arial"/>
                <a:sym typeface="Arial"/>
              </a:rPr>
              <a:t>21%</a:t>
            </a:r>
            <a:endParaRPr b="0" i="0" sz="1400" u="none" cap="none" strike="noStrike">
              <a:solidFill>
                <a:srgbClr val="000000"/>
              </a:solidFill>
              <a:latin typeface="Arial"/>
              <a:ea typeface="Arial"/>
              <a:cs typeface="Arial"/>
              <a:sym typeface="Arial"/>
            </a:endParaRPr>
          </a:p>
        </p:txBody>
      </p:sp>
      <p:sp>
        <p:nvSpPr>
          <p:cNvPr id="624" name="Google Shape;624;p68"/>
          <p:cNvSpPr txBox="1"/>
          <p:nvPr/>
        </p:nvSpPr>
        <p:spPr>
          <a:xfrm>
            <a:off x="7242048" y="2863935"/>
            <a:ext cx="1554600" cy="2523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3A3A3A"/>
                </a:solidFill>
                <a:latin typeface="Arial"/>
                <a:ea typeface="Arial"/>
                <a:cs typeface="Arial"/>
                <a:sym typeface="Arial"/>
              </a:rPr>
              <a:t>day × supplement</a:t>
            </a:r>
            <a:endParaRPr b="1" i="0" sz="1400" u="none" cap="none" strike="noStrike">
              <a:solidFill>
                <a:srgbClr val="000000"/>
              </a:solidFill>
              <a:latin typeface="Arial"/>
              <a:ea typeface="Arial"/>
              <a:cs typeface="Arial"/>
              <a:sym typeface="Arial"/>
            </a:endParaRPr>
          </a:p>
        </p:txBody>
      </p:sp>
      <p:sp>
        <p:nvSpPr>
          <p:cNvPr id="625" name="Google Shape;625;p68"/>
          <p:cNvSpPr txBox="1"/>
          <p:nvPr/>
        </p:nvSpPr>
        <p:spPr>
          <a:xfrm>
            <a:off x="6126480" y="3456432"/>
            <a:ext cx="2743200" cy="10065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5A5A5A"/>
                </a:solidFill>
                <a:latin typeface="Arial"/>
                <a:ea typeface="Arial"/>
                <a:cs typeface="Arial"/>
                <a:sym typeface="Arial"/>
              </a:rPr>
              <a:t>Share of total community variation. All three p = 0.001.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1" i="0" lang="en-GB" sz="1500" u="none" cap="none" strike="noStrike">
                <a:solidFill>
                  <a:srgbClr val="003E72"/>
                </a:solidFill>
                <a:latin typeface="Arial"/>
                <a:ea typeface="Arial"/>
                <a:cs typeface="Arial"/>
                <a:sym typeface="Arial"/>
              </a:rPr>
              <a:t>Time matters ~4× more than the supplement.</a:t>
            </a:r>
            <a:endParaRPr b="0" i="0" sz="1400" u="none" cap="none" strike="noStrike">
              <a:solidFill>
                <a:srgbClr val="000000"/>
              </a:solidFill>
              <a:latin typeface="Arial"/>
              <a:ea typeface="Arial"/>
              <a:cs typeface="Arial"/>
              <a:sym typeface="Arial"/>
            </a:endParaRPr>
          </a:p>
        </p:txBody>
      </p:sp>
      <p:sp>
        <p:nvSpPr>
          <p:cNvPr id="626" name="Google Shape;626;p68"/>
          <p:cNvSpPr txBox="1"/>
          <p:nvPr/>
        </p:nvSpPr>
        <p:spPr>
          <a:xfrm>
            <a:off x="893950" y="4759276"/>
            <a:ext cx="8321100" cy="2601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450"/>
              <a:buFont typeface="Arial"/>
              <a:buNone/>
            </a:pPr>
            <a:r>
              <a:rPr b="1" i="0" lang="en-GB" sz="1450" u="none" cap="none" strike="noStrike">
                <a:solidFill>
                  <a:schemeClr val="lt1"/>
                </a:solidFill>
                <a:latin typeface="Arial"/>
                <a:ea typeface="Arial"/>
                <a:cs typeface="Arial"/>
                <a:sym typeface="Arial"/>
              </a:rPr>
              <a:t>Thikra </a:t>
            </a:r>
            <a:r>
              <a:rPr b="0" i="0" lang="en-GB" sz="1150" u="none" cap="none" strike="noStrike">
                <a:solidFill>
                  <a:schemeClr val="lt1"/>
                </a:solidFill>
                <a:latin typeface="Arial"/>
                <a:ea typeface="Arial"/>
                <a:cs typeface="Arial"/>
                <a:sym typeface="Arial"/>
              </a:rPr>
              <a:t>  · </a:t>
            </a:r>
            <a:r>
              <a:rPr b="0" i="0" lang="en-GB" sz="1100" u="none" cap="none" strike="noStrike">
                <a:solidFill>
                  <a:schemeClr val="lt1"/>
                </a:solidFill>
                <a:latin typeface="Arial"/>
                <a:ea typeface="Arial"/>
                <a:cs typeface="Arial"/>
                <a:sym typeface="Arial"/>
              </a:rPr>
              <a:t> Hillman et al. (2022), </a:t>
            </a:r>
            <a:r>
              <a:rPr b="0" i="1" lang="en-GB" sz="1100" u="none" cap="none" strike="noStrike">
                <a:solidFill>
                  <a:schemeClr val="lt1"/>
                </a:solidFill>
                <a:latin typeface="Arial"/>
                <a:ea typeface="Arial"/>
                <a:cs typeface="Arial"/>
                <a:sym typeface="Arial"/>
              </a:rPr>
              <a:t>AIChE Journal, 68</a:t>
            </a:r>
            <a:r>
              <a:rPr b="0" i="0" lang="en-GB" sz="1100" u="none" cap="none" strike="noStrike">
                <a:solidFill>
                  <a:schemeClr val="lt1"/>
                </a:solidFill>
                <a:latin typeface="Arial"/>
                <a:ea typeface="Arial"/>
                <a:cs typeface="Arial"/>
                <a:sym typeface="Arial"/>
              </a:rPr>
              <a:t>(12), e17927. https://doi.org/10.1002/aic.17927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9"/>
          <p:cNvSpPr txBox="1"/>
          <p:nvPr>
            <p:ph type="title"/>
          </p:nvPr>
        </p:nvSpPr>
        <p:spPr>
          <a:xfrm>
            <a:off x="274320" y="201168"/>
            <a:ext cx="86046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b="1" lang="en-GB" sz="2800">
                <a:solidFill>
                  <a:srgbClr val="FFFFFF"/>
                </a:solidFill>
                <a:latin typeface="Arial"/>
                <a:ea typeface="Arial"/>
                <a:cs typeface="Arial"/>
                <a:sym typeface="Arial"/>
              </a:rPr>
              <a:t>Every supplement erases Desulfovibrio</a:t>
            </a:r>
            <a:endParaRPr/>
          </a:p>
        </p:txBody>
      </p:sp>
      <p:sp>
        <p:nvSpPr>
          <p:cNvPr id="632" name="Google Shape;632;p69"/>
          <p:cNvSpPr/>
          <p:nvPr/>
        </p:nvSpPr>
        <p:spPr>
          <a:xfrm>
            <a:off x="274320" y="1005840"/>
            <a:ext cx="8595300" cy="420600"/>
          </a:xfrm>
          <a:prstGeom prst="rect">
            <a:avLst/>
          </a:prstGeom>
          <a:solidFill>
            <a:srgbClr val="003E7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69"/>
          <p:cNvSpPr txBox="1"/>
          <p:nvPr/>
        </p:nvSpPr>
        <p:spPr>
          <a:xfrm>
            <a:off x="411480" y="1024128"/>
            <a:ext cx="8321100" cy="3141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FFFFFF"/>
                </a:solidFill>
                <a:latin typeface="Arial"/>
                <a:ea typeface="Arial"/>
                <a:cs typeface="Arial"/>
                <a:sym typeface="Arial"/>
              </a:rPr>
              <a:t>Supplements erase the souring organism; time drives the community.</a:t>
            </a:r>
            <a:endParaRPr b="0" i="0" sz="1400" u="none" cap="none" strike="noStrike">
              <a:solidFill>
                <a:srgbClr val="000000"/>
              </a:solidFill>
              <a:latin typeface="Arial"/>
              <a:ea typeface="Arial"/>
              <a:cs typeface="Arial"/>
              <a:sym typeface="Arial"/>
            </a:endParaRPr>
          </a:p>
        </p:txBody>
      </p:sp>
      <p:pic>
        <p:nvPicPr>
          <p:cNvPr descr="panel4b_crop.png" id="634" name="Google Shape;634;p69"/>
          <p:cNvPicPr preferRelativeResize="0"/>
          <p:nvPr/>
        </p:nvPicPr>
        <p:blipFill rotWithShape="1">
          <a:blip r:embed="rId3">
            <a:alphaModFix/>
          </a:blip>
          <a:srcRect b="0" l="0" r="0" t="0"/>
          <a:stretch/>
        </p:blipFill>
        <p:spPr>
          <a:xfrm>
            <a:off x="274320" y="1499616"/>
            <a:ext cx="6492241" cy="2999232"/>
          </a:xfrm>
          <a:prstGeom prst="rect">
            <a:avLst/>
          </a:prstGeom>
          <a:noFill/>
          <a:ln>
            <a:noFill/>
          </a:ln>
        </p:spPr>
      </p:pic>
      <p:sp>
        <p:nvSpPr>
          <p:cNvPr id="635" name="Google Shape;635;p69"/>
          <p:cNvSpPr/>
          <p:nvPr/>
        </p:nvSpPr>
        <p:spPr>
          <a:xfrm>
            <a:off x="6913020" y="1932942"/>
            <a:ext cx="1965900" cy="9327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69"/>
          <p:cNvSpPr txBox="1"/>
          <p:nvPr/>
        </p:nvSpPr>
        <p:spPr>
          <a:xfrm>
            <a:off x="7013604" y="1951230"/>
            <a:ext cx="1783200" cy="4680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9E73"/>
                </a:solidFill>
                <a:latin typeface="Arial"/>
                <a:ea typeface="Arial"/>
                <a:cs typeface="Arial"/>
                <a:sym typeface="Arial"/>
              </a:rPr>
              <a:t>1.41%</a:t>
            </a:r>
            <a:endParaRPr b="0" i="0" sz="1400" u="none" cap="none" strike="noStrike">
              <a:solidFill>
                <a:srgbClr val="000000"/>
              </a:solidFill>
              <a:latin typeface="Arial"/>
              <a:ea typeface="Arial"/>
              <a:cs typeface="Arial"/>
              <a:sym typeface="Arial"/>
            </a:endParaRPr>
          </a:p>
        </p:txBody>
      </p:sp>
      <p:sp>
        <p:nvSpPr>
          <p:cNvPr id="637" name="Google Shape;637;p69"/>
          <p:cNvSpPr txBox="1"/>
          <p:nvPr/>
        </p:nvSpPr>
        <p:spPr>
          <a:xfrm>
            <a:off x="7013604" y="2371854"/>
            <a:ext cx="1783200" cy="4680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A3A3A"/>
                </a:solidFill>
                <a:latin typeface="Arial"/>
                <a:ea typeface="Arial"/>
                <a:cs typeface="Arial"/>
                <a:sym typeface="Arial"/>
              </a:rPr>
              <a:t>no supplement, day 14</a:t>
            </a:r>
            <a:endParaRPr b="0" i="0" sz="1400" u="none" cap="none" strike="noStrike">
              <a:solidFill>
                <a:srgbClr val="000000"/>
              </a:solidFill>
              <a:latin typeface="Arial"/>
              <a:ea typeface="Arial"/>
              <a:cs typeface="Arial"/>
              <a:sym typeface="Arial"/>
            </a:endParaRPr>
          </a:p>
        </p:txBody>
      </p:sp>
      <p:sp>
        <p:nvSpPr>
          <p:cNvPr id="638" name="Google Shape;638;p69"/>
          <p:cNvSpPr/>
          <p:nvPr/>
        </p:nvSpPr>
        <p:spPr>
          <a:xfrm>
            <a:off x="6913025" y="2957062"/>
            <a:ext cx="1965900" cy="1207500"/>
          </a:xfrm>
          <a:prstGeom prst="rect">
            <a:avLst/>
          </a:prstGeom>
          <a:solidFill>
            <a:srgbClr val="EAF3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69"/>
          <p:cNvSpPr txBox="1"/>
          <p:nvPr/>
        </p:nvSpPr>
        <p:spPr>
          <a:xfrm>
            <a:off x="7013604" y="2975358"/>
            <a:ext cx="1783200" cy="468000"/>
          </a:xfrm>
          <a:prstGeom prst="rect">
            <a:avLst/>
          </a:prstGeom>
          <a:noFill/>
          <a:ln>
            <a:noFill/>
          </a:ln>
        </p:spPr>
        <p:txBody>
          <a:bodyPr anchorCtr="0" anchor="ctr" bIns="18275" lIns="0" spcFirstLastPara="1" rIns="0" wrap="square" tIns="18275">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2B2"/>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640" name="Google Shape;640;p69"/>
          <p:cNvSpPr txBox="1"/>
          <p:nvPr/>
        </p:nvSpPr>
        <p:spPr>
          <a:xfrm>
            <a:off x="7013604" y="3443368"/>
            <a:ext cx="1783200" cy="6834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A3A3A"/>
                </a:solidFill>
                <a:latin typeface="Arial"/>
                <a:ea typeface="Arial"/>
                <a:cs typeface="Arial"/>
                <a:sym typeface="Arial"/>
              </a:rPr>
              <a:t>molybdate — undetected at days 5 and 14</a:t>
            </a:r>
            <a:endParaRPr b="0" i="0" sz="1400" u="none" cap="none" strike="noStrike">
              <a:solidFill>
                <a:srgbClr val="000000"/>
              </a:solidFill>
              <a:latin typeface="Arial"/>
              <a:ea typeface="Arial"/>
              <a:cs typeface="Arial"/>
              <a:sym typeface="Arial"/>
            </a:endParaRPr>
          </a:p>
        </p:txBody>
      </p:sp>
      <p:sp>
        <p:nvSpPr>
          <p:cNvPr id="641" name="Google Shape;641;p69"/>
          <p:cNvSpPr txBox="1"/>
          <p:nvPr/>
        </p:nvSpPr>
        <p:spPr>
          <a:xfrm>
            <a:off x="893950" y="4759276"/>
            <a:ext cx="8321100" cy="26010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Clr>
                <a:srgbClr val="000000"/>
              </a:buClr>
              <a:buSzPts val="1450"/>
              <a:buFont typeface="Arial"/>
              <a:buNone/>
            </a:pPr>
            <a:r>
              <a:rPr b="1" i="0" lang="en-GB" sz="1450" u="none" cap="none" strike="noStrike">
                <a:solidFill>
                  <a:schemeClr val="lt1"/>
                </a:solidFill>
                <a:latin typeface="Arial"/>
                <a:ea typeface="Arial"/>
                <a:cs typeface="Arial"/>
                <a:sym typeface="Arial"/>
              </a:rPr>
              <a:t>Thikra </a:t>
            </a:r>
            <a:r>
              <a:rPr b="0" i="0" lang="en-GB" sz="1150" u="none" cap="none" strike="noStrike">
                <a:solidFill>
                  <a:schemeClr val="lt1"/>
                </a:solidFill>
                <a:latin typeface="Arial"/>
                <a:ea typeface="Arial"/>
                <a:cs typeface="Arial"/>
                <a:sym typeface="Arial"/>
              </a:rPr>
              <a:t>  · </a:t>
            </a:r>
            <a:r>
              <a:rPr b="0" i="0" lang="en-GB" sz="1100" u="none" cap="none" strike="noStrike">
                <a:solidFill>
                  <a:schemeClr val="lt1"/>
                </a:solidFill>
                <a:latin typeface="Arial"/>
                <a:ea typeface="Arial"/>
                <a:cs typeface="Arial"/>
                <a:sym typeface="Arial"/>
              </a:rPr>
              <a:t> Hillman et al. (2022), </a:t>
            </a:r>
            <a:r>
              <a:rPr b="0" i="1" lang="en-GB" sz="1100" u="none" cap="none" strike="noStrike">
                <a:solidFill>
                  <a:schemeClr val="lt1"/>
                </a:solidFill>
                <a:latin typeface="Arial"/>
                <a:ea typeface="Arial"/>
                <a:cs typeface="Arial"/>
                <a:sym typeface="Arial"/>
              </a:rPr>
              <a:t>AIChE Journal, 68</a:t>
            </a:r>
            <a:r>
              <a:rPr b="0" i="0" lang="en-GB" sz="1100" u="none" cap="none" strike="noStrike">
                <a:solidFill>
                  <a:schemeClr val="lt1"/>
                </a:solidFill>
                <a:latin typeface="Arial"/>
                <a:ea typeface="Arial"/>
                <a:cs typeface="Arial"/>
                <a:sym typeface="Arial"/>
              </a:rPr>
              <a:t>(12), e17927. https://doi.org/10.1002/aic.17927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70"/>
          <p:cNvSpPr txBox="1"/>
          <p:nvPr>
            <p:ph type="title"/>
          </p:nvPr>
        </p:nvSpPr>
        <p:spPr>
          <a:xfrm>
            <a:off x="270000" y="300911"/>
            <a:ext cx="8604000" cy="30777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lang="en-GB" sz="2000">
                <a:solidFill>
                  <a:schemeClr val="lt1"/>
                </a:solidFill>
                <a:latin typeface="Arial"/>
                <a:ea typeface="Arial"/>
                <a:cs typeface="Arial"/>
                <a:sym typeface="Arial"/>
              </a:rPr>
              <a:t>Does microbiome </a:t>
            </a:r>
            <a:r>
              <a:rPr lang="en-GB" sz="2000"/>
              <a:t>clustering </a:t>
            </a:r>
            <a:r>
              <a:rPr lang="en-GB" sz="2000">
                <a:solidFill>
                  <a:schemeClr val="lt1"/>
                </a:solidFill>
                <a:latin typeface="Arial"/>
                <a:ea typeface="Arial"/>
                <a:cs typeface="Arial"/>
                <a:sym typeface="Arial"/>
              </a:rPr>
              <a:t>depend on disease or location?</a:t>
            </a:r>
            <a:endParaRPr sz="2000">
              <a:solidFill>
                <a:schemeClr val="lt1"/>
              </a:solidFill>
            </a:endParaRPr>
          </a:p>
        </p:txBody>
      </p:sp>
      <p:sp>
        <p:nvSpPr>
          <p:cNvPr id="647" name="Google Shape;647;p70"/>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GB"/>
              <a:t>‹#›</a:t>
            </a:fld>
            <a:endParaRPr/>
          </a:p>
        </p:txBody>
      </p:sp>
      <p:sp>
        <p:nvSpPr>
          <p:cNvPr id="648" name="Google Shape;648;p70"/>
          <p:cNvSpPr/>
          <p:nvPr/>
        </p:nvSpPr>
        <p:spPr>
          <a:xfrm>
            <a:off x="320040" y="1024127"/>
            <a:ext cx="989428" cy="609287"/>
          </a:xfrm>
          <a:prstGeom prst="roundRect">
            <a:avLst>
              <a:gd fmla="val 8065" name="adj"/>
            </a:avLst>
          </a:prstGeom>
          <a:solidFill>
            <a:srgbClr val="0072CF"/>
          </a:solidFill>
          <a:ln>
            <a:noFill/>
          </a:ln>
        </p:spPr>
        <p:txBody>
          <a:bodyPr anchorCtr="0" anchor="t" bIns="45700" lIns="91425" spcFirstLastPara="1" rIns="91425" wrap="square" tIns="45700">
            <a:noAutofit/>
          </a:bodyPr>
          <a:lstStyle/>
          <a:p>
            <a:pPr indent="0" lvl="0" marL="0" marR="0" rtl="1" algn="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9" name="Google Shape;649;p70"/>
          <p:cNvSpPr/>
          <p:nvPr/>
        </p:nvSpPr>
        <p:spPr>
          <a:xfrm>
            <a:off x="320040" y="1024127"/>
            <a:ext cx="989428"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Arial"/>
                <a:ea typeface="Arial"/>
                <a:cs typeface="Arial"/>
                <a:sym typeface="Arial"/>
              </a:rPr>
              <a:t>FASTQ</a:t>
            </a:r>
            <a:br>
              <a:rPr b="1" i="0" lang="en-GB" sz="900" u="none" cap="none" strike="noStrike">
                <a:solidFill>
                  <a:srgbClr val="FFFFFF"/>
                </a:solidFill>
                <a:latin typeface="Arial"/>
                <a:ea typeface="Arial"/>
                <a:cs typeface="Arial"/>
                <a:sym typeface="Arial"/>
              </a:rPr>
            </a:br>
            <a:r>
              <a:rPr b="0" i="0" lang="en-GB" sz="750" u="none" cap="none" strike="noStrike">
                <a:solidFill>
                  <a:srgbClr val="FFFFFF"/>
                </a:solidFill>
                <a:latin typeface="Arial"/>
                <a:ea typeface="Arial"/>
                <a:cs typeface="Arial"/>
                <a:sym typeface="Arial"/>
              </a:rPr>
              <a:t>50 samples</a:t>
            </a:r>
            <a:endParaRPr b="0" i="0" sz="900" u="none" cap="none" strike="noStrike">
              <a:solidFill>
                <a:srgbClr val="000000"/>
              </a:solidFill>
              <a:latin typeface="Arial"/>
              <a:ea typeface="Arial"/>
              <a:cs typeface="Arial"/>
              <a:sym typeface="Arial"/>
            </a:endParaRPr>
          </a:p>
        </p:txBody>
      </p:sp>
      <p:sp>
        <p:nvSpPr>
          <p:cNvPr id="650" name="Google Shape;650;p70"/>
          <p:cNvSpPr/>
          <p:nvPr/>
        </p:nvSpPr>
        <p:spPr>
          <a:xfrm>
            <a:off x="1501681" y="1024127"/>
            <a:ext cx="116807"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9AA0A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51" name="Google Shape;651;p70"/>
          <p:cNvSpPr/>
          <p:nvPr/>
        </p:nvSpPr>
        <p:spPr>
          <a:xfrm>
            <a:off x="1755648" y="1024127"/>
            <a:ext cx="989428" cy="609287"/>
          </a:xfrm>
          <a:prstGeom prst="roundRect">
            <a:avLst>
              <a:gd fmla="val 8065" name="adj"/>
            </a:avLst>
          </a:prstGeom>
          <a:solidFill>
            <a:srgbClr val="55A5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2" name="Google Shape;652;p70"/>
          <p:cNvSpPr/>
          <p:nvPr/>
        </p:nvSpPr>
        <p:spPr>
          <a:xfrm>
            <a:off x="1755648" y="1024127"/>
            <a:ext cx="989428"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Arial"/>
                <a:ea typeface="Arial"/>
                <a:cs typeface="Arial"/>
                <a:sym typeface="Arial"/>
              </a:rPr>
              <a:t>QC</a:t>
            </a:r>
            <a:br>
              <a:rPr b="1" i="0" lang="en-GB" sz="900" u="none" cap="none" strike="noStrike">
                <a:solidFill>
                  <a:srgbClr val="FFFFFF"/>
                </a:solidFill>
                <a:latin typeface="Arial"/>
                <a:ea typeface="Arial"/>
                <a:cs typeface="Arial"/>
                <a:sym typeface="Arial"/>
              </a:rPr>
            </a:br>
            <a:r>
              <a:rPr b="0" i="0" lang="en-GB" sz="750" u="none" cap="none" strike="noStrike">
                <a:solidFill>
                  <a:srgbClr val="FFFFFF"/>
                </a:solidFill>
                <a:latin typeface="Arial"/>
                <a:ea typeface="Arial"/>
                <a:cs typeface="Arial"/>
                <a:sym typeface="Arial"/>
              </a:rPr>
              <a:t>210/130 bp</a:t>
            </a:r>
            <a:endParaRPr b="0" i="0" sz="900" u="none" cap="none" strike="noStrike">
              <a:solidFill>
                <a:srgbClr val="000000"/>
              </a:solidFill>
              <a:latin typeface="Arial"/>
              <a:ea typeface="Arial"/>
              <a:cs typeface="Arial"/>
              <a:sym typeface="Arial"/>
            </a:endParaRPr>
          </a:p>
        </p:txBody>
      </p:sp>
      <p:sp>
        <p:nvSpPr>
          <p:cNvPr id="653" name="Google Shape;653;p70"/>
          <p:cNvSpPr/>
          <p:nvPr/>
        </p:nvSpPr>
        <p:spPr>
          <a:xfrm>
            <a:off x="2937289" y="1024127"/>
            <a:ext cx="116807"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9AA0A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54" name="Google Shape;654;p70"/>
          <p:cNvSpPr/>
          <p:nvPr/>
        </p:nvSpPr>
        <p:spPr>
          <a:xfrm>
            <a:off x="3191256" y="1024127"/>
            <a:ext cx="989428" cy="609287"/>
          </a:xfrm>
          <a:prstGeom prst="roundRect">
            <a:avLst>
              <a:gd fmla="val 8065" name="adj"/>
            </a:avLst>
          </a:prstGeom>
          <a:solidFill>
            <a:srgbClr val="EA712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5" name="Google Shape;655;p70"/>
          <p:cNvSpPr/>
          <p:nvPr/>
        </p:nvSpPr>
        <p:spPr>
          <a:xfrm>
            <a:off x="3191256" y="1024127"/>
            <a:ext cx="989428"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Arial"/>
                <a:ea typeface="Arial"/>
                <a:cs typeface="Arial"/>
                <a:sym typeface="Arial"/>
              </a:rPr>
              <a:t>DADA2</a:t>
            </a:r>
            <a:endParaRPr b="1" i="0" sz="900" u="none" cap="none" strike="noStrike">
              <a:solidFill>
                <a:srgbClr val="000000"/>
              </a:solidFill>
              <a:latin typeface="Arial"/>
              <a:ea typeface="Arial"/>
              <a:cs typeface="Arial"/>
              <a:sym typeface="Arial"/>
            </a:endParaRPr>
          </a:p>
        </p:txBody>
      </p:sp>
      <p:sp>
        <p:nvSpPr>
          <p:cNvPr id="656" name="Google Shape;656;p70"/>
          <p:cNvSpPr/>
          <p:nvPr/>
        </p:nvSpPr>
        <p:spPr>
          <a:xfrm>
            <a:off x="4345370" y="1024127"/>
            <a:ext cx="116807"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9AA0A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57" name="Google Shape;657;p70"/>
          <p:cNvSpPr/>
          <p:nvPr/>
        </p:nvSpPr>
        <p:spPr>
          <a:xfrm>
            <a:off x="4626864" y="1024127"/>
            <a:ext cx="989428" cy="609287"/>
          </a:xfrm>
          <a:prstGeom prst="roundRect">
            <a:avLst>
              <a:gd fmla="val 8065" name="adj"/>
            </a:avLst>
          </a:prstGeom>
          <a:solidFill>
            <a:srgbClr val="00B1C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8" name="Google Shape;658;p70"/>
          <p:cNvSpPr/>
          <p:nvPr/>
        </p:nvSpPr>
        <p:spPr>
          <a:xfrm>
            <a:off x="4626864" y="1024127"/>
            <a:ext cx="989428"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Arial"/>
                <a:ea typeface="Arial"/>
                <a:cs typeface="Arial"/>
                <a:sym typeface="Arial"/>
              </a:rPr>
              <a:t>MERGE</a:t>
            </a:r>
            <a:br>
              <a:rPr b="1" i="0" lang="en-GB" sz="900" u="none" cap="none" strike="noStrike">
                <a:solidFill>
                  <a:srgbClr val="FFFFFF"/>
                </a:solidFill>
                <a:latin typeface="Arial"/>
                <a:ea typeface="Arial"/>
                <a:cs typeface="Arial"/>
                <a:sym typeface="Arial"/>
              </a:rPr>
            </a:br>
            <a:r>
              <a:rPr b="0" i="0" lang="en-GB" sz="750" u="none" cap="none" strike="noStrike">
                <a:solidFill>
                  <a:srgbClr val="FFFFFF"/>
                </a:solidFill>
                <a:latin typeface="Arial"/>
                <a:ea typeface="Arial"/>
                <a:cs typeface="Arial"/>
                <a:sym typeface="Arial"/>
              </a:rPr>
              <a:t>96.75%</a:t>
            </a:r>
            <a:endParaRPr b="0" i="0" sz="900" u="none" cap="none" strike="noStrike">
              <a:solidFill>
                <a:srgbClr val="000000"/>
              </a:solidFill>
              <a:latin typeface="Arial"/>
              <a:ea typeface="Arial"/>
              <a:cs typeface="Arial"/>
              <a:sym typeface="Arial"/>
            </a:endParaRPr>
          </a:p>
        </p:txBody>
      </p:sp>
      <p:sp>
        <p:nvSpPr>
          <p:cNvPr id="659" name="Google Shape;659;p70"/>
          <p:cNvSpPr/>
          <p:nvPr/>
        </p:nvSpPr>
        <p:spPr>
          <a:xfrm>
            <a:off x="5753452" y="1024127"/>
            <a:ext cx="116807"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9AA0A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60" name="Google Shape;660;p70"/>
          <p:cNvSpPr/>
          <p:nvPr/>
        </p:nvSpPr>
        <p:spPr>
          <a:xfrm>
            <a:off x="6062472" y="1024127"/>
            <a:ext cx="989428" cy="609287"/>
          </a:xfrm>
          <a:prstGeom prst="roundRect">
            <a:avLst>
              <a:gd fmla="val 8065" name="adj"/>
            </a:avLst>
          </a:prstGeom>
          <a:solidFill>
            <a:srgbClr val="8F2BB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1" name="Google Shape;661;p70"/>
          <p:cNvSpPr/>
          <p:nvPr/>
        </p:nvSpPr>
        <p:spPr>
          <a:xfrm>
            <a:off x="6062472" y="1024127"/>
            <a:ext cx="989428"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Arial"/>
                <a:ea typeface="Arial"/>
                <a:cs typeface="Arial"/>
                <a:sym typeface="Arial"/>
              </a:rPr>
              <a:t>CLEAN</a:t>
            </a:r>
            <a:br>
              <a:rPr b="1" i="0" lang="en-GB" sz="900" u="none" cap="none" strike="noStrike">
                <a:solidFill>
                  <a:srgbClr val="FFFFFF"/>
                </a:solidFill>
                <a:latin typeface="Arial"/>
                <a:ea typeface="Arial"/>
                <a:cs typeface="Arial"/>
                <a:sym typeface="Arial"/>
              </a:rPr>
            </a:br>
            <a:r>
              <a:rPr b="0" i="0" lang="en-GB" sz="750" u="none" cap="none" strike="noStrike">
                <a:solidFill>
                  <a:srgbClr val="FFFFFF"/>
                </a:solidFill>
                <a:latin typeface="Arial"/>
                <a:ea typeface="Arial"/>
                <a:cs typeface="Arial"/>
                <a:sym typeface="Arial"/>
              </a:rPr>
              <a:t>971 ASVs</a:t>
            </a:r>
            <a:endParaRPr b="0" i="0" sz="900" u="none" cap="none" strike="noStrike">
              <a:solidFill>
                <a:srgbClr val="000000"/>
              </a:solidFill>
              <a:latin typeface="Arial"/>
              <a:ea typeface="Arial"/>
              <a:cs typeface="Arial"/>
              <a:sym typeface="Arial"/>
            </a:endParaRPr>
          </a:p>
        </p:txBody>
      </p:sp>
      <p:sp>
        <p:nvSpPr>
          <p:cNvPr id="662" name="Google Shape;662;p70"/>
          <p:cNvSpPr/>
          <p:nvPr/>
        </p:nvSpPr>
        <p:spPr>
          <a:xfrm>
            <a:off x="7216586" y="1024127"/>
            <a:ext cx="116807"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GB" sz="1400" u="none" cap="none" strike="noStrike">
                <a:solidFill>
                  <a:srgbClr val="9AA0A6"/>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63" name="Google Shape;663;p70"/>
          <p:cNvSpPr/>
          <p:nvPr/>
        </p:nvSpPr>
        <p:spPr>
          <a:xfrm>
            <a:off x="7498080" y="1024127"/>
            <a:ext cx="989428" cy="609287"/>
          </a:xfrm>
          <a:prstGeom prst="roundRect">
            <a:avLst>
              <a:gd fmla="val 8065" name="adj"/>
            </a:avLst>
          </a:prstGeom>
          <a:solidFill>
            <a:srgbClr val="D608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4" name="Google Shape;664;p70"/>
          <p:cNvSpPr/>
          <p:nvPr/>
        </p:nvSpPr>
        <p:spPr>
          <a:xfrm>
            <a:off x="7498080" y="1024127"/>
            <a:ext cx="989428" cy="6092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Arial"/>
                <a:ea typeface="Arial"/>
                <a:cs typeface="Arial"/>
                <a:sym typeface="Arial"/>
              </a:rPr>
              <a:t>TAXONOMY</a:t>
            </a:r>
            <a:br>
              <a:rPr b="1" i="0" lang="en-GB" sz="900" u="none" cap="none" strike="noStrike">
                <a:solidFill>
                  <a:srgbClr val="FFFFFF"/>
                </a:solidFill>
                <a:latin typeface="Arial"/>
                <a:ea typeface="Arial"/>
                <a:cs typeface="Arial"/>
                <a:sym typeface="Arial"/>
              </a:rPr>
            </a:br>
            <a:r>
              <a:rPr b="0" i="0" lang="en-GB" sz="750" u="none" cap="none" strike="noStrike">
                <a:solidFill>
                  <a:srgbClr val="FFFFFF"/>
                </a:solidFill>
                <a:latin typeface="Arial"/>
                <a:ea typeface="Arial"/>
                <a:cs typeface="Arial"/>
                <a:sym typeface="Arial"/>
              </a:rPr>
              <a:t>SILVA 138.1</a:t>
            </a:r>
            <a:endParaRPr b="0" i="0" sz="900" u="none" cap="none" strike="noStrike">
              <a:solidFill>
                <a:srgbClr val="000000"/>
              </a:solidFill>
              <a:latin typeface="Arial"/>
              <a:ea typeface="Arial"/>
              <a:cs typeface="Arial"/>
              <a:sym typeface="Arial"/>
            </a:endParaRPr>
          </a:p>
        </p:txBody>
      </p:sp>
      <p:sp>
        <p:nvSpPr>
          <p:cNvPr id="665" name="Google Shape;665;p70"/>
          <p:cNvSpPr/>
          <p:nvPr/>
        </p:nvSpPr>
        <p:spPr>
          <a:xfrm>
            <a:off x="4983480" y="1993392"/>
            <a:ext cx="3840480" cy="822960"/>
          </a:xfrm>
          <a:prstGeom prst="roundRect">
            <a:avLst>
              <a:gd fmla="val 5556" name="adj"/>
            </a:avLst>
          </a:prstGeom>
          <a:solidFill>
            <a:srgbClr val="FFFFFF"/>
          </a:solidFill>
          <a:ln cap="flat" cmpd="sng" w="12700">
            <a:solidFill>
              <a:srgbClr val="E2E2E2"/>
            </a:solidFill>
            <a:prstDash val="solid"/>
            <a:round/>
            <a:headEnd len="sm" w="sm" type="none"/>
            <a:tailEnd len="sm" w="sm" type="none"/>
          </a:ln>
          <a:effectLst>
            <a:outerShdw blurRad="50800" rotWithShape="0" algn="bl" dir="5400000" dist="25400">
              <a:srgbClr val="BBBBBB">
                <a:alpha val="45098"/>
              </a:srgbClr>
            </a:outerShdw>
          </a:effectLst>
        </p:spPr>
        <p:txBody>
          <a:bodyPr anchorCtr="0" anchor="t" bIns="45700" lIns="91425" spcFirstLastPara="1" rIns="91425" wrap="square" tIns="45700">
            <a:noAutofit/>
          </a:bodyPr>
          <a:lstStyle/>
          <a:p>
            <a:pPr indent="0" lvl="0" marL="0" marR="0" rtl="1" algn="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6" name="Google Shape;666;p70"/>
          <p:cNvSpPr/>
          <p:nvPr/>
        </p:nvSpPr>
        <p:spPr>
          <a:xfrm>
            <a:off x="4978791" y="3238695"/>
            <a:ext cx="3840480" cy="822960"/>
          </a:xfrm>
          <a:prstGeom prst="roundRect">
            <a:avLst>
              <a:gd fmla="val 5556" name="adj"/>
            </a:avLst>
          </a:prstGeom>
          <a:solidFill>
            <a:srgbClr val="FFFFFF"/>
          </a:solidFill>
          <a:ln cap="flat" cmpd="sng" w="12700">
            <a:solidFill>
              <a:srgbClr val="E2E2E2"/>
            </a:solidFill>
            <a:prstDash val="solid"/>
            <a:round/>
            <a:headEnd len="sm" w="sm" type="none"/>
            <a:tailEnd len="sm" w="sm" type="none"/>
          </a:ln>
          <a:effectLst>
            <a:outerShdw blurRad="50800" rotWithShape="0" algn="bl" dir="5400000" dist="25400">
              <a:srgbClr val="BBBBBB">
                <a:alpha val="4509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GB" sz="1400" u="none" cap="none" strike="noStrike">
                <a:solidFill>
                  <a:srgbClr val="55A51C"/>
                </a:solidFill>
                <a:latin typeface="Arial"/>
                <a:ea typeface="Arial"/>
                <a:cs typeface="Arial"/>
                <a:sym typeface="Arial"/>
              </a:rPr>
              <a:t>What did we find?</a:t>
            </a:r>
            <a:br>
              <a:rPr b="1" i="0" lang="en-GB" sz="1600" u="none" cap="none" strike="noStrike">
                <a:solidFill>
                  <a:srgbClr val="55A51C"/>
                </a:solidFill>
                <a:latin typeface="Arial"/>
                <a:ea typeface="Arial"/>
                <a:cs typeface="Arial"/>
                <a:sym typeface="Arial"/>
              </a:rPr>
            </a:br>
            <a:r>
              <a:rPr b="0" i="0" lang="en-GB" sz="1050" u="none" cap="none" strike="noStrike">
                <a:solidFill>
                  <a:srgbClr val="1A1A1A"/>
                </a:solidFill>
                <a:latin typeface="Arial"/>
                <a:ea typeface="Arial"/>
                <a:cs typeface="Arial"/>
                <a:sym typeface="Arial"/>
              </a:rPr>
              <a:t>Location: p=0.982. </a:t>
            </a:r>
            <a:endParaRPr b="0" i="0" sz="105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None/>
            </a:pPr>
            <a:r>
              <a:rPr b="0" i="0" lang="en-GB" sz="1050" u="none" cap="none" strike="noStrike">
                <a:solidFill>
                  <a:srgbClr val="1A1A1A"/>
                </a:solidFill>
                <a:latin typeface="Arial"/>
                <a:ea typeface="Arial"/>
                <a:cs typeface="Arial"/>
                <a:sym typeface="Arial"/>
              </a:rPr>
              <a:t>Disease: p=0.057  </a:t>
            </a:r>
            <a:endParaRPr b="0" i="0" sz="105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None/>
            </a:pPr>
            <a:r>
              <a:rPr b="0" i="0" lang="en-GB" sz="1050" u="none" cap="none" strike="noStrike">
                <a:solidFill>
                  <a:srgbClr val="1A1A1A"/>
                </a:solidFill>
                <a:latin typeface="Arial"/>
                <a:ea typeface="Arial"/>
                <a:cs typeface="Arial"/>
                <a:sym typeface="Arial"/>
              </a:rPr>
              <a:t>not significant</a:t>
            </a:r>
            <a:endParaRPr b="0" i="0" sz="1050" u="none" cap="none" strike="noStrike">
              <a:solidFill>
                <a:srgbClr val="000000"/>
              </a:solidFill>
              <a:latin typeface="Arial"/>
              <a:ea typeface="Arial"/>
              <a:cs typeface="Arial"/>
              <a:sym typeface="Arial"/>
            </a:endParaRPr>
          </a:p>
        </p:txBody>
      </p:sp>
      <p:sp>
        <p:nvSpPr>
          <p:cNvPr id="667" name="Google Shape;667;p70"/>
          <p:cNvSpPr txBox="1"/>
          <p:nvPr/>
        </p:nvSpPr>
        <p:spPr>
          <a:xfrm>
            <a:off x="5121578" y="2089304"/>
            <a:ext cx="3661508" cy="631135"/>
          </a:xfrm>
          <a:prstGeom prst="rect">
            <a:avLst/>
          </a:prstGeom>
          <a:noFill/>
          <a:ln>
            <a:noFill/>
          </a:ln>
        </p:spPr>
        <p:txBody>
          <a:bodyPr anchorCtr="0" anchor="t" bIns="45700" lIns="91425" spcFirstLastPara="1" rIns="91425" wrap="square" tIns="45700">
            <a:spAutoFit/>
          </a:bodyPr>
          <a:lstStyle/>
          <a:p>
            <a:pPr indent="0" lvl="0" marL="0" marR="0" rtl="0" algn="l">
              <a:lnSpc>
                <a:spcPct val="102000"/>
              </a:lnSpc>
              <a:spcBef>
                <a:spcPts val="0"/>
              </a:spcBef>
              <a:spcAft>
                <a:spcPts val="0"/>
              </a:spcAft>
              <a:buClr>
                <a:srgbClr val="000000"/>
              </a:buClr>
              <a:buSzPts val="1400"/>
              <a:buFont typeface="Arial"/>
              <a:buNone/>
            </a:pPr>
            <a:r>
              <a:rPr b="1" i="0" lang="en-GB" sz="1400" u="none" cap="none" strike="noStrike">
                <a:solidFill>
                  <a:srgbClr val="0072CF"/>
                </a:solidFill>
                <a:latin typeface="Arial"/>
                <a:ea typeface="Arial"/>
                <a:cs typeface="Arial"/>
                <a:sym typeface="Arial"/>
              </a:rPr>
              <a:t>What did I do?</a:t>
            </a:r>
            <a:br>
              <a:rPr b="1" i="0" lang="en-GB" sz="1400" u="none" cap="none" strike="noStrike">
                <a:solidFill>
                  <a:srgbClr val="0072CF"/>
                </a:solidFill>
                <a:latin typeface="Arial"/>
                <a:ea typeface="Arial"/>
                <a:cs typeface="Arial"/>
                <a:sym typeface="Arial"/>
              </a:rPr>
            </a:br>
            <a:r>
              <a:rPr b="0" i="0" lang="en-GB" sz="1050" u="none" cap="none" strike="noStrike">
                <a:solidFill>
                  <a:srgbClr val="1A1A1A"/>
                </a:solidFill>
                <a:latin typeface="Arial"/>
                <a:ea typeface="Arial"/>
                <a:cs typeface="Arial"/>
                <a:sym typeface="Arial"/>
              </a:rPr>
              <a:t>Compared community composition (PCoA + PERMANOVA) and Shannon diversity after rarefaction.</a:t>
            </a:r>
            <a:endParaRPr b="0" i="0" sz="1050" u="none" cap="none" strike="noStrike">
              <a:solidFill>
                <a:srgbClr val="000000"/>
              </a:solidFill>
              <a:latin typeface="Arial"/>
              <a:ea typeface="Arial"/>
              <a:cs typeface="Arial"/>
              <a:sym typeface="Arial"/>
            </a:endParaRPr>
          </a:p>
        </p:txBody>
      </p:sp>
      <p:pic>
        <p:nvPicPr>
          <p:cNvPr id="668" name="Google Shape;668;p70"/>
          <p:cNvPicPr preferRelativeResize="0"/>
          <p:nvPr/>
        </p:nvPicPr>
        <p:blipFill rotWithShape="1">
          <a:blip r:embed="rId3">
            <a:alphaModFix/>
          </a:blip>
          <a:srcRect b="0" l="0" r="0" t="0"/>
          <a:stretch/>
        </p:blipFill>
        <p:spPr>
          <a:xfrm>
            <a:off x="80758" y="1968991"/>
            <a:ext cx="2457419" cy="1837100"/>
          </a:xfrm>
          <a:prstGeom prst="rect">
            <a:avLst/>
          </a:prstGeom>
          <a:noFill/>
          <a:ln>
            <a:noFill/>
          </a:ln>
        </p:spPr>
      </p:pic>
      <p:pic>
        <p:nvPicPr>
          <p:cNvPr id="669" name="Google Shape;669;p70"/>
          <p:cNvPicPr preferRelativeResize="0"/>
          <p:nvPr/>
        </p:nvPicPr>
        <p:blipFill rotWithShape="1">
          <a:blip r:embed="rId4">
            <a:alphaModFix/>
          </a:blip>
          <a:srcRect b="0" l="0" r="0" t="0"/>
          <a:stretch/>
        </p:blipFill>
        <p:spPr>
          <a:xfrm>
            <a:off x="2613535" y="1968991"/>
            <a:ext cx="2324382" cy="1837689"/>
          </a:xfrm>
          <a:prstGeom prst="rect">
            <a:avLst/>
          </a:prstGeom>
          <a:noFill/>
          <a:ln>
            <a:noFill/>
          </a:ln>
        </p:spPr>
      </p:pic>
      <p:sp>
        <p:nvSpPr>
          <p:cNvPr id="670" name="Google Shape;670;p70"/>
          <p:cNvSpPr txBox="1"/>
          <p:nvPr/>
        </p:nvSpPr>
        <p:spPr>
          <a:xfrm>
            <a:off x="3554822" y="4742111"/>
            <a:ext cx="16979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Haitham Alahmadi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71"/>
          <p:cNvSpPr txBox="1"/>
          <p:nvPr>
            <p:ph type="title"/>
          </p:nvPr>
        </p:nvSpPr>
        <p:spPr>
          <a:xfrm>
            <a:off x="270000" y="347712"/>
            <a:ext cx="8604000" cy="30777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lang="en-GB" sz="2000"/>
              <a:t>Are there any signs of dysbiosis?</a:t>
            </a:r>
            <a:endParaRPr sz="2000">
              <a:solidFill>
                <a:schemeClr val="lt1"/>
              </a:solidFill>
            </a:endParaRPr>
          </a:p>
        </p:txBody>
      </p:sp>
      <p:sp>
        <p:nvSpPr>
          <p:cNvPr id="676" name="Google Shape;676;p71"/>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
        <p:nvSpPr>
          <p:cNvPr id="677" name="Google Shape;677;p71"/>
          <p:cNvSpPr/>
          <p:nvPr/>
        </p:nvSpPr>
        <p:spPr>
          <a:xfrm>
            <a:off x="4960034" y="1401269"/>
            <a:ext cx="3840480" cy="1097280"/>
          </a:xfrm>
          <a:prstGeom prst="roundRect">
            <a:avLst>
              <a:gd fmla="val 4167" name="adj"/>
            </a:avLst>
          </a:prstGeom>
          <a:solidFill>
            <a:srgbClr val="FFFFFF"/>
          </a:solidFill>
          <a:ln cap="flat" cmpd="sng" w="12700">
            <a:solidFill>
              <a:srgbClr val="E2E2E2"/>
            </a:solidFill>
            <a:prstDash val="solid"/>
            <a:round/>
            <a:headEnd len="sm" w="sm" type="none"/>
            <a:tailEnd len="sm" w="sm" type="none"/>
          </a:ln>
          <a:effectLst>
            <a:outerShdw blurRad="50800" rotWithShape="0" algn="bl" dir="5400000" dist="25400">
              <a:srgbClr val="BBBBBB">
                <a:alpha val="45098"/>
              </a:srgbClr>
            </a:outerShdw>
          </a:effectLst>
        </p:spPr>
        <p:txBody>
          <a:bodyPr anchorCtr="0" anchor="t" bIns="45700" lIns="91425" spcFirstLastPara="1" rIns="91425" wrap="square" tIns="45700">
            <a:noAutofit/>
          </a:bodyPr>
          <a:lstStyle/>
          <a:p>
            <a:pPr indent="0" lvl="0" marL="0" marR="0" rtl="0" algn="l">
              <a:lnSpc>
                <a:spcPct val="102000"/>
              </a:lnSpc>
              <a:spcBef>
                <a:spcPts val="0"/>
              </a:spcBef>
              <a:spcAft>
                <a:spcPts val="0"/>
              </a:spcAft>
              <a:buNone/>
            </a:pPr>
            <a:r>
              <a:rPr b="1" i="0" lang="en-GB" sz="1400" u="none" cap="none" strike="noStrike">
                <a:solidFill>
                  <a:srgbClr val="0072CF"/>
                </a:solidFill>
                <a:latin typeface="Arial"/>
                <a:ea typeface="Arial"/>
                <a:cs typeface="Arial"/>
                <a:sym typeface="Arial"/>
              </a:rPr>
              <a:t>What did I do?</a:t>
            </a:r>
            <a:endParaRPr b="1" i="0" sz="1400" u="none" cap="none" strike="noStrike">
              <a:solidFill>
                <a:srgbClr val="0072CF"/>
              </a:solidFill>
              <a:latin typeface="Arial"/>
              <a:ea typeface="Arial"/>
              <a:cs typeface="Arial"/>
              <a:sym typeface="Arial"/>
            </a:endParaRPr>
          </a:p>
          <a:p>
            <a:pPr indent="0" lvl="0" marL="0" marR="0" rtl="0" algn="l">
              <a:lnSpc>
                <a:spcPct val="102000"/>
              </a:lnSpc>
              <a:spcBef>
                <a:spcPts val="0"/>
              </a:spcBef>
              <a:spcAft>
                <a:spcPts val="0"/>
              </a:spcAft>
              <a:buNone/>
            </a:pPr>
            <a:br>
              <a:rPr b="1" i="0" lang="en-GB" sz="1600" u="none" cap="none" strike="noStrike">
                <a:solidFill>
                  <a:srgbClr val="0072CF"/>
                </a:solidFill>
                <a:latin typeface="Arial"/>
                <a:ea typeface="Arial"/>
                <a:cs typeface="Arial"/>
                <a:sym typeface="Arial"/>
              </a:rPr>
            </a:br>
            <a:r>
              <a:rPr b="0" i="0" lang="en-GB" sz="1050" u="none" cap="none" strike="noStrike">
                <a:solidFill>
                  <a:srgbClr val="1A1A1A"/>
                </a:solidFill>
                <a:latin typeface="Arial"/>
                <a:ea typeface="Arial"/>
                <a:cs typeface="Arial"/>
                <a:sym typeface="Arial"/>
              </a:rPr>
              <a:t>Calculated Faecalibacterium relative abundance and compared groups with Kruskal–Wallis.</a:t>
            </a:r>
            <a:endParaRPr b="0" i="0" sz="1050" u="none" cap="none" strike="noStrike">
              <a:solidFill>
                <a:srgbClr val="000000"/>
              </a:solidFill>
              <a:latin typeface="Arial"/>
              <a:ea typeface="Arial"/>
              <a:cs typeface="Arial"/>
              <a:sym typeface="Arial"/>
            </a:endParaRPr>
          </a:p>
        </p:txBody>
      </p:sp>
      <p:sp>
        <p:nvSpPr>
          <p:cNvPr id="678" name="Google Shape;678;p71"/>
          <p:cNvSpPr/>
          <p:nvPr/>
        </p:nvSpPr>
        <p:spPr>
          <a:xfrm>
            <a:off x="4960034" y="2975990"/>
            <a:ext cx="3840480" cy="1097280"/>
          </a:xfrm>
          <a:prstGeom prst="roundRect">
            <a:avLst>
              <a:gd fmla="val 4167" name="adj"/>
            </a:avLst>
          </a:prstGeom>
          <a:solidFill>
            <a:srgbClr val="FFFFFF"/>
          </a:solidFill>
          <a:ln cap="flat" cmpd="sng" w="12700">
            <a:solidFill>
              <a:srgbClr val="E2E2E2"/>
            </a:solidFill>
            <a:prstDash val="solid"/>
            <a:round/>
            <a:headEnd len="sm" w="sm" type="none"/>
            <a:tailEnd len="sm" w="sm" type="none"/>
          </a:ln>
          <a:effectLst>
            <a:outerShdw blurRad="50800" rotWithShape="0" algn="bl" dir="5400000" dist="25400">
              <a:srgbClr val="BBBBBB">
                <a:alpha val="45098"/>
              </a:srgbClr>
            </a:outerShdw>
          </a:effectLst>
        </p:spPr>
        <p:txBody>
          <a:bodyPr anchorCtr="0" anchor="t" bIns="45700" lIns="91425" spcFirstLastPara="1" rIns="91425" wrap="square" tIns="45700">
            <a:noAutofit/>
          </a:bodyPr>
          <a:lstStyle/>
          <a:p>
            <a:pPr indent="0" lvl="0" marL="0" marR="0" rtl="0" algn="l">
              <a:lnSpc>
                <a:spcPct val="102000"/>
              </a:lnSpc>
              <a:spcBef>
                <a:spcPts val="0"/>
              </a:spcBef>
              <a:spcAft>
                <a:spcPts val="0"/>
              </a:spcAft>
              <a:buNone/>
            </a:pPr>
            <a:r>
              <a:rPr b="1" i="0" lang="en-GB" sz="1400" u="none" cap="none" strike="noStrike">
                <a:solidFill>
                  <a:srgbClr val="55A51C"/>
                </a:solidFill>
                <a:latin typeface="Arial"/>
                <a:ea typeface="Arial"/>
                <a:cs typeface="Arial"/>
                <a:sym typeface="Arial"/>
              </a:rPr>
              <a:t>What did I find?</a:t>
            </a:r>
            <a:endParaRPr b="1" i="0" sz="1400" u="none" cap="none" strike="noStrike">
              <a:solidFill>
                <a:srgbClr val="55A51C"/>
              </a:solidFill>
              <a:latin typeface="Arial"/>
              <a:ea typeface="Arial"/>
              <a:cs typeface="Arial"/>
              <a:sym typeface="Arial"/>
            </a:endParaRPr>
          </a:p>
          <a:p>
            <a:pPr indent="0" lvl="0" marL="0" marR="0" rtl="0" algn="l">
              <a:lnSpc>
                <a:spcPct val="102000"/>
              </a:lnSpc>
              <a:spcBef>
                <a:spcPts val="0"/>
              </a:spcBef>
              <a:spcAft>
                <a:spcPts val="0"/>
              </a:spcAft>
              <a:buNone/>
            </a:pPr>
            <a:br>
              <a:rPr b="1" i="0" lang="en-GB" sz="1600" u="none" cap="none" strike="noStrike">
                <a:solidFill>
                  <a:srgbClr val="55A51C"/>
                </a:solidFill>
                <a:latin typeface="Arial"/>
                <a:ea typeface="Arial"/>
                <a:cs typeface="Arial"/>
                <a:sym typeface="Arial"/>
              </a:rPr>
            </a:br>
            <a:r>
              <a:rPr b="0" i="0" lang="en-GB" sz="1050" u="none" cap="none" strike="noStrike">
                <a:solidFill>
                  <a:srgbClr val="1A1A1A"/>
                </a:solidFill>
                <a:latin typeface="Arial"/>
                <a:ea typeface="Arial"/>
                <a:cs typeface="Arial"/>
                <a:sym typeface="Arial"/>
              </a:rPr>
              <a:t>Faecalibacterium: p=0.459</a:t>
            </a:r>
            <a:endParaRPr b="0" i="0" sz="1050" u="none" cap="none" strike="noStrike">
              <a:solidFill>
                <a:srgbClr val="1A1A1A"/>
              </a:solidFill>
              <a:latin typeface="Arial"/>
              <a:ea typeface="Arial"/>
              <a:cs typeface="Arial"/>
              <a:sym typeface="Arial"/>
            </a:endParaRPr>
          </a:p>
        </p:txBody>
      </p:sp>
      <p:pic>
        <p:nvPicPr>
          <p:cNvPr id="679" name="Google Shape;679;p71"/>
          <p:cNvPicPr preferRelativeResize="0"/>
          <p:nvPr/>
        </p:nvPicPr>
        <p:blipFill rotWithShape="1">
          <a:blip r:embed="rId3">
            <a:alphaModFix/>
          </a:blip>
          <a:srcRect b="0" l="0" r="0" t="0"/>
          <a:stretch/>
        </p:blipFill>
        <p:spPr>
          <a:xfrm>
            <a:off x="343486" y="1273668"/>
            <a:ext cx="3840480" cy="2799602"/>
          </a:xfrm>
          <a:prstGeom prst="rect">
            <a:avLst/>
          </a:prstGeom>
          <a:noFill/>
          <a:ln>
            <a:noFill/>
          </a:ln>
        </p:spPr>
      </p:pic>
      <p:sp>
        <p:nvSpPr>
          <p:cNvPr id="680" name="Google Shape;680;p71"/>
          <p:cNvSpPr txBox="1"/>
          <p:nvPr/>
        </p:nvSpPr>
        <p:spPr>
          <a:xfrm>
            <a:off x="3638062" y="47421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Haitham Alahmadi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72"/>
          <p:cNvSpPr txBox="1"/>
          <p:nvPr>
            <p:ph type="title"/>
          </p:nvPr>
        </p:nvSpPr>
        <p:spPr>
          <a:xfrm>
            <a:off x="270000" y="347711"/>
            <a:ext cx="8604000" cy="30777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800"/>
              <a:buNone/>
            </a:pPr>
            <a:r>
              <a:rPr lang="en-GB" sz="2000">
                <a:solidFill>
                  <a:schemeClr val="lt1"/>
                </a:solidFill>
                <a:latin typeface="Arial"/>
                <a:ea typeface="Arial"/>
                <a:cs typeface="Arial"/>
                <a:sym typeface="Arial"/>
              </a:rPr>
              <a:t>Which taxa differ between disease groups?</a:t>
            </a:r>
            <a:endParaRPr sz="2000">
              <a:solidFill>
                <a:schemeClr val="lt1"/>
              </a:solidFill>
            </a:endParaRPr>
          </a:p>
        </p:txBody>
      </p:sp>
      <p:sp>
        <p:nvSpPr>
          <p:cNvPr id="686" name="Google Shape;686;p72"/>
          <p:cNvSpPr txBox="1"/>
          <p:nvPr>
            <p:ph idx="12" type="sldNum"/>
          </p:nvPr>
        </p:nvSpPr>
        <p:spPr>
          <a:xfrm>
            <a:off x="8301300" y="4819050"/>
            <a:ext cx="572700" cy="153900"/>
          </a:xfrm>
          <a:prstGeom prst="rect">
            <a:avLst/>
          </a:prstGeom>
          <a:noFill/>
          <a:ln>
            <a:noFill/>
          </a:ln>
        </p:spPr>
        <p:txBody>
          <a:bodyPr anchorCtr="0" anchor="ctr" bIns="0" lIns="0" spcFirstLastPara="1" rIns="0" wrap="square" tIns="0">
            <a:sp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
        <p:nvSpPr>
          <p:cNvPr id="687" name="Google Shape;687;p72"/>
          <p:cNvSpPr/>
          <p:nvPr/>
        </p:nvSpPr>
        <p:spPr>
          <a:xfrm>
            <a:off x="613876" y="3387821"/>
            <a:ext cx="3840480" cy="1024128"/>
          </a:xfrm>
          <a:prstGeom prst="roundRect">
            <a:avLst>
              <a:gd fmla="val 4464" name="adj"/>
            </a:avLst>
          </a:prstGeom>
          <a:solidFill>
            <a:srgbClr val="FFFFFF"/>
          </a:solidFill>
          <a:ln cap="flat" cmpd="sng" w="12700">
            <a:solidFill>
              <a:srgbClr val="E2E2E2"/>
            </a:solidFill>
            <a:prstDash val="solid"/>
            <a:round/>
            <a:headEnd len="sm" w="sm" type="none"/>
            <a:tailEnd len="sm" w="sm" type="none"/>
          </a:ln>
          <a:effectLst>
            <a:outerShdw blurRad="50800" rotWithShape="0" algn="bl" dir="5400000" dist="25400">
              <a:srgbClr val="BBBBBB">
                <a:alpha val="45098"/>
              </a:srgbClr>
            </a:outerShdw>
          </a:effectLst>
        </p:spPr>
        <p:txBody>
          <a:bodyPr anchorCtr="0" anchor="t" bIns="45700" lIns="91425" spcFirstLastPara="1" rIns="91425" wrap="square" tIns="45700">
            <a:noAutofit/>
          </a:bodyPr>
          <a:lstStyle/>
          <a:p>
            <a:pPr indent="0" lvl="0" marL="0" marR="0" rtl="0" algn="l">
              <a:lnSpc>
                <a:spcPct val="102000"/>
              </a:lnSpc>
              <a:spcBef>
                <a:spcPts val="0"/>
              </a:spcBef>
              <a:spcAft>
                <a:spcPts val="0"/>
              </a:spcAft>
              <a:buNone/>
            </a:pPr>
            <a:r>
              <a:rPr b="1" i="0" lang="en-GB" sz="1400" u="none" cap="none" strike="noStrike">
                <a:solidFill>
                  <a:srgbClr val="0072CF"/>
                </a:solidFill>
                <a:latin typeface="Arial"/>
                <a:ea typeface="Arial"/>
                <a:cs typeface="Arial"/>
                <a:sym typeface="Arial"/>
              </a:rPr>
              <a:t>What did we do?</a:t>
            </a:r>
            <a:br>
              <a:rPr b="1" i="0" lang="en-GB" sz="1600" u="none" cap="none" strike="noStrike">
                <a:solidFill>
                  <a:srgbClr val="0072CF"/>
                </a:solidFill>
                <a:latin typeface="Arial"/>
                <a:ea typeface="Arial"/>
                <a:cs typeface="Arial"/>
                <a:sym typeface="Arial"/>
              </a:rPr>
            </a:br>
            <a:r>
              <a:rPr b="0" i="0" lang="en-GB" sz="1050" u="none" cap="none" strike="noStrike">
                <a:solidFill>
                  <a:srgbClr val="1A1A1A"/>
                </a:solidFill>
                <a:latin typeface="Arial"/>
                <a:ea typeface="Arial"/>
                <a:cs typeface="Arial"/>
                <a:sym typeface="Arial"/>
              </a:rPr>
              <a:t>DESeq2. DESeq2 on sparse microbiome counts required the 'poscounts' size-factor method to run.</a:t>
            </a:r>
            <a:endParaRPr b="0" i="0" sz="1050" u="none" cap="none" strike="noStrike">
              <a:solidFill>
                <a:srgbClr val="000000"/>
              </a:solidFill>
              <a:latin typeface="Arial"/>
              <a:ea typeface="Arial"/>
              <a:cs typeface="Arial"/>
              <a:sym typeface="Arial"/>
            </a:endParaRPr>
          </a:p>
        </p:txBody>
      </p:sp>
      <p:sp>
        <p:nvSpPr>
          <p:cNvPr id="688" name="Google Shape;688;p72"/>
          <p:cNvSpPr/>
          <p:nvPr/>
        </p:nvSpPr>
        <p:spPr>
          <a:xfrm>
            <a:off x="4747170" y="3387821"/>
            <a:ext cx="3840480" cy="1024128"/>
          </a:xfrm>
          <a:prstGeom prst="roundRect">
            <a:avLst>
              <a:gd fmla="val 4464" name="adj"/>
            </a:avLst>
          </a:prstGeom>
          <a:solidFill>
            <a:srgbClr val="FFFFFF"/>
          </a:solidFill>
          <a:ln cap="flat" cmpd="sng" w="12700">
            <a:solidFill>
              <a:srgbClr val="E2E2E2"/>
            </a:solidFill>
            <a:prstDash val="solid"/>
            <a:round/>
            <a:headEnd len="sm" w="sm" type="none"/>
            <a:tailEnd len="sm" w="sm" type="none"/>
          </a:ln>
          <a:effectLst>
            <a:outerShdw blurRad="50800" rotWithShape="0" algn="bl" dir="5400000" dist="25400">
              <a:srgbClr val="BBBBBB">
                <a:alpha val="45098"/>
              </a:srgbClr>
            </a:outerShdw>
          </a:effectLst>
        </p:spPr>
        <p:txBody>
          <a:bodyPr anchorCtr="0" anchor="t" bIns="45700" lIns="91425" spcFirstLastPara="1" rIns="91425" wrap="square" tIns="45700">
            <a:noAutofit/>
          </a:bodyPr>
          <a:lstStyle/>
          <a:p>
            <a:pPr indent="0" lvl="0" marL="0" marR="0" rtl="0" algn="l">
              <a:lnSpc>
                <a:spcPct val="102000"/>
              </a:lnSpc>
              <a:spcBef>
                <a:spcPts val="0"/>
              </a:spcBef>
              <a:spcAft>
                <a:spcPts val="0"/>
              </a:spcAft>
              <a:buNone/>
            </a:pPr>
            <a:r>
              <a:rPr b="1" lang="en-GB">
                <a:solidFill>
                  <a:srgbClr val="55A51C"/>
                </a:solidFill>
              </a:rPr>
              <a:t>R</a:t>
            </a:r>
            <a:r>
              <a:rPr b="1" i="0" lang="en-GB" sz="1400" u="none" cap="none" strike="noStrike">
                <a:solidFill>
                  <a:srgbClr val="55A51C"/>
                </a:solidFill>
                <a:latin typeface="Arial"/>
                <a:ea typeface="Arial"/>
                <a:cs typeface="Arial"/>
                <a:sym typeface="Arial"/>
              </a:rPr>
              <a:t>esult</a:t>
            </a:r>
            <a:br>
              <a:rPr b="1" i="0" lang="en-GB" sz="1600" u="none" cap="none" strike="noStrike">
                <a:solidFill>
                  <a:srgbClr val="55A51C"/>
                </a:solidFill>
                <a:latin typeface="Arial"/>
                <a:ea typeface="Arial"/>
                <a:cs typeface="Arial"/>
                <a:sym typeface="Arial"/>
              </a:rPr>
            </a:br>
            <a:r>
              <a:rPr b="0" i="0" lang="en-GB" sz="1050" u="none" cap="none" strike="noStrike">
                <a:solidFill>
                  <a:srgbClr val="1A1A1A"/>
                </a:solidFill>
                <a:latin typeface="Arial"/>
                <a:ea typeface="Arial"/>
                <a:cs typeface="Arial"/>
                <a:sym typeface="Arial"/>
              </a:rPr>
              <a:t>CD vs nonIBD → 10 strongly significant taxa (padj 4.84e-15 to 5.07e-10). Citrobacter freundii ↑; Bacteroides vulgatus &amp; Akkermansia ↓. </a:t>
            </a:r>
            <a:endParaRPr b="0" i="0" sz="1050" u="none" cap="none" strike="noStrike">
              <a:solidFill>
                <a:srgbClr val="000000"/>
              </a:solidFill>
              <a:latin typeface="Arial"/>
              <a:ea typeface="Arial"/>
              <a:cs typeface="Arial"/>
              <a:sym typeface="Arial"/>
            </a:endParaRPr>
          </a:p>
        </p:txBody>
      </p:sp>
      <p:pic>
        <p:nvPicPr>
          <p:cNvPr id="689" name="Google Shape;689;p72"/>
          <p:cNvPicPr preferRelativeResize="0"/>
          <p:nvPr/>
        </p:nvPicPr>
        <p:blipFill rotWithShape="1">
          <a:blip r:embed="rId3">
            <a:alphaModFix/>
          </a:blip>
          <a:srcRect b="0" l="0" r="0" t="0"/>
          <a:stretch/>
        </p:blipFill>
        <p:spPr>
          <a:xfrm>
            <a:off x="5299472" y="1082627"/>
            <a:ext cx="3051538" cy="2101644"/>
          </a:xfrm>
          <a:prstGeom prst="rect">
            <a:avLst/>
          </a:prstGeom>
          <a:noFill/>
          <a:ln>
            <a:noFill/>
          </a:ln>
        </p:spPr>
      </p:pic>
      <p:pic>
        <p:nvPicPr>
          <p:cNvPr id="690" name="Google Shape;690;p72"/>
          <p:cNvPicPr preferRelativeResize="0"/>
          <p:nvPr/>
        </p:nvPicPr>
        <p:blipFill rotWithShape="1">
          <a:blip r:embed="rId4">
            <a:alphaModFix/>
          </a:blip>
          <a:srcRect b="0" l="0" r="0" t="0"/>
          <a:stretch/>
        </p:blipFill>
        <p:spPr>
          <a:xfrm>
            <a:off x="1007812" y="1082627"/>
            <a:ext cx="2836718" cy="2072151"/>
          </a:xfrm>
          <a:prstGeom prst="rect">
            <a:avLst/>
          </a:prstGeom>
          <a:noFill/>
          <a:ln>
            <a:noFill/>
          </a:ln>
        </p:spPr>
      </p:pic>
      <p:sp>
        <p:nvSpPr>
          <p:cNvPr id="691" name="Google Shape;691;p72"/>
          <p:cNvSpPr txBox="1"/>
          <p:nvPr/>
        </p:nvSpPr>
        <p:spPr>
          <a:xfrm>
            <a:off x="3729300" y="474211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chemeClr val="lt1"/>
                </a:solidFill>
                <a:latin typeface="Arial"/>
                <a:ea typeface="Arial"/>
                <a:cs typeface="Arial"/>
                <a:sym typeface="Arial"/>
              </a:rPr>
              <a:t>Haitham Alahmadi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RIT">
  <a:themeElements>
    <a:clrScheme name="Simple Light">
      <a:dk1>
        <a:srgbClr val="003E72"/>
      </a:dk1>
      <a:lt1>
        <a:srgbClr val="FFFFFF"/>
      </a:lt1>
      <a:dk2>
        <a:srgbClr val="003E72"/>
      </a:dk2>
      <a:lt2>
        <a:srgbClr val="F3F3F3"/>
      </a:lt2>
      <a:accent1>
        <a:srgbClr val="D6083B"/>
      </a:accent1>
      <a:accent2>
        <a:srgbClr val="0072CF"/>
      </a:accent2>
      <a:accent3>
        <a:srgbClr val="EA7125"/>
      </a:accent3>
      <a:accent4>
        <a:srgbClr val="55A51C"/>
      </a:accent4>
      <a:accent5>
        <a:srgbClr val="8F2BBC"/>
      </a:accent5>
      <a:accent6>
        <a:srgbClr val="00B1C1"/>
      </a:accent6>
      <a:hlink>
        <a:srgbClr val="55A5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IT">
  <a:themeElements>
    <a:clrScheme name="Simple Light">
      <a:dk1>
        <a:srgbClr val="003E72"/>
      </a:dk1>
      <a:lt1>
        <a:srgbClr val="FFFFFF"/>
      </a:lt1>
      <a:dk2>
        <a:srgbClr val="003E72"/>
      </a:dk2>
      <a:lt2>
        <a:srgbClr val="F3F3F3"/>
      </a:lt2>
      <a:accent1>
        <a:srgbClr val="D6083B"/>
      </a:accent1>
      <a:accent2>
        <a:srgbClr val="0072CF"/>
      </a:accent2>
      <a:accent3>
        <a:srgbClr val="EA7125"/>
      </a:accent3>
      <a:accent4>
        <a:srgbClr val="55A51C"/>
      </a:accent4>
      <a:accent5>
        <a:srgbClr val="8F2BBC"/>
      </a:accent5>
      <a:accent6>
        <a:srgbClr val="00B1C1"/>
      </a:accent6>
      <a:hlink>
        <a:srgbClr val="55A5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RIT">
  <a:themeElements>
    <a:clrScheme name="Simple Light">
      <a:dk1>
        <a:srgbClr val="003E72"/>
      </a:dk1>
      <a:lt1>
        <a:srgbClr val="FFFFFF"/>
      </a:lt1>
      <a:dk2>
        <a:srgbClr val="003E72"/>
      </a:dk2>
      <a:lt2>
        <a:srgbClr val="F3F3F3"/>
      </a:lt2>
      <a:accent1>
        <a:srgbClr val="D6083B"/>
      </a:accent1>
      <a:accent2>
        <a:srgbClr val="0072CF"/>
      </a:accent2>
      <a:accent3>
        <a:srgbClr val="EA7125"/>
      </a:accent3>
      <a:accent4>
        <a:srgbClr val="55A51C"/>
      </a:accent4>
      <a:accent5>
        <a:srgbClr val="8F2BBC"/>
      </a:accent5>
      <a:accent6>
        <a:srgbClr val="00B1C1"/>
      </a:accent6>
      <a:hlink>
        <a:srgbClr val="55A5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RIT">
  <a:themeElements>
    <a:clrScheme name="Simple Light">
      <a:dk1>
        <a:srgbClr val="003E72"/>
      </a:dk1>
      <a:lt1>
        <a:srgbClr val="FFFFFF"/>
      </a:lt1>
      <a:dk2>
        <a:srgbClr val="003E72"/>
      </a:dk2>
      <a:lt2>
        <a:srgbClr val="F3F3F3"/>
      </a:lt2>
      <a:accent1>
        <a:srgbClr val="D6083B"/>
      </a:accent1>
      <a:accent2>
        <a:srgbClr val="0072CF"/>
      </a:accent2>
      <a:accent3>
        <a:srgbClr val="EA7125"/>
      </a:accent3>
      <a:accent4>
        <a:srgbClr val="55A51C"/>
      </a:accent4>
      <a:accent5>
        <a:srgbClr val="8F2BBC"/>
      </a:accent5>
      <a:accent6>
        <a:srgbClr val="00B1C1"/>
      </a:accent6>
      <a:hlink>
        <a:srgbClr val="55A5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