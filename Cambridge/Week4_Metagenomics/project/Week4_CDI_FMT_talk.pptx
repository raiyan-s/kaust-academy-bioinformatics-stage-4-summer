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  <p:sldMasterId id="2147483683" r:id="rId2"/>
    <p:sldMasterId id="2147483684" r:id="rId3"/>
    <p:sldMasterId id="2147483685" r:id="rId4"/>
  </p:sldMasterIdLst>
  <p:notesMasterIdLst>
    <p:notesMasterId r:id="rId7"/>
  </p:notesMasterIdLst>
  <p:sldIdLst>
    <p:sldId id="287" r:id="rId5"/>
    <p:sldId id="288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0A0717-11D6-420C-A9E2-7DCD7FBBD6B6}">
  <a:tblStyle styleId="{1A0A0717-11D6-420C-A9E2-7DCD7FBBD6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607" autoAdjust="0"/>
  </p:normalViewPr>
  <p:slideViewPr>
    <p:cSldViewPr snapToGrid="0">
      <p:cViewPr>
        <p:scale>
          <a:sx n="100" d="100"/>
          <a:sy n="100" d="100"/>
        </p:scale>
        <p:origin x="300" y="48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Slide 1 — Every patient's gut is broken differently; every donor's looks the same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"286 genera; 169 appeared in at least 10% of people so were worth testing; a Wilcoxon test on each, then Benjamini-Hochberg to correct for 169 tests, left 53 — 51 depleted in patients, 2 enriched.“</a:t>
            </a: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Dataset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Youngster et al. (2014)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19 patients + 4 healthy donors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100 stool samples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Repeated patient samples averaged → 23 individuals for statistics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Explain the figure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Each bar = one stool sample</a:t>
            </a:r>
          </a:p>
          <a:p>
            <a:pPr lvl="0"/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Colours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15 most abundant bacteria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Grey = all remaining bacteria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Left (Patients before FMT)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Every patient sample looks different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Different bacteria dominate each sample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common specific "disease microbiome“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 (Donors)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Donors look remarkably similar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Stable, healthy microbial community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Only 4 Donors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Middle (Patients after FMT)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Patients shift toward donor composition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Gut becomes more similar to healthy donors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Main takeaway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Many ways for a gut to become unhealthy, but common stable healthy state.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Slide 2 —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Fibre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fermenters return, opportunists disappear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Differential abundance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Compared 169 genera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53 significantly different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51 enriched in healthy donors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Only 2 enriched in patients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Top panel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Six most depleted beneficial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genuses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 = before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Green = after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 = donors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 point</a:t>
            </a:r>
          </a:p>
          <a:p>
            <a:pPr lvl="0"/>
            <a:r>
              <a:rPr lang="en-U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Faecalibacterium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nearly absent before FMT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Returns toward donor levels after treatment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Most beneficial bacteria recover substantially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Bottom panel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Two bacteria enriched in patients</a:t>
            </a:r>
          </a:p>
          <a:p>
            <a:pPr lvl="0"/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Klebsiella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especially abundant before treatment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Drops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slighty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after FMT compared to the healthy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Biological explanation (Most important)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Beneficial bacteria ferment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fibre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Produce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butyrate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Butyrate fuels colon cells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Colon cells consume oxygen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Low oxygen prevents pathogens like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Klebsiella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to grow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FMT restores this healthy environment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microbiome only got about halfway back, but people felt completely better even if it was still only partly restored.</a:t>
            </a:r>
          </a:p>
          <a:p>
            <a:pPr lvl="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Main takeaway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FMT restores beneficial bacteria rather than directly killing pathogens and restores the healthy gut environment.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Important numbers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Value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Patients 19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Donors 4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Total samples 100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Individuals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analysed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23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Genera tested 169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Significant genera 53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Depleted genera 51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Enriched genera 2</a:t>
            </a:r>
          </a:p>
          <a:p>
            <a:r>
              <a:rPr lang="en-U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Faecalibacterium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0.26% → 5.98% (donors 11.29%)</a:t>
            </a:r>
          </a:p>
          <a:p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Klebsiella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13.8% → 3.2% (donors ~0%)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Limitations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Only 4 donors.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Single clinical study.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Repeated sampling handled by averaging.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Genus-level resolution only.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inferred, not directly measured.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016800"/>
            <a:ext cx="9144000" cy="5061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4522925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1309700"/>
            <a:ext cx="9144000" cy="27072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13" name="Google Shape;13;p2" title="CRIT_Colour_alph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9275" y="251999"/>
            <a:ext cx="2450924" cy="6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70000" y="1538300"/>
            <a:ext cx="86040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70000" y="2860675"/>
            <a:ext cx="8604000" cy="99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70000" y="1600575"/>
            <a:ext cx="8604000" cy="7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70000" y="2377575"/>
            <a:ext cx="86040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buNone/>
              <a:defRPr sz="1300">
                <a:solidFill>
                  <a:srgbClr val="003E72"/>
                </a:solidFill>
              </a:defRPr>
            </a:lvl1pPr>
            <a:lvl2pPr lvl="1">
              <a:buNone/>
              <a:defRPr sz="1300">
                <a:solidFill>
                  <a:srgbClr val="003E72"/>
                </a:solidFill>
              </a:defRPr>
            </a:lvl2pPr>
            <a:lvl3pPr lvl="2">
              <a:buNone/>
              <a:defRPr sz="1300">
                <a:solidFill>
                  <a:srgbClr val="003E72"/>
                </a:solidFill>
              </a:defRPr>
            </a:lvl3pPr>
            <a:lvl4pPr lvl="3">
              <a:buNone/>
              <a:defRPr sz="1300">
                <a:solidFill>
                  <a:srgbClr val="003E72"/>
                </a:solidFill>
              </a:defRPr>
            </a:lvl4pPr>
            <a:lvl5pPr lvl="4">
              <a:buNone/>
              <a:defRPr sz="1300">
                <a:solidFill>
                  <a:srgbClr val="003E72"/>
                </a:solidFill>
              </a:defRPr>
            </a:lvl5pPr>
            <a:lvl6pPr lvl="5">
              <a:buNone/>
              <a:defRPr sz="1300">
                <a:solidFill>
                  <a:srgbClr val="003E72"/>
                </a:solidFill>
              </a:defRPr>
            </a:lvl6pPr>
            <a:lvl7pPr lvl="6">
              <a:buNone/>
              <a:defRPr sz="1300">
                <a:solidFill>
                  <a:srgbClr val="003E72"/>
                </a:solidFill>
              </a:defRPr>
            </a:lvl7pPr>
            <a:lvl8pPr lvl="7">
              <a:buNone/>
              <a:defRPr sz="1300">
                <a:solidFill>
                  <a:srgbClr val="003E72"/>
                </a:solidFill>
              </a:defRPr>
            </a:lvl8pPr>
            <a:lvl9pPr lvl="8">
              <a:buNone/>
              <a:defRPr sz="1300">
                <a:solidFill>
                  <a:srgbClr val="003E7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" name="Google Shape;28;p4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4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" name="Google Shape;38;p5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270000" y="1167450"/>
            <a:ext cx="8604000" cy="31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USTOM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" name="Google Shape;44;p6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274975" y="1666875"/>
            <a:ext cx="4258800" cy="27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610100" y="1666875"/>
            <a:ext cx="4263900" cy="27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ubTitle" idx="3"/>
          </p:nvPr>
        </p:nvSpPr>
        <p:spPr>
          <a:xfrm>
            <a:off x="270000" y="1091400"/>
            <a:ext cx="42639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4"/>
          </p:nvPr>
        </p:nvSpPr>
        <p:spPr>
          <a:xfrm>
            <a:off x="4610100" y="1091400"/>
            <a:ext cx="42639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">
  <p:cSld name="CUSTOM_6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p7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7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buNone/>
              <a:defRPr sz="1300">
                <a:solidFill>
                  <a:srgbClr val="003E72"/>
                </a:solidFill>
              </a:defRPr>
            </a:lvl1pPr>
            <a:lvl2pPr lvl="1">
              <a:buNone/>
              <a:defRPr sz="1300">
                <a:solidFill>
                  <a:srgbClr val="003E72"/>
                </a:solidFill>
              </a:defRPr>
            </a:lvl2pPr>
            <a:lvl3pPr lvl="2">
              <a:buNone/>
              <a:defRPr sz="1300">
                <a:solidFill>
                  <a:srgbClr val="003E72"/>
                </a:solidFill>
              </a:defRPr>
            </a:lvl3pPr>
            <a:lvl4pPr lvl="3">
              <a:buNone/>
              <a:defRPr sz="1300">
                <a:solidFill>
                  <a:srgbClr val="003E72"/>
                </a:solidFill>
              </a:defRPr>
            </a:lvl4pPr>
            <a:lvl5pPr lvl="4">
              <a:buNone/>
              <a:defRPr sz="1300">
                <a:solidFill>
                  <a:srgbClr val="003E72"/>
                </a:solidFill>
              </a:defRPr>
            </a:lvl5pPr>
            <a:lvl6pPr lvl="5">
              <a:buNone/>
              <a:defRPr sz="1300">
                <a:solidFill>
                  <a:srgbClr val="003E72"/>
                </a:solidFill>
              </a:defRPr>
            </a:lvl6pPr>
            <a:lvl7pPr lvl="6">
              <a:buNone/>
              <a:defRPr sz="1300">
                <a:solidFill>
                  <a:srgbClr val="003E72"/>
                </a:solidFill>
              </a:defRPr>
            </a:lvl7pPr>
            <a:lvl8pPr lvl="7">
              <a:buNone/>
              <a:defRPr sz="1300">
                <a:solidFill>
                  <a:srgbClr val="003E72"/>
                </a:solidFill>
              </a:defRPr>
            </a:lvl8pPr>
            <a:lvl9pPr lvl="8">
              <a:buNone/>
              <a:defRPr sz="1300">
                <a:solidFill>
                  <a:srgbClr val="003E7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1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2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270000" y="1600575"/>
            <a:ext cx="8604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1"/>
          </p:nvPr>
        </p:nvSpPr>
        <p:spPr>
          <a:xfrm>
            <a:off x="270000" y="2377575"/>
            <a:ext cx="86040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4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3" name="Google Shape;83;p13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270000" y="1167450"/>
            <a:ext cx="86040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USTOM_5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9" name="Google Shape;89;p14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74975" y="1666875"/>
            <a:ext cx="4258800" cy="27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610100" y="1666875"/>
            <a:ext cx="4263900" cy="27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270000" y="1091400"/>
            <a:ext cx="4263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4610100" y="1091400"/>
            <a:ext cx="4263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">
  <p:cSld name="CUSTOM_6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15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7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" name="Google Shape;144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0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30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0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/>
          <p:nvPr/>
        </p:nvSpPr>
        <p:spPr>
          <a:xfrm>
            <a:off x="0" y="4016800"/>
            <a:ext cx="9144000" cy="5061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2"/>
          <p:cNvSpPr/>
          <p:nvPr/>
        </p:nvSpPr>
        <p:spPr>
          <a:xfrm>
            <a:off x="0" y="4522925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/>
          <p:nvPr/>
        </p:nvSpPr>
        <p:spPr>
          <a:xfrm>
            <a:off x="0" y="1309700"/>
            <a:ext cx="9144000" cy="27072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2" title="CRIT_Colour_alph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9275" y="251999"/>
            <a:ext cx="2450924" cy="6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270000" y="1538300"/>
            <a:ext cx="86040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subTitle" idx="1"/>
          </p:nvPr>
        </p:nvSpPr>
        <p:spPr>
          <a:xfrm>
            <a:off x="270000" y="2860675"/>
            <a:ext cx="8604000" cy="9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 b="1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3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3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3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3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4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4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4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270000" y="1600575"/>
            <a:ext cx="8604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subTitle" idx="1"/>
          </p:nvPr>
        </p:nvSpPr>
        <p:spPr>
          <a:xfrm>
            <a:off x="270000" y="2377575"/>
            <a:ext cx="86040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5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5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35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5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8" name="Google Shape;188;p35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5"/>
          <p:cNvSpPr txBox="1">
            <a:spLocks noGrp="1"/>
          </p:cNvSpPr>
          <p:nvPr>
            <p:ph type="body" idx="1"/>
          </p:nvPr>
        </p:nvSpPr>
        <p:spPr>
          <a:xfrm>
            <a:off x="270000" y="1167450"/>
            <a:ext cx="86040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USTOM_5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/>
          <p:nvPr/>
        </p:nvSpPr>
        <p:spPr>
          <a:xfrm>
            <a:off x="25" y="850800"/>
            <a:ext cx="9144000" cy="134400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6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4" name="Google Shape;194;p36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274975" y="1666875"/>
            <a:ext cx="4258800" cy="27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body" idx="2"/>
          </p:nvPr>
        </p:nvSpPr>
        <p:spPr>
          <a:xfrm>
            <a:off x="4610100" y="1666875"/>
            <a:ext cx="4263900" cy="27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subTitle" idx="3"/>
          </p:nvPr>
        </p:nvSpPr>
        <p:spPr>
          <a:xfrm>
            <a:off x="270000" y="1091400"/>
            <a:ext cx="4263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subTitle" idx="4"/>
          </p:nvPr>
        </p:nvSpPr>
        <p:spPr>
          <a:xfrm>
            <a:off x="4610100" y="1091400"/>
            <a:ext cx="4263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/>
          <p:nvPr/>
        </p:nvSpPr>
        <p:spPr>
          <a:xfrm>
            <a:off x="25" y="0"/>
            <a:ext cx="9144000" cy="850800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 txBox="1">
            <a:spLocks noGrp="1"/>
          </p:cNvSpPr>
          <p:nvPr>
            <p:ph type="title"/>
          </p:nvPr>
        </p:nvSpPr>
        <p:spPr>
          <a:xfrm>
            <a:off x="270000" y="254700"/>
            <a:ext cx="8604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">
  <p:cSld name="CUSTOM_6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/>
          <p:nvPr/>
        </p:nvSpPr>
        <p:spPr>
          <a:xfrm>
            <a:off x="25" y="4649100"/>
            <a:ext cx="9144000" cy="493800"/>
          </a:xfrm>
          <a:prstGeom prst="rect">
            <a:avLst/>
          </a:prstGeom>
          <a:solidFill>
            <a:srgbClr val="003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7"/>
          <p:cNvSpPr txBox="1">
            <a:spLocks noGrp="1"/>
          </p:cNvSpPr>
          <p:nvPr>
            <p:ph type="sldNum" idx="12"/>
          </p:nvPr>
        </p:nvSpPr>
        <p:spPr>
          <a:xfrm>
            <a:off x="8301300" y="4819050"/>
            <a:ext cx="572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4" name="Google Shape;204;p37" title="CRIT_Colour_alpha_rev.png"/>
          <p:cNvPicPr preferRelativeResize="0"/>
          <p:nvPr/>
        </p:nvPicPr>
        <p:blipFill rotWithShape="1">
          <a:blip r:embed="rId2">
            <a:alphaModFix/>
          </a:blip>
          <a:srcRect b="34768"/>
          <a:stretch/>
        </p:blipFill>
        <p:spPr>
          <a:xfrm>
            <a:off x="237375" y="4781225"/>
            <a:ext cx="1117343" cy="22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7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0000" y="246600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None/>
              <a:defRPr sz="2800">
                <a:solidFill>
                  <a:srgbClr val="003E7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0000" y="1152475"/>
            <a:ext cx="842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●"/>
              <a:defRPr sz="2200">
                <a:solidFill>
                  <a:srgbClr val="003E72"/>
                </a:solidFill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○"/>
              <a:defRPr sz="2200">
                <a:solidFill>
                  <a:srgbClr val="003E72"/>
                </a:solidFill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■"/>
              <a:defRPr sz="2200">
                <a:solidFill>
                  <a:srgbClr val="003E72"/>
                </a:solidFill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●"/>
              <a:defRPr sz="2200">
                <a:solidFill>
                  <a:srgbClr val="003E72"/>
                </a:solidFill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○"/>
              <a:defRPr sz="2200">
                <a:solidFill>
                  <a:srgbClr val="003E72"/>
                </a:solidFill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■"/>
              <a:defRPr sz="2200">
                <a:solidFill>
                  <a:srgbClr val="003E72"/>
                </a:solidFill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●"/>
              <a:defRPr sz="2200">
                <a:solidFill>
                  <a:srgbClr val="003E72"/>
                </a:solidFill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○"/>
              <a:defRPr sz="2200">
                <a:solidFill>
                  <a:srgbClr val="003E72"/>
                </a:solidFill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Char char="■"/>
              <a:defRPr sz="2200">
                <a:solidFill>
                  <a:srgbClr val="003E7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1000">
                <a:solidFill>
                  <a:srgbClr val="FFFFFF"/>
                </a:solidFill>
              </a:defRPr>
            </a:lvl1pPr>
            <a:lvl2pPr lvl="1" algn="r">
              <a:buNone/>
              <a:defRPr sz="1000">
                <a:solidFill>
                  <a:srgbClr val="FFFFFF"/>
                </a:solidFill>
              </a:defRPr>
            </a:lvl2pPr>
            <a:lvl3pPr lvl="2" algn="r">
              <a:buNone/>
              <a:defRPr sz="1000">
                <a:solidFill>
                  <a:srgbClr val="FFFFFF"/>
                </a:solidFill>
              </a:defRPr>
            </a:lvl3pPr>
            <a:lvl4pPr lvl="3" algn="r">
              <a:buNone/>
              <a:defRPr sz="1000">
                <a:solidFill>
                  <a:srgbClr val="FFFFFF"/>
                </a:solidFill>
              </a:defRPr>
            </a:lvl4pPr>
            <a:lvl5pPr lvl="4" algn="r">
              <a:buNone/>
              <a:defRPr sz="1000">
                <a:solidFill>
                  <a:srgbClr val="FFFFFF"/>
                </a:solidFill>
              </a:defRPr>
            </a:lvl5pPr>
            <a:lvl6pPr lvl="5" algn="r">
              <a:buNone/>
              <a:defRPr sz="1000">
                <a:solidFill>
                  <a:srgbClr val="FFFFFF"/>
                </a:solidFill>
              </a:defRPr>
            </a:lvl6pPr>
            <a:lvl7pPr lvl="6" algn="r">
              <a:buNone/>
              <a:defRPr sz="1000">
                <a:solidFill>
                  <a:srgbClr val="FFFFFF"/>
                </a:solidFill>
              </a:defRPr>
            </a:lvl7pPr>
            <a:lvl8pPr lvl="7" algn="r">
              <a:buNone/>
              <a:defRPr sz="1000">
                <a:solidFill>
                  <a:srgbClr val="FFFFFF"/>
                </a:solidFill>
              </a:defRPr>
            </a:lvl8pPr>
            <a:lvl9pPr lvl="8" algn="r">
              <a:buNone/>
              <a:defRPr sz="10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D9D9D9"/>
          </p15:clr>
        </p15:guide>
        <p15:guide id="2" pos="5590">
          <p15:clr>
            <a:srgbClr val="D9D9D9"/>
          </p15:clr>
        </p15:guide>
        <p15:guide id="3" pos="696">
          <p15:clr>
            <a:srgbClr val="D9D9D9"/>
          </p15:clr>
        </p15:guide>
        <p15:guide id="4" pos="744">
          <p15:clr>
            <a:srgbClr val="D9D9D9"/>
          </p15:clr>
        </p15:guide>
        <p15:guide id="5" pos="1176">
          <p15:clr>
            <a:srgbClr val="D9D9D9"/>
          </p15:clr>
        </p15:guide>
        <p15:guide id="6" pos="1560">
          <p15:clr>
            <a:srgbClr val="D9D9D9"/>
          </p15:clr>
        </p15:guide>
        <p15:guide id="7" pos="1992">
          <p15:clr>
            <a:srgbClr val="D9D9D9"/>
          </p15:clr>
        </p15:guide>
        <p15:guide id="8" pos="1608">
          <p15:clr>
            <a:srgbClr val="D9D9D9"/>
          </p15:clr>
        </p15:guide>
        <p15:guide id="9" pos="2040">
          <p15:clr>
            <a:srgbClr val="D9D9D9"/>
          </p15:clr>
        </p15:guide>
        <p15:guide id="10" pos="2424">
          <p15:clr>
            <a:srgbClr val="D9D9D9"/>
          </p15:clr>
        </p15:guide>
        <p15:guide id="11" pos="2856">
          <p15:clr>
            <a:srgbClr val="D9D9D9"/>
          </p15:clr>
        </p15:guide>
        <p15:guide id="12" pos="2472">
          <p15:clr>
            <a:srgbClr val="D9D9D9"/>
          </p15:clr>
        </p15:guide>
        <p15:guide id="13" pos="2904">
          <p15:clr>
            <a:srgbClr val="D9D9D9"/>
          </p15:clr>
        </p15:guide>
        <p15:guide id="14" pos="3288">
          <p15:clr>
            <a:srgbClr val="D9D9D9"/>
          </p15:clr>
        </p15:guide>
        <p15:guide id="15" pos="3336">
          <p15:clr>
            <a:srgbClr val="D9D9D9"/>
          </p15:clr>
        </p15:guide>
        <p15:guide id="16" pos="3720">
          <p15:clr>
            <a:srgbClr val="D9D9D9"/>
          </p15:clr>
        </p15:guide>
        <p15:guide id="17" pos="3768">
          <p15:clr>
            <a:srgbClr val="D9D9D9"/>
          </p15:clr>
        </p15:guide>
        <p15:guide id="18" pos="4152">
          <p15:clr>
            <a:srgbClr val="D9D9D9"/>
          </p15:clr>
        </p15:guide>
        <p15:guide id="19" pos="4200">
          <p15:clr>
            <a:srgbClr val="D9D9D9"/>
          </p15:clr>
        </p15:guide>
        <p15:guide id="20" pos="4584">
          <p15:clr>
            <a:srgbClr val="D9D9D9"/>
          </p15:clr>
        </p15:guide>
        <p15:guide id="21" pos="4632">
          <p15:clr>
            <a:srgbClr val="D9D9D9"/>
          </p15:clr>
        </p15:guide>
        <p15:guide id="22" pos="5016">
          <p15:clr>
            <a:srgbClr val="D9D9D9"/>
          </p15:clr>
        </p15:guide>
        <p15:guide id="23" pos="5064">
          <p15:clr>
            <a:srgbClr val="D9D9D9"/>
          </p15:clr>
        </p15:guide>
        <p15:guide id="24" pos="1128">
          <p15:clr>
            <a:srgbClr val="D9D9D9"/>
          </p15:clr>
        </p15:guide>
        <p15:guide id="25" orient="horz" pos="1730">
          <p15:clr>
            <a:srgbClr val="D9D9D9"/>
          </p15:clr>
        </p15:guide>
        <p15:guide id="26" orient="horz" pos="1802">
          <p15:clr>
            <a:srgbClr val="D9D9D9"/>
          </p15:clr>
        </p15:guide>
        <p15:guide id="27" pos="312">
          <p15:clr>
            <a:srgbClr val="EFEFEF"/>
          </p15:clr>
        </p15:guide>
        <p15:guide id="28" pos="5448">
          <p15:clr>
            <a:srgbClr val="EFEFEF"/>
          </p15:clr>
        </p15:guide>
        <p15:guide id="29" orient="horz" pos="621">
          <p15:clr>
            <a:srgbClr val="D9D9D9"/>
          </p15:clr>
        </p15:guide>
        <p15:guide id="30" orient="horz" pos="2929">
          <p15:clr>
            <a:srgbClr val="D9D9D9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360000" y="246600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60000" y="1152475"/>
            <a:ext cx="842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D9D9D9"/>
          </p15:clr>
        </p15:guide>
        <p15:guide id="2" pos="5590">
          <p15:clr>
            <a:srgbClr val="D9D9D9"/>
          </p15:clr>
        </p15:guide>
        <p15:guide id="3" pos="696">
          <p15:clr>
            <a:srgbClr val="D9D9D9"/>
          </p15:clr>
        </p15:guide>
        <p15:guide id="4" pos="744">
          <p15:clr>
            <a:srgbClr val="D9D9D9"/>
          </p15:clr>
        </p15:guide>
        <p15:guide id="5" pos="1176">
          <p15:clr>
            <a:srgbClr val="D9D9D9"/>
          </p15:clr>
        </p15:guide>
        <p15:guide id="6" pos="1560">
          <p15:clr>
            <a:srgbClr val="D9D9D9"/>
          </p15:clr>
        </p15:guide>
        <p15:guide id="7" pos="1992">
          <p15:clr>
            <a:srgbClr val="D9D9D9"/>
          </p15:clr>
        </p15:guide>
        <p15:guide id="8" pos="1608">
          <p15:clr>
            <a:srgbClr val="D9D9D9"/>
          </p15:clr>
        </p15:guide>
        <p15:guide id="9" pos="2040">
          <p15:clr>
            <a:srgbClr val="D9D9D9"/>
          </p15:clr>
        </p15:guide>
        <p15:guide id="10" pos="2424">
          <p15:clr>
            <a:srgbClr val="D9D9D9"/>
          </p15:clr>
        </p15:guide>
        <p15:guide id="11" pos="2856">
          <p15:clr>
            <a:srgbClr val="D9D9D9"/>
          </p15:clr>
        </p15:guide>
        <p15:guide id="12" pos="2472">
          <p15:clr>
            <a:srgbClr val="D9D9D9"/>
          </p15:clr>
        </p15:guide>
        <p15:guide id="13" pos="2904">
          <p15:clr>
            <a:srgbClr val="D9D9D9"/>
          </p15:clr>
        </p15:guide>
        <p15:guide id="14" pos="3288">
          <p15:clr>
            <a:srgbClr val="D9D9D9"/>
          </p15:clr>
        </p15:guide>
        <p15:guide id="15" pos="3336">
          <p15:clr>
            <a:srgbClr val="D9D9D9"/>
          </p15:clr>
        </p15:guide>
        <p15:guide id="16" pos="3720">
          <p15:clr>
            <a:srgbClr val="D9D9D9"/>
          </p15:clr>
        </p15:guide>
        <p15:guide id="17" pos="3768">
          <p15:clr>
            <a:srgbClr val="D9D9D9"/>
          </p15:clr>
        </p15:guide>
        <p15:guide id="18" pos="4152">
          <p15:clr>
            <a:srgbClr val="D9D9D9"/>
          </p15:clr>
        </p15:guide>
        <p15:guide id="19" pos="4200">
          <p15:clr>
            <a:srgbClr val="D9D9D9"/>
          </p15:clr>
        </p15:guide>
        <p15:guide id="20" pos="4584">
          <p15:clr>
            <a:srgbClr val="D9D9D9"/>
          </p15:clr>
        </p15:guide>
        <p15:guide id="21" pos="4632">
          <p15:clr>
            <a:srgbClr val="D9D9D9"/>
          </p15:clr>
        </p15:guide>
        <p15:guide id="22" pos="5016">
          <p15:clr>
            <a:srgbClr val="D9D9D9"/>
          </p15:clr>
        </p15:guide>
        <p15:guide id="23" pos="5064">
          <p15:clr>
            <a:srgbClr val="D9D9D9"/>
          </p15:clr>
        </p15:guide>
        <p15:guide id="24" pos="1128">
          <p15:clr>
            <a:srgbClr val="D9D9D9"/>
          </p15:clr>
        </p15:guide>
        <p15:guide id="25" orient="horz" pos="1730">
          <p15:clr>
            <a:srgbClr val="D9D9D9"/>
          </p15:clr>
        </p15:guide>
        <p15:guide id="26" orient="horz" pos="1802">
          <p15:clr>
            <a:srgbClr val="D9D9D9"/>
          </p15:clr>
        </p15:guide>
        <p15:guide id="27" pos="312">
          <p15:clr>
            <a:srgbClr val="EFEFEF"/>
          </p15:clr>
        </p15:guide>
        <p15:guide id="28" pos="5448">
          <p15:clr>
            <a:srgbClr val="EFEFEF"/>
          </p15:clr>
        </p15:guide>
        <p15:guide id="29" orient="horz" pos="621">
          <p15:clr>
            <a:srgbClr val="D9D9D9"/>
          </p15:clr>
        </p15:guide>
        <p15:guide id="30" orient="horz" pos="2929">
          <p15:clr>
            <a:srgbClr val="D9D9D9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>
            <a:spLocks noGrp="1"/>
          </p:cNvSpPr>
          <p:nvPr>
            <p:ph type="title"/>
          </p:nvPr>
        </p:nvSpPr>
        <p:spPr>
          <a:xfrm>
            <a:off x="360000" y="246600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body" idx="1"/>
          </p:nvPr>
        </p:nvSpPr>
        <p:spPr>
          <a:xfrm>
            <a:off x="360000" y="1152475"/>
            <a:ext cx="842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E7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rgbClr val="00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D9D9D9"/>
          </p15:clr>
        </p15:guide>
        <p15:guide id="2" pos="5590">
          <p15:clr>
            <a:srgbClr val="D9D9D9"/>
          </p15:clr>
        </p15:guide>
        <p15:guide id="3" pos="696">
          <p15:clr>
            <a:srgbClr val="D9D9D9"/>
          </p15:clr>
        </p15:guide>
        <p15:guide id="4" pos="744">
          <p15:clr>
            <a:srgbClr val="D9D9D9"/>
          </p15:clr>
        </p15:guide>
        <p15:guide id="5" pos="1176">
          <p15:clr>
            <a:srgbClr val="D9D9D9"/>
          </p15:clr>
        </p15:guide>
        <p15:guide id="6" pos="1560">
          <p15:clr>
            <a:srgbClr val="D9D9D9"/>
          </p15:clr>
        </p15:guide>
        <p15:guide id="7" pos="1992">
          <p15:clr>
            <a:srgbClr val="D9D9D9"/>
          </p15:clr>
        </p15:guide>
        <p15:guide id="8" pos="1608">
          <p15:clr>
            <a:srgbClr val="D9D9D9"/>
          </p15:clr>
        </p15:guide>
        <p15:guide id="9" pos="2040">
          <p15:clr>
            <a:srgbClr val="D9D9D9"/>
          </p15:clr>
        </p15:guide>
        <p15:guide id="10" pos="2424">
          <p15:clr>
            <a:srgbClr val="D9D9D9"/>
          </p15:clr>
        </p15:guide>
        <p15:guide id="11" pos="2856">
          <p15:clr>
            <a:srgbClr val="D9D9D9"/>
          </p15:clr>
        </p15:guide>
        <p15:guide id="12" pos="2472">
          <p15:clr>
            <a:srgbClr val="D9D9D9"/>
          </p15:clr>
        </p15:guide>
        <p15:guide id="13" pos="2904">
          <p15:clr>
            <a:srgbClr val="D9D9D9"/>
          </p15:clr>
        </p15:guide>
        <p15:guide id="14" pos="3288">
          <p15:clr>
            <a:srgbClr val="D9D9D9"/>
          </p15:clr>
        </p15:guide>
        <p15:guide id="15" pos="3336">
          <p15:clr>
            <a:srgbClr val="D9D9D9"/>
          </p15:clr>
        </p15:guide>
        <p15:guide id="16" pos="3720">
          <p15:clr>
            <a:srgbClr val="D9D9D9"/>
          </p15:clr>
        </p15:guide>
        <p15:guide id="17" pos="3768">
          <p15:clr>
            <a:srgbClr val="D9D9D9"/>
          </p15:clr>
        </p15:guide>
        <p15:guide id="18" pos="4152">
          <p15:clr>
            <a:srgbClr val="D9D9D9"/>
          </p15:clr>
        </p15:guide>
        <p15:guide id="19" pos="4200">
          <p15:clr>
            <a:srgbClr val="D9D9D9"/>
          </p15:clr>
        </p15:guide>
        <p15:guide id="20" pos="4584">
          <p15:clr>
            <a:srgbClr val="D9D9D9"/>
          </p15:clr>
        </p15:guide>
        <p15:guide id="21" pos="4632">
          <p15:clr>
            <a:srgbClr val="D9D9D9"/>
          </p15:clr>
        </p15:guide>
        <p15:guide id="22" pos="5016">
          <p15:clr>
            <a:srgbClr val="D9D9D9"/>
          </p15:clr>
        </p15:guide>
        <p15:guide id="23" pos="5064">
          <p15:clr>
            <a:srgbClr val="D9D9D9"/>
          </p15:clr>
        </p15:guide>
        <p15:guide id="24" pos="1128">
          <p15:clr>
            <a:srgbClr val="D9D9D9"/>
          </p15:clr>
        </p15:guide>
        <p15:guide id="25" orient="horz" pos="1730">
          <p15:clr>
            <a:srgbClr val="D9D9D9"/>
          </p15:clr>
        </p15:guide>
        <p15:guide id="26" orient="horz" pos="1802">
          <p15:clr>
            <a:srgbClr val="D9D9D9"/>
          </p15:clr>
        </p15:guide>
        <p15:guide id="27" pos="312">
          <p15:clr>
            <a:srgbClr val="EFEFEF"/>
          </p15:clr>
        </p15:guide>
        <p15:guide id="28" pos="5448">
          <p15:clr>
            <a:srgbClr val="EFEFEF"/>
          </p15:clr>
        </p15:guide>
        <p15:guide id="29" orient="horz" pos="621">
          <p15:clr>
            <a:srgbClr val="D9D9D9"/>
          </p15:clr>
        </p15:guide>
        <p15:guide id="30" orient="horz" pos="2929">
          <p15:clr>
            <a:srgbClr val="D9D9D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>
            <a:spLocks noGrp="1"/>
          </p:cNvSpPr>
          <p:nvPr>
            <p:ph type="title"/>
          </p:nvPr>
        </p:nvSpPr>
        <p:spPr>
          <a:xfrm>
            <a:off x="270000" y="363100"/>
            <a:ext cx="86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Every patient's gut is broken differently; every donor's looks the same</a:t>
            </a:r>
          </a:p>
        </p:txBody>
      </p:sp>
      <p:sp>
        <p:nvSpPr>
          <p:cNvPr id="382" name="Google Shape;382;p47"/>
          <p:cNvSpPr txBox="1"/>
          <p:nvPr/>
        </p:nvSpPr>
        <p:spPr>
          <a:xfrm>
            <a:off x="274320" y="969264"/>
            <a:ext cx="859536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200" b="1" dirty="0">
                <a:solidFill>
                  <a:srgbClr val="9E2A2B"/>
                </a:solidFill>
                <a:latin typeface="Arial"/>
                <a:cs typeface="Arial"/>
              </a:rPr>
              <a:t>RESULT:  </a:t>
            </a:r>
            <a:r>
              <a:rPr lang="en-US" sz="1200" dirty="0">
                <a:solidFill>
                  <a:srgbClr val="1A2233"/>
                </a:solidFill>
                <a:latin typeface="Arial"/>
                <a:cs typeface="Arial"/>
              </a:rPr>
              <a:t>Patients share no common disrupted state - each is dominated by a different organism</a:t>
            </a:r>
          </a:p>
        </p:txBody>
      </p:sp>
      <p:sp>
        <p:nvSpPr>
          <p:cNvPr id="383" name="Google Shape;383;p47"/>
          <p:cNvSpPr txBox="1"/>
          <p:nvPr/>
        </p:nvSpPr>
        <p:spPr>
          <a:xfrm>
            <a:off x="274320" y="4187952"/>
            <a:ext cx="85953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800" b="1" dirty="0">
                <a:solidFill>
                  <a:srgbClr val="003E72"/>
                </a:solidFill>
                <a:latin typeface="Arial"/>
                <a:cs typeface="Arial"/>
              </a:rPr>
              <a:t>Data: Duvallet et al. 2017, Nat Commun (s41467-017-01973-8) - cdi_youngster study, Youngster et al. 2014, Clin Infect Dis 58:1515.  100 stool samples from 23 people: 19 patients sampled before and after FMT, plus 4 healthy donors.  16S rRNA V4, 100%-identity OTUs named against SILVA v138.1 (92% to genus), pooled into 286 genera holding 95.1% of reads.  Top 15 genera shown; grey = all others.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321DA-30EE-066A-0E3D-B9505EFD60B9}"/>
              </a:ext>
            </a:extLst>
          </p:cNvPr>
          <p:cNvSpPr txBox="1"/>
          <p:nvPr/>
        </p:nvSpPr>
        <p:spPr>
          <a:xfrm>
            <a:off x="2880360" y="476407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Raiyan</a:t>
            </a:r>
            <a:r>
              <a:rPr lang="en-US" b="1" dirty="0">
                <a:solidFill>
                  <a:srgbClr val="FFFFFF"/>
                </a:solidFill>
              </a:rPr>
              <a:t>: CDI &amp; FMT</a:t>
            </a:r>
            <a:endParaRPr lang="en-US" dirty="0"/>
          </a:p>
        </p:txBody>
      </p:sp>
      <p:pic>
        <p:nvPicPr>
          <p:cNvPr id="384" name="Picture 383" descr="composition_Gen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17" y="1280160"/>
            <a:ext cx="8254165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>
            <a:spLocks noGrp="1"/>
          </p:cNvSpPr>
          <p:nvPr>
            <p:ph type="title"/>
          </p:nvPr>
        </p:nvSpPr>
        <p:spPr>
          <a:xfrm>
            <a:off x="270000" y="363100"/>
            <a:ext cx="86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The fibre-fermenters come back; the invaders fall away</a:t>
            </a:r>
          </a:p>
        </p:txBody>
      </p:sp>
      <p:sp>
        <p:nvSpPr>
          <p:cNvPr id="383" name="Google Shape;383;p47"/>
          <p:cNvSpPr txBox="1"/>
          <p:nvPr/>
        </p:nvSpPr>
        <p:spPr>
          <a:xfrm>
            <a:off x="274320" y="4187952"/>
            <a:ext cx="8595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800" b="1" dirty="0">
                <a:solidFill>
                  <a:srgbClr val="003E72"/>
                </a:solidFill>
                <a:latin typeface="Arial"/>
                <a:cs typeface="Arial"/>
              </a:rPr>
              <a:t>Genera selected by Wilcoxon test, CDI patients vs donors, Benjamini-Hochberg q &lt; 0.05.  Shown: the 6 depleted genera most abundant in donors, plus both enriched genera.  * = movement after FMT not significant after correction (Klebsiella q = 0.054, Veillonella q = 0.096).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A17A2-E1D6-D3F8-0558-D07464115DC1}"/>
              </a:ext>
            </a:extLst>
          </p:cNvPr>
          <p:cNvSpPr txBox="1"/>
          <p:nvPr/>
        </p:nvSpPr>
        <p:spPr>
          <a:xfrm>
            <a:off x="2880360" y="476407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Raiyan</a:t>
            </a:r>
            <a:r>
              <a:rPr lang="en-US" b="1" dirty="0">
                <a:solidFill>
                  <a:srgbClr val="FFFFFF"/>
                </a:solidFill>
              </a:rPr>
              <a:t>: CDI &amp; FMT</a:t>
            </a:r>
            <a:endParaRPr lang="en-US" dirty="0"/>
          </a:p>
        </p:txBody>
      </p:sp>
      <p:sp>
        <p:nvSpPr>
          <p:cNvPr id="385" name="TextBox 384"/>
          <p:cNvSpPr txBox="1"/>
          <p:nvPr/>
        </p:nvSpPr>
        <p:spPr>
          <a:xfrm>
            <a:off x="274320" y="969264"/>
            <a:ext cx="8595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9E2A2B"/>
                </a:solidFill>
                <a:latin typeface="Arial"/>
              </a:rPr>
              <a:t>RESULT:  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The bacteria wiped out by infection come back after the 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FMT 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transplant; the ones that took over 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fades</a:t>
            </a:r>
            <a:endParaRPr sz="1200" b="0" dirty="0">
              <a:solidFill>
                <a:srgbClr val="1A2233"/>
              </a:solidFill>
              <a:latin typeface="Arial"/>
            </a:endParaRPr>
          </a:p>
        </p:txBody>
      </p:sp>
      <p:sp>
        <p:nvSpPr>
          <p:cNvPr id="387" name="TextBox 386"/>
          <p:cNvSpPr txBox="1"/>
          <p:nvPr/>
        </p:nvSpPr>
        <p:spPr>
          <a:xfrm>
            <a:off x="310896" y="1316736"/>
            <a:ext cx="2761488" cy="257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rgbClr val="9E2A2B"/>
                </a:solidFill>
                <a:latin typeface="Arial"/>
              </a:rPr>
              <a:t>53 genera differ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: </a:t>
            </a:r>
            <a:r>
              <a:rPr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1A2233"/>
                </a:solidFill>
              </a:rPr>
              <a:t>B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etween patients and donors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. 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51 depleted, only 2 enriched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9E2A2B"/>
                </a:solidFill>
                <a:latin typeface="Arial"/>
              </a:rPr>
              <a:t>What is lost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:</a:t>
            </a:r>
            <a:r>
              <a:rPr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1A2233"/>
                </a:solidFill>
                <a:latin typeface="Arial"/>
              </a:rPr>
              <a:t>F</a:t>
            </a:r>
            <a:r>
              <a:rPr sz="1200" b="0" dirty="0" err="1">
                <a:solidFill>
                  <a:srgbClr val="1A2233"/>
                </a:solidFill>
                <a:latin typeface="Arial"/>
              </a:rPr>
              <a:t>ibre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-fermenting anaerobes. They make butyrate, which fuels the colon lining and keeps the gut oxygen-free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9E2A2B"/>
                </a:solidFill>
                <a:latin typeface="Arial"/>
              </a:rPr>
              <a:t>What moves in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:</a:t>
            </a:r>
            <a:r>
              <a:rPr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Klebsiella and </a:t>
            </a:r>
            <a:r>
              <a:rPr sz="1200" b="0" dirty="0" err="1">
                <a:solidFill>
                  <a:srgbClr val="1A2233"/>
                </a:solidFill>
                <a:latin typeface="Arial"/>
              </a:rPr>
              <a:t>Veillonella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; O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pportunists that grow once that oxygen-free state is gone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9E2A2B"/>
                </a:solidFill>
                <a:latin typeface="Arial"/>
              </a:rPr>
              <a:t>After FMT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:</a:t>
            </a:r>
            <a:r>
              <a:rPr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b="1" dirty="0">
                <a:solidFill>
                  <a:srgbClr val="9E2A2B"/>
                </a:solidFill>
                <a:latin typeface="Arial"/>
              </a:rPr>
              <a:t> 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T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he anaerobes return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, </a:t>
            </a:r>
            <a:r>
              <a:rPr sz="1200" b="0" dirty="0">
                <a:solidFill>
                  <a:srgbClr val="1A2233"/>
                </a:solidFill>
                <a:latin typeface="Arial"/>
              </a:rPr>
              <a:t>but </a:t>
            </a:r>
            <a:r>
              <a:rPr lang="en-US" sz="1200" b="0" dirty="0">
                <a:solidFill>
                  <a:srgbClr val="1A2233"/>
                </a:solidFill>
                <a:latin typeface="Arial"/>
              </a:rPr>
              <a:t>not fully.</a:t>
            </a:r>
            <a:endParaRPr sz="1200" b="0" dirty="0">
              <a:solidFill>
                <a:srgbClr val="1A2233"/>
              </a:solidFill>
              <a:latin typeface="Arial"/>
            </a:endParaRPr>
          </a:p>
        </p:txBody>
      </p:sp>
      <p:pic>
        <p:nvPicPr>
          <p:cNvPr id="388" name="Picture 387" descr="slide2_key_players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610" y="1225296"/>
            <a:ext cx="5502570" cy="2962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IT">
  <a:themeElements>
    <a:clrScheme name="Simple Light">
      <a:dk1>
        <a:srgbClr val="003E72"/>
      </a:dk1>
      <a:lt1>
        <a:srgbClr val="FFFFFF"/>
      </a:lt1>
      <a:dk2>
        <a:srgbClr val="003E72"/>
      </a:dk2>
      <a:lt2>
        <a:srgbClr val="F3F3F3"/>
      </a:lt2>
      <a:accent1>
        <a:srgbClr val="D6083B"/>
      </a:accent1>
      <a:accent2>
        <a:srgbClr val="0072CF"/>
      </a:accent2>
      <a:accent3>
        <a:srgbClr val="EA7125"/>
      </a:accent3>
      <a:accent4>
        <a:srgbClr val="55A51C"/>
      </a:accent4>
      <a:accent5>
        <a:srgbClr val="8F2BBC"/>
      </a:accent5>
      <a:accent6>
        <a:srgbClr val="00B1C1"/>
      </a:accent6>
      <a:hlink>
        <a:srgbClr val="55A5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RIT">
  <a:themeElements>
    <a:clrScheme name="Simple Light">
      <a:dk1>
        <a:srgbClr val="003E72"/>
      </a:dk1>
      <a:lt1>
        <a:srgbClr val="FFFFFF"/>
      </a:lt1>
      <a:dk2>
        <a:srgbClr val="003E72"/>
      </a:dk2>
      <a:lt2>
        <a:srgbClr val="F3F3F3"/>
      </a:lt2>
      <a:accent1>
        <a:srgbClr val="D6083B"/>
      </a:accent1>
      <a:accent2>
        <a:srgbClr val="0072CF"/>
      </a:accent2>
      <a:accent3>
        <a:srgbClr val="EA7125"/>
      </a:accent3>
      <a:accent4>
        <a:srgbClr val="55A51C"/>
      </a:accent4>
      <a:accent5>
        <a:srgbClr val="8F2BBC"/>
      </a:accent5>
      <a:accent6>
        <a:srgbClr val="00B1C1"/>
      </a:accent6>
      <a:hlink>
        <a:srgbClr val="55A5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IT">
  <a:themeElements>
    <a:clrScheme name="Simple Light">
      <a:dk1>
        <a:srgbClr val="003E72"/>
      </a:dk1>
      <a:lt1>
        <a:srgbClr val="FFFFFF"/>
      </a:lt1>
      <a:dk2>
        <a:srgbClr val="003E72"/>
      </a:dk2>
      <a:lt2>
        <a:srgbClr val="F3F3F3"/>
      </a:lt2>
      <a:accent1>
        <a:srgbClr val="D6083B"/>
      </a:accent1>
      <a:accent2>
        <a:srgbClr val="0072CF"/>
      </a:accent2>
      <a:accent3>
        <a:srgbClr val="EA7125"/>
      </a:accent3>
      <a:accent4>
        <a:srgbClr val="55A51C"/>
      </a:accent4>
      <a:accent5>
        <a:srgbClr val="8F2BBC"/>
      </a:accent5>
      <a:accent6>
        <a:srgbClr val="00B1C1"/>
      </a:accent6>
      <a:hlink>
        <a:srgbClr val="55A5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686</Words>
  <Application>Microsoft Office PowerPoint</Application>
  <PresentationFormat>On-screen Show (16:9)</PresentationFormat>
  <Paragraphs>96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CRIT</vt:lpstr>
      <vt:lpstr>CRIT</vt:lpstr>
      <vt:lpstr>Simple Light</vt:lpstr>
      <vt:lpstr>CRIT</vt:lpstr>
      <vt:lpstr>Every patient's gut is broken differently; every donor's looks the same</vt:lpstr>
      <vt:lpstr>The fibre-fermenters come back; the invaders fall 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RAIYAN TAREK MAHMUD SUBEDAR</cp:lastModifiedBy>
  <cp:revision>4</cp:revision>
  <dcterms:modified xsi:type="dcterms:W3CDTF">2026-08-06T22:29:24Z</dcterms:modified>
</cp:coreProperties>
</file>