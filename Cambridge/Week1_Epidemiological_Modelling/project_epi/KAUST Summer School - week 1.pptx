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2" r:id="rId5"/>
    <p:sldMasterId id="2147483683" r:id="rId6"/>
    <p:sldMasterId id="2147483684" r:id="rId7"/>
    <p:sldMasterId id="2147483685"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Lst>
  <p:sldSz cy="5143500" cx="9144000"/>
  <p:notesSz cx="6858000" cy="9144000"/>
  <p:embeddedFontLst>
    <p:embeddedFont>
      <p:font typeface="Play"/>
      <p:regular r:id="rId41"/>
      <p:bold r:id="rId42"/>
    </p:embeddedFont>
    <p:embeddedFont>
      <p:font typeface="Roboto Mon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0A0717-11D6-420C-A9E2-7DCD7FBBD6B6}">
  <a:tblStyle styleId="{1A0A0717-11D6-420C-A9E2-7DCD7FBBD6B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20" Type="http://schemas.openxmlformats.org/officeDocument/2006/relationships/slide" Target="slides/slide11.xml"/><Relationship Id="rId42" Type="http://schemas.openxmlformats.org/officeDocument/2006/relationships/font" Target="fonts/Play-bold.fntdata"/><Relationship Id="rId41" Type="http://schemas.openxmlformats.org/officeDocument/2006/relationships/font" Target="fonts/Play-regular.fntdata"/><Relationship Id="rId22" Type="http://schemas.openxmlformats.org/officeDocument/2006/relationships/slide" Target="slides/slide13.xml"/><Relationship Id="rId44" Type="http://schemas.openxmlformats.org/officeDocument/2006/relationships/font" Target="fonts/RobotoMono-bold.fntdata"/><Relationship Id="rId21" Type="http://schemas.openxmlformats.org/officeDocument/2006/relationships/slide" Target="slides/slide12.xml"/><Relationship Id="rId43" Type="http://schemas.openxmlformats.org/officeDocument/2006/relationships/font" Target="fonts/RobotoMono-regular.fntdata"/><Relationship Id="rId24" Type="http://schemas.openxmlformats.org/officeDocument/2006/relationships/slide" Target="slides/slide15.xml"/><Relationship Id="rId46" Type="http://schemas.openxmlformats.org/officeDocument/2006/relationships/font" Target="fonts/RobotoMono-boldItalic.fntdata"/><Relationship Id="rId23" Type="http://schemas.openxmlformats.org/officeDocument/2006/relationships/slide" Target="slides/slide14.xml"/><Relationship Id="rId45"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slide" Target="slides/slide26.xml"/><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slide" Target="slides/slide28.xml"/><Relationship Id="rId14" Type="http://schemas.openxmlformats.org/officeDocument/2006/relationships/slide" Target="slides/slide5.xml"/><Relationship Id="rId36" Type="http://schemas.openxmlformats.org/officeDocument/2006/relationships/slide" Target="slides/slide27.xml"/><Relationship Id="rId17" Type="http://schemas.openxmlformats.org/officeDocument/2006/relationships/slide" Target="slides/slide8.xml"/><Relationship Id="rId39" Type="http://schemas.openxmlformats.org/officeDocument/2006/relationships/slide" Target="slides/slide30.xml"/><Relationship Id="rId16" Type="http://schemas.openxmlformats.org/officeDocument/2006/relationships/slide" Target="slides/slide7.xml"/><Relationship Id="rId38" Type="http://schemas.openxmlformats.org/officeDocument/2006/relationships/slide" Target="slides/slide29.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0df9a1b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70df9a1b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0df9a1b2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70df9a1b2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542fc52c4_5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542fc52c4_5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First, I explored all five Maryland cities. Baltimore had the largest surveyed population and the greatest number of observed cases, so I used it as the main modelling case study.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 chose an SEIR model because influenza includes a short delay between catching the virus and being able to pass it to others.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 started with literature-based values: an R0R_0R0​ of 1.8, a latent period of 1.9 days, an infectious period of about 4 days, and 10% initial immunity.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baseline model peaked too late, so I used </a:t>
            </a:r>
            <a:r>
              <a:rPr lang="en-GB">
                <a:solidFill>
                  <a:srgbClr val="188038"/>
                </a:solidFill>
                <a:latin typeface="Roboto Mono"/>
                <a:ea typeface="Roboto Mono"/>
                <a:cs typeface="Roboto Mono"/>
                <a:sym typeface="Roboto Mono"/>
              </a:rPr>
              <a:t>optim()</a:t>
            </a:r>
            <a:r>
              <a:rPr lang="en-GB">
                <a:solidFill>
                  <a:schemeClr val="dk1"/>
                </a:solidFill>
              </a:rPr>
              <a:t> to test different parameter combinations and find the best statistical match to the Baltimore data. This gave a fitted R0R_0R0​ of about 2.22.</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542fc52c4_5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542fc52c4_5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t>Next, I tested the effect of initial immunity.</a:t>
            </a:r>
            <a:endParaRPr/>
          </a:p>
          <a:p>
            <a:pPr indent="0" lvl="0" marL="0" rtl="0" algn="l">
              <a:lnSpc>
                <a:spcPct val="115000"/>
              </a:lnSpc>
              <a:spcBef>
                <a:spcPts val="1200"/>
              </a:spcBef>
              <a:spcAft>
                <a:spcPts val="0"/>
              </a:spcAft>
              <a:buClr>
                <a:schemeClr val="dk1"/>
              </a:buClr>
              <a:buSzPts val="1100"/>
              <a:buFont typeface="Arial"/>
              <a:buNone/>
            </a:pPr>
            <a:r>
              <a:rPr lang="en-GB"/>
              <a:t>When I kept R0=2.22R_0=2.22R0​=2.22 fixed and increased immunity from 10% to 30%, the outbreak became smaller and later.</a:t>
            </a:r>
            <a:endParaRPr/>
          </a:p>
          <a:p>
            <a:pPr indent="0" lvl="0" marL="0" rtl="0" algn="l">
              <a:lnSpc>
                <a:spcPct val="115000"/>
              </a:lnSpc>
              <a:spcBef>
                <a:spcPts val="1200"/>
              </a:spcBef>
              <a:spcAft>
                <a:spcPts val="0"/>
              </a:spcAft>
              <a:buClr>
                <a:schemeClr val="dk1"/>
              </a:buClr>
              <a:buSzPts val="1100"/>
              <a:buFont typeface="Arial"/>
              <a:buNone/>
            </a:pPr>
            <a:r>
              <a:rPr lang="en-GB"/>
              <a:t>I also refitted the model with 30% immunity. The fitted R0R_0R0​ increased to about 2.85, while the curve remained almost the same.</a:t>
            </a:r>
            <a:endParaRPr/>
          </a:p>
          <a:p>
            <a:pPr indent="0" lvl="0" marL="0" rtl="0" algn="l">
              <a:lnSpc>
                <a:spcPct val="115000"/>
              </a:lnSpc>
              <a:spcBef>
                <a:spcPts val="1200"/>
              </a:spcBef>
              <a:spcAft>
                <a:spcPts val="0"/>
              </a:spcAft>
              <a:buClr>
                <a:schemeClr val="dk1"/>
              </a:buClr>
              <a:buSzPts val="1100"/>
              <a:buFont typeface="Arial"/>
              <a:buNone/>
            </a:pPr>
            <a:r>
              <a:rPr lang="en-GB"/>
              <a:t>This means the same case pattern can be explained by either lower immunity with lower transmission, or higher immunity with higher transmission. Ansd we can’t know which is true, until we have more data such as, antibody testing, and </a:t>
            </a:r>
            <a:r>
              <a:rPr lang="en-GB"/>
              <a:t>individual</a:t>
            </a:r>
            <a:r>
              <a:rPr lang="en-GB"/>
              <a:t> </a:t>
            </a:r>
            <a:r>
              <a:rPr lang="en-GB"/>
              <a:t>transmission</a:t>
            </a:r>
            <a:r>
              <a:rPr lang="en-GB"/>
              <a:t> estimate.</a:t>
            </a:r>
            <a:endParaRPr/>
          </a:p>
          <a:p>
            <a:pPr indent="0" lvl="0" marL="0" rtl="0" algn="l">
              <a:lnSpc>
                <a:spcPct val="115000"/>
              </a:lnSpc>
              <a:spcBef>
                <a:spcPts val="1200"/>
              </a:spcBef>
              <a:spcAft>
                <a:spcPts val="0"/>
              </a:spcAft>
              <a:buClr>
                <a:schemeClr val="dk1"/>
              </a:buClr>
              <a:buSzPts val="1100"/>
              <a:buFont typeface="Arial"/>
              <a:buNone/>
            </a:pPr>
            <a:r>
              <a:rPr lang="en-GB"/>
              <a:t>Finally, the hypothetical intervention suggested that around 55% total protection before the outbreak would be needed to stop sustained spread in this simplified model.</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409acfeb8e2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409acfeb8e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GB">
                <a:solidFill>
                  <a:schemeClr val="dk1"/>
                </a:solidFill>
              </a:rPr>
              <a:t>The parameter q represents the proportion of susceptible individuals successfully protected over the campaign. Derived from assumptions about the targeted population, uptake and vaccine effectiveness.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409ad0365f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409ad0365f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409ad090d2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409ad090d2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f542fc51a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f542fc51a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542fc51a6_5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GB" sz="2550">
                <a:solidFill>
                  <a:srgbClr val="1F2328"/>
                </a:solidFill>
              </a:rPr>
              <a:t>(~30 sec)</a:t>
            </a:r>
            <a:endParaRPr sz="2550">
              <a:solidFill>
                <a:srgbClr val="1F2328"/>
              </a:solidFill>
            </a:endParaRPr>
          </a:p>
          <a:p>
            <a:pPr indent="-304800" lvl="0" marL="457200" rtl="0" algn="l">
              <a:lnSpc>
                <a:spcPct val="115000"/>
              </a:lnSpc>
              <a:spcBef>
                <a:spcPts val="400"/>
              </a:spcBef>
              <a:spcAft>
                <a:spcPts val="0"/>
              </a:spcAft>
              <a:buClr>
                <a:srgbClr val="1F2328"/>
              </a:buClr>
              <a:buSzPts val="1200"/>
              <a:buChar char="●"/>
            </a:pPr>
            <a:r>
              <a:rPr lang="en-GB" sz="1200">
                <a:solidFill>
                  <a:srgbClr val="1F2328"/>
                </a:solidFill>
              </a:rPr>
              <a:t>Comparative SEIR Modeling of Measles: UK &amp; Saudi Arabia</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Most contagious disease: 1 case infects 12 to 18 people.</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Herd-Immunity Vac: Only way to prevent the outbreak.</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The reality check: UK lost its WHO measles-elimination status this year (2026).</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The trigger: UK MMR coverage slipped to 89% (lowest in a decade).</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The core question: How sensitive are measles outbreaks to small differences in vaccination coverage?</a:t>
            </a:r>
            <a:endParaRPr sz="1200">
              <a:solidFill>
                <a:srgbClr val="1F2328"/>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rgbClr val="1F2328"/>
              </a:solidFill>
            </a:endParaRPr>
          </a:p>
          <a:p>
            <a:pPr indent="0" lvl="0" marL="0" rtl="0" algn="l">
              <a:lnSpc>
                <a:spcPct val="125000"/>
              </a:lnSpc>
              <a:spcBef>
                <a:spcPts val="1800"/>
              </a:spcBef>
              <a:spcAft>
                <a:spcPts val="0"/>
              </a:spcAft>
              <a:buClr>
                <a:schemeClr val="dk1"/>
              </a:buClr>
              <a:buSzPts val="1100"/>
              <a:buFont typeface="Arial"/>
              <a:buNone/>
            </a:pPr>
            <a:r>
              <a:rPr lang="en-GB" sz="2550">
                <a:solidFill>
                  <a:srgbClr val="1F2328"/>
                </a:solidFill>
              </a:rPr>
              <a:t>(~2 min)</a:t>
            </a:r>
            <a:endParaRPr sz="2550">
              <a:solidFill>
                <a:srgbClr val="1F2328"/>
              </a:solidFill>
            </a:endParaRPr>
          </a:p>
          <a:p>
            <a:pPr indent="-304800" lvl="0" marL="457200" rtl="0" algn="l">
              <a:lnSpc>
                <a:spcPct val="115000"/>
              </a:lnSpc>
              <a:spcBef>
                <a:spcPts val="400"/>
              </a:spcBef>
              <a:spcAft>
                <a:spcPts val="0"/>
              </a:spcAft>
              <a:buClr>
                <a:srgbClr val="1F2328"/>
              </a:buClr>
              <a:buSzPts val="1200"/>
              <a:buChar char="●"/>
            </a:pPr>
            <a:r>
              <a:rPr lang="en-GB" sz="1200">
                <a:solidFill>
                  <a:srgbClr val="1F2328"/>
                </a:solidFill>
              </a:rPr>
              <a:t>Model Structure:</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Plain SIR not enough. Added E (Exposed) for the 8-day latent period.</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Added vital dynamics (births/deaths) and a V (Vaccinated) compartment for a 50-year run.</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Crucial detail: Births constantly refill the susceptible pool, driving recurring waves rather than a single burnout.</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Parameters:</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Infectious period: 5 days.</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R0: 15 for UK, 13 for Saudi Arabia.</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Population: 67 million (UK), 31 million (SA).</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Assumed 15% reporting rate.</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The Result (Under the model assumptions):</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Blue line (UK): Starts at 89% immunity (just below 93% threshold) -&gt; Explodes to **10,000 cases/day** and settles into repeating waves.</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Green line (SA): Starts at 98% immunity -&gt; Epidemic fizzles out immediately.</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Takeaway: A few percentage points make the entire difference.</a:t>
            </a:r>
            <a:endParaRPr sz="1200">
              <a:solidFill>
                <a:srgbClr val="1F2328"/>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sz="1050">
              <a:solidFill>
                <a:srgbClr val="0000FF"/>
              </a:solidFill>
              <a:highlight>
                <a:srgbClr val="FFFFFE"/>
              </a:highlight>
              <a:latin typeface="Courier New"/>
              <a:ea typeface="Courier New"/>
              <a:cs typeface="Courier New"/>
              <a:sym typeface="Courier New"/>
            </a:endParaRPr>
          </a:p>
        </p:txBody>
      </p:sp>
      <p:sp>
        <p:nvSpPr>
          <p:cNvPr id="377" name="Google Shape;377;g3f542fc51a6_5_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542fc51a6_5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lang="en-GB" sz="2550">
                <a:solidFill>
                  <a:srgbClr val="1F2328"/>
                </a:solidFill>
              </a:rPr>
              <a:t>(~1.5 min)</a:t>
            </a:r>
            <a:endParaRPr sz="2550">
              <a:solidFill>
                <a:srgbClr val="1F2328"/>
              </a:solidFill>
            </a:endParaRPr>
          </a:p>
          <a:p>
            <a:pPr indent="-304800" lvl="0" marL="457200" rtl="0" algn="l">
              <a:lnSpc>
                <a:spcPct val="115000"/>
              </a:lnSpc>
              <a:spcBef>
                <a:spcPts val="400"/>
              </a:spcBef>
              <a:spcAft>
                <a:spcPts val="0"/>
              </a:spcAft>
              <a:buClr>
                <a:srgbClr val="1F2328"/>
              </a:buClr>
              <a:buSzPts val="1200"/>
              <a:buChar char="●"/>
            </a:pPr>
            <a:r>
              <a:rPr lang="en-GB" sz="1200">
                <a:solidFill>
                  <a:srgbClr val="1F2328"/>
                </a:solidFill>
              </a:rPr>
              <a:t>The Scenario: Dropped Saudi Arabia to 85% immunity (below threshold).</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The Intervention: Activated a rolling campaign vaccinating 0.2% of susceptibles daily.</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The Graph:</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Purple = population immunity. Green = new cases. Red dashed = herd threshold (92.3%).</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The Result:</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You get one outbreak peaking at ~480 cases/day.</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Within a year, the campaign pushes immunity past the 92.3% threshold.</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Cases collapse to zero. No second wave.</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Takeaway: Starting below the threshold guarantees one outbreak, but fast vaccination converts it into permanent control.</a:t>
            </a:r>
            <a:endParaRPr sz="1200">
              <a:solidFill>
                <a:srgbClr val="1F2328"/>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rgbClr val="1F2328"/>
              </a:solidFill>
            </a:endParaRPr>
          </a:p>
          <a:p>
            <a:pPr indent="0" lvl="0" marL="0" rtl="0" algn="l">
              <a:lnSpc>
                <a:spcPct val="125000"/>
              </a:lnSpc>
              <a:spcBef>
                <a:spcPts val="1800"/>
              </a:spcBef>
              <a:spcAft>
                <a:spcPts val="0"/>
              </a:spcAft>
              <a:buClr>
                <a:schemeClr val="dk1"/>
              </a:buClr>
              <a:buSzPts val="1100"/>
              <a:buFont typeface="Arial"/>
              <a:buNone/>
            </a:pPr>
            <a:r>
              <a:rPr lang="en-GB" sz="2550">
                <a:solidFill>
                  <a:srgbClr val="1F2328"/>
                </a:solidFill>
              </a:rPr>
              <a:t>(~20 sec)</a:t>
            </a:r>
            <a:endParaRPr sz="2550">
              <a:solidFill>
                <a:srgbClr val="1F2328"/>
              </a:solidFill>
            </a:endParaRPr>
          </a:p>
          <a:p>
            <a:pPr indent="-304800" lvl="0" marL="457200" rtl="0" algn="l">
              <a:lnSpc>
                <a:spcPct val="115000"/>
              </a:lnSpc>
              <a:spcBef>
                <a:spcPts val="400"/>
              </a:spcBef>
              <a:spcAft>
                <a:spcPts val="0"/>
              </a:spcAft>
              <a:buClr>
                <a:srgbClr val="1F2328"/>
              </a:buClr>
              <a:buSzPts val="1200"/>
              <a:buChar char="●"/>
            </a:pPr>
            <a:r>
              <a:rPr lang="en-GB" sz="1200">
                <a:solidFill>
                  <a:srgbClr val="1F2328"/>
                </a:solidFill>
              </a:rPr>
              <a:t>Summary: Measles requires SEIR + births for realism. Our model shows how a small difference in vaccination coverage—less than 10 percentage—can shift to recurrent outbreaks. (Simulate the outbreak and not a forcasting model).</a:t>
            </a:r>
            <a:endParaRPr sz="1200">
              <a:solidFill>
                <a:srgbClr val="1F2328"/>
              </a:solidFill>
            </a:endParaRPr>
          </a:p>
          <a:p>
            <a:pPr indent="-304800" lvl="0" marL="457200" rtl="0" algn="l">
              <a:lnSpc>
                <a:spcPct val="115000"/>
              </a:lnSpc>
              <a:spcBef>
                <a:spcPts val="0"/>
              </a:spcBef>
              <a:spcAft>
                <a:spcPts val="0"/>
              </a:spcAft>
              <a:buClr>
                <a:srgbClr val="1F2328"/>
              </a:buClr>
              <a:buSzPts val="1200"/>
              <a:buChar char="●"/>
            </a:pPr>
            <a:r>
              <a:rPr lang="en-GB" sz="1200">
                <a:solidFill>
                  <a:srgbClr val="1F2328"/>
                </a:solidFill>
              </a:rPr>
              <a:t>Model Limitations: It assumes homogeneous mixing, no age structure or specific groups in the population (London outbreaks mostly).</a:t>
            </a:r>
            <a:endParaRPr sz="1200">
              <a:solidFill>
                <a:srgbClr val="1F2328"/>
              </a:solidFill>
            </a:endParaRPr>
          </a:p>
          <a:p>
            <a:pPr indent="0" lvl="0" marL="0" rtl="0" algn="l">
              <a:spcBef>
                <a:spcPts val="1200"/>
              </a:spcBef>
              <a:spcAft>
                <a:spcPts val="0"/>
              </a:spcAft>
              <a:buNone/>
            </a:pPr>
            <a:r>
              <a:t/>
            </a:r>
            <a:endParaRPr/>
          </a:p>
        </p:txBody>
      </p:sp>
      <p:sp>
        <p:nvSpPr>
          <p:cNvPr id="386" name="Google Shape;386;g3f542fc51a6_5_5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542fc51b6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f542fc51b6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f542fc51b6_2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f542fc51b6_2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409ad090d2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409ad090d2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409ad090d2a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409ad090d2a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542fc51c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542fc51c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542fc51c3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542fc51c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542fc51c3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f542fc51c3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542fc51c3_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f542fc51c3_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f542fc51c3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f542fc51c3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f542fc51c3_1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f542fc51c3_1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542fc51c3_9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f542fc51c3_9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f542fc51c3_1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f542fc51c3_1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542fc51c3_1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f542fc51c3_1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f542fc52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f542fc52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f542fc527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f542fc527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f542fc52c4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f542fc52c4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f542fc52c4_16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3f542fc52c4_16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542fc52c4_16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g3f542fc52c4_16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542fc52c4_25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f542fc52c4_25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f542fc52c4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f542fc52c4_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f542fc52c4_2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f542fc52c4_2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
    <p:spTree>
      <p:nvGrpSpPr>
        <p:cNvPr id="9" name="Shape 9"/>
        <p:cNvGrpSpPr/>
        <p:nvPr/>
      </p:nvGrpSpPr>
      <p:grpSpPr>
        <a:xfrm>
          <a:off x="0" y="0"/>
          <a:ext cx="0" cy="0"/>
          <a:chOff x="0" y="0"/>
          <a:chExt cx="0" cy="0"/>
        </a:xfrm>
      </p:grpSpPr>
      <p:sp>
        <p:nvSpPr>
          <p:cNvPr id="10" name="Google Shape;10;p2"/>
          <p:cNvSpPr/>
          <p:nvPr/>
        </p:nvSpPr>
        <p:spPr>
          <a:xfrm>
            <a:off x="0" y="4016800"/>
            <a:ext cx="9144000" cy="5061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 name="Google Shape;11;p2"/>
          <p:cNvSpPr/>
          <p:nvPr/>
        </p:nvSpPr>
        <p:spPr>
          <a:xfrm>
            <a:off x="0" y="4522925"/>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 name="Google Shape;12;p2"/>
          <p:cNvSpPr/>
          <p:nvPr/>
        </p:nvSpPr>
        <p:spPr>
          <a:xfrm>
            <a:off x="0" y="1309700"/>
            <a:ext cx="9144000" cy="27072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pic>
        <p:nvPicPr>
          <p:cNvPr id="13" name="Google Shape;13;p2" title="CRIT_Colour_alpha.png"/>
          <p:cNvPicPr preferRelativeResize="0"/>
          <p:nvPr/>
        </p:nvPicPr>
        <p:blipFill>
          <a:blip r:embed="rId2">
            <a:alphaModFix/>
          </a:blip>
          <a:stretch>
            <a:fillRect/>
          </a:stretch>
        </p:blipFill>
        <p:spPr>
          <a:xfrm>
            <a:off x="359275" y="251999"/>
            <a:ext cx="2450924" cy="694425"/>
          </a:xfrm>
          <a:prstGeom prst="rect">
            <a:avLst/>
          </a:prstGeom>
          <a:noFill/>
          <a:ln>
            <a:noFill/>
          </a:ln>
        </p:spPr>
      </p:pic>
      <p:sp>
        <p:nvSpPr>
          <p:cNvPr id="14" name="Google Shape;14;p2"/>
          <p:cNvSpPr txBox="1"/>
          <p:nvPr>
            <p:ph type="title"/>
          </p:nvPr>
        </p:nvSpPr>
        <p:spPr>
          <a:xfrm>
            <a:off x="270000" y="1538300"/>
            <a:ext cx="8604000" cy="1077900"/>
          </a:xfrm>
          <a:prstGeom prst="rect">
            <a:avLst/>
          </a:prstGeom>
        </p:spPr>
        <p:txBody>
          <a:bodyPr anchorCtr="0" anchor="t" bIns="91425" lIns="91425" spcFirstLastPara="1" rIns="91425" wrap="square" tIns="91425">
            <a:spAutoFit/>
          </a:bodyPr>
          <a:lstStyle>
            <a:lvl1pPr lvl="0">
              <a:spcBef>
                <a:spcPts val="0"/>
              </a:spcBef>
              <a:spcAft>
                <a:spcPts val="0"/>
              </a:spcAft>
              <a:buClr>
                <a:srgbClr val="FFFFFF"/>
              </a:buClr>
              <a:buSzPts val="3600"/>
              <a:buNone/>
              <a:defRPr b="1" sz="3600">
                <a:solidFill>
                  <a:srgbClr val="FFFFFF"/>
                </a:solidFill>
              </a:defRPr>
            </a:lvl1pPr>
            <a:lvl2pPr lvl="1">
              <a:spcBef>
                <a:spcPts val="0"/>
              </a:spcBef>
              <a:spcAft>
                <a:spcPts val="0"/>
              </a:spcAft>
              <a:buClr>
                <a:srgbClr val="FFFFFF"/>
              </a:buClr>
              <a:buSzPts val="3600"/>
              <a:buNone/>
              <a:defRPr b="1" sz="3600">
                <a:solidFill>
                  <a:srgbClr val="FFFFFF"/>
                </a:solidFill>
              </a:defRPr>
            </a:lvl2pPr>
            <a:lvl3pPr lvl="2">
              <a:spcBef>
                <a:spcPts val="0"/>
              </a:spcBef>
              <a:spcAft>
                <a:spcPts val="0"/>
              </a:spcAft>
              <a:buClr>
                <a:srgbClr val="FFFFFF"/>
              </a:buClr>
              <a:buSzPts val="3600"/>
              <a:buNone/>
              <a:defRPr b="1" sz="3600">
                <a:solidFill>
                  <a:srgbClr val="FFFFFF"/>
                </a:solidFill>
              </a:defRPr>
            </a:lvl3pPr>
            <a:lvl4pPr lvl="3">
              <a:spcBef>
                <a:spcPts val="0"/>
              </a:spcBef>
              <a:spcAft>
                <a:spcPts val="0"/>
              </a:spcAft>
              <a:buClr>
                <a:srgbClr val="FFFFFF"/>
              </a:buClr>
              <a:buSzPts val="3600"/>
              <a:buNone/>
              <a:defRPr b="1" sz="3600">
                <a:solidFill>
                  <a:srgbClr val="FFFFFF"/>
                </a:solidFill>
              </a:defRPr>
            </a:lvl4pPr>
            <a:lvl5pPr lvl="4">
              <a:spcBef>
                <a:spcPts val="0"/>
              </a:spcBef>
              <a:spcAft>
                <a:spcPts val="0"/>
              </a:spcAft>
              <a:buClr>
                <a:srgbClr val="FFFFFF"/>
              </a:buClr>
              <a:buSzPts val="3600"/>
              <a:buNone/>
              <a:defRPr b="1" sz="3600">
                <a:solidFill>
                  <a:srgbClr val="FFFFFF"/>
                </a:solidFill>
              </a:defRPr>
            </a:lvl5pPr>
            <a:lvl6pPr lvl="5">
              <a:spcBef>
                <a:spcPts val="0"/>
              </a:spcBef>
              <a:spcAft>
                <a:spcPts val="0"/>
              </a:spcAft>
              <a:buClr>
                <a:srgbClr val="FFFFFF"/>
              </a:buClr>
              <a:buSzPts val="3600"/>
              <a:buNone/>
              <a:defRPr b="1" sz="3600">
                <a:solidFill>
                  <a:srgbClr val="FFFFFF"/>
                </a:solidFill>
              </a:defRPr>
            </a:lvl6pPr>
            <a:lvl7pPr lvl="6">
              <a:spcBef>
                <a:spcPts val="0"/>
              </a:spcBef>
              <a:spcAft>
                <a:spcPts val="0"/>
              </a:spcAft>
              <a:buClr>
                <a:srgbClr val="FFFFFF"/>
              </a:buClr>
              <a:buSzPts val="3600"/>
              <a:buNone/>
              <a:defRPr b="1" sz="3600">
                <a:solidFill>
                  <a:srgbClr val="FFFFFF"/>
                </a:solidFill>
              </a:defRPr>
            </a:lvl7pPr>
            <a:lvl8pPr lvl="7">
              <a:spcBef>
                <a:spcPts val="0"/>
              </a:spcBef>
              <a:spcAft>
                <a:spcPts val="0"/>
              </a:spcAft>
              <a:buClr>
                <a:srgbClr val="FFFFFF"/>
              </a:buClr>
              <a:buSzPts val="3600"/>
              <a:buNone/>
              <a:defRPr b="1" sz="3600">
                <a:solidFill>
                  <a:srgbClr val="FFFFFF"/>
                </a:solidFill>
              </a:defRPr>
            </a:lvl8pPr>
            <a:lvl9pPr lvl="8">
              <a:spcBef>
                <a:spcPts val="0"/>
              </a:spcBef>
              <a:spcAft>
                <a:spcPts val="0"/>
              </a:spcAft>
              <a:buClr>
                <a:srgbClr val="FFFFFF"/>
              </a:buClr>
              <a:buSzPts val="3600"/>
              <a:buNone/>
              <a:defRPr b="1" sz="3600">
                <a:solidFill>
                  <a:srgbClr val="FFFFFF"/>
                </a:solidFill>
              </a:defRPr>
            </a:lvl9pPr>
          </a:lstStyle>
          <a:p/>
        </p:txBody>
      </p:sp>
      <p:sp>
        <p:nvSpPr>
          <p:cNvPr id="15" name="Google Shape;15;p2"/>
          <p:cNvSpPr txBox="1"/>
          <p:nvPr>
            <p:ph idx="1" type="subTitle"/>
          </p:nvPr>
        </p:nvSpPr>
        <p:spPr>
          <a:xfrm>
            <a:off x="270000" y="2860675"/>
            <a:ext cx="8604000" cy="996300"/>
          </a:xfrm>
          <a:prstGeom prst="rect">
            <a:avLst/>
          </a:prstGeom>
        </p:spPr>
        <p:txBody>
          <a:bodyPr anchorCtr="0" anchor="b" bIns="91425" lIns="91425" spcFirstLastPara="1" rIns="91425" wrap="square" tIns="91425">
            <a:spAutoFit/>
          </a:bodyPr>
          <a:lstStyle>
            <a:lvl1pPr lvl="0">
              <a:spcBef>
                <a:spcPts val="0"/>
              </a:spcBef>
              <a:spcAft>
                <a:spcPts val="0"/>
              </a:spcAft>
              <a:buClr>
                <a:srgbClr val="FFFFFF"/>
              </a:buClr>
              <a:buSzPts val="1800"/>
              <a:buNone/>
              <a:defRPr b="1" sz="1800">
                <a:solidFill>
                  <a:srgbClr val="FFFFFF"/>
                </a:solidFill>
              </a:defRPr>
            </a:lvl1pPr>
            <a:lvl2pPr lvl="1">
              <a:spcBef>
                <a:spcPts val="0"/>
              </a:spcBef>
              <a:spcAft>
                <a:spcPts val="0"/>
              </a:spcAft>
              <a:buClr>
                <a:srgbClr val="FFFFFF"/>
              </a:buClr>
              <a:buSzPts val="2200"/>
              <a:buNone/>
              <a:defRPr b="1">
                <a:solidFill>
                  <a:srgbClr val="FFFFFF"/>
                </a:solidFill>
              </a:defRPr>
            </a:lvl2pPr>
            <a:lvl3pPr lvl="2">
              <a:spcBef>
                <a:spcPts val="0"/>
              </a:spcBef>
              <a:spcAft>
                <a:spcPts val="0"/>
              </a:spcAft>
              <a:buClr>
                <a:srgbClr val="FFFFFF"/>
              </a:buClr>
              <a:buSzPts val="2200"/>
              <a:buNone/>
              <a:defRPr b="1">
                <a:solidFill>
                  <a:srgbClr val="FFFFFF"/>
                </a:solidFill>
              </a:defRPr>
            </a:lvl3pPr>
            <a:lvl4pPr lvl="3">
              <a:spcBef>
                <a:spcPts val="0"/>
              </a:spcBef>
              <a:spcAft>
                <a:spcPts val="0"/>
              </a:spcAft>
              <a:buClr>
                <a:srgbClr val="FFFFFF"/>
              </a:buClr>
              <a:buSzPts val="2200"/>
              <a:buNone/>
              <a:defRPr b="1">
                <a:solidFill>
                  <a:srgbClr val="FFFFFF"/>
                </a:solidFill>
              </a:defRPr>
            </a:lvl4pPr>
            <a:lvl5pPr lvl="4">
              <a:spcBef>
                <a:spcPts val="0"/>
              </a:spcBef>
              <a:spcAft>
                <a:spcPts val="0"/>
              </a:spcAft>
              <a:buClr>
                <a:srgbClr val="FFFFFF"/>
              </a:buClr>
              <a:buSzPts val="2200"/>
              <a:buNone/>
              <a:defRPr b="1">
                <a:solidFill>
                  <a:srgbClr val="FFFFFF"/>
                </a:solidFill>
              </a:defRPr>
            </a:lvl5pPr>
            <a:lvl6pPr lvl="5">
              <a:spcBef>
                <a:spcPts val="0"/>
              </a:spcBef>
              <a:spcAft>
                <a:spcPts val="0"/>
              </a:spcAft>
              <a:buClr>
                <a:srgbClr val="FFFFFF"/>
              </a:buClr>
              <a:buSzPts val="2200"/>
              <a:buNone/>
              <a:defRPr b="1">
                <a:solidFill>
                  <a:srgbClr val="FFFFFF"/>
                </a:solidFill>
              </a:defRPr>
            </a:lvl6pPr>
            <a:lvl7pPr lvl="6">
              <a:spcBef>
                <a:spcPts val="0"/>
              </a:spcBef>
              <a:spcAft>
                <a:spcPts val="0"/>
              </a:spcAft>
              <a:buClr>
                <a:srgbClr val="FFFFFF"/>
              </a:buClr>
              <a:buSzPts val="2200"/>
              <a:buNone/>
              <a:defRPr b="1">
                <a:solidFill>
                  <a:srgbClr val="FFFFFF"/>
                </a:solidFill>
              </a:defRPr>
            </a:lvl7pPr>
            <a:lvl8pPr lvl="7">
              <a:spcBef>
                <a:spcPts val="0"/>
              </a:spcBef>
              <a:spcAft>
                <a:spcPts val="0"/>
              </a:spcAft>
              <a:buClr>
                <a:srgbClr val="FFFFFF"/>
              </a:buClr>
              <a:buSzPts val="2200"/>
              <a:buNone/>
              <a:defRPr b="1">
                <a:solidFill>
                  <a:srgbClr val="FFFFFF"/>
                </a:solidFill>
              </a:defRPr>
            </a:lvl8pPr>
            <a:lvl9pPr lvl="8">
              <a:spcBef>
                <a:spcPts val="0"/>
              </a:spcBef>
              <a:spcAft>
                <a:spcPts val="0"/>
              </a:spcAft>
              <a:buClr>
                <a:srgbClr val="FFFFFF"/>
              </a:buClr>
              <a:buSzPts val="2200"/>
              <a:buNone/>
              <a:defRPr b="1">
                <a:solidFill>
                  <a:srgbClr val="FFFFFF"/>
                </a:solidFill>
              </a:defRPr>
            </a:lvl9pPr>
          </a:lstStyle>
          <a:p/>
        </p:txBody>
      </p:sp>
      <p:sp>
        <p:nvSpPr>
          <p:cNvPr id="16" name="Google Shape;16;p2"/>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solidFill>
                  <a:schemeClr val="lt1"/>
                </a:solidFill>
              </a:defRPr>
            </a:lvl1pPr>
            <a:lvl2pPr lvl="1">
              <a:buNone/>
              <a:defRPr sz="1300">
                <a:solidFill>
                  <a:schemeClr val="lt1"/>
                </a:solidFill>
              </a:defRPr>
            </a:lvl2pPr>
            <a:lvl3pPr lvl="2">
              <a:buNone/>
              <a:defRPr sz="1300">
                <a:solidFill>
                  <a:schemeClr val="lt1"/>
                </a:solidFill>
              </a:defRPr>
            </a:lvl3pPr>
            <a:lvl4pPr lvl="3">
              <a:buNone/>
              <a:defRPr sz="1300">
                <a:solidFill>
                  <a:schemeClr val="lt1"/>
                </a:solidFill>
              </a:defRPr>
            </a:lvl4pPr>
            <a:lvl5pPr lvl="4">
              <a:buNone/>
              <a:defRPr sz="1300">
                <a:solidFill>
                  <a:schemeClr val="lt1"/>
                </a:solidFill>
              </a:defRPr>
            </a:lvl5pPr>
            <a:lvl6pPr lvl="5">
              <a:buNone/>
              <a:defRPr sz="1300">
                <a:solidFill>
                  <a:schemeClr val="lt1"/>
                </a:solidFill>
              </a:defRPr>
            </a:lvl6pPr>
            <a:lvl7pPr lvl="6">
              <a:buNone/>
              <a:defRPr sz="1300">
                <a:solidFill>
                  <a:schemeClr val="lt1"/>
                </a:solidFill>
              </a:defRPr>
            </a:lvl7pPr>
            <a:lvl8pPr lvl="7">
              <a:buNone/>
              <a:defRPr sz="1300">
                <a:solidFill>
                  <a:schemeClr val="lt1"/>
                </a:solidFill>
              </a:defRPr>
            </a:lvl8pPr>
            <a:lvl9pPr lvl="8">
              <a:buNone/>
              <a:defRPr sz="1300">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
    <p:spTree>
      <p:nvGrpSpPr>
        <p:cNvPr id="17" name="Shape 17"/>
        <p:cNvGrpSpPr/>
        <p:nvPr/>
      </p:nvGrpSpPr>
      <p:grpSpPr>
        <a:xfrm>
          <a:off x="0" y="0"/>
          <a:ext cx="0" cy="0"/>
          <a:chOff x="0" y="0"/>
          <a:chExt cx="0" cy="0"/>
        </a:xfrm>
      </p:grpSpPr>
      <p:sp>
        <p:nvSpPr>
          <p:cNvPr id="18" name="Google Shape;18;p3"/>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 name="Google Shape;19;p3"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20" name="Google Shape;20;p3"/>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 name="Google Shape;21;p3"/>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 name="Google Shape;22;p3"/>
          <p:cNvSpPr txBox="1"/>
          <p:nvPr>
            <p:ph type="title"/>
          </p:nvPr>
        </p:nvSpPr>
        <p:spPr>
          <a:xfrm>
            <a:off x="270000" y="1600575"/>
            <a:ext cx="8604000" cy="7770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b="1" sz="3600"/>
            </a:lvl1pPr>
            <a:lvl2pPr lvl="1">
              <a:spcBef>
                <a:spcPts val="0"/>
              </a:spcBef>
              <a:spcAft>
                <a:spcPts val="0"/>
              </a:spcAft>
              <a:buSzPts val="3600"/>
              <a:buNone/>
              <a:defRPr b="1" sz="3600"/>
            </a:lvl2pPr>
            <a:lvl3pPr lvl="2">
              <a:spcBef>
                <a:spcPts val="0"/>
              </a:spcBef>
              <a:spcAft>
                <a:spcPts val="0"/>
              </a:spcAft>
              <a:buSzPts val="3600"/>
              <a:buNone/>
              <a:defRPr b="1" sz="3600"/>
            </a:lvl3pPr>
            <a:lvl4pPr lvl="3">
              <a:spcBef>
                <a:spcPts val="0"/>
              </a:spcBef>
              <a:spcAft>
                <a:spcPts val="0"/>
              </a:spcAft>
              <a:buSzPts val="3600"/>
              <a:buNone/>
              <a:defRPr b="1" sz="3600"/>
            </a:lvl4pPr>
            <a:lvl5pPr lvl="4">
              <a:spcBef>
                <a:spcPts val="0"/>
              </a:spcBef>
              <a:spcAft>
                <a:spcPts val="0"/>
              </a:spcAft>
              <a:buSzPts val="3600"/>
              <a:buNone/>
              <a:defRPr b="1" sz="3600"/>
            </a:lvl5pPr>
            <a:lvl6pPr lvl="5">
              <a:spcBef>
                <a:spcPts val="0"/>
              </a:spcBef>
              <a:spcAft>
                <a:spcPts val="0"/>
              </a:spcAft>
              <a:buSzPts val="3600"/>
              <a:buNone/>
              <a:defRPr b="1" sz="3600"/>
            </a:lvl6pPr>
            <a:lvl7pPr lvl="6">
              <a:spcBef>
                <a:spcPts val="0"/>
              </a:spcBef>
              <a:spcAft>
                <a:spcPts val="0"/>
              </a:spcAft>
              <a:buSzPts val="3600"/>
              <a:buNone/>
              <a:defRPr b="1" sz="3600"/>
            </a:lvl7pPr>
            <a:lvl8pPr lvl="7">
              <a:spcBef>
                <a:spcPts val="0"/>
              </a:spcBef>
              <a:spcAft>
                <a:spcPts val="0"/>
              </a:spcAft>
              <a:buSzPts val="3600"/>
              <a:buNone/>
              <a:defRPr b="1" sz="3600"/>
            </a:lvl8pPr>
            <a:lvl9pPr lvl="8">
              <a:spcBef>
                <a:spcPts val="0"/>
              </a:spcBef>
              <a:spcAft>
                <a:spcPts val="0"/>
              </a:spcAft>
              <a:buSzPts val="3600"/>
              <a:buNone/>
              <a:defRPr b="1" sz="3600"/>
            </a:lvl9pPr>
          </a:lstStyle>
          <a:p/>
        </p:txBody>
      </p:sp>
      <p:sp>
        <p:nvSpPr>
          <p:cNvPr id="23" name="Google Shape;23;p3"/>
          <p:cNvSpPr txBox="1"/>
          <p:nvPr>
            <p:ph idx="1" type="subTitle"/>
          </p:nvPr>
        </p:nvSpPr>
        <p:spPr>
          <a:xfrm>
            <a:off x="270000" y="2377575"/>
            <a:ext cx="8604000" cy="896100"/>
          </a:xfrm>
          <a:prstGeom prst="rect">
            <a:avLst/>
          </a:prstGeom>
        </p:spPr>
        <p:txBody>
          <a:bodyPr anchorCtr="0" anchor="t" bIns="91425" lIns="91425" spcFirstLastPara="1" rIns="91425" wrap="square" tIns="91425">
            <a:sp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24" name="Google Shape;24;p3"/>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solidFill>
                  <a:srgbClr val="003E72"/>
                </a:solidFill>
              </a:defRPr>
            </a:lvl1pPr>
            <a:lvl2pPr lvl="1">
              <a:buNone/>
              <a:defRPr sz="1300">
                <a:solidFill>
                  <a:srgbClr val="003E72"/>
                </a:solidFill>
              </a:defRPr>
            </a:lvl2pPr>
            <a:lvl3pPr lvl="2">
              <a:buNone/>
              <a:defRPr sz="1300">
                <a:solidFill>
                  <a:srgbClr val="003E72"/>
                </a:solidFill>
              </a:defRPr>
            </a:lvl3pPr>
            <a:lvl4pPr lvl="3">
              <a:buNone/>
              <a:defRPr sz="1300">
                <a:solidFill>
                  <a:srgbClr val="003E72"/>
                </a:solidFill>
              </a:defRPr>
            </a:lvl4pPr>
            <a:lvl5pPr lvl="4">
              <a:buNone/>
              <a:defRPr sz="1300">
                <a:solidFill>
                  <a:srgbClr val="003E72"/>
                </a:solidFill>
              </a:defRPr>
            </a:lvl5pPr>
            <a:lvl6pPr lvl="5">
              <a:buNone/>
              <a:defRPr sz="1300">
                <a:solidFill>
                  <a:srgbClr val="003E72"/>
                </a:solidFill>
              </a:defRPr>
            </a:lvl6pPr>
            <a:lvl7pPr lvl="6">
              <a:buNone/>
              <a:defRPr sz="1300">
                <a:solidFill>
                  <a:srgbClr val="003E72"/>
                </a:solidFill>
              </a:defRPr>
            </a:lvl7pPr>
            <a:lvl8pPr lvl="7">
              <a:buNone/>
              <a:defRPr sz="1300">
                <a:solidFill>
                  <a:srgbClr val="003E72"/>
                </a:solidFill>
              </a:defRPr>
            </a:lvl8pPr>
            <a:lvl9pPr lvl="8">
              <a:buNone/>
              <a:defRPr sz="1300">
                <a:solidFill>
                  <a:srgbClr val="003E7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
    <p:spTree>
      <p:nvGrpSpPr>
        <p:cNvPr id="25" name="Shape 25"/>
        <p:cNvGrpSpPr/>
        <p:nvPr/>
      </p:nvGrpSpPr>
      <p:grpSpPr>
        <a:xfrm>
          <a:off x="0" y="0"/>
          <a:ext cx="0" cy="0"/>
          <a:chOff x="0" y="0"/>
          <a:chExt cx="0" cy="0"/>
        </a:xfrm>
      </p:grpSpPr>
      <p:sp>
        <p:nvSpPr>
          <p:cNvPr id="26" name="Google Shape;26;p4"/>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 name="Google Shape;28;p4"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29" name="Google Shape;29;p4"/>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 name="Google Shape;30;p4"/>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31" name="Google Shape;31;p4"/>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4">
    <p:spTree>
      <p:nvGrpSpPr>
        <p:cNvPr id="32" name="Shape 32"/>
        <p:cNvGrpSpPr/>
        <p:nvPr/>
      </p:nvGrpSpPr>
      <p:grpSpPr>
        <a:xfrm>
          <a:off x="0" y="0"/>
          <a:ext cx="0" cy="0"/>
          <a:chOff x="0" y="0"/>
          <a:chExt cx="0" cy="0"/>
        </a:xfrm>
      </p:grpSpPr>
      <p:sp>
        <p:nvSpPr>
          <p:cNvPr id="33" name="Google Shape;33;p5"/>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 name="Google Shape;34;p5"/>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 name="Google Shape;35;p5"/>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36" name="Google Shape;36;p5"/>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5"/>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38" name="Google Shape;38;p5"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39" name="Google Shape;39;p5"/>
          <p:cNvSpPr txBox="1"/>
          <p:nvPr>
            <p:ph idx="1" type="body"/>
          </p:nvPr>
        </p:nvSpPr>
        <p:spPr>
          <a:xfrm>
            <a:off x="270000" y="1167450"/>
            <a:ext cx="8604000" cy="3165000"/>
          </a:xfrm>
          <a:prstGeom prst="rect">
            <a:avLst/>
          </a:prstGeom>
        </p:spPr>
        <p:txBody>
          <a:bodyPr anchorCtr="0" anchor="t" bIns="91425" lIns="91425" spcFirstLastPara="1" rIns="91425" wrap="square" tIns="91425">
            <a:spAutoFit/>
          </a:bodyPr>
          <a:lstStyle>
            <a:lvl1pPr indent="-368300" lvl="0" marL="457200">
              <a:spcBef>
                <a:spcPts val="0"/>
              </a:spcBef>
              <a:spcAft>
                <a:spcPts val="0"/>
              </a:spcAft>
              <a:buSzPts val="22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USTOM_5">
    <p:spTree>
      <p:nvGrpSpPr>
        <p:cNvPr id="40" name="Shape 40"/>
        <p:cNvGrpSpPr/>
        <p:nvPr/>
      </p:nvGrpSpPr>
      <p:grpSpPr>
        <a:xfrm>
          <a:off x="0" y="0"/>
          <a:ext cx="0" cy="0"/>
          <a:chOff x="0" y="0"/>
          <a:chExt cx="0" cy="0"/>
        </a:xfrm>
      </p:grpSpPr>
      <p:sp>
        <p:nvSpPr>
          <p:cNvPr id="41" name="Google Shape;41;p6"/>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 name="Google Shape;42;p6"/>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6"/>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4" name="Google Shape;44;p6"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45" name="Google Shape;45;p6"/>
          <p:cNvSpPr txBox="1"/>
          <p:nvPr>
            <p:ph idx="1" type="body"/>
          </p:nvPr>
        </p:nvSpPr>
        <p:spPr>
          <a:xfrm>
            <a:off x="274975" y="1666875"/>
            <a:ext cx="4258800" cy="2708700"/>
          </a:xfrm>
          <a:prstGeom prst="rect">
            <a:avLst/>
          </a:prstGeom>
        </p:spPr>
        <p:txBody>
          <a:bodyPr anchorCtr="0" anchor="t" bIns="91425" lIns="91425" spcFirstLastPara="1" rIns="91425" wrap="square" tIns="91425">
            <a:spAutoFit/>
          </a:bodyPr>
          <a:lstStyle>
            <a:lvl1pPr indent="-368300" lvl="0" marL="457200">
              <a:spcBef>
                <a:spcPts val="0"/>
              </a:spcBef>
              <a:spcAft>
                <a:spcPts val="0"/>
              </a:spcAft>
              <a:buSzPts val="22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46" name="Google Shape;46;p6"/>
          <p:cNvSpPr txBox="1"/>
          <p:nvPr>
            <p:ph idx="2" type="body"/>
          </p:nvPr>
        </p:nvSpPr>
        <p:spPr>
          <a:xfrm>
            <a:off x="4610100" y="1666875"/>
            <a:ext cx="4263900" cy="2708700"/>
          </a:xfrm>
          <a:prstGeom prst="rect">
            <a:avLst/>
          </a:prstGeom>
        </p:spPr>
        <p:txBody>
          <a:bodyPr anchorCtr="0" anchor="t" bIns="91425" lIns="91425" spcFirstLastPara="1" rIns="91425" wrap="square" tIns="91425">
            <a:spAutoFit/>
          </a:bodyPr>
          <a:lstStyle>
            <a:lvl1pPr indent="-368300" lvl="0" marL="457200" rtl="0">
              <a:spcBef>
                <a:spcPts val="0"/>
              </a:spcBef>
              <a:spcAft>
                <a:spcPts val="0"/>
              </a:spcAft>
              <a:buSzPts val="2200"/>
              <a:buChar char="●"/>
              <a:defRPr/>
            </a:lvl1pPr>
            <a:lvl2pPr indent="-368300" lvl="1" marL="914400" rtl="0">
              <a:spcBef>
                <a:spcPts val="0"/>
              </a:spcBef>
              <a:spcAft>
                <a:spcPts val="0"/>
              </a:spcAft>
              <a:buSzPts val="2200"/>
              <a:buChar char="○"/>
              <a:defRPr/>
            </a:lvl2pPr>
            <a:lvl3pPr indent="-368300" lvl="2" marL="1371600" rtl="0">
              <a:spcBef>
                <a:spcPts val="0"/>
              </a:spcBef>
              <a:spcAft>
                <a:spcPts val="0"/>
              </a:spcAft>
              <a:buSzPts val="2200"/>
              <a:buChar char="■"/>
              <a:defRPr/>
            </a:lvl3pPr>
            <a:lvl4pPr indent="-368300" lvl="3" marL="1828800" rtl="0">
              <a:spcBef>
                <a:spcPts val="0"/>
              </a:spcBef>
              <a:spcAft>
                <a:spcPts val="0"/>
              </a:spcAft>
              <a:buSzPts val="2200"/>
              <a:buChar char="●"/>
              <a:defRPr/>
            </a:lvl4pPr>
            <a:lvl5pPr indent="-368300" lvl="4" marL="2286000" rtl="0">
              <a:spcBef>
                <a:spcPts val="0"/>
              </a:spcBef>
              <a:spcAft>
                <a:spcPts val="0"/>
              </a:spcAft>
              <a:buSzPts val="2200"/>
              <a:buChar char="○"/>
              <a:defRPr/>
            </a:lvl5pPr>
            <a:lvl6pPr indent="-368300" lvl="5" marL="2743200" rtl="0">
              <a:spcBef>
                <a:spcPts val="0"/>
              </a:spcBef>
              <a:spcAft>
                <a:spcPts val="0"/>
              </a:spcAft>
              <a:buSzPts val="2200"/>
              <a:buChar char="■"/>
              <a:defRPr/>
            </a:lvl6pPr>
            <a:lvl7pPr indent="-368300" lvl="6" marL="3200400" rtl="0">
              <a:spcBef>
                <a:spcPts val="0"/>
              </a:spcBef>
              <a:spcAft>
                <a:spcPts val="0"/>
              </a:spcAft>
              <a:buSzPts val="2200"/>
              <a:buChar char="●"/>
              <a:defRPr/>
            </a:lvl7pPr>
            <a:lvl8pPr indent="-368300" lvl="7" marL="3657600" rtl="0">
              <a:spcBef>
                <a:spcPts val="0"/>
              </a:spcBef>
              <a:spcAft>
                <a:spcPts val="0"/>
              </a:spcAft>
              <a:buSzPts val="2200"/>
              <a:buChar char="○"/>
              <a:defRPr/>
            </a:lvl8pPr>
            <a:lvl9pPr indent="-368300" lvl="8" marL="4114800" rtl="0">
              <a:spcBef>
                <a:spcPts val="0"/>
              </a:spcBef>
              <a:spcAft>
                <a:spcPts val="0"/>
              </a:spcAft>
              <a:buSzPts val="2200"/>
              <a:buChar char="■"/>
              <a:defRPr/>
            </a:lvl9pPr>
          </a:lstStyle>
          <a:p/>
        </p:txBody>
      </p:sp>
      <p:sp>
        <p:nvSpPr>
          <p:cNvPr id="47" name="Google Shape;47;p6"/>
          <p:cNvSpPr txBox="1"/>
          <p:nvPr>
            <p:ph idx="3" type="subTitle"/>
          </p:nvPr>
        </p:nvSpPr>
        <p:spPr>
          <a:xfrm>
            <a:off x="270000" y="1091400"/>
            <a:ext cx="4263900" cy="635100"/>
          </a:xfrm>
          <a:prstGeom prst="rect">
            <a:avLst/>
          </a:prstGeom>
        </p:spPr>
        <p:txBody>
          <a:bodyPr anchorCtr="0" anchor="t" bIns="91425" lIns="91425" spcFirstLastPara="1" rIns="91425" wrap="square" tIns="91425">
            <a:sp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48" name="Google Shape;48;p6"/>
          <p:cNvSpPr txBox="1"/>
          <p:nvPr>
            <p:ph idx="4" type="subTitle"/>
          </p:nvPr>
        </p:nvSpPr>
        <p:spPr>
          <a:xfrm>
            <a:off x="4610100" y="1091400"/>
            <a:ext cx="4263900" cy="635100"/>
          </a:xfrm>
          <a:prstGeom prst="rect">
            <a:avLst/>
          </a:prstGeom>
        </p:spPr>
        <p:txBody>
          <a:bodyPr anchorCtr="0" anchor="t" bIns="91425" lIns="91425" spcFirstLastPara="1" rIns="91425" wrap="square" tIns="91425">
            <a:spAutoFit/>
          </a:bodyPr>
          <a:lstStyle>
            <a:lvl1pPr lvl="0" rtl="0">
              <a:spcBef>
                <a:spcPts val="0"/>
              </a:spcBef>
              <a:spcAft>
                <a:spcPts val="0"/>
              </a:spcAft>
              <a:buSzPts val="2200"/>
              <a:buNone/>
              <a:defRPr/>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p:txBody>
      </p:sp>
      <p:sp>
        <p:nvSpPr>
          <p:cNvPr id="49" name="Google Shape;49;p6"/>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 name="Google Shape;50;p6"/>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CUSTOM_6">
    <p:spTree>
      <p:nvGrpSpPr>
        <p:cNvPr id="51" name="Shape 51"/>
        <p:cNvGrpSpPr/>
        <p:nvPr/>
      </p:nvGrpSpPr>
      <p:grpSpPr>
        <a:xfrm>
          <a:off x="0" y="0"/>
          <a:ext cx="0" cy="0"/>
          <a:chOff x="0" y="0"/>
          <a:chExt cx="0" cy="0"/>
        </a:xfrm>
      </p:grpSpPr>
      <p:sp>
        <p:nvSpPr>
          <p:cNvPr id="52" name="Google Shape;52;p7"/>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7"/>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p7"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7">
    <p:spTree>
      <p:nvGrpSpPr>
        <p:cNvPr id="55" name="Shape 55"/>
        <p:cNvGrpSpPr/>
        <p:nvPr/>
      </p:nvGrpSpPr>
      <p:grpSpPr>
        <a:xfrm>
          <a:off x="0" y="0"/>
          <a:ext cx="0" cy="0"/>
          <a:chOff x="0" y="0"/>
          <a:chExt cx="0" cy="0"/>
        </a:xfrm>
      </p:grpSpPr>
      <p:sp>
        <p:nvSpPr>
          <p:cNvPr id="56" name="Google Shape;56;p8"/>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solidFill>
                  <a:srgbClr val="003E72"/>
                </a:solidFill>
              </a:defRPr>
            </a:lvl1pPr>
            <a:lvl2pPr lvl="1">
              <a:buNone/>
              <a:defRPr sz="1300">
                <a:solidFill>
                  <a:srgbClr val="003E72"/>
                </a:solidFill>
              </a:defRPr>
            </a:lvl2pPr>
            <a:lvl3pPr lvl="2">
              <a:buNone/>
              <a:defRPr sz="1300">
                <a:solidFill>
                  <a:srgbClr val="003E72"/>
                </a:solidFill>
              </a:defRPr>
            </a:lvl3pPr>
            <a:lvl4pPr lvl="3">
              <a:buNone/>
              <a:defRPr sz="1300">
                <a:solidFill>
                  <a:srgbClr val="003E72"/>
                </a:solidFill>
              </a:defRPr>
            </a:lvl4pPr>
            <a:lvl5pPr lvl="4">
              <a:buNone/>
              <a:defRPr sz="1300">
                <a:solidFill>
                  <a:srgbClr val="003E72"/>
                </a:solidFill>
              </a:defRPr>
            </a:lvl5pPr>
            <a:lvl6pPr lvl="5">
              <a:buNone/>
              <a:defRPr sz="1300">
                <a:solidFill>
                  <a:srgbClr val="003E72"/>
                </a:solidFill>
              </a:defRPr>
            </a:lvl6pPr>
            <a:lvl7pPr lvl="6">
              <a:buNone/>
              <a:defRPr sz="1300">
                <a:solidFill>
                  <a:srgbClr val="003E72"/>
                </a:solidFill>
              </a:defRPr>
            </a:lvl7pPr>
            <a:lvl8pPr lvl="7">
              <a:buNone/>
              <a:defRPr sz="1300">
                <a:solidFill>
                  <a:srgbClr val="003E72"/>
                </a:solidFill>
              </a:defRPr>
            </a:lvl8pPr>
            <a:lvl9pPr lvl="8">
              <a:buNone/>
              <a:defRPr sz="1300">
                <a:solidFill>
                  <a:srgbClr val="003E7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57" name="Shape 5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
    <p:spTree>
      <p:nvGrpSpPr>
        <p:cNvPr id="62" name="Shape 62"/>
        <p:cNvGrpSpPr/>
        <p:nvPr/>
      </p:nvGrpSpPr>
      <p:grpSpPr>
        <a:xfrm>
          <a:off x="0" y="0"/>
          <a:ext cx="0" cy="0"/>
          <a:chOff x="0" y="0"/>
          <a:chExt cx="0" cy="0"/>
        </a:xfrm>
      </p:grpSpPr>
      <p:sp>
        <p:nvSpPr>
          <p:cNvPr id="63" name="Google Shape;63;p11"/>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1"/>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 name="Google Shape;65;p11"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66" name="Google Shape;66;p11"/>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1"/>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68" name="Google Shape;68;p11"/>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
    <p:spTree>
      <p:nvGrpSpPr>
        <p:cNvPr id="69" name="Shape 69"/>
        <p:cNvGrpSpPr/>
        <p:nvPr/>
      </p:nvGrpSpPr>
      <p:grpSpPr>
        <a:xfrm>
          <a:off x="0" y="0"/>
          <a:ext cx="0" cy="0"/>
          <a:chOff x="0" y="0"/>
          <a:chExt cx="0" cy="0"/>
        </a:xfrm>
      </p:grpSpPr>
      <p:sp>
        <p:nvSpPr>
          <p:cNvPr id="70" name="Google Shape;70;p12"/>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 name="Google Shape;71;p12"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72" name="Google Shape;72;p12"/>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2"/>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2"/>
          <p:cNvSpPr txBox="1"/>
          <p:nvPr>
            <p:ph type="title"/>
          </p:nvPr>
        </p:nvSpPr>
        <p:spPr>
          <a:xfrm>
            <a:off x="270000" y="1600575"/>
            <a:ext cx="8604000" cy="777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b="1" sz="3600"/>
            </a:lvl1pPr>
            <a:lvl2pPr lvl="1" algn="l">
              <a:lnSpc>
                <a:spcPct val="100000"/>
              </a:lnSpc>
              <a:spcBef>
                <a:spcPts val="0"/>
              </a:spcBef>
              <a:spcAft>
                <a:spcPts val="0"/>
              </a:spcAft>
              <a:buSzPts val="3600"/>
              <a:buNone/>
              <a:defRPr b="1" sz="3600"/>
            </a:lvl2pPr>
            <a:lvl3pPr lvl="2" algn="l">
              <a:lnSpc>
                <a:spcPct val="100000"/>
              </a:lnSpc>
              <a:spcBef>
                <a:spcPts val="0"/>
              </a:spcBef>
              <a:spcAft>
                <a:spcPts val="0"/>
              </a:spcAft>
              <a:buSzPts val="3600"/>
              <a:buNone/>
              <a:defRPr b="1" sz="3600"/>
            </a:lvl3pPr>
            <a:lvl4pPr lvl="3" algn="l">
              <a:lnSpc>
                <a:spcPct val="100000"/>
              </a:lnSpc>
              <a:spcBef>
                <a:spcPts val="0"/>
              </a:spcBef>
              <a:spcAft>
                <a:spcPts val="0"/>
              </a:spcAft>
              <a:buSzPts val="3600"/>
              <a:buNone/>
              <a:defRPr b="1" sz="3600"/>
            </a:lvl4pPr>
            <a:lvl5pPr lvl="4" algn="l">
              <a:lnSpc>
                <a:spcPct val="100000"/>
              </a:lnSpc>
              <a:spcBef>
                <a:spcPts val="0"/>
              </a:spcBef>
              <a:spcAft>
                <a:spcPts val="0"/>
              </a:spcAft>
              <a:buSzPts val="3600"/>
              <a:buNone/>
              <a:defRPr b="1" sz="3600"/>
            </a:lvl5pPr>
            <a:lvl6pPr lvl="5" algn="l">
              <a:lnSpc>
                <a:spcPct val="100000"/>
              </a:lnSpc>
              <a:spcBef>
                <a:spcPts val="0"/>
              </a:spcBef>
              <a:spcAft>
                <a:spcPts val="0"/>
              </a:spcAft>
              <a:buSzPts val="3600"/>
              <a:buNone/>
              <a:defRPr b="1" sz="3600"/>
            </a:lvl6pPr>
            <a:lvl7pPr lvl="6" algn="l">
              <a:lnSpc>
                <a:spcPct val="100000"/>
              </a:lnSpc>
              <a:spcBef>
                <a:spcPts val="0"/>
              </a:spcBef>
              <a:spcAft>
                <a:spcPts val="0"/>
              </a:spcAft>
              <a:buSzPts val="3600"/>
              <a:buNone/>
              <a:defRPr b="1" sz="3600"/>
            </a:lvl7pPr>
            <a:lvl8pPr lvl="7" algn="l">
              <a:lnSpc>
                <a:spcPct val="100000"/>
              </a:lnSpc>
              <a:spcBef>
                <a:spcPts val="0"/>
              </a:spcBef>
              <a:spcAft>
                <a:spcPts val="0"/>
              </a:spcAft>
              <a:buSzPts val="3600"/>
              <a:buNone/>
              <a:defRPr b="1" sz="3600"/>
            </a:lvl8pPr>
            <a:lvl9pPr lvl="8" algn="l">
              <a:lnSpc>
                <a:spcPct val="100000"/>
              </a:lnSpc>
              <a:spcBef>
                <a:spcPts val="0"/>
              </a:spcBef>
              <a:spcAft>
                <a:spcPts val="0"/>
              </a:spcAft>
              <a:buSzPts val="3600"/>
              <a:buNone/>
              <a:defRPr b="1" sz="3600"/>
            </a:lvl9pPr>
          </a:lstStyle>
          <a:p/>
        </p:txBody>
      </p:sp>
      <p:sp>
        <p:nvSpPr>
          <p:cNvPr id="75" name="Google Shape;75;p12"/>
          <p:cNvSpPr txBox="1"/>
          <p:nvPr>
            <p:ph idx="1" type="subTitle"/>
          </p:nvPr>
        </p:nvSpPr>
        <p:spPr>
          <a:xfrm>
            <a:off x="270000" y="2377575"/>
            <a:ext cx="8604000" cy="896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76" name="Google Shape;76;p12"/>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4">
    <p:spTree>
      <p:nvGrpSpPr>
        <p:cNvPr id="77" name="Shape 77"/>
        <p:cNvGrpSpPr/>
        <p:nvPr/>
      </p:nvGrpSpPr>
      <p:grpSpPr>
        <a:xfrm>
          <a:off x="0" y="0"/>
          <a:ext cx="0" cy="0"/>
          <a:chOff x="0" y="0"/>
          <a:chExt cx="0" cy="0"/>
        </a:xfrm>
      </p:grpSpPr>
      <p:sp>
        <p:nvSpPr>
          <p:cNvPr id="78" name="Google Shape;78;p13"/>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3"/>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3"/>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81" name="Google Shape;81;p13"/>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3"/>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83" name="Google Shape;83;p13"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84" name="Google Shape;84;p13"/>
          <p:cNvSpPr txBox="1"/>
          <p:nvPr>
            <p:ph idx="1" type="body"/>
          </p:nvPr>
        </p:nvSpPr>
        <p:spPr>
          <a:xfrm>
            <a:off x="270000" y="1167450"/>
            <a:ext cx="8604000" cy="31650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USTOM_5">
    <p:spTree>
      <p:nvGrpSpPr>
        <p:cNvPr id="85" name="Shape 85"/>
        <p:cNvGrpSpPr/>
        <p:nvPr/>
      </p:nvGrpSpPr>
      <p:grpSpPr>
        <a:xfrm>
          <a:off x="0" y="0"/>
          <a:ext cx="0" cy="0"/>
          <a:chOff x="0" y="0"/>
          <a:chExt cx="0" cy="0"/>
        </a:xfrm>
      </p:grpSpPr>
      <p:sp>
        <p:nvSpPr>
          <p:cNvPr id="86" name="Google Shape;86;p14"/>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4"/>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4"/>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89" name="Google Shape;89;p14"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90" name="Google Shape;90;p14"/>
          <p:cNvSpPr txBox="1"/>
          <p:nvPr>
            <p:ph idx="1" type="body"/>
          </p:nvPr>
        </p:nvSpPr>
        <p:spPr>
          <a:xfrm>
            <a:off x="274975" y="1666875"/>
            <a:ext cx="42588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1" name="Google Shape;91;p14"/>
          <p:cNvSpPr txBox="1"/>
          <p:nvPr>
            <p:ph idx="2" type="body"/>
          </p:nvPr>
        </p:nvSpPr>
        <p:spPr>
          <a:xfrm>
            <a:off x="4610100" y="1666875"/>
            <a:ext cx="42639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2" name="Google Shape;92;p14"/>
          <p:cNvSpPr txBox="1"/>
          <p:nvPr>
            <p:ph idx="3" type="subTitle"/>
          </p:nvPr>
        </p:nvSpPr>
        <p:spPr>
          <a:xfrm>
            <a:off x="2700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93" name="Google Shape;93;p14"/>
          <p:cNvSpPr txBox="1"/>
          <p:nvPr>
            <p:ph idx="4" type="subTitle"/>
          </p:nvPr>
        </p:nvSpPr>
        <p:spPr>
          <a:xfrm>
            <a:off x="46101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94" name="Google Shape;94;p14"/>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4"/>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CUSTOM_6">
    <p:spTree>
      <p:nvGrpSpPr>
        <p:cNvPr id="96" name="Shape 96"/>
        <p:cNvGrpSpPr/>
        <p:nvPr/>
      </p:nvGrpSpPr>
      <p:grpSpPr>
        <a:xfrm>
          <a:off x="0" y="0"/>
          <a:ext cx="0" cy="0"/>
          <a:chOff x="0" y="0"/>
          <a:chExt cx="0" cy="0"/>
        </a:xfrm>
      </p:grpSpPr>
      <p:sp>
        <p:nvSpPr>
          <p:cNvPr id="97" name="Google Shape;97;p15"/>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5"/>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99" name="Google Shape;99;p15"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7">
    <p:spTree>
      <p:nvGrpSpPr>
        <p:cNvPr id="100" name="Shape 100"/>
        <p:cNvGrpSpPr/>
        <p:nvPr/>
      </p:nvGrpSpPr>
      <p:grpSpPr>
        <a:xfrm>
          <a:off x="0" y="0"/>
          <a:ext cx="0" cy="0"/>
          <a:chOff x="0" y="0"/>
          <a:chExt cx="0" cy="0"/>
        </a:xfrm>
      </p:grpSpPr>
      <p:sp>
        <p:nvSpPr>
          <p:cNvPr id="101" name="Google Shape;101;p16"/>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102" name="Shape 10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7" name="Shape 107"/>
        <p:cNvGrpSpPr/>
        <p:nvPr/>
      </p:nvGrpSpPr>
      <p:grpSpPr>
        <a:xfrm>
          <a:off x="0" y="0"/>
          <a:ext cx="0" cy="0"/>
          <a:chOff x="0" y="0"/>
          <a:chExt cx="0" cy="0"/>
        </a:xfrm>
      </p:grpSpPr>
      <p:sp>
        <p:nvSpPr>
          <p:cNvPr id="108" name="Google Shape;108;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9" name="Google Shape;109;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0" name="Google Shape;11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7" name="Google Shape;11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 name="Google Shape;120;p2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1" name="Google Shape;121;p2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2" name="Google Shape;12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8" name="Google Shape;128;p2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9" name="Google Shape;12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0" name="Shape 130"/>
        <p:cNvGrpSpPr/>
        <p:nvPr/>
      </p:nvGrpSpPr>
      <p:grpSpPr>
        <a:xfrm>
          <a:off x="0" y="0"/>
          <a:ext cx="0" cy="0"/>
          <a:chOff x="0" y="0"/>
          <a:chExt cx="0" cy="0"/>
        </a:xfrm>
      </p:grpSpPr>
      <p:sp>
        <p:nvSpPr>
          <p:cNvPr id="131" name="Google Shape;131;p2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2" name="Google Shape;13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3" name="Shape 133"/>
        <p:cNvGrpSpPr/>
        <p:nvPr/>
      </p:nvGrpSpPr>
      <p:grpSpPr>
        <a:xfrm>
          <a:off x="0" y="0"/>
          <a:ext cx="0" cy="0"/>
          <a:chOff x="0" y="0"/>
          <a:chExt cx="0" cy="0"/>
        </a:xfrm>
      </p:grpSpPr>
      <p:sp>
        <p:nvSpPr>
          <p:cNvPr id="134" name="Google Shape;134;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36" name="Google Shape;136;p2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7" name="Google Shape;137;p2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8" name="Google Shape;13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9" name="Shape 139"/>
        <p:cNvGrpSpPr/>
        <p:nvPr/>
      </p:nvGrpSpPr>
      <p:grpSpPr>
        <a:xfrm>
          <a:off x="0" y="0"/>
          <a:ext cx="0" cy="0"/>
          <a:chOff x="0" y="0"/>
          <a:chExt cx="0" cy="0"/>
        </a:xfrm>
      </p:grpSpPr>
      <p:sp>
        <p:nvSpPr>
          <p:cNvPr id="140" name="Google Shape;140;p27"/>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41" name="Google Shape;14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2" name="Shape 142"/>
        <p:cNvGrpSpPr/>
        <p:nvPr/>
      </p:nvGrpSpPr>
      <p:grpSpPr>
        <a:xfrm>
          <a:off x="0" y="0"/>
          <a:ext cx="0" cy="0"/>
          <a:chOff x="0" y="0"/>
          <a:chExt cx="0" cy="0"/>
        </a:xfrm>
      </p:grpSpPr>
      <p:sp>
        <p:nvSpPr>
          <p:cNvPr id="143" name="Google Shape;143;p2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4" name="Google Shape;144;p2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45" name="Google Shape;14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6" name="Shape 146"/>
        <p:cNvGrpSpPr/>
        <p:nvPr/>
      </p:nvGrpSpPr>
      <p:grpSpPr>
        <a:xfrm>
          <a:off x="0" y="0"/>
          <a:ext cx="0" cy="0"/>
          <a:chOff x="0" y="0"/>
          <a:chExt cx="0" cy="0"/>
        </a:xfrm>
      </p:grpSpPr>
      <p:sp>
        <p:nvSpPr>
          <p:cNvPr id="147" name="Google Shape;147;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3">
    <p:spTree>
      <p:nvGrpSpPr>
        <p:cNvPr id="148" name="Shape 148"/>
        <p:cNvGrpSpPr/>
        <p:nvPr/>
      </p:nvGrpSpPr>
      <p:grpSpPr>
        <a:xfrm>
          <a:off x="0" y="0"/>
          <a:ext cx="0" cy="0"/>
          <a:chOff x="0" y="0"/>
          <a:chExt cx="0" cy="0"/>
        </a:xfrm>
      </p:grpSpPr>
      <p:sp>
        <p:nvSpPr>
          <p:cNvPr id="149" name="Google Shape;149;p30"/>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30"/>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1" name="Google Shape;151;p30"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52" name="Google Shape;152;p30"/>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30"/>
          <p:cNvSpPr txBox="1"/>
          <p:nvPr>
            <p:ph type="title"/>
          </p:nvPr>
        </p:nvSpPr>
        <p:spPr>
          <a:xfrm>
            <a:off x="270000" y="254700"/>
            <a:ext cx="8604000" cy="493800"/>
          </a:xfrm>
          <a:prstGeom prst="rect">
            <a:avLst/>
          </a:prstGeom>
          <a:noFill/>
          <a:ln>
            <a:noFill/>
          </a:ln>
        </p:spPr>
        <p:txBody>
          <a:bodyPr anchorCtr="0" anchor="ctr" bIns="0" lIns="0" spcFirstLastPara="1" rIns="0" wrap="square" tIns="0">
            <a:normAutofit/>
          </a:bodyPr>
          <a:lstStyle>
            <a:lvl1pPr lvl="0"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154" name="Google Shape;154;p30"/>
          <p:cNvSpPr txBox="1"/>
          <p:nvPr>
            <p:ph idx="12" type="sldNum"/>
          </p:nvPr>
        </p:nvSpPr>
        <p:spPr>
          <a:xfrm>
            <a:off x="8301300" y="4819050"/>
            <a:ext cx="572700" cy="153900"/>
          </a:xfrm>
          <a:prstGeom prst="rect">
            <a:avLst/>
          </a:prstGeom>
          <a:noFill/>
          <a:ln>
            <a:noFill/>
          </a:ln>
        </p:spPr>
        <p:txBody>
          <a:bodyPr anchorCtr="0" anchor="ctr" bIns="0" lIns="0" spcFirstLastPara="1" rIns="0" wrap="square" tIns="0">
            <a:norm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
    <p:spTree>
      <p:nvGrpSpPr>
        <p:cNvPr id="159" name="Shape 159"/>
        <p:cNvGrpSpPr/>
        <p:nvPr/>
      </p:nvGrpSpPr>
      <p:grpSpPr>
        <a:xfrm>
          <a:off x="0" y="0"/>
          <a:ext cx="0" cy="0"/>
          <a:chOff x="0" y="0"/>
          <a:chExt cx="0" cy="0"/>
        </a:xfrm>
      </p:grpSpPr>
      <p:sp>
        <p:nvSpPr>
          <p:cNvPr id="160" name="Google Shape;160;p32"/>
          <p:cNvSpPr/>
          <p:nvPr/>
        </p:nvSpPr>
        <p:spPr>
          <a:xfrm>
            <a:off x="0" y="4016800"/>
            <a:ext cx="9144000" cy="5061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61" name="Google Shape;161;p32"/>
          <p:cNvSpPr/>
          <p:nvPr/>
        </p:nvSpPr>
        <p:spPr>
          <a:xfrm>
            <a:off x="0" y="4522925"/>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2"/>
          <p:cNvSpPr/>
          <p:nvPr/>
        </p:nvSpPr>
        <p:spPr>
          <a:xfrm>
            <a:off x="0" y="1309700"/>
            <a:ext cx="9144000" cy="27072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163" name="Google Shape;163;p32" title="CRIT_Colour_alpha.png"/>
          <p:cNvPicPr preferRelativeResize="0"/>
          <p:nvPr/>
        </p:nvPicPr>
        <p:blipFill rotWithShape="1">
          <a:blip r:embed="rId2">
            <a:alphaModFix/>
          </a:blip>
          <a:srcRect b="0" l="0" r="0" t="0"/>
          <a:stretch/>
        </p:blipFill>
        <p:spPr>
          <a:xfrm>
            <a:off x="359275" y="251999"/>
            <a:ext cx="2450924" cy="694425"/>
          </a:xfrm>
          <a:prstGeom prst="rect">
            <a:avLst/>
          </a:prstGeom>
          <a:noFill/>
          <a:ln>
            <a:noFill/>
          </a:ln>
        </p:spPr>
      </p:pic>
      <p:sp>
        <p:nvSpPr>
          <p:cNvPr id="164" name="Google Shape;164;p32"/>
          <p:cNvSpPr txBox="1"/>
          <p:nvPr>
            <p:ph type="title"/>
          </p:nvPr>
        </p:nvSpPr>
        <p:spPr>
          <a:xfrm>
            <a:off x="270000" y="1538300"/>
            <a:ext cx="8604000" cy="10779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rgbClr val="FFFFFF"/>
              </a:buClr>
              <a:buSzPts val="3600"/>
              <a:buNone/>
              <a:defRPr b="1" sz="3600">
                <a:solidFill>
                  <a:srgbClr val="FFFFFF"/>
                </a:solidFill>
              </a:defRPr>
            </a:lvl1pPr>
            <a:lvl2pPr lvl="1" algn="l">
              <a:lnSpc>
                <a:spcPct val="100000"/>
              </a:lnSpc>
              <a:spcBef>
                <a:spcPts val="0"/>
              </a:spcBef>
              <a:spcAft>
                <a:spcPts val="0"/>
              </a:spcAft>
              <a:buClr>
                <a:srgbClr val="FFFFFF"/>
              </a:buClr>
              <a:buSzPts val="3600"/>
              <a:buNone/>
              <a:defRPr b="1" sz="3600">
                <a:solidFill>
                  <a:srgbClr val="FFFFFF"/>
                </a:solidFill>
              </a:defRPr>
            </a:lvl2pPr>
            <a:lvl3pPr lvl="2" algn="l">
              <a:lnSpc>
                <a:spcPct val="100000"/>
              </a:lnSpc>
              <a:spcBef>
                <a:spcPts val="0"/>
              </a:spcBef>
              <a:spcAft>
                <a:spcPts val="0"/>
              </a:spcAft>
              <a:buClr>
                <a:srgbClr val="FFFFFF"/>
              </a:buClr>
              <a:buSzPts val="3600"/>
              <a:buNone/>
              <a:defRPr b="1" sz="3600">
                <a:solidFill>
                  <a:srgbClr val="FFFFFF"/>
                </a:solidFill>
              </a:defRPr>
            </a:lvl3pPr>
            <a:lvl4pPr lvl="3" algn="l">
              <a:lnSpc>
                <a:spcPct val="100000"/>
              </a:lnSpc>
              <a:spcBef>
                <a:spcPts val="0"/>
              </a:spcBef>
              <a:spcAft>
                <a:spcPts val="0"/>
              </a:spcAft>
              <a:buClr>
                <a:srgbClr val="FFFFFF"/>
              </a:buClr>
              <a:buSzPts val="3600"/>
              <a:buNone/>
              <a:defRPr b="1" sz="3600">
                <a:solidFill>
                  <a:srgbClr val="FFFFFF"/>
                </a:solidFill>
              </a:defRPr>
            </a:lvl4pPr>
            <a:lvl5pPr lvl="4" algn="l">
              <a:lnSpc>
                <a:spcPct val="100000"/>
              </a:lnSpc>
              <a:spcBef>
                <a:spcPts val="0"/>
              </a:spcBef>
              <a:spcAft>
                <a:spcPts val="0"/>
              </a:spcAft>
              <a:buClr>
                <a:srgbClr val="FFFFFF"/>
              </a:buClr>
              <a:buSzPts val="3600"/>
              <a:buNone/>
              <a:defRPr b="1" sz="3600">
                <a:solidFill>
                  <a:srgbClr val="FFFFFF"/>
                </a:solidFill>
              </a:defRPr>
            </a:lvl5pPr>
            <a:lvl6pPr lvl="5" algn="l">
              <a:lnSpc>
                <a:spcPct val="100000"/>
              </a:lnSpc>
              <a:spcBef>
                <a:spcPts val="0"/>
              </a:spcBef>
              <a:spcAft>
                <a:spcPts val="0"/>
              </a:spcAft>
              <a:buClr>
                <a:srgbClr val="FFFFFF"/>
              </a:buClr>
              <a:buSzPts val="3600"/>
              <a:buNone/>
              <a:defRPr b="1" sz="3600">
                <a:solidFill>
                  <a:srgbClr val="FFFFFF"/>
                </a:solidFill>
              </a:defRPr>
            </a:lvl6pPr>
            <a:lvl7pPr lvl="6" algn="l">
              <a:lnSpc>
                <a:spcPct val="100000"/>
              </a:lnSpc>
              <a:spcBef>
                <a:spcPts val="0"/>
              </a:spcBef>
              <a:spcAft>
                <a:spcPts val="0"/>
              </a:spcAft>
              <a:buClr>
                <a:srgbClr val="FFFFFF"/>
              </a:buClr>
              <a:buSzPts val="3600"/>
              <a:buNone/>
              <a:defRPr b="1" sz="3600">
                <a:solidFill>
                  <a:srgbClr val="FFFFFF"/>
                </a:solidFill>
              </a:defRPr>
            </a:lvl7pPr>
            <a:lvl8pPr lvl="7" algn="l">
              <a:lnSpc>
                <a:spcPct val="100000"/>
              </a:lnSpc>
              <a:spcBef>
                <a:spcPts val="0"/>
              </a:spcBef>
              <a:spcAft>
                <a:spcPts val="0"/>
              </a:spcAft>
              <a:buClr>
                <a:srgbClr val="FFFFFF"/>
              </a:buClr>
              <a:buSzPts val="3600"/>
              <a:buNone/>
              <a:defRPr b="1" sz="3600">
                <a:solidFill>
                  <a:srgbClr val="FFFFFF"/>
                </a:solidFill>
              </a:defRPr>
            </a:lvl8pPr>
            <a:lvl9pPr lvl="8" algn="l">
              <a:lnSpc>
                <a:spcPct val="100000"/>
              </a:lnSpc>
              <a:spcBef>
                <a:spcPts val="0"/>
              </a:spcBef>
              <a:spcAft>
                <a:spcPts val="0"/>
              </a:spcAft>
              <a:buClr>
                <a:srgbClr val="FFFFFF"/>
              </a:buClr>
              <a:buSzPts val="3600"/>
              <a:buNone/>
              <a:defRPr b="1" sz="3600">
                <a:solidFill>
                  <a:srgbClr val="FFFFFF"/>
                </a:solidFill>
              </a:defRPr>
            </a:lvl9pPr>
          </a:lstStyle>
          <a:p/>
        </p:txBody>
      </p:sp>
      <p:sp>
        <p:nvSpPr>
          <p:cNvPr id="165" name="Google Shape;165;p32"/>
          <p:cNvSpPr txBox="1"/>
          <p:nvPr>
            <p:ph idx="1" type="subTitle"/>
          </p:nvPr>
        </p:nvSpPr>
        <p:spPr>
          <a:xfrm>
            <a:off x="270000" y="2860675"/>
            <a:ext cx="8604000" cy="996300"/>
          </a:xfrm>
          <a:prstGeom prst="rect">
            <a:avLst/>
          </a:prstGeom>
          <a:noFill/>
          <a:ln>
            <a:noFill/>
          </a:ln>
        </p:spPr>
        <p:txBody>
          <a:bodyPr anchorCtr="0" anchor="b" bIns="91425" lIns="91425" spcFirstLastPara="1" rIns="91425" wrap="square" tIns="91425">
            <a:spAutoFit/>
          </a:bodyPr>
          <a:lstStyle>
            <a:lvl1pPr lvl="0" algn="l">
              <a:lnSpc>
                <a:spcPct val="115000"/>
              </a:lnSpc>
              <a:spcBef>
                <a:spcPts val="0"/>
              </a:spcBef>
              <a:spcAft>
                <a:spcPts val="0"/>
              </a:spcAft>
              <a:buClr>
                <a:srgbClr val="FFFFFF"/>
              </a:buClr>
              <a:buSzPts val="1800"/>
              <a:buNone/>
              <a:defRPr b="1" sz="1800">
                <a:solidFill>
                  <a:srgbClr val="FFFFFF"/>
                </a:solidFill>
              </a:defRPr>
            </a:lvl1pPr>
            <a:lvl2pPr lvl="1" algn="l">
              <a:lnSpc>
                <a:spcPct val="115000"/>
              </a:lnSpc>
              <a:spcBef>
                <a:spcPts val="0"/>
              </a:spcBef>
              <a:spcAft>
                <a:spcPts val="0"/>
              </a:spcAft>
              <a:buClr>
                <a:srgbClr val="FFFFFF"/>
              </a:buClr>
              <a:buSzPts val="2200"/>
              <a:buNone/>
              <a:defRPr b="1">
                <a:solidFill>
                  <a:srgbClr val="FFFFFF"/>
                </a:solidFill>
              </a:defRPr>
            </a:lvl2pPr>
            <a:lvl3pPr lvl="2" algn="l">
              <a:lnSpc>
                <a:spcPct val="115000"/>
              </a:lnSpc>
              <a:spcBef>
                <a:spcPts val="0"/>
              </a:spcBef>
              <a:spcAft>
                <a:spcPts val="0"/>
              </a:spcAft>
              <a:buClr>
                <a:srgbClr val="FFFFFF"/>
              </a:buClr>
              <a:buSzPts val="2200"/>
              <a:buNone/>
              <a:defRPr b="1">
                <a:solidFill>
                  <a:srgbClr val="FFFFFF"/>
                </a:solidFill>
              </a:defRPr>
            </a:lvl3pPr>
            <a:lvl4pPr lvl="3" algn="l">
              <a:lnSpc>
                <a:spcPct val="115000"/>
              </a:lnSpc>
              <a:spcBef>
                <a:spcPts val="0"/>
              </a:spcBef>
              <a:spcAft>
                <a:spcPts val="0"/>
              </a:spcAft>
              <a:buClr>
                <a:srgbClr val="FFFFFF"/>
              </a:buClr>
              <a:buSzPts val="2200"/>
              <a:buNone/>
              <a:defRPr b="1">
                <a:solidFill>
                  <a:srgbClr val="FFFFFF"/>
                </a:solidFill>
              </a:defRPr>
            </a:lvl4pPr>
            <a:lvl5pPr lvl="4" algn="l">
              <a:lnSpc>
                <a:spcPct val="115000"/>
              </a:lnSpc>
              <a:spcBef>
                <a:spcPts val="0"/>
              </a:spcBef>
              <a:spcAft>
                <a:spcPts val="0"/>
              </a:spcAft>
              <a:buClr>
                <a:srgbClr val="FFFFFF"/>
              </a:buClr>
              <a:buSzPts val="2200"/>
              <a:buNone/>
              <a:defRPr b="1">
                <a:solidFill>
                  <a:srgbClr val="FFFFFF"/>
                </a:solidFill>
              </a:defRPr>
            </a:lvl5pPr>
            <a:lvl6pPr lvl="5" algn="l">
              <a:lnSpc>
                <a:spcPct val="115000"/>
              </a:lnSpc>
              <a:spcBef>
                <a:spcPts val="0"/>
              </a:spcBef>
              <a:spcAft>
                <a:spcPts val="0"/>
              </a:spcAft>
              <a:buClr>
                <a:srgbClr val="FFFFFF"/>
              </a:buClr>
              <a:buSzPts val="2200"/>
              <a:buNone/>
              <a:defRPr b="1">
                <a:solidFill>
                  <a:srgbClr val="FFFFFF"/>
                </a:solidFill>
              </a:defRPr>
            </a:lvl6pPr>
            <a:lvl7pPr lvl="6" algn="l">
              <a:lnSpc>
                <a:spcPct val="115000"/>
              </a:lnSpc>
              <a:spcBef>
                <a:spcPts val="0"/>
              </a:spcBef>
              <a:spcAft>
                <a:spcPts val="0"/>
              </a:spcAft>
              <a:buClr>
                <a:srgbClr val="FFFFFF"/>
              </a:buClr>
              <a:buSzPts val="2200"/>
              <a:buNone/>
              <a:defRPr b="1">
                <a:solidFill>
                  <a:srgbClr val="FFFFFF"/>
                </a:solidFill>
              </a:defRPr>
            </a:lvl7pPr>
            <a:lvl8pPr lvl="7" algn="l">
              <a:lnSpc>
                <a:spcPct val="115000"/>
              </a:lnSpc>
              <a:spcBef>
                <a:spcPts val="0"/>
              </a:spcBef>
              <a:spcAft>
                <a:spcPts val="0"/>
              </a:spcAft>
              <a:buClr>
                <a:srgbClr val="FFFFFF"/>
              </a:buClr>
              <a:buSzPts val="2200"/>
              <a:buNone/>
              <a:defRPr b="1">
                <a:solidFill>
                  <a:srgbClr val="FFFFFF"/>
                </a:solidFill>
              </a:defRPr>
            </a:lvl8pPr>
            <a:lvl9pPr lvl="8" algn="l">
              <a:lnSpc>
                <a:spcPct val="115000"/>
              </a:lnSpc>
              <a:spcBef>
                <a:spcPts val="0"/>
              </a:spcBef>
              <a:spcAft>
                <a:spcPts val="0"/>
              </a:spcAft>
              <a:buClr>
                <a:srgbClr val="FFFFFF"/>
              </a:buClr>
              <a:buSzPts val="2200"/>
              <a:buNone/>
              <a:defRPr b="1">
                <a:solidFill>
                  <a:srgbClr val="FFFFFF"/>
                </a:solidFill>
              </a:defRPr>
            </a:lvl9pPr>
          </a:lstStyle>
          <a:p/>
        </p:txBody>
      </p:sp>
      <p:sp>
        <p:nvSpPr>
          <p:cNvPr id="166" name="Google Shape;166;p32"/>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
    <p:spTree>
      <p:nvGrpSpPr>
        <p:cNvPr id="167" name="Shape 167"/>
        <p:cNvGrpSpPr/>
        <p:nvPr/>
      </p:nvGrpSpPr>
      <p:grpSpPr>
        <a:xfrm>
          <a:off x="0" y="0"/>
          <a:ext cx="0" cy="0"/>
          <a:chOff x="0" y="0"/>
          <a:chExt cx="0" cy="0"/>
        </a:xfrm>
      </p:grpSpPr>
      <p:sp>
        <p:nvSpPr>
          <p:cNvPr id="168" name="Google Shape;168;p33"/>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3"/>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0" name="Google Shape;170;p33"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71" name="Google Shape;171;p33"/>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3"/>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173" name="Google Shape;173;p33"/>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
    <p:spTree>
      <p:nvGrpSpPr>
        <p:cNvPr id="174" name="Shape 174"/>
        <p:cNvGrpSpPr/>
        <p:nvPr/>
      </p:nvGrpSpPr>
      <p:grpSpPr>
        <a:xfrm>
          <a:off x="0" y="0"/>
          <a:ext cx="0" cy="0"/>
          <a:chOff x="0" y="0"/>
          <a:chExt cx="0" cy="0"/>
        </a:xfrm>
      </p:grpSpPr>
      <p:sp>
        <p:nvSpPr>
          <p:cNvPr id="175" name="Google Shape;175;p34"/>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6" name="Google Shape;176;p34"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77" name="Google Shape;177;p34"/>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4"/>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4"/>
          <p:cNvSpPr txBox="1"/>
          <p:nvPr>
            <p:ph type="title"/>
          </p:nvPr>
        </p:nvSpPr>
        <p:spPr>
          <a:xfrm>
            <a:off x="270000" y="1600575"/>
            <a:ext cx="8604000" cy="777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b="1" sz="3600"/>
            </a:lvl1pPr>
            <a:lvl2pPr lvl="1" algn="l">
              <a:lnSpc>
                <a:spcPct val="100000"/>
              </a:lnSpc>
              <a:spcBef>
                <a:spcPts val="0"/>
              </a:spcBef>
              <a:spcAft>
                <a:spcPts val="0"/>
              </a:spcAft>
              <a:buSzPts val="3600"/>
              <a:buNone/>
              <a:defRPr b="1" sz="3600"/>
            </a:lvl2pPr>
            <a:lvl3pPr lvl="2" algn="l">
              <a:lnSpc>
                <a:spcPct val="100000"/>
              </a:lnSpc>
              <a:spcBef>
                <a:spcPts val="0"/>
              </a:spcBef>
              <a:spcAft>
                <a:spcPts val="0"/>
              </a:spcAft>
              <a:buSzPts val="3600"/>
              <a:buNone/>
              <a:defRPr b="1" sz="3600"/>
            </a:lvl3pPr>
            <a:lvl4pPr lvl="3" algn="l">
              <a:lnSpc>
                <a:spcPct val="100000"/>
              </a:lnSpc>
              <a:spcBef>
                <a:spcPts val="0"/>
              </a:spcBef>
              <a:spcAft>
                <a:spcPts val="0"/>
              </a:spcAft>
              <a:buSzPts val="3600"/>
              <a:buNone/>
              <a:defRPr b="1" sz="3600"/>
            </a:lvl4pPr>
            <a:lvl5pPr lvl="4" algn="l">
              <a:lnSpc>
                <a:spcPct val="100000"/>
              </a:lnSpc>
              <a:spcBef>
                <a:spcPts val="0"/>
              </a:spcBef>
              <a:spcAft>
                <a:spcPts val="0"/>
              </a:spcAft>
              <a:buSzPts val="3600"/>
              <a:buNone/>
              <a:defRPr b="1" sz="3600"/>
            </a:lvl5pPr>
            <a:lvl6pPr lvl="5" algn="l">
              <a:lnSpc>
                <a:spcPct val="100000"/>
              </a:lnSpc>
              <a:spcBef>
                <a:spcPts val="0"/>
              </a:spcBef>
              <a:spcAft>
                <a:spcPts val="0"/>
              </a:spcAft>
              <a:buSzPts val="3600"/>
              <a:buNone/>
              <a:defRPr b="1" sz="3600"/>
            </a:lvl6pPr>
            <a:lvl7pPr lvl="6" algn="l">
              <a:lnSpc>
                <a:spcPct val="100000"/>
              </a:lnSpc>
              <a:spcBef>
                <a:spcPts val="0"/>
              </a:spcBef>
              <a:spcAft>
                <a:spcPts val="0"/>
              </a:spcAft>
              <a:buSzPts val="3600"/>
              <a:buNone/>
              <a:defRPr b="1" sz="3600"/>
            </a:lvl7pPr>
            <a:lvl8pPr lvl="7" algn="l">
              <a:lnSpc>
                <a:spcPct val="100000"/>
              </a:lnSpc>
              <a:spcBef>
                <a:spcPts val="0"/>
              </a:spcBef>
              <a:spcAft>
                <a:spcPts val="0"/>
              </a:spcAft>
              <a:buSzPts val="3600"/>
              <a:buNone/>
              <a:defRPr b="1" sz="3600"/>
            </a:lvl8pPr>
            <a:lvl9pPr lvl="8" algn="l">
              <a:lnSpc>
                <a:spcPct val="100000"/>
              </a:lnSpc>
              <a:spcBef>
                <a:spcPts val="0"/>
              </a:spcBef>
              <a:spcAft>
                <a:spcPts val="0"/>
              </a:spcAft>
              <a:buSzPts val="3600"/>
              <a:buNone/>
              <a:defRPr b="1" sz="3600"/>
            </a:lvl9pPr>
          </a:lstStyle>
          <a:p/>
        </p:txBody>
      </p:sp>
      <p:sp>
        <p:nvSpPr>
          <p:cNvPr id="180" name="Google Shape;180;p34"/>
          <p:cNvSpPr txBox="1"/>
          <p:nvPr>
            <p:ph idx="1" type="subTitle"/>
          </p:nvPr>
        </p:nvSpPr>
        <p:spPr>
          <a:xfrm>
            <a:off x="270000" y="2377575"/>
            <a:ext cx="8604000" cy="896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181" name="Google Shape;181;p34"/>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4">
    <p:spTree>
      <p:nvGrpSpPr>
        <p:cNvPr id="182" name="Shape 182"/>
        <p:cNvGrpSpPr/>
        <p:nvPr/>
      </p:nvGrpSpPr>
      <p:grpSpPr>
        <a:xfrm>
          <a:off x="0" y="0"/>
          <a:ext cx="0" cy="0"/>
          <a:chOff x="0" y="0"/>
          <a:chExt cx="0" cy="0"/>
        </a:xfrm>
      </p:grpSpPr>
      <p:sp>
        <p:nvSpPr>
          <p:cNvPr id="183" name="Google Shape;183;p35"/>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5"/>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5"/>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186" name="Google Shape;186;p35"/>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5"/>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88" name="Google Shape;188;p35"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89" name="Google Shape;189;p35"/>
          <p:cNvSpPr txBox="1"/>
          <p:nvPr>
            <p:ph idx="1" type="body"/>
          </p:nvPr>
        </p:nvSpPr>
        <p:spPr>
          <a:xfrm>
            <a:off x="270000" y="1167450"/>
            <a:ext cx="8604000" cy="31650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USTOM_5">
    <p:spTree>
      <p:nvGrpSpPr>
        <p:cNvPr id="190" name="Shape 190"/>
        <p:cNvGrpSpPr/>
        <p:nvPr/>
      </p:nvGrpSpPr>
      <p:grpSpPr>
        <a:xfrm>
          <a:off x="0" y="0"/>
          <a:ext cx="0" cy="0"/>
          <a:chOff x="0" y="0"/>
          <a:chExt cx="0" cy="0"/>
        </a:xfrm>
      </p:grpSpPr>
      <p:sp>
        <p:nvSpPr>
          <p:cNvPr id="191" name="Google Shape;191;p36"/>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6"/>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6"/>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94" name="Google Shape;194;p36"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95" name="Google Shape;195;p36"/>
          <p:cNvSpPr txBox="1"/>
          <p:nvPr>
            <p:ph idx="1" type="body"/>
          </p:nvPr>
        </p:nvSpPr>
        <p:spPr>
          <a:xfrm>
            <a:off x="274975" y="1666875"/>
            <a:ext cx="42588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96" name="Google Shape;196;p36"/>
          <p:cNvSpPr txBox="1"/>
          <p:nvPr>
            <p:ph idx="2" type="body"/>
          </p:nvPr>
        </p:nvSpPr>
        <p:spPr>
          <a:xfrm>
            <a:off x="4610100" y="1666875"/>
            <a:ext cx="42639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97" name="Google Shape;197;p36"/>
          <p:cNvSpPr txBox="1"/>
          <p:nvPr>
            <p:ph idx="3" type="subTitle"/>
          </p:nvPr>
        </p:nvSpPr>
        <p:spPr>
          <a:xfrm>
            <a:off x="2700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198" name="Google Shape;198;p36"/>
          <p:cNvSpPr txBox="1"/>
          <p:nvPr>
            <p:ph idx="4" type="subTitle"/>
          </p:nvPr>
        </p:nvSpPr>
        <p:spPr>
          <a:xfrm>
            <a:off x="46101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199" name="Google Shape;199;p36"/>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6"/>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CUSTOM_6">
    <p:spTree>
      <p:nvGrpSpPr>
        <p:cNvPr id="201" name="Shape 201"/>
        <p:cNvGrpSpPr/>
        <p:nvPr/>
      </p:nvGrpSpPr>
      <p:grpSpPr>
        <a:xfrm>
          <a:off x="0" y="0"/>
          <a:ext cx="0" cy="0"/>
          <a:chOff x="0" y="0"/>
          <a:chExt cx="0" cy="0"/>
        </a:xfrm>
      </p:grpSpPr>
      <p:sp>
        <p:nvSpPr>
          <p:cNvPr id="202" name="Google Shape;202;p37"/>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7"/>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04" name="Google Shape;204;p37"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7">
    <p:spTree>
      <p:nvGrpSpPr>
        <p:cNvPr id="205" name="Shape 205"/>
        <p:cNvGrpSpPr/>
        <p:nvPr/>
      </p:nvGrpSpPr>
      <p:grpSpPr>
        <a:xfrm>
          <a:off x="0" y="0"/>
          <a:ext cx="0" cy="0"/>
          <a:chOff x="0" y="0"/>
          <a:chExt cx="0" cy="0"/>
        </a:xfrm>
      </p:grpSpPr>
      <p:sp>
        <p:nvSpPr>
          <p:cNvPr id="206" name="Google Shape;206;p38"/>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theme" Target="../theme/theme4.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0000" y="246600"/>
            <a:ext cx="84240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rgbClr val="003E72"/>
              </a:buClr>
              <a:buSzPts val="2800"/>
              <a:buNone/>
              <a:defRPr sz="2800">
                <a:solidFill>
                  <a:srgbClr val="003E72"/>
                </a:solidFill>
              </a:defRPr>
            </a:lvl1pPr>
            <a:lvl2pPr lvl="1">
              <a:spcBef>
                <a:spcPts val="0"/>
              </a:spcBef>
              <a:spcAft>
                <a:spcPts val="0"/>
              </a:spcAft>
              <a:buClr>
                <a:srgbClr val="003E72"/>
              </a:buClr>
              <a:buSzPts val="2800"/>
              <a:buNone/>
              <a:defRPr sz="2800">
                <a:solidFill>
                  <a:srgbClr val="003E72"/>
                </a:solidFill>
              </a:defRPr>
            </a:lvl2pPr>
            <a:lvl3pPr lvl="2">
              <a:spcBef>
                <a:spcPts val="0"/>
              </a:spcBef>
              <a:spcAft>
                <a:spcPts val="0"/>
              </a:spcAft>
              <a:buClr>
                <a:srgbClr val="003E72"/>
              </a:buClr>
              <a:buSzPts val="2800"/>
              <a:buNone/>
              <a:defRPr sz="2800">
                <a:solidFill>
                  <a:srgbClr val="003E72"/>
                </a:solidFill>
              </a:defRPr>
            </a:lvl3pPr>
            <a:lvl4pPr lvl="3">
              <a:spcBef>
                <a:spcPts val="0"/>
              </a:spcBef>
              <a:spcAft>
                <a:spcPts val="0"/>
              </a:spcAft>
              <a:buClr>
                <a:srgbClr val="003E72"/>
              </a:buClr>
              <a:buSzPts val="2800"/>
              <a:buNone/>
              <a:defRPr sz="2800">
                <a:solidFill>
                  <a:srgbClr val="003E72"/>
                </a:solidFill>
              </a:defRPr>
            </a:lvl4pPr>
            <a:lvl5pPr lvl="4">
              <a:spcBef>
                <a:spcPts val="0"/>
              </a:spcBef>
              <a:spcAft>
                <a:spcPts val="0"/>
              </a:spcAft>
              <a:buClr>
                <a:srgbClr val="003E72"/>
              </a:buClr>
              <a:buSzPts val="2800"/>
              <a:buNone/>
              <a:defRPr sz="2800">
                <a:solidFill>
                  <a:srgbClr val="003E72"/>
                </a:solidFill>
              </a:defRPr>
            </a:lvl5pPr>
            <a:lvl6pPr lvl="5">
              <a:spcBef>
                <a:spcPts val="0"/>
              </a:spcBef>
              <a:spcAft>
                <a:spcPts val="0"/>
              </a:spcAft>
              <a:buClr>
                <a:srgbClr val="003E72"/>
              </a:buClr>
              <a:buSzPts val="2800"/>
              <a:buNone/>
              <a:defRPr sz="2800">
                <a:solidFill>
                  <a:srgbClr val="003E72"/>
                </a:solidFill>
              </a:defRPr>
            </a:lvl6pPr>
            <a:lvl7pPr lvl="6">
              <a:spcBef>
                <a:spcPts val="0"/>
              </a:spcBef>
              <a:spcAft>
                <a:spcPts val="0"/>
              </a:spcAft>
              <a:buClr>
                <a:srgbClr val="003E72"/>
              </a:buClr>
              <a:buSzPts val="2800"/>
              <a:buNone/>
              <a:defRPr sz="2800">
                <a:solidFill>
                  <a:srgbClr val="003E72"/>
                </a:solidFill>
              </a:defRPr>
            </a:lvl7pPr>
            <a:lvl8pPr lvl="7">
              <a:spcBef>
                <a:spcPts val="0"/>
              </a:spcBef>
              <a:spcAft>
                <a:spcPts val="0"/>
              </a:spcAft>
              <a:buClr>
                <a:srgbClr val="003E72"/>
              </a:buClr>
              <a:buSzPts val="2800"/>
              <a:buNone/>
              <a:defRPr sz="2800">
                <a:solidFill>
                  <a:srgbClr val="003E72"/>
                </a:solidFill>
              </a:defRPr>
            </a:lvl8pPr>
            <a:lvl9pPr lvl="8">
              <a:spcBef>
                <a:spcPts val="0"/>
              </a:spcBef>
              <a:spcAft>
                <a:spcPts val="0"/>
              </a:spcAft>
              <a:buClr>
                <a:srgbClr val="003E72"/>
              </a:buClr>
              <a:buSzPts val="2800"/>
              <a:buNone/>
              <a:defRPr sz="2800">
                <a:solidFill>
                  <a:srgbClr val="003E72"/>
                </a:solidFill>
              </a:defRPr>
            </a:lvl9pPr>
          </a:lstStyle>
          <a:p/>
        </p:txBody>
      </p:sp>
      <p:sp>
        <p:nvSpPr>
          <p:cNvPr id="7" name="Google Shape;7;p1"/>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spAutoFit/>
          </a:bodyPr>
          <a:lstStyle>
            <a:lvl1pPr indent="-368300" lvl="0" marL="457200">
              <a:lnSpc>
                <a:spcPct val="115000"/>
              </a:lnSpc>
              <a:spcBef>
                <a:spcPts val="0"/>
              </a:spcBef>
              <a:spcAft>
                <a:spcPts val="0"/>
              </a:spcAft>
              <a:buClr>
                <a:srgbClr val="003E72"/>
              </a:buClr>
              <a:buSzPts val="2200"/>
              <a:buChar char="●"/>
              <a:defRPr sz="2200">
                <a:solidFill>
                  <a:srgbClr val="003E72"/>
                </a:solidFill>
              </a:defRPr>
            </a:lvl1pPr>
            <a:lvl2pPr indent="-368300" lvl="1" marL="914400">
              <a:lnSpc>
                <a:spcPct val="115000"/>
              </a:lnSpc>
              <a:spcBef>
                <a:spcPts val="0"/>
              </a:spcBef>
              <a:spcAft>
                <a:spcPts val="0"/>
              </a:spcAft>
              <a:buClr>
                <a:srgbClr val="003E72"/>
              </a:buClr>
              <a:buSzPts val="2200"/>
              <a:buChar char="○"/>
              <a:defRPr sz="2200">
                <a:solidFill>
                  <a:srgbClr val="003E72"/>
                </a:solidFill>
              </a:defRPr>
            </a:lvl2pPr>
            <a:lvl3pPr indent="-368300" lvl="2" marL="1371600">
              <a:lnSpc>
                <a:spcPct val="115000"/>
              </a:lnSpc>
              <a:spcBef>
                <a:spcPts val="0"/>
              </a:spcBef>
              <a:spcAft>
                <a:spcPts val="0"/>
              </a:spcAft>
              <a:buClr>
                <a:srgbClr val="003E72"/>
              </a:buClr>
              <a:buSzPts val="2200"/>
              <a:buChar char="■"/>
              <a:defRPr sz="2200">
                <a:solidFill>
                  <a:srgbClr val="003E72"/>
                </a:solidFill>
              </a:defRPr>
            </a:lvl3pPr>
            <a:lvl4pPr indent="-368300" lvl="3" marL="1828800">
              <a:lnSpc>
                <a:spcPct val="115000"/>
              </a:lnSpc>
              <a:spcBef>
                <a:spcPts val="0"/>
              </a:spcBef>
              <a:spcAft>
                <a:spcPts val="0"/>
              </a:spcAft>
              <a:buClr>
                <a:srgbClr val="003E72"/>
              </a:buClr>
              <a:buSzPts val="2200"/>
              <a:buChar char="●"/>
              <a:defRPr sz="2200">
                <a:solidFill>
                  <a:srgbClr val="003E72"/>
                </a:solidFill>
              </a:defRPr>
            </a:lvl4pPr>
            <a:lvl5pPr indent="-368300" lvl="4" marL="2286000">
              <a:lnSpc>
                <a:spcPct val="115000"/>
              </a:lnSpc>
              <a:spcBef>
                <a:spcPts val="0"/>
              </a:spcBef>
              <a:spcAft>
                <a:spcPts val="0"/>
              </a:spcAft>
              <a:buClr>
                <a:srgbClr val="003E72"/>
              </a:buClr>
              <a:buSzPts val="2200"/>
              <a:buChar char="○"/>
              <a:defRPr sz="2200">
                <a:solidFill>
                  <a:srgbClr val="003E72"/>
                </a:solidFill>
              </a:defRPr>
            </a:lvl5pPr>
            <a:lvl6pPr indent="-368300" lvl="5" marL="2743200">
              <a:lnSpc>
                <a:spcPct val="115000"/>
              </a:lnSpc>
              <a:spcBef>
                <a:spcPts val="0"/>
              </a:spcBef>
              <a:spcAft>
                <a:spcPts val="0"/>
              </a:spcAft>
              <a:buClr>
                <a:srgbClr val="003E72"/>
              </a:buClr>
              <a:buSzPts val="2200"/>
              <a:buChar char="■"/>
              <a:defRPr sz="2200">
                <a:solidFill>
                  <a:srgbClr val="003E72"/>
                </a:solidFill>
              </a:defRPr>
            </a:lvl6pPr>
            <a:lvl7pPr indent="-368300" lvl="6" marL="3200400">
              <a:lnSpc>
                <a:spcPct val="115000"/>
              </a:lnSpc>
              <a:spcBef>
                <a:spcPts val="0"/>
              </a:spcBef>
              <a:spcAft>
                <a:spcPts val="0"/>
              </a:spcAft>
              <a:buClr>
                <a:srgbClr val="003E72"/>
              </a:buClr>
              <a:buSzPts val="2200"/>
              <a:buChar char="●"/>
              <a:defRPr sz="2200">
                <a:solidFill>
                  <a:srgbClr val="003E72"/>
                </a:solidFill>
              </a:defRPr>
            </a:lvl7pPr>
            <a:lvl8pPr indent="-368300" lvl="7" marL="3657600">
              <a:lnSpc>
                <a:spcPct val="115000"/>
              </a:lnSpc>
              <a:spcBef>
                <a:spcPts val="0"/>
              </a:spcBef>
              <a:spcAft>
                <a:spcPts val="0"/>
              </a:spcAft>
              <a:buClr>
                <a:srgbClr val="003E72"/>
              </a:buClr>
              <a:buSzPts val="2200"/>
              <a:buChar char="○"/>
              <a:defRPr sz="2200">
                <a:solidFill>
                  <a:srgbClr val="003E72"/>
                </a:solidFill>
              </a:defRPr>
            </a:lvl8pPr>
            <a:lvl9pPr indent="-368300" lvl="8" marL="4114800">
              <a:lnSpc>
                <a:spcPct val="115000"/>
              </a:lnSpc>
              <a:spcBef>
                <a:spcPts val="0"/>
              </a:spcBef>
              <a:spcAft>
                <a:spcPts val="0"/>
              </a:spcAft>
              <a:buClr>
                <a:srgbClr val="003E72"/>
              </a:buClr>
              <a:buSzPts val="2200"/>
              <a:buChar char="■"/>
              <a:defRPr sz="2200">
                <a:solidFill>
                  <a:srgbClr val="003E72"/>
                </a:solidFill>
              </a:defRPr>
            </a:lvl9pPr>
          </a:lstStyle>
          <a:p/>
        </p:txBody>
      </p:sp>
      <p:sp>
        <p:nvSpPr>
          <p:cNvPr id="8" name="Google Shape;8;p1"/>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rgbClr val="FFFFFF"/>
                </a:solidFill>
              </a:defRPr>
            </a:lvl1pPr>
            <a:lvl2pPr lvl="1" algn="r">
              <a:buNone/>
              <a:defRPr sz="1000">
                <a:solidFill>
                  <a:srgbClr val="FFFFFF"/>
                </a:solidFill>
              </a:defRPr>
            </a:lvl2pPr>
            <a:lvl3pPr lvl="2" algn="r">
              <a:buNone/>
              <a:defRPr sz="1000">
                <a:solidFill>
                  <a:srgbClr val="FFFFFF"/>
                </a:solidFill>
              </a:defRPr>
            </a:lvl3pPr>
            <a:lvl4pPr lvl="3" algn="r">
              <a:buNone/>
              <a:defRPr sz="1000">
                <a:solidFill>
                  <a:srgbClr val="FFFFFF"/>
                </a:solidFill>
              </a:defRPr>
            </a:lvl4pPr>
            <a:lvl5pPr lvl="4" algn="r">
              <a:buNone/>
              <a:defRPr sz="1000">
                <a:solidFill>
                  <a:srgbClr val="FFFFFF"/>
                </a:solidFill>
              </a:defRPr>
            </a:lvl5pPr>
            <a:lvl6pPr lvl="5" algn="r">
              <a:buNone/>
              <a:defRPr sz="1000">
                <a:solidFill>
                  <a:srgbClr val="FFFFFF"/>
                </a:solidFill>
              </a:defRPr>
            </a:lvl6pPr>
            <a:lvl7pPr lvl="6" algn="r">
              <a:buNone/>
              <a:defRPr sz="1000">
                <a:solidFill>
                  <a:srgbClr val="FFFFFF"/>
                </a:solidFill>
              </a:defRPr>
            </a:lvl7pPr>
            <a:lvl8pPr lvl="7" algn="r">
              <a:buNone/>
              <a:defRPr sz="1000">
                <a:solidFill>
                  <a:srgbClr val="FFFFFF"/>
                </a:solidFill>
              </a:defRPr>
            </a:lvl8pPr>
            <a:lvl9pPr lvl="8" algn="r">
              <a:buNone/>
              <a:defRPr sz="1000">
                <a:solidFill>
                  <a:srgbClr val="FFFFFF"/>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0">
          <p15:clr>
            <a:srgbClr val="D9D9D9"/>
          </p15:clr>
        </p15:guide>
        <p15:guide id="2" pos="5590">
          <p15:clr>
            <a:srgbClr val="D9D9D9"/>
          </p15:clr>
        </p15:guide>
        <p15:guide id="3" pos="696">
          <p15:clr>
            <a:srgbClr val="D9D9D9"/>
          </p15:clr>
        </p15:guide>
        <p15:guide id="4" pos="744">
          <p15:clr>
            <a:srgbClr val="D9D9D9"/>
          </p15:clr>
        </p15:guide>
        <p15:guide id="5" pos="1176">
          <p15:clr>
            <a:srgbClr val="D9D9D9"/>
          </p15:clr>
        </p15:guide>
        <p15:guide id="6" pos="1560">
          <p15:clr>
            <a:srgbClr val="D9D9D9"/>
          </p15:clr>
        </p15:guide>
        <p15:guide id="7" pos="1992">
          <p15:clr>
            <a:srgbClr val="D9D9D9"/>
          </p15:clr>
        </p15:guide>
        <p15:guide id="8" pos="1608">
          <p15:clr>
            <a:srgbClr val="D9D9D9"/>
          </p15:clr>
        </p15:guide>
        <p15:guide id="9" pos="2040">
          <p15:clr>
            <a:srgbClr val="D9D9D9"/>
          </p15:clr>
        </p15:guide>
        <p15:guide id="10" pos="2424">
          <p15:clr>
            <a:srgbClr val="D9D9D9"/>
          </p15:clr>
        </p15:guide>
        <p15:guide id="11" pos="2856">
          <p15:clr>
            <a:srgbClr val="D9D9D9"/>
          </p15:clr>
        </p15:guide>
        <p15:guide id="12" pos="2472">
          <p15:clr>
            <a:srgbClr val="D9D9D9"/>
          </p15:clr>
        </p15:guide>
        <p15:guide id="13" pos="2904">
          <p15:clr>
            <a:srgbClr val="D9D9D9"/>
          </p15:clr>
        </p15:guide>
        <p15:guide id="14" pos="3288">
          <p15:clr>
            <a:srgbClr val="D9D9D9"/>
          </p15:clr>
        </p15:guide>
        <p15:guide id="15" pos="3336">
          <p15:clr>
            <a:srgbClr val="D9D9D9"/>
          </p15:clr>
        </p15:guide>
        <p15:guide id="16" pos="3720">
          <p15:clr>
            <a:srgbClr val="D9D9D9"/>
          </p15:clr>
        </p15:guide>
        <p15:guide id="17" pos="3768">
          <p15:clr>
            <a:srgbClr val="D9D9D9"/>
          </p15:clr>
        </p15:guide>
        <p15:guide id="18" pos="4152">
          <p15:clr>
            <a:srgbClr val="D9D9D9"/>
          </p15:clr>
        </p15:guide>
        <p15:guide id="19" pos="4200">
          <p15:clr>
            <a:srgbClr val="D9D9D9"/>
          </p15:clr>
        </p15:guide>
        <p15:guide id="20" pos="4584">
          <p15:clr>
            <a:srgbClr val="D9D9D9"/>
          </p15:clr>
        </p15:guide>
        <p15:guide id="21" pos="4632">
          <p15:clr>
            <a:srgbClr val="D9D9D9"/>
          </p15:clr>
        </p15:guide>
        <p15:guide id="22" pos="5016">
          <p15:clr>
            <a:srgbClr val="D9D9D9"/>
          </p15:clr>
        </p15:guide>
        <p15:guide id="23" pos="5064">
          <p15:clr>
            <a:srgbClr val="D9D9D9"/>
          </p15:clr>
        </p15:guide>
        <p15:guide id="24" pos="1128">
          <p15:clr>
            <a:srgbClr val="D9D9D9"/>
          </p15:clr>
        </p15:guide>
        <p15:guide id="25" orient="horz" pos="1730">
          <p15:clr>
            <a:srgbClr val="D9D9D9"/>
          </p15:clr>
        </p15:guide>
        <p15:guide id="26" orient="horz" pos="1802">
          <p15:clr>
            <a:srgbClr val="D9D9D9"/>
          </p15:clr>
        </p15:guide>
        <p15:guide id="27" pos="312">
          <p15:clr>
            <a:srgbClr val="EFEFEF"/>
          </p15:clr>
        </p15:guide>
        <p15:guide id="28" pos="5448">
          <p15:clr>
            <a:srgbClr val="EFEFEF"/>
          </p15:clr>
        </p15:guide>
        <p15:guide id="29" orient="horz" pos="621">
          <p15:clr>
            <a:srgbClr val="D9D9D9"/>
          </p15:clr>
        </p15:guide>
        <p15:guide id="30" orient="horz" pos="2929">
          <p15:clr>
            <a:srgbClr val="D9D9D9"/>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8" name="Shape 58"/>
        <p:cNvGrpSpPr/>
        <p:nvPr/>
      </p:nvGrpSpPr>
      <p:grpSpPr>
        <a:xfrm>
          <a:off x="0" y="0"/>
          <a:ext cx="0" cy="0"/>
          <a:chOff x="0" y="0"/>
          <a:chExt cx="0" cy="0"/>
        </a:xfrm>
      </p:grpSpPr>
      <p:sp>
        <p:nvSpPr>
          <p:cNvPr id="59" name="Google Shape;59;p10"/>
          <p:cNvSpPr txBox="1"/>
          <p:nvPr>
            <p:ph type="title"/>
          </p:nvPr>
        </p:nvSpPr>
        <p:spPr>
          <a:xfrm>
            <a:off x="360000" y="246600"/>
            <a:ext cx="8424000" cy="572700"/>
          </a:xfrm>
          <a:prstGeom prst="rect">
            <a:avLst/>
          </a:prstGeom>
          <a:noFill/>
          <a:ln>
            <a:noFill/>
          </a:ln>
        </p:spPr>
        <p:txBody>
          <a:bodyPr anchorCtr="0" anchor="t" bIns="91425" lIns="91425" spcFirstLastPara="1" rIns="91425" wrap="square" tIns="91425">
            <a:spAutoFit/>
          </a:bodyPr>
          <a:lstStyle>
            <a:lvl1pPr lvl="0"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1pPr>
            <a:lvl2pPr lvl="1"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2pPr>
            <a:lvl3pPr lvl="2"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3pPr>
            <a:lvl4pPr lvl="3"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4pPr>
            <a:lvl5pPr lvl="4"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5pPr>
            <a:lvl6pPr lvl="5"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6pPr>
            <a:lvl7pPr lvl="6"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7pPr>
            <a:lvl8pPr lvl="7"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8pPr>
            <a:lvl9pPr lvl="8"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9pPr>
          </a:lstStyle>
          <a:p/>
        </p:txBody>
      </p:sp>
      <p:sp>
        <p:nvSpPr>
          <p:cNvPr id="60" name="Google Shape;60;p10"/>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spAutoFit/>
          </a:bodyPr>
          <a:lstStyle>
            <a:lvl1pPr indent="-368300" lvl="0" marL="4572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1pPr>
            <a:lvl2pPr indent="-368300" lvl="1" marL="9144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2pPr>
            <a:lvl3pPr indent="-368300" lvl="2" marL="13716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3pPr>
            <a:lvl4pPr indent="-368300" lvl="3" marL="18288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4pPr>
            <a:lvl5pPr indent="-368300" lvl="4" marL="22860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5pPr>
            <a:lvl6pPr indent="-368300" lvl="5" marL="27432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6pPr>
            <a:lvl7pPr indent="-368300" lvl="6" marL="32004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7pPr>
            <a:lvl8pPr indent="-368300" lvl="7" marL="36576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8pPr>
            <a:lvl9pPr indent="-368300" lvl="8" marL="41148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9pPr>
          </a:lstStyle>
          <a:p/>
        </p:txBody>
      </p:sp>
      <p:sp>
        <p:nvSpPr>
          <p:cNvPr id="61" name="Google Shape;61;p10"/>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0">
          <p15:clr>
            <a:srgbClr val="D9D9D9"/>
          </p15:clr>
        </p15:guide>
        <p15:guide id="2" pos="5590">
          <p15:clr>
            <a:srgbClr val="D9D9D9"/>
          </p15:clr>
        </p15:guide>
        <p15:guide id="3" pos="696">
          <p15:clr>
            <a:srgbClr val="D9D9D9"/>
          </p15:clr>
        </p15:guide>
        <p15:guide id="4" pos="744">
          <p15:clr>
            <a:srgbClr val="D9D9D9"/>
          </p15:clr>
        </p15:guide>
        <p15:guide id="5" pos="1176">
          <p15:clr>
            <a:srgbClr val="D9D9D9"/>
          </p15:clr>
        </p15:guide>
        <p15:guide id="6" pos="1560">
          <p15:clr>
            <a:srgbClr val="D9D9D9"/>
          </p15:clr>
        </p15:guide>
        <p15:guide id="7" pos="1992">
          <p15:clr>
            <a:srgbClr val="D9D9D9"/>
          </p15:clr>
        </p15:guide>
        <p15:guide id="8" pos="1608">
          <p15:clr>
            <a:srgbClr val="D9D9D9"/>
          </p15:clr>
        </p15:guide>
        <p15:guide id="9" pos="2040">
          <p15:clr>
            <a:srgbClr val="D9D9D9"/>
          </p15:clr>
        </p15:guide>
        <p15:guide id="10" pos="2424">
          <p15:clr>
            <a:srgbClr val="D9D9D9"/>
          </p15:clr>
        </p15:guide>
        <p15:guide id="11" pos="2856">
          <p15:clr>
            <a:srgbClr val="D9D9D9"/>
          </p15:clr>
        </p15:guide>
        <p15:guide id="12" pos="2472">
          <p15:clr>
            <a:srgbClr val="D9D9D9"/>
          </p15:clr>
        </p15:guide>
        <p15:guide id="13" pos="2904">
          <p15:clr>
            <a:srgbClr val="D9D9D9"/>
          </p15:clr>
        </p15:guide>
        <p15:guide id="14" pos="3288">
          <p15:clr>
            <a:srgbClr val="D9D9D9"/>
          </p15:clr>
        </p15:guide>
        <p15:guide id="15" pos="3336">
          <p15:clr>
            <a:srgbClr val="D9D9D9"/>
          </p15:clr>
        </p15:guide>
        <p15:guide id="16" pos="3720">
          <p15:clr>
            <a:srgbClr val="D9D9D9"/>
          </p15:clr>
        </p15:guide>
        <p15:guide id="17" pos="3768">
          <p15:clr>
            <a:srgbClr val="D9D9D9"/>
          </p15:clr>
        </p15:guide>
        <p15:guide id="18" pos="4152">
          <p15:clr>
            <a:srgbClr val="D9D9D9"/>
          </p15:clr>
        </p15:guide>
        <p15:guide id="19" pos="4200">
          <p15:clr>
            <a:srgbClr val="D9D9D9"/>
          </p15:clr>
        </p15:guide>
        <p15:guide id="20" pos="4584">
          <p15:clr>
            <a:srgbClr val="D9D9D9"/>
          </p15:clr>
        </p15:guide>
        <p15:guide id="21" pos="4632">
          <p15:clr>
            <a:srgbClr val="D9D9D9"/>
          </p15:clr>
        </p15:guide>
        <p15:guide id="22" pos="5016">
          <p15:clr>
            <a:srgbClr val="D9D9D9"/>
          </p15:clr>
        </p15:guide>
        <p15:guide id="23" pos="5064">
          <p15:clr>
            <a:srgbClr val="D9D9D9"/>
          </p15:clr>
        </p15:guide>
        <p15:guide id="24" pos="1128">
          <p15:clr>
            <a:srgbClr val="D9D9D9"/>
          </p15:clr>
        </p15:guide>
        <p15:guide id="25" orient="horz" pos="1730">
          <p15:clr>
            <a:srgbClr val="D9D9D9"/>
          </p15:clr>
        </p15:guide>
        <p15:guide id="26" orient="horz" pos="1802">
          <p15:clr>
            <a:srgbClr val="D9D9D9"/>
          </p15:clr>
        </p15:guide>
        <p15:guide id="27" pos="312">
          <p15:clr>
            <a:srgbClr val="EFEFEF"/>
          </p15:clr>
        </p15:guide>
        <p15:guide id="28" pos="5448">
          <p15:clr>
            <a:srgbClr val="EFEFEF"/>
          </p15:clr>
        </p15:guide>
        <p15:guide id="29" orient="horz" pos="621">
          <p15:clr>
            <a:srgbClr val="D9D9D9"/>
          </p15:clr>
        </p15:guide>
        <p15:guide id="30" orient="horz" pos="2929">
          <p15:clr>
            <a:srgbClr val="D9D9D9"/>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5" name="Google Shape;105;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06" name="Google Shape;10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155" name="Shape 155"/>
        <p:cNvGrpSpPr/>
        <p:nvPr/>
      </p:nvGrpSpPr>
      <p:grpSpPr>
        <a:xfrm>
          <a:off x="0" y="0"/>
          <a:ext cx="0" cy="0"/>
          <a:chOff x="0" y="0"/>
          <a:chExt cx="0" cy="0"/>
        </a:xfrm>
      </p:grpSpPr>
      <p:sp>
        <p:nvSpPr>
          <p:cNvPr id="156" name="Google Shape;156;p31"/>
          <p:cNvSpPr txBox="1"/>
          <p:nvPr>
            <p:ph type="title"/>
          </p:nvPr>
        </p:nvSpPr>
        <p:spPr>
          <a:xfrm>
            <a:off x="360000" y="246600"/>
            <a:ext cx="8424000" cy="572700"/>
          </a:xfrm>
          <a:prstGeom prst="rect">
            <a:avLst/>
          </a:prstGeom>
          <a:noFill/>
          <a:ln>
            <a:noFill/>
          </a:ln>
        </p:spPr>
        <p:txBody>
          <a:bodyPr anchorCtr="0" anchor="t" bIns="91425" lIns="91425" spcFirstLastPara="1" rIns="91425" wrap="square" tIns="91425">
            <a:spAutoFit/>
          </a:bodyPr>
          <a:lstStyle>
            <a:lvl1pPr lvl="0"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1pPr>
            <a:lvl2pPr lvl="1"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2pPr>
            <a:lvl3pPr lvl="2"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3pPr>
            <a:lvl4pPr lvl="3"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4pPr>
            <a:lvl5pPr lvl="4"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5pPr>
            <a:lvl6pPr lvl="5"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6pPr>
            <a:lvl7pPr lvl="6"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7pPr>
            <a:lvl8pPr lvl="7"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8pPr>
            <a:lvl9pPr lvl="8"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9pPr>
          </a:lstStyle>
          <a:p/>
        </p:txBody>
      </p:sp>
      <p:sp>
        <p:nvSpPr>
          <p:cNvPr id="157" name="Google Shape;157;p31"/>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spAutoFit/>
          </a:bodyPr>
          <a:lstStyle>
            <a:lvl1pPr indent="-368300" lvl="0" marL="4572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1pPr>
            <a:lvl2pPr indent="-368300" lvl="1" marL="9144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2pPr>
            <a:lvl3pPr indent="-368300" lvl="2" marL="13716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3pPr>
            <a:lvl4pPr indent="-368300" lvl="3" marL="18288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4pPr>
            <a:lvl5pPr indent="-368300" lvl="4" marL="22860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5pPr>
            <a:lvl6pPr indent="-368300" lvl="5" marL="27432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6pPr>
            <a:lvl7pPr indent="-368300" lvl="6" marL="32004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7pPr>
            <a:lvl8pPr indent="-368300" lvl="7" marL="36576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8pPr>
            <a:lvl9pPr indent="-368300" lvl="8" marL="41148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9pPr>
          </a:lstStyle>
          <a:p/>
        </p:txBody>
      </p:sp>
      <p:sp>
        <p:nvSpPr>
          <p:cNvPr id="158" name="Google Shape;158;p31"/>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0">
          <p15:clr>
            <a:srgbClr val="D9D9D9"/>
          </p15:clr>
        </p15:guide>
        <p15:guide id="2" pos="5590">
          <p15:clr>
            <a:srgbClr val="D9D9D9"/>
          </p15:clr>
        </p15:guide>
        <p15:guide id="3" pos="696">
          <p15:clr>
            <a:srgbClr val="D9D9D9"/>
          </p15:clr>
        </p15:guide>
        <p15:guide id="4" pos="744">
          <p15:clr>
            <a:srgbClr val="D9D9D9"/>
          </p15:clr>
        </p15:guide>
        <p15:guide id="5" pos="1176">
          <p15:clr>
            <a:srgbClr val="D9D9D9"/>
          </p15:clr>
        </p15:guide>
        <p15:guide id="6" pos="1560">
          <p15:clr>
            <a:srgbClr val="D9D9D9"/>
          </p15:clr>
        </p15:guide>
        <p15:guide id="7" pos="1992">
          <p15:clr>
            <a:srgbClr val="D9D9D9"/>
          </p15:clr>
        </p15:guide>
        <p15:guide id="8" pos="1608">
          <p15:clr>
            <a:srgbClr val="D9D9D9"/>
          </p15:clr>
        </p15:guide>
        <p15:guide id="9" pos="2040">
          <p15:clr>
            <a:srgbClr val="D9D9D9"/>
          </p15:clr>
        </p15:guide>
        <p15:guide id="10" pos="2424">
          <p15:clr>
            <a:srgbClr val="D9D9D9"/>
          </p15:clr>
        </p15:guide>
        <p15:guide id="11" pos="2856">
          <p15:clr>
            <a:srgbClr val="D9D9D9"/>
          </p15:clr>
        </p15:guide>
        <p15:guide id="12" pos="2472">
          <p15:clr>
            <a:srgbClr val="D9D9D9"/>
          </p15:clr>
        </p15:guide>
        <p15:guide id="13" pos="2904">
          <p15:clr>
            <a:srgbClr val="D9D9D9"/>
          </p15:clr>
        </p15:guide>
        <p15:guide id="14" pos="3288">
          <p15:clr>
            <a:srgbClr val="D9D9D9"/>
          </p15:clr>
        </p15:guide>
        <p15:guide id="15" pos="3336">
          <p15:clr>
            <a:srgbClr val="D9D9D9"/>
          </p15:clr>
        </p15:guide>
        <p15:guide id="16" pos="3720">
          <p15:clr>
            <a:srgbClr val="D9D9D9"/>
          </p15:clr>
        </p15:guide>
        <p15:guide id="17" pos="3768">
          <p15:clr>
            <a:srgbClr val="D9D9D9"/>
          </p15:clr>
        </p15:guide>
        <p15:guide id="18" pos="4152">
          <p15:clr>
            <a:srgbClr val="D9D9D9"/>
          </p15:clr>
        </p15:guide>
        <p15:guide id="19" pos="4200">
          <p15:clr>
            <a:srgbClr val="D9D9D9"/>
          </p15:clr>
        </p15:guide>
        <p15:guide id="20" pos="4584">
          <p15:clr>
            <a:srgbClr val="D9D9D9"/>
          </p15:clr>
        </p15:guide>
        <p15:guide id="21" pos="4632">
          <p15:clr>
            <a:srgbClr val="D9D9D9"/>
          </p15:clr>
        </p15:guide>
        <p15:guide id="22" pos="5016">
          <p15:clr>
            <a:srgbClr val="D9D9D9"/>
          </p15:clr>
        </p15:guide>
        <p15:guide id="23" pos="5064">
          <p15:clr>
            <a:srgbClr val="D9D9D9"/>
          </p15:clr>
        </p15:guide>
        <p15:guide id="24" pos="1128">
          <p15:clr>
            <a:srgbClr val="D9D9D9"/>
          </p15:clr>
        </p15:guide>
        <p15:guide id="25" orient="horz" pos="1730">
          <p15:clr>
            <a:srgbClr val="D9D9D9"/>
          </p15:clr>
        </p15:guide>
        <p15:guide id="26" orient="horz" pos="1802">
          <p15:clr>
            <a:srgbClr val="D9D9D9"/>
          </p15:clr>
        </p15:guide>
        <p15:guide id="27" pos="312">
          <p15:clr>
            <a:srgbClr val="EFEFEF"/>
          </p15:clr>
        </p15:guide>
        <p15:guide id="28" pos="5448">
          <p15:clr>
            <a:srgbClr val="EFEFEF"/>
          </p15:clr>
        </p15:guide>
        <p15:guide id="29" orient="horz" pos="621">
          <p15:clr>
            <a:srgbClr val="D9D9D9"/>
          </p15:clr>
        </p15:guide>
        <p15:guide id="30" orient="horz" pos="2929">
          <p15:clr>
            <a:srgbClr val="D9D9D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s://docs.google.com/document/d/1w50mw0LVncyCcr2Ys_jpsp0sXLYAo6jZyOH8S-d1DkE/edit?usp=sharing" TargetMode="External"/><Relationship Id="rId5" Type="http://schemas.openxmlformats.org/officeDocument/2006/relationships/hyperlink" Target="https://docs.google.com/document/d/1w50mw0LVncyCcr2Ys_jpsp0sXLYAo6jZyOH8S-d1DkE/edit?usp=sharing" TargetMode="External"/><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hyperlink" Target="https://www.sciencedirect.com/science/article/pii/S1473309917303079" TargetMode="External"/><Relationship Id="rId5" Type="http://schemas.openxmlformats.org/officeDocument/2006/relationships/hyperlink" Target="https://immunizationdata.who.int/global/wiise-detail-page/measles-vaccination-coverage?CODE=SAU+GBR&amp;ANTIGEN=&amp;YEA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hyperlink" Target="https://www.sciencedirect.com/science/article/pii/S1473309917303079" TargetMode="External"/><Relationship Id="rId5" Type="http://schemas.openxmlformats.org/officeDocument/2006/relationships/hyperlink" Target="https://immunizationdata.who.int/global/wiise-detail-page/measles-vaccination-coverage?CODE=SAU+GBR&amp;ANTIGEN=&amp;YEA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2.png"/><Relationship Id="rId4" Type="http://schemas.openxmlformats.org/officeDocument/2006/relationships/image" Target="../media/image21.png"/><Relationship Id="rId5"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40.png"/><Relationship Id="rId5" Type="http://schemas.openxmlformats.org/officeDocument/2006/relationships/hyperlink" Target="https://drive.google.com/drive/folders/1Bm_jtNg8eQjlONY3H2UhGf29mV84VoNG?usp=share_lin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36.png"/><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7.xml"/><Relationship Id="rId3"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 Id="rId3" Type="http://schemas.openxmlformats.org/officeDocument/2006/relationships/image" Target="../media/image48.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270000" y="1538300"/>
            <a:ext cx="87252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GB"/>
              <a:t>KAUST Bioinformatics Summer School</a:t>
            </a:r>
            <a:endParaRPr/>
          </a:p>
        </p:txBody>
      </p:sp>
      <p:sp>
        <p:nvSpPr>
          <p:cNvPr id="212" name="Google Shape;212;p39"/>
          <p:cNvSpPr txBox="1"/>
          <p:nvPr>
            <p:ph idx="1" type="subTitle"/>
          </p:nvPr>
        </p:nvSpPr>
        <p:spPr>
          <a:xfrm>
            <a:off x="270000" y="2860675"/>
            <a:ext cx="8604000" cy="9342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a:t>Week 1 mini-presentations</a:t>
            </a:r>
            <a:endParaRPr/>
          </a:p>
          <a:p>
            <a:pPr indent="0" lvl="0" marL="0" rtl="0" algn="l">
              <a:spcBef>
                <a:spcPts val="1200"/>
              </a:spcBef>
              <a:spcAft>
                <a:spcPts val="1200"/>
              </a:spcAft>
              <a:buNone/>
            </a:pPr>
            <a:r>
              <a:rPr lang="en-GB"/>
              <a:t>Epidemiology modelling</a:t>
            </a:r>
            <a:endParaRPr/>
          </a:p>
        </p:txBody>
      </p:sp>
      <p:sp>
        <p:nvSpPr>
          <p:cNvPr id="213" name="Google Shape;213;p39"/>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270000" y="254700"/>
            <a:ext cx="8604000" cy="400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How to prepare your slide</a:t>
            </a:r>
            <a:endParaRPr/>
          </a:p>
        </p:txBody>
      </p:sp>
      <p:sp>
        <p:nvSpPr>
          <p:cNvPr id="219" name="Google Shape;219;p40"/>
          <p:cNvSpPr txBox="1"/>
          <p:nvPr>
            <p:ph idx="4294967295" type="body"/>
          </p:nvPr>
        </p:nvSpPr>
        <p:spPr>
          <a:xfrm>
            <a:off x="311700" y="1152475"/>
            <a:ext cx="8520600" cy="26166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GB" sz="2000"/>
              <a:t>Slide title: the question that you wanted to answer.</a:t>
            </a:r>
            <a:endParaRPr sz="2000"/>
          </a:p>
          <a:p>
            <a:pPr indent="-355600" lvl="0" marL="457200" rtl="0" algn="l">
              <a:spcBef>
                <a:spcPts val="0"/>
              </a:spcBef>
              <a:spcAft>
                <a:spcPts val="0"/>
              </a:spcAft>
              <a:buSzPts val="2000"/>
              <a:buChar char="●"/>
            </a:pPr>
            <a:r>
              <a:rPr lang="en-GB" sz="2000"/>
              <a:t>Include one figure from your analysis.</a:t>
            </a:r>
            <a:endParaRPr sz="2000"/>
          </a:p>
          <a:p>
            <a:pPr indent="-355600" lvl="0" marL="457200" rtl="0" algn="l">
              <a:spcBef>
                <a:spcPts val="0"/>
              </a:spcBef>
              <a:spcAft>
                <a:spcPts val="0"/>
              </a:spcAft>
              <a:buSzPts val="2000"/>
              <a:buChar char="●"/>
            </a:pPr>
            <a:r>
              <a:rPr lang="en-GB" sz="2000"/>
              <a:t>Add a few sentences to the slide:</a:t>
            </a:r>
            <a:endParaRPr sz="2000"/>
          </a:p>
          <a:p>
            <a:pPr indent="-355600" lvl="1" marL="914400" rtl="0" algn="l">
              <a:spcBef>
                <a:spcPts val="0"/>
              </a:spcBef>
              <a:spcAft>
                <a:spcPts val="0"/>
              </a:spcAft>
              <a:buSzPts val="2000"/>
              <a:buChar char="○"/>
            </a:pPr>
            <a:r>
              <a:rPr lang="en-GB" sz="2000"/>
              <a:t>(1-2 sentences) What did you do to answer the question, i.e. what analysis you ran.</a:t>
            </a:r>
            <a:endParaRPr sz="2000"/>
          </a:p>
          <a:p>
            <a:pPr indent="-355600" lvl="1" marL="914400" rtl="0" algn="l">
              <a:spcBef>
                <a:spcPts val="0"/>
              </a:spcBef>
              <a:spcAft>
                <a:spcPts val="0"/>
              </a:spcAft>
              <a:buSzPts val="2000"/>
              <a:buChar char="○"/>
            </a:pPr>
            <a:r>
              <a:rPr lang="en-GB" sz="2000"/>
              <a:t>(1-2 sentences) Your results/conclusions, which directly answers the question in the slide. </a:t>
            </a:r>
            <a:endParaRPr sz="2000"/>
          </a:p>
        </p:txBody>
      </p:sp>
      <p:sp>
        <p:nvSpPr>
          <p:cNvPr id="220" name="Google Shape;220;p40"/>
          <p:cNvSpPr txBox="1"/>
          <p:nvPr/>
        </p:nvSpPr>
        <p:spPr>
          <a:xfrm>
            <a:off x="1104900" y="3769075"/>
            <a:ext cx="7127700" cy="861900"/>
          </a:xfrm>
          <a:prstGeom prst="rect">
            <a:avLst/>
          </a:prstGeom>
          <a:solidFill>
            <a:srgbClr val="68ACE5">
              <a:alpha val="10000"/>
            </a:srgbClr>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rgbClr val="003E72"/>
                </a:solidFill>
              </a:rPr>
              <a:t>Add a new slide to this presentation with your name and question</a:t>
            </a:r>
            <a:endParaRPr sz="2200">
              <a:solidFill>
                <a:srgbClr val="003E72"/>
              </a:solidFill>
            </a:endParaRPr>
          </a:p>
        </p:txBody>
      </p:sp>
      <p:sp>
        <p:nvSpPr>
          <p:cNvPr id="221" name="Google Shape;221;p40"/>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5" name="Shape 225"/>
        <p:cNvGrpSpPr/>
        <p:nvPr/>
      </p:nvGrpSpPr>
      <p:grpSpPr>
        <a:xfrm>
          <a:off x="0" y="0"/>
          <a:ext cx="0" cy="0"/>
          <a:chOff x="0" y="0"/>
          <a:chExt cx="0" cy="0"/>
        </a:xfrm>
      </p:grpSpPr>
      <p:sp>
        <p:nvSpPr>
          <p:cNvPr id="226" name="Google Shape;226;p41"/>
          <p:cNvSpPr txBox="1"/>
          <p:nvPr>
            <p:ph type="title"/>
          </p:nvPr>
        </p:nvSpPr>
        <p:spPr>
          <a:xfrm>
            <a:off x="270000" y="254700"/>
            <a:ext cx="8604000" cy="6156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600">
                <a:solidFill>
                  <a:srgbClr val="F5EFFF"/>
                </a:solidFill>
                <a:latin typeface="Play"/>
                <a:ea typeface="Play"/>
                <a:cs typeface="Play"/>
                <a:sym typeface="Play"/>
              </a:rPr>
              <a:t>Baltimore was the richest case study; fitting improved the model           / Almokhtar Aljarodi</a:t>
            </a:r>
            <a:endParaRPr sz="1600">
              <a:solidFill>
                <a:srgbClr val="F5EFFF"/>
              </a:solidFill>
              <a:latin typeface="Play"/>
              <a:ea typeface="Play"/>
              <a:cs typeface="Play"/>
              <a:sym typeface="Play"/>
            </a:endParaRPr>
          </a:p>
          <a:p>
            <a:pPr indent="0" lvl="0" marL="0" rtl="0" algn="l">
              <a:spcBef>
                <a:spcPts val="0"/>
              </a:spcBef>
              <a:spcAft>
                <a:spcPts val="0"/>
              </a:spcAft>
              <a:buNone/>
            </a:pPr>
            <a:r>
              <a:rPr b="0" lang="en-GB" sz="800">
                <a:solidFill>
                  <a:srgbClr val="C9B8E8"/>
                </a:solidFill>
              </a:rPr>
              <a:t>The workflow moves from all-city exploration to a baseline SEIR model, then to a fitted Baltimore model.</a:t>
            </a:r>
            <a:endParaRPr b="0" sz="800">
              <a:solidFill>
                <a:schemeClr val="lt1"/>
              </a:solidFill>
            </a:endParaRPr>
          </a:p>
          <a:p>
            <a:pPr indent="0" lvl="0" marL="0" rtl="0" algn="l">
              <a:spcBef>
                <a:spcPts val="0"/>
              </a:spcBef>
              <a:spcAft>
                <a:spcPts val="0"/>
              </a:spcAft>
              <a:buNone/>
            </a:pPr>
            <a:r>
              <a:t/>
            </a:r>
            <a:endParaRPr sz="1600">
              <a:solidFill>
                <a:srgbClr val="F5EFFF"/>
              </a:solidFill>
              <a:latin typeface="Play"/>
              <a:ea typeface="Play"/>
              <a:cs typeface="Play"/>
              <a:sym typeface="Play"/>
            </a:endParaRPr>
          </a:p>
        </p:txBody>
      </p:sp>
      <p:sp>
        <p:nvSpPr>
          <p:cNvPr id="227" name="Google Shape;227;p41"/>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228" name="Google Shape;228;p41"/>
          <p:cNvSpPr/>
          <p:nvPr/>
        </p:nvSpPr>
        <p:spPr>
          <a:xfrm>
            <a:off x="505790" y="840925"/>
            <a:ext cx="3017400" cy="13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600" strike="noStrike">
                <a:solidFill>
                  <a:srgbClr val="F72585"/>
                </a:solidFill>
                <a:latin typeface="Arial"/>
                <a:ea typeface="Arial"/>
                <a:cs typeface="Arial"/>
                <a:sym typeface="Arial"/>
              </a:rPr>
              <a:t>1 · WHY BALTIMORE?</a:t>
            </a:r>
            <a:endParaRPr b="0" sz="600" strike="noStrike">
              <a:solidFill>
                <a:srgbClr val="F72585"/>
              </a:solidFill>
              <a:latin typeface="Arial"/>
              <a:ea typeface="Arial"/>
              <a:cs typeface="Arial"/>
              <a:sym typeface="Arial"/>
            </a:endParaRPr>
          </a:p>
        </p:txBody>
      </p:sp>
      <p:pic>
        <p:nvPicPr>
          <p:cNvPr descr="/mnt/data/observed_cases_plot(1).png" id="229" name="Google Shape;229;p41"/>
          <p:cNvPicPr preferRelativeResize="0"/>
          <p:nvPr/>
        </p:nvPicPr>
        <p:blipFill rotWithShape="1">
          <a:blip r:embed="rId3">
            <a:alphaModFix/>
          </a:blip>
          <a:srcRect b="0" l="0" r="0" t="0"/>
          <a:stretch/>
        </p:blipFill>
        <p:spPr>
          <a:xfrm>
            <a:off x="398002" y="1212102"/>
            <a:ext cx="3232988" cy="1884675"/>
          </a:xfrm>
          <a:prstGeom prst="rect">
            <a:avLst/>
          </a:prstGeom>
          <a:noFill/>
          <a:ln>
            <a:noFill/>
          </a:ln>
        </p:spPr>
      </p:pic>
      <p:sp>
        <p:nvSpPr>
          <p:cNvPr id="230" name="Google Shape;230;p41"/>
          <p:cNvSpPr/>
          <p:nvPr/>
        </p:nvSpPr>
        <p:spPr>
          <a:xfrm>
            <a:off x="586644" y="3779301"/>
            <a:ext cx="2504400" cy="144900"/>
          </a:xfrm>
          <a:prstGeom prst="rect">
            <a:avLst/>
          </a:prstGeom>
          <a:solidFill>
            <a:srgbClr val="26133F"/>
          </a:solidFill>
          <a:ln cap="flat" cmpd="sng" w="9150">
            <a:solidFill>
              <a:srgbClr val="26133F">
                <a:alpha val="80000"/>
              </a:srgbClr>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31" name="Google Shape;231;p41"/>
          <p:cNvSpPr/>
          <p:nvPr/>
        </p:nvSpPr>
        <p:spPr>
          <a:xfrm>
            <a:off x="586644" y="3924357"/>
            <a:ext cx="2504400" cy="144900"/>
          </a:xfrm>
          <a:prstGeom prst="rect">
            <a:avLst/>
          </a:prstGeom>
          <a:solidFill>
            <a:srgbClr val="1A0B2E"/>
          </a:solidFill>
          <a:ln cap="flat" cmpd="sng" w="9150">
            <a:solidFill>
              <a:srgbClr val="26133F">
                <a:alpha val="80000"/>
              </a:srgbClr>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32" name="Google Shape;232;p41"/>
          <p:cNvSpPr/>
          <p:nvPr/>
        </p:nvSpPr>
        <p:spPr>
          <a:xfrm>
            <a:off x="586644" y="4069413"/>
            <a:ext cx="2504400" cy="144900"/>
          </a:xfrm>
          <a:prstGeom prst="rect">
            <a:avLst/>
          </a:prstGeom>
          <a:solidFill>
            <a:srgbClr val="0B0614"/>
          </a:solidFill>
          <a:ln cap="flat" cmpd="sng" w="9150">
            <a:solidFill>
              <a:srgbClr val="26133F">
                <a:alpha val="80000"/>
              </a:srgbClr>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33" name="Google Shape;233;p41"/>
          <p:cNvSpPr/>
          <p:nvPr/>
        </p:nvSpPr>
        <p:spPr>
          <a:xfrm>
            <a:off x="586644" y="4214210"/>
            <a:ext cx="2504400" cy="144900"/>
          </a:xfrm>
          <a:prstGeom prst="rect">
            <a:avLst/>
          </a:prstGeom>
          <a:solidFill>
            <a:srgbClr val="0B0614"/>
          </a:solidFill>
          <a:ln cap="flat" cmpd="sng" w="9150">
            <a:solidFill>
              <a:srgbClr val="26133F">
                <a:alpha val="80000"/>
              </a:srgbClr>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34" name="Google Shape;234;p41"/>
          <p:cNvSpPr/>
          <p:nvPr/>
        </p:nvSpPr>
        <p:spPr>
          <a:xfrm>
            <a:off x="586644" y="4359266"/>
            <a:ext cx="2504400" cy="144900"/>
          </a:xfrm>
          <a:prstGeom prst="rect">
            <a:avLst/>
          </a:prstGeom>
          <a:solidFill>
            <a:srgbClr val="0B0614"/>
          </a:solidFill>
          <a:ln cap="flat" cmpd="sng" w="9150">
            <a:solidFill>
              <a:srgbClr val="26133F">
                <a:alpha val="80000"/>
              </a:srgbClr>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35" name="Google Shape;235;p41"/>
          <p:cNvSpPr/>
          <p:nvPr/>
        </p:nvSpPr>
        <p:spPr>
          <a:xfrm>
            <a:off x="586644" y="4504322"/>
            <a:ext cx="2504400" cy="144900"/>
          </a:xfrm>
          <a:prstGeom prst="rect">
            <a:avLst/>
          </a:prstGeom>
          <a:solidFill>
            <a:srgbClr val="0B0614"/>
          </a:solidFill>
          <a:ln cap="flat" cmpd="sng" w="9150">
            <a:solidFill>
              <a:srgbClr val="26133F">
                <a:alpha val="80000"/>
              </a:srgbClr>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36" name="Google Shape;236;p41"/>
          <p:cNvSpPr/>
          <p:nvPr/>
        </p:nvSpPr>
        <p:spPr>
          <a:xfrm>
            <a:off x="3183620" y="3785788"/>
            <a:ext cx="540300" cy="540300"/>
          </a:xfrm>
          <a:prstGeom prst="rect">
            <a:avLst/>
          </a:prstGeom>
          <a:noFill/>
          <a:ln>
            <a:noFill/>
          </a:ln>
        </p:spPr>
        <p:txBody>
          <a:bodyPr anchorCtr="0" anchor="ctr" bIns="275" lIns="275" spcFirstLastPara="1" rIns="275" wrap="square" tIns="275">
            <a:noAutofit/>
          </a:bodyPr>
          <a:lstStyle/>
          <a:p>
            <a:pPr indent="0" lvl="0" marL="0" marR="0" rtl="0" algn="l">
              <a:lnSpc>
                <a:spcPct val="90000"/>
              </a:lnSpc>
              <a:spcBef>
                <a:spcPts val="0"/>
              </a:spcBef>
              <a:spcAft>
                <a:spcPts val="0"/>
              </a:spcAft>
              <a:buNone/>
            </a:pPr>
            <a:r>
              <a:t/>
            </a:r>
            <a:endParaRPr b="0" sz="481" strike="noStrike">
              <a:solidFill>
                <a:srgbClr val="FFFFFF"/>
              </a:solidFill>
              <a:latin typeface="Arial"/>
              <a:ea typeface="Arial"/>
              <a:cs typeface="Arial"/>
              <a:sym typeface="Arial"/>
            </a:endParaRPr>
          </a:p>
        </p:txBody>
      </p:sp>
      <p:sp>
        <p:nvSpPr>
          <p:cNvPr id="237" name="Google Shape;237;p41"/>
          <p:cNvSpPr/>
          <p:nvPr/>
        </p:nvSpPr>
        <p:spPr>
          <a:xfrm>
            <a:off x="4172270" y="840925"/>
            <a:ext cx="4594500" cy="13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600" strike="noStrike">
                <a:solidFill>
                  <a:srgbClr val="F72585"/>
                </a:solidFill>
                <a:latin typeface="Arial"/>
                <a:ea typeface="Arial"/>
                <a:cs typeface="Arial"/>
                <a:sym typeface="Arial"/>
              </a:rPr>
              <a:t>2 · BASELINE VS FITTED MODEL</a:t>
            </a:r>
            <a:endParaRPr b="0" sz="600" strike="noStrike">
              <a:solidFill>
                <a:srgbClr val="FFFFFF"/>
              </a:solidFill>
              <a:latin typeface="Arial"/>
              <a:ea typeface="Arial"/>
              <a:cs typeface="Arial"/>
              <a:sym typeface="Arial"/>
            </a:endParaRPr>
          </a:p>
        </p:txBody>
      </p:sp>
      <p:sp>
        <p:nvSpPr>
          <p:cNvPr id="238" name="Google Shape;238;p41"/>
          <p:cNvSpPr/>
          <p:nvPr/>
        </p:nvSpPr>
        <p:spPr>
          <a:xfrm>
            <a:off x="4172280" y="1019950"/>
            <a:ext cx="4594500" cy="17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1000" strike="noStrike">
                <a:solidFill>
                  <a:srgbClr val="F5EFFF"/>
                </a:solidFill>
                <a:latin typeface="Play"/>
                <a:ea typeface="Play"/>
                <a:cs typeface="Play"/>
                <a:sym typeface="Play"/>
              </a:rPr>
              <a:t>Model fitting improves the match to Baltimore</a:t>
            </a:r>
            <a:endParaRPr b="0" sz="1000" strike="noStrike">
              <a:solidFill>
                <a:srgbClr val="FFFFFF"/>
              </a:solidFill>
              <a:latin typeface="Arial"/>
              <a:ea typeface="Arial"/>
              <a:cs typeface="Arial"/>
              <a:sym typeface="Arial"/>
            </a:endParaRPr>
          </a:p>
        </p:txBody>
      </p:sp>
      <p:sp>
        <p:nvSpPr>
          <p:cNvPr id="239" name="Google Shape;239;p41"/>
          <p:cNvSpPr/>
          <p:nvPr/>
        </p:nvSpPr>
        <p:spPr>
          <a:xfrm>
            <a:off x="4159043" y="1189050"/>
            <a:ext cx="4415700" cy="11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577" strike="noStrike">
                <a:solidFill>
                  <a:srgbClr val="C9B8E8"/>
                </a:solidFill>
                <a:latin typeface="Arial"/>
                <a:ea typeface="Arial"/>
                <a:cs typeface="Arial"/>
                <a:sym typeface="Arial"/>
              </a:rPr>
              <a:t>Best fit: R₀ ≈ 2.22; observation scaling ≈ 29%</a:t>
            </a:r>
            <a:endParaRPr b="0" sz="577" strike="noStrike">
              <a:solidFill>
                <a:srgbClr val="FFFFFF"/>
              </a:solidFill>
              <a:latin typeface="Arial"/>
              <a:ea typeface="Arial"/>
              <a:cs typeface="Arial"/>
              <a:sym typeface="Arial"/>
            </a:endParaRPr>
          </a:p>
        </p:txBody>
      </p:sp>
      <p:pic>
        <p:nvPicPr>
          <p:cNvPr descr="/mnt/data/baltimore_fitted_comparison_cropped.png" id="240" name="Google Shape;240;p41"/>
          <p:cNvPicPr preferRelativeResize="0"/>
          <p:nvPr/>
        </p:nvPicPr>
        <p:blipFill rotWithShape="1">
          <a:blip r:embed="rId4">
            <a:alphaModFix/>
          </a:blip>
          <a:srcRect b="0" l="0" r="0" t="0"/>
          <a:stretch/>
        </p:blipFill>
        <p:spPr>
          <a:xfrm>
            <a:off x="4093133" y="1388599"/>
            <a:ext cx="4580516" cy="2256528"/>
          </a:xfrm>
          <a:prstGeom prst="rect">
            <a:avLst/>
          </a:prstGeom>
          <a:noFill/>
          <a:ln>
            <a:noFill/>
          </a:ln>
        </p:spPr>
      </p:pic>
      <p:sp>
        <p:nvSpPr>
          <p:cNvPr id="241" name="Google Shape;241;p41"/>
          <p:cNvSpPr/>
          <p:nvPr/>
        </p:nvSpPr>
        <p:spPr>
          <a:xfrm>
            <a:off x="4172277" y="3845212"/>
            <a:ext cx="4428900" cy="691500"/>
          </a:xfrm>
          <a:prstGeom prst="roundRect">
            <a:avLst>
              <a:gd fmla="val 7619" name="adj"/>
            </a:avLst>
          </a:prstGeom>
          <a:solidFill>
            <a:srgbClr val="0B0614"/>
          </a:solidFill>
          <a:ln cap="flat" cmpd="sng" w="12225">
            <a:solidFill>
              <a:srgbClr val="26133F"/>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42" name="Google Shape;242;p41"/>
          <p:cNvSpPr/>
          <p:nvPr/>
        </p:nvSpPr>
        <p:spPr>
          <a:xfrm>
            <a:off x="4310585" y="3957313"/>
            <a:ext cx="2273400" cy="14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769" strike="noStrike">
                <a:solidFill>
                  <a:srgbClr val="F5EFFF"/>
                </a:solidFill>
                <a:latin typeface="Play"/>
                <a:ea typeface="Play"/>
                <a:cs typeface="Play"/>
                <a:sym typeface="Play"/>
              </a:rPr>
              <a:t>Model fitting improves the match to Baltimore</a:t>
            </a:r>
            <a:endParaRPr b="0" sz="769" strike="noStrike">
              <a:solidFill>
                <a:srgbClr val="FFFFFF"/>
              </a:solidFill>
              <a:latin typeface="Arial"/>
              <a:ea typeface="Arial"/>
              <a:cs typeface="Arial"/>
              <a:sym typeface="Arial"/>
            </a:endParaRPr>
          </a:p>
        </p:txBody>
      </p:sp>
      <p:sp>
        <p:nvSpPr>
          <p:cNvPr id="243" name="Google Shape;243;p41"/>
          <p:cNvSpPr/>
          <p:nvPr/>
        </p:nvSpPr>
        <p:spPr>
          <a:xfrm>
            <a:off x="4310585" y="4174767"/>
            <a:ext cx="856500" cy="18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1153" strike="noStrike">
                <a:solidFill>
                  <a:srgbClr val="F72585"/>
                </a:solidFill>
                <a:latin typeface="Play"/>
                <a:ea typeface="Play"/>
                <a:cs typeface="Play"/>
                <a:sym typeface="Play"/>
              </a:rPr>
              <a:t>R₀ ≈ 2.22</a:t>
            </a:r>
            <a:endParaRPr b="0" sz="1153" strike="noStrike">
              <a:solidFill>
                <a:srgbClr val="FFFFFF"/>
              </a:solidFill>
              <a:latin typeface="Arial"/>
              <a:ea typeface="Arial"/>
              <a:cs typeface="Arial"/>
              <a:sym typeface="Arial"/>
            </a:endParaRPr>
          </a:p>
        </p:txBody>
      </p:sp>
      <p:sp>
        <p:nvSpPr>
          <p:cNvPr id="244" name="Google Shape;244;p41"/>
          <p:cNvSpPr/>
          <p:nvPr/>
        </p:nvSpPr>
        <p:spPr>
          <a:xfrm>
            <a:off x="5378387" y="4194489"/>
            <a:ext cx="1449900" cy="15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769" strike="noStrike">
                <a:solidFill>
                  <a:srgbClr val="8FE3FF"/>
                </a:solidFill>
                <a:latin typeface="Arial"/>
                <a:ea typeface="Arial"/>
                <a:cs typeface="Arial"/>
                <a:sym typeface="Arial"/>
              </a:rPr>
              <a:t>observation scaling ≈ 29%</a:t>
            </a:r>
            <a:endParaRPr b="0" sz="769" strike="noStrike">
              <a:solidFill>
                <a:srgbClr val="FFFFFF"/>
              </a:solidFill>
              <a:latin typeface="Arial"/>
              <a:ea typeface="Arial"/>
              <a:cs typeface="Arial"/>
              <a:sym typeface="Arial"/>
            </a:endParaRPr>
          </a:p>
        </p:txBody>
      </p:sp>
      <p:sp>
        <p:nvSpPr>
          <p:cNvPr id="245" name="Google Shape;245;p41"/>
          <p:cNvSpPr/>
          <p:nvPr/>
        </p:nvSpPr>
        <p:spPr>
          <a:xfrm>
            <a:off x="6894328" y="4023224"/>
            <a:ext cx="1548300" cy="27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577" strike="noStrike">
                <a:solidFill>
                  <a:srgbClr val="C9B8E8"/>
                </a:solidFill>
                <a:latin typeface="Arial"/>
                <a:ea typeface="Arial"/>
                <a:cs typeface="Arial"/>
                <a:sym typeface="Arial"/>
              </a:rPr>
              <a:t>Baseline R₀ = 1.8 peaked too late</a:t>
            </a:r>
            <a:r>
              <a:rPr lang="en-GB" sz="577">
                <a:solidFill>
                  <a:srgbClr val="C9B8E8"/>
                </a:solidFill>
              </a:rPr>
              <a:t>,</a:t>
            </a:r>
            <a:r>
              <a:rPr b="0" lang="en-GB" sz="577" strike="noStrike">
                <a:solidFill>
                  <a:srgbClr val="C9B8E8"/>
                </a:solidFill>
                <a:latin typeface="Arial"/>
                <a:ea typeface="Arial"/>
                <a:cs typeface="Arial"/>
                <a:sym typeface="Arial"/>
              </a:rPr>
              <a:t> fitting estimated transmission, seed infections, scaling and dispersion.</a:t>
            </a:r>
            <a:endParaRPr b="0" sz="577" strike="noStrike">
              <a:solidFill>
                <a:srgbClr val="FFFFFF"/>
              </a:solidFill>
              <a:latin typeface="Arial"/>
              <a:ea typeface="Arial"/>
              <a:cs typeface="Arial"/>
              <a:sym typeface="Arial"/>
            </a:endParaRPr>
          </a:p>
        </p:txBody>
      </p:sp>
      <p:sp>
        <p:nvSpPr>
          <p:cNvPr id="246" name="Google Shape;246;p41"/>
          <p:cNvSpPr/>
          <p:nvPr/>
        </p:nvSpPr>
        <p:spPr>
          <a:xfrm>
            <a:off x="6894328" y="4319823"/>
            <a:ext cx="1548300" cy="1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1" lang="en-GB" sz="481" strike="noStrike">
                <a:solidFill>
                  <a:srgbClr val="BCA9D4"/>
                </a:solidFill>
                <a:latin typeface="Arial"/>
                <a:ea typeface="Arial"/>
                <a:cs typeface="Arial"/>
                <a:sym typeface="Arial"/>
              </a:rPr>
              <a:t>29% is a model-to-data scaling factor, not a directly measured reporting rate.</a:t>
            </a:r>
            <a:endParaRPr b="0" sz="481" strike="noStrike">
              <a:solidFill>
                <a:srgbClr val="FFFFFF"/>
              </a:solidFill>
              <a:latin typeface="Arial"/>
              <a:ea typeface="Arial"/>
              <a:cs typeface="Arial"/>
              <a:sym typeface="Arial"/>
            </a:endParaRPr>
          </a:p>
        </p:txBody>
      </p:sp>
      <p:sp>
        <p:nvSpPr>
          <p:cNvPr id="247" name="Google Shape;247;p41"/>
          <p:cNvSpPr/>
          <p:nvPr/>
        </p:nvSpPr>
        <p:spPr>
          <a:xfrm>
            <a:off x="580157" y="3074001"/>
            <a:ext cx="3150300" cy="15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865" strike="noStrike">
                <a:solidFill>
                  <a:srgbClr val="8FE3FF"/>
                </a:solidFill>
                <a:latin typeface="Play"/>
                <a:ea typeface="Play"/>
                <a:cs typeface="Play"/>
                <a:sym typeface="Play"/>
              </a:rPr>
              <a:t>Baltimore gave the most information for fitting</a:t>
            </a:r>
            <a:endParaRPr b="0" sz="865" strike="noStrike">
              <a:solidFill>
                <a:srgbClr val="FFFFFF"/>
              </a:solidFill>
              <a:latin typeface="Arial"/>
              <a:ea typeface="Arial"/>
              <a:cs typeface="Arial"/>
              <a:sym typeface="Arial"/>
            </a:endParaRPr>
          </a:p>
        </p:txBody>
      </p:sp>
      <p:sp>
        <p:nvSpPr>
          <p:cNvPr id="248" name="Google Shape;248;p41"/>
          <p:cNvSpPr/>
          <p:nvPr/>
        </p:nvSpPr>
        <p:spPr>
          <a:xfrm>
            <a:off x="586644" y="3331158"/>
            <a:ext cx="1021200" cy="362100"/>
          </a:xfrm>
          <a:prstGeom prst="roundRect">
            <a:avLst>
              <a:gd fmla="val 14545" name="adj"/>
            </a:avLst>
          </a:prstGeom>
          <a:solidFill>
            <a:srgbClr val="0F071C"/>
          </a:solidFill>
          <a:ln cap="flat" cmpd="sng" w="12225">
            <a:solidFill>
              <a:srgbClr val="26133F"/>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49" name="Google Shape;249;p41"/>
          <p:cNvSpPr/>
          <p:nvPr/>
        </p:nvSpPr>
        <p:spPr>
          <a:xfrm>
            <a:off x="665788" y="3383835"/>
            <a:ext cx="863100" cy="15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1057" strike="noStrike">
                <a:solidFill>
                  <a:srgbClr val="8FE3FF"/>
                </a:solidFill>
                <a:latin typeface="Play"/>
                <a:ea typeface="Play"/>
                <a:cs typeface="Play"/>
                <a:sym typeface="Play"/>
              </a:rPr>
              <a:t>33,776</a:t>
            </a:r>
            <a:endParaRPr b="0" sz="1057" strike="noStrike">
              <a:solidFill>
                <a:srgbClr val="FFFFFF"/>
              </a:solidFill>
              <a:latin typeface="Arial"/>
              <a:ea typeface="Arial"/>
              <a:cs typeface="Arial"/>
              <a:sym typeface="Arial"/>
            </a:endParaRPr>
          </a:p>
        </p:txBody>
      </p:sp>
      <p:sp>
        <p:nvSpPr>
          <p:cNvPr id="250" name="Google Shape;250;p41"/>
          <p:cNvSpPr/>
          <p:nvPr/>
        </p:nvSpPr>
        <p:spPr>
          <a:xfrm>
            <a:off x="665788" y="3555100"/>
            <a:ext cx="863100" cy="9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surveyed population</a:t>
            </a:r>
            <a:endParaRPr b="0" sz="481" strike="noStrike">
              <a:solidFill>
                <a:srgbClr val="FFFFFF"/>
              </a:solidFill>
              <a:latin typeface="Arial"/>
              <a:ea typeface="Arial"/>
              <a:cs typeface="Arial"/>
              <a:sym typeface="Arial"/>
            </a:endParaRPr>
          </a:p>
        </p:txBody>
      </p:sp>
      <p:sp>
        <p:nvSpPr>
          <p:cNvPr id="251" name="Google Shape;251;p41"/>
          <p:cNvSpPr/>
          <p:nvPr/>
        </p:nvSpPr>
        <p:spPr>
          <a:xfrm>
            <a:off x="1713869" y="3331158"/>
            <a:ext cx="948900" cy="362100"/>
          </a:xfrm>
          <a:prstGeom prst="roundRect">
            <a:avLst>
              <a:gd fmla="val 14545" name="adj"/>
            </a:avLst>
          </a:prstGeom>
          <a:solidFill>
            <a:srgbClr val="0F071C"/>
          </a:solidFill>
          <a:ln cap="flat" cmpd="sng" w="12225">
            <a:solidFill>
              <a:srgbClr val="26133F"/>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52" name="Google Shape;252;p41"/>
          <p:cNvSpPr/>
          <p:nvPr/>
        </p:nvSpPr>
        <p:spPr>
          <a:xfrm>
            <a:off x="1792754" y="3383835"/>
            <a:ext cx="790500" cy="15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1057" strike="noStrike">
                <a:solidFill>
                  <a:srgbClr val="F72585"/>
                </a:solidFill>
                <a:latin typeface="Play"/>
                <a:ea typeface="Play"/>
                <a:cs typeface="Play"/>
                <a:sym typeface="Play"/>
              </a:rPr>
              <a:t>7,489</a:t>
            </a:r>
            <a:endParaRPr b="0" sz="1057" strike="noStrike">
              <a:solidFill>
                <a:srgbClr val="FFFFFF"/>
              </a:solidFill>
              <a:latin typeface="Arial"/>
              <a:ea typeface="Arial"/>
              <a:cs typeface="Arial"/>
              <a:sym typeface="Arial"/>
            </a:endParaRPr>
          </a:p>
        </p:txBody>
      </p:sp>
      <p:sp>
        <p:nvSpPr>
          <p:cNvPr id="253" name="Google Shape;253;p41"/>
          <p:cNvSpPr/>
          <p:nvPr/>
        </p:nvSpPr>
        <p:spPr>
          <a:xfrm>
            <a:off x="1792754" y="3555100"/>
            <a:ext cx="790500" cy="9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observed cases</a:t>
            </a:r>
            <a:endParaRPr b="0" sz="481" strike="noStrike">
              <a:solidFill>
                <a:srgbClr val="FFFFFF"/>
              </a:solidFill>
              <a:latin typeface="Arial"/>
              <a:ea typeface="Arial"/>
              <a:cs typeface="Arial"/>
              <a:sym typeface="Arial"/>
            </a:endParaRPr>
          </a:p>
        </p:txBody>
      </p:sp>
      <p:sp>
        <p:nvSpPr>
          <p:cNvPr id="254" name="Google Shape;254;p41"/>
          <p:cNvSpPr/>
          <p:nvPr/>
        </p:nvSpPr>
        <p:spPr>
          <a:xfrm>
            <a:off x="2761689" y="3331158"/>
            <a:ext cx="895800" cy="362100"/>
          </a:xfrm>
          <a:prstGeom prst="roundRect">
            <a:avLst>
              <a:gd fmla="val 14545" name="adj"/>
            </a:avLst>
          </a:prstGeom>
          <a:solidFill>
            <a:srgbClr val="0F071C"/>
          </a:solidFill>
          <a:ln cap="flat" cmpd="sng" w="12225">
            <a:solidFill>
              <a:srgbClr val="26133F"/>
            </a:solidFill>
            <a:prstDash val="solid"/>
            <a:round/>
            <a:headEnd len="sm" w="sm" type="none"/>
            <a:tailEnd len="sm" w="sm" type="none"/>
          </a:ln>
        </p:spPr>
        <p:txBody>
          <a:bodyPr anchorCtr="0" anchor="t" bIns="32425" lIns="64900" spcFirstLastPara="1" rIns="64900" wrap="square" tIns="32425">
            <a:noAutofit/>
          </a:bodyPr>
          <a:lstStyle/>
          <a:p>
            <a:pPr indent="0" lvl="0" marL="0" marR="0" rtl="0" algn="l">
              <a:spcBef>
                <a:spcPts val="0"/>
              </a:spcBef>
              <a:spcAft>
                <a:spcPts val="0"/>
              </a:spcAft>
              <a:buNone/>
            </a:pPr>
            <a:r>
              <a:t/>
            </a:r>
            <a:endParaRPr b="0" sz="1346" strike="noStrike">
              <a:solidFill>
                <a:srgbClr val="FFFFFF"/>
              </a:solidFill>
              <a:latin typeface="Arial"/>
              <a:ea typeface="Arial"/>
              <a:cs typeface="Arial"/>
              <a:sym typeface="Arial"/>
            </a:endParaRPr>
          </a:p>
        </p:txBody>
      </p:sp>
      <p:sp>
        <p:nvSpPr>
          <p:cNvPr id="255" name="Google Shape;255;p41"/>
          <p:cNvSpPr/>
          <p:nvPr/>
        </p:nvSpPr>
        <p:spPr>
          <a:xfrm>
            <a:off x="2840834" y="3383835"/>
            <a:ext cx="738000" cy="15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1057" strike="noStrike">
                <a:solidFill>
                  <a:srgbClr val="FFB703"/>
                </a:solidFill>
                <a:latin typeface="Play"/>
                <a:ea typeface="Play"/>
                <a:cs typeface="Play"/>
                <a:sym typeface="Play"/>
              </a:rPr>
              <a:t>628</a:t>
            </a:r>
            <a:endParaRPr b="0" sz="1057" strike="noStrike">
              <a:solidFill>
                <a:srgbClr val="FFFFFF"/>
              </a:solidFill>
              <a:latin typeface="Arial"/>
              <a:ea typeface="Arial"/>
              <a:cs typeface="Arial"/>
              <a:sym typeface="Arial"/>
            </a:endParaRPr>
          </a:p>
        </p:txBody>
      </p:sp>
      <p:sp>
        <p:nvSpPr>
          <p:cNvPr id="256" name="Google Shape;256;p41"/>
          <p:cNvSpPr/>
          <p:nvPr/>
        </p:nvSpPr>
        <p:spPr>
          <a:xfrm>
            <a:off x="2840834" y="3555100"/>
            <a:ext cx="738000" cy="9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peak daily cases</a:t>
            </a:r>
            <a:endParaRPr b="0" sz="481" strike="noStrike">
              <a:solidFill>
                <a:srgbClr val="FFFFFF"/>
              </a:solidFill>
              <a:latin typeface="Arial"/>
              <a:ea typeface="Arial"/>
              <a:cs typeface="Arial"/>
              <a:sym typeface="Arial"/>
            </a:endParaRPr>
          </a:p>
        </p:txBody>
      </p:sp>
      <p:sp>
        <p:nvSpPr>
          <p:cNvPr id="257" name="Google Shape;257;p41"/>
          <p:cNvSpPr/>
          <p:nvPr/>
        </p:nvSpPr>
        <p:spPr>
          <a:xfrm>
            <a:off x="619599" y="3808883"/>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384" strike="noStrike">
                <a:solidFill>
                  <a:srgbClr val="F5EFFF"/>
                </a:solidFill>
                <a:latin typeface="Arial"/>
                <a:ea typeface="Arial"/>
                <a:cs typeface="Arial"/>
                <a:sym typeface="Arial"/>
              </a:rPr>
              <a:t>City</a:t>
            </a:r>
            <a:endParaRPr b="0" sz="384" strike="noStrike">
              <a:solidFill>
                <a:srgbClr val="FFFFFF"/>
              </a:solidFill>
              <a:latin typeface="Arial"/>
              <a:ea typeface="Arial"/>
              <a:cs typeface="Arial"/>
              <a:sym typeface="Arial"/>
            </a:endParaRPr>
          </a:p>
        </p:txBody>
      </p:sp>
      <p:sp>
        <p:nvSpPr>
          <p:cNvPr id="258" name="Google Shape;258;p41"/>
          <p:cNvSpPr/>
          <p:nvPr/>
        </p:nvSpPr>
        <p:spPr>
          <a:xfrm>
            <a:off x="1502903" y="3808883"/>
            <a:ext cx="6855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384" strike="noStrike">
                <a:solidFill>
                  <a:srgbClr val="F5EFFF"/>
                </a:solidFill>
                <a:latin typeface="Arial"/>
                <a:ea typeface="Arial"/>
                <a:cs typeface="Arial"/>
                <a:sym typeface="Arial"/>
              </a:rPr>
              <a:t>Surveyed</a:t>
            </a:r>
            <a:endParaRPr b="0" sz="384" strike="noStrike">
              <a:solidFill>
                <a:srgbClr val="FFFFFF"/>
              </a:solidFill>
              <a:latin typeface="Arial"/>
              <a:ea typeface="Arial"/>
              <a:cs typeface="Arial"/>
              <a:sym typeface="Arial"/>
            </a:endParaRPr>
          </a:p>
        </p:txBody>
      </p:sp>
      <p:sp>
        <p:nvSpPr>
          <p:cNvPr id="259" name="Google Shape;259;p41"/>
          <p:cNvSpPr/>
          <p:nvPr/>
        </p:nvSpPr>
        <p:spPr>
          <a:xfrm>
            <a:off x="2241152" y="3808883"/>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384" strike="noStrike">
                <a:solidFill>
                  <a:srgbClr val="F5EFFF"/>
                </a:solidFill>
                <a:latin typeface="Arial"/>
                <a:ea typeface="Arial"/>
                <a:cs typeface="Arial"/>
                <a:sym typeface="Arial"/>
              </a:rPr>
              <a:t>Observed cases</a:t>
            </a:r>
            <a:endParaRPr b="0" sz="384" strike="noStrike">
              <a:solidFill>
                <a:srgbClr val="FFFFFF"/>
              </a:solidFill>
              <a:latin typeface="Arial"/>
              <a:ea typeface="Arial"/>
              <a:cs typeface="Arial"/>
              <a:sym typeface="Arial"/>
            </a:endParaRPr>
          </a:p>
        </p:txBody>
      </p:sp>
      <p:sp>
        <p:nvSpPr>
          <p:cNvPr id="260" name="Google Shape;260;p41"/>
          <p:cNvSpPr/>
          <p:nvPr/>
        </p:nvSpPr>
        <p:spPr>
          <a:xfrm>
            <a:off x="619599" y="3953939"/>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481" strike="noStrike">
                <a:solidFill>
                  <a:srgbClr val="8FE3FF"/>
                </a:solidFill>
                <a:latin typeface="Arial"/>
                <a:ea typeface="Arial"/>
                <a:cs typeface="Arial"/>
                <a:sym typeface="Arial"/>
              </a:rPr>
              <a:t>Baltimore</a:t>
            </a:r>
            <a:endParaRPr b="0" sz="481" strike="noStrike">
              <a:solidFill>
                <a:srgbClr val="FFFFFF"/>
              </a:solidFill>
              <a:latin typeface="Arial"/>
              <a:ea typeface="Arial"/>
              <a:cs typeface="Arial"/>
              <a:sym typeface="Arial"/>
            </a:endParaRPr>
          </a:p>
        </p:txBody>
      </p:sp>
      <p:sp>
        <p:nvSpPr>
          <p:cNvPr id="261" name="Google Shape;261;p41"/>
          <p:cNvSpPr/>
          <p:nvPr/>
        </p:nvSpPr>
        <p:spPr>
          <a:xfrm>
            <a:off x="1502903" y="3953939"/>
            <a:ext cx="6855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481" strike="noStrike">
                <a:solidFill>
                  <a:srgbClr val="8FE3FF"/>
                </a:solidFill>
                <a:latin typeface="Arial"/>
                <a:ea typeface="Arial"/>
                <a:cs typeface="Arial"/>
                <a:sym typeface="Arial"/>
              </a:rPr>
              <a:t>33,776</a:t>
            </a:r>
            <a:endParaRPr b="0" sz="481" strike="noStrike">
              <a:solidFill>
                <a:srgbClr val="FFFFFF"/>
              </a:solidFill>
              <a:latin typeface="Arial"/>
              <a:ea typeface="Arial"/>
              <a:cs typeface="Arial"/>
              <a:sym typeface="Arial"/>
            </a:endParaRPr>
          </a:p>
        </p:txBody>
      </p:sp>
      <p:sp>
        <p:nvSpPr>
          <p:cNvPr id="262" name="Google Shape;262;p41"/>
          <p:cNvSpPr/>
          <p:nvPr/>
        </p:nvSpPr>
        <p:spPr>
          <a:xfrm>
            <a:off x="2241152" y="3953939"/>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481" strike="noStrike">
                <a:solidFill>
                  <a:srgbClr val="8FE3FF"/>
                </a:solidFill>
                <a:latin typeface="Arial"/>
                <a:ea typeface="Arial"/>
                <a:cs typeface="Arial"/>
                <a:sym typeface="Arial"/>
              </a:rPr>
              <a:t>7,489</a:t>
            </a:r>
            <a:endParaRPr b="0" sz="481" strike="noStrike">
              <a:solidFill>
                <a:srgbClr val="FFFFFF"/>
              </a:solidFill>
              <a:latin typeface="Arial"/>
              <a:ea typeface="Arial"/>
              <a:cs typeface="Arial"/>
              <a:sym typeface="Arial"/>
            </a:endParaRPr>
          </a:p>
        </p:txBody>
      </p:sp>
      <p:sp>
        <p:nvSpPr>
          <p:cNvPr id="263" name="Google Shape;263;p41"/>
          <p:cNvSpPr/>
          <p:nvPr/>
        </p:nvSpPr>
        <p:spPr>
          <a:xfrm>
            <a:off x="619599" y="4098995"/>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Cumberland</a:t>
            </a:r>
            <a:endParaRPr b="0" sz="481" strike="noStrike">
              <a:solidFill>
                <a:srgbClr val="FFFFFF"/>
              </a:solidFill>
              <a:latin typeface="Arial"/>
              <a:ea typeface="Arial"/>
              <a:cs typeface="Arial"/>
              <a:sym typeface="Arial"/>
            </a:endParaRPr>
          </a:p>
        </p:txBody>
      </p:sp>
      <p:sp>
        <p:nvSpPr>
          <p:cNvPr id="264" name="Google Shape;264;p41"/>
          <p:cNvSpPr/>
          <p:nvPr/>
        </p:nvSpPr>
        <p:spPr>
          <a:xfrm>
            <a:off x="1502903" y="4098995"/>
            <a:ext cx="6855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5,234</a:t>
            </a:r>
            <a:endParaRPr b="0" sz="481" strike="noStrike">
              <a:solidFill>
                <a:srgbClr val="FFFFFF"/>
              </a:solidFill>
              <a:latin typeface="Arial"/>
              <a:ea typeface="Arial"/>
              <a:cs typeface="Arial"/>
              <a:sym typeface="Arial"/>
            </a:endParaRPr>
          </a:p>
        </p:txBody>
      </p:sp>
      <p:sp>
        <p:nvSpPr>
          <p:cNvPr id="265" name="Google Shape;265;p41"/>
          <p:cNvSpPr/>
          <p:nvPr/>
        </p:nvSpPr>
        <p:spPr>
          <a:xfrm>
            <a:off x="2241152" y="4098995"/>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2,085</a:t>
            </a:r>
            <a:endParaRPr b="0" sz="481" strike="noStrike">
              <a:solidFill>
                <a:srgbClr val="FFFFFF"/>
              </a:solidFill>
              <a:latin typeface="Arial"/>
              <a:ea typeface="Arial"/>
              <a:cs typeface="Arial"/>
              <a:sym typeface="Arial"/>
            </a:endParaRPr>
          </a:p>
        </p:txBody>
      </p:sp>
      <p:sp>
        <p:nvSpPr>
          <p:cNvPr id="266" name="Google Shape;266;p41"/>
          <p:cNvSpPr/>
          <p:nvPr/>
        </p:nvSpPr>
        <p:spPr>
          <a:xfrm>
            <a:off x="619599" y="4244052"/>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Lonaconing</a:t>
            </a:r>
            <a:endParaRPr b="0" sz="481" strike="noStrike">
              <a:solidFill>
                <a:srgbClr val="FFFFFF"/>
              </a:solidFill>
              <a:latin typeface="Arial"/>
              <a:ea typeface="Arial"/>
              <a:cs typeface="Arial"/>
              <a:sym typeface="Arial"/>
            </a:endParaRPr>
          </a:p>
        </p:txBody>
      </p:sp>
      <p:sp>
        <p:nvSpPr>
          <p:cNvPr id="267" name="Google Shape;267;p41"/>
          <p:cNvSpPr/>
          <p:nvPr/>
        </p:nvSpPr>
        <p:spPr>
          <a:xfrm>
            <a:off x="1502903" y="4244052"/>
            <a:ext cx="6855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1,840</a:t>
            </a:r>
            <a:endParaRPr b="0" sz="481" strike="noStrike">
              <a:solidFill>
                <a:srgbClr val="FFFFFF"/>
              </a:solidFill>
              <a:latin typeface="Arial"/>
              <a:ea typeface="Arial"/>
              <a:cs typeface="Arial"/>
              <a:sym typeface="Arial"/>
            </a:endParaRPr>
          </a:p>
        </p:txBody>
      </p:sp>
      <p:sp>
        <p:nvSpPr>
          <p:cNvPr id="268" name="Google Shape;268;p41"/>
          <p:cNvSpPr/>
          <p:nvPr/>
        </p:nvSpPr>
        <p:spPr>
          <a:xfrm>
            <a:off x="2241152" y="4244052"/>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1,093</a:t>
            </a:r>
            <a:endParaRPr b="0" sz="481" strike="noStrike">
              <a:solidFill>
                <a:srgbClr val="FFFFFF"/>
              </a:solidFill>
              <a:latin typeface="Arial"/>
              <a:ea typeface="Arial"/>
              <a:cs typeface="Arial"/>
              <a:sym typeface="Arial"/>
            </a:endParaRPr>
          </a:p>
        </p:txBody>
      </p:sp>
      <p:sp>
        <p:nvSpPr>
          <p:cNvPr id="269" name="Google Shape;269;p41"/>
          <p:cNvSpPr/>
          <p:nvPr/>
        </p:nvSpPr>
        <p:spPr>
          <a:xfrm>
            <a:off x="619599" y="4389108"/>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Frederick</a:t>
            </a:r>
            <a:endParaRPr b="0" sz="481" strike="noStrike">
              <a:solidFill>
                <a:srgbClr val="FFFFFF"/>
              </a:solidFill>
              <a:latin typeface="Arial"/>
              <a:ea typeface="Arial"/>
              <a:cs typeface="Arial"/>
              <a:sym typeface="Arial"/>
            </a:endParaRPr>
          </a:p>
        </p:txBody>
      </p:sp>
      <p:sp>
        <p:nvSpPr>
          <p:cNvPr id="270" name="Google Shape;270;p41"/>
          <p:cNvSpPr/>
          <p:nvPr/>
        </p:nvSpPr>
        <p:spPr>
          <a:xfrm>
            <a:off x="1502903" y="4389108"/>
            <a:ext cx="6855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2,420</a:t>
            </a:r>
            <a:endParaRPr b="0" sz="481" strike="noStrike">
              <a:solidFill>
                <a:srgbClr val="FFFFFF"/>
              </a:solidFill>
              <a:latin typeface="Arial"/>
              <a:ea typeface="Arial"/>
              <a:cs typeface="Arial"/>
              <a:sym typeface="Arial"/>
            </a:endParaRPr>
          </a:p>
        </p:txBody>
      </p:sp>
      <p:sp>
        <p:nvSpPr>
          <p:cNvPr id="271" name="Google Shape;271;p41"/>
          <p:cNvSpPr/>
          <p:nvPr/>
        </p:nvSpPr>
        <p:spPr>
          <a:xfrm>
            <a:off x="2241152" y="4389108"/>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750</a:t>
            </a:r>
            <a:endParaRPr b="0" sz="481" strike="noStrike">
              <a:solidFill>
                <a:srgbClr val="FFFFFF"/>
              </a:solidFill>
              <a:latin typeface="Arial"/>
              <a:ea typeface="Arial"/>
              <a:cs typeface="Arial"/>
              <a:sym typeface="Arial"/>
            </a:endParaRPr>
          </a:p>
        </p:txBody>
      </p:sp>
      <p:sp>
        <p:nvSpPr>
          <p:cNvPr id="272" name="Google Shape;272;p41"/>
          <p:cNvSpPr/>
          <p:nvPr/>
        </p:nvSpPr>
        <p:spPr>
          <a:xfrm>
            <a:off x="619599" y="4533904"/>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Salisbury</a:t>
            </a:r>
            <a:endParaRPr b="0" sz="481" strike="noStrike">
              <a:solidFill>
                <a:srgbClr val="FFFFFF"/>
              </a:solidFill>
              <a:latin typeface="Arial"/>
              <a:ea typeface="Arial"/>
              <a:cs typeface="Arial"/>
              <a:sym typeface="Arial"/>
            </a:endParaRPr>
          </a:p>
        </p:txBody>
      </p:sp>
      <p:sp>
        <p:nvSpPr>
          <p:cNvPr id="273" name="Google Shape;273;p41"/>
          <p:cNvSpPr/>
          <p:nvPr/>
        </p:nvSpPr>
        <p:spPr>
          <a:xfrm>
            <a:off x="1502903" y="4533904"/>
            <a:ext cx="6855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1,735</a:t>
            </a:r>
            <a:endParaRPr b="0" sz="481" strike="noStrike">
              <a:solidFill>
                <a:srgbClr val="FFFFFF"/>
              </a:solidFill>
              <a:latin typeface="Arial"/>
              <a:ea typeface="Arial"/>
              <a:cs typeface="Arial"/>
              <a:sym typeface="Arial"/>
            </a:endParaRPr>
          </a:p>
        </p:txBody>
      </p:sp>
      <p:sp>
        <p:nvSpPr>
          <p:cNvPr id="274" name="Google Shape;274;p41"/>
          <p:cNvSpPr/>
          <p:nvPr/>
        </p:nvSpPr>
        <p:spPr>
          <a:xfrm>
            <a:off x="2241152" y="4533904"/>
            <a:ext cx="829800" cy="1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481" strike="noStrike">
                <a:solidFill>
                  <a:srgbClr val="C9B8E8"/>
                </a:solidFill>
                <a:latin typeface="Arial"/>
                <a:ea typeface="Arial"/>
                <a:cs typeface="Arial"/>
                <a:sym typeface="Arial"/>
              </a:rPr>
              <a:t>765</a:t>
            </a:r>
            <a:endParaRPr b="0" sz="481" strike="noStrike">
              <a:solidFill>
                <a:srgbClr val="FFFFFF"/>
              </a:solidFill>
              <a:latin typeface="Arial"/>
              <a:ea typeface="Arial"/>
              <a:cs typeface="Arial"/>
              <a:sym typeface="Arial"/>
            </a:endParaRPr>
          </a:p>
        </p:txBody>
      </p:sp>
      <p:sp>
        <p:nvSpPr>
          <p:cNvPr id="275" name="Google Shape;275;p41"/>
          <p:cNvSpPr txBox="1"/>
          <p:nvPr/>
        </p:nvSpPr>
        <p:spPr>
          <a:xfrm>
            <a:off x="1585625" y="4736775"/>
            <a:ext cx="689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A18BBF"/>
                </a:solidFill>
              </a:rPr>
              <a:t>Data: Frost &amp; Sydenstricker 1919. Latent period 1.9 days and infectious period ≈4 days from Mills et al. Baseline R₀ = 1.8 from Biggerstaff et al.                                                                                                                                              </a:t>
            </a:r>
            <a:endParaRPr sz="8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9" name="Shape 279"/>
        <p:cNvGrpSpPr/>
        <p:nvPr/>
      </p:nvGrpSpPr>
      <p:grpSpPr>
        <a:xfrm>
          <a:off x="0" y="0"/>
          <a:ext cx="0" cy="0"/>
          <a:chOff x="0" y="0"/>
          <a:chExt cx="0" cy="0"/>
        </a:xfrm>
      </p:grpSpPr>
      <p:sp>
        <p:nvSpPr>
          <p:cNvPr id="280" name="Google Shape;280;p42"/>
          <p:cNvSpPr txBox="1"/>
          <p:nvPr>
            <p:ph type="title"/>
          </p:nvPr>
        </p:nvSpPr>
        <p:spPr>
          <a:xfrm>
            <a:off x="270000" y="254700"/>
            <a:ext cx="8604000" cy="6156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600">
                <a:solidFill>
                  <a:srgbClr val="F5EFFF"/>
                </a:solidFill>
                <a:latin typeface="Play"/>
                <a:ea typeface="Play"/>
                <a:cs typeface="Play"/>
                <a:sym typeface="Play"/>
              </a:rPr>
              <a:t>The 30% immunity question has two answers                                              / Almokhtar Aljarodi</a:t>
            </a:r>
            <a:endParaRPr sz="1600">
              <a:solidFill>
                <a:srgbClr val="F5EFFF"/>
              </a:solidFill>
              <a:latin typeface="Play"/>
              <a:ea typeface="Play"/>
              <a:cs typeface="Play"/>
              <a:sym typeface="Play"/>
            </a:endParaRPr>
          </a:p>
          <a:p>
            <a:pPr indent="0" lvl="0" marL="0" rtl="0" algn="l">
              <a:spcBef>
                <a:spcPts val="0"/>
              </a:spcBef>
              <a:spcAft>
                <a:spcPts val="0"/>
              </a:spcAft>
              <a:buNone/>
            </a:pPr>
            <a:r>
              <a:rPr b="0" lang="en-GB" sz="800">
                <a:solidFill>
                  <a:srgbClr val="C9B8E8"/>
                </a:solidFill>
              </a:rPr>
              <a:t>Holding R₀ fixed isolates immunity; refitting lets the model compensate by changing R₀.</a:t>
            </a:r>
            <a:endParaRPr b="0" sz="800">
              <a:solidFill>
                <a:schemeClr val="lt1"/>
              </a:solidFill>
            </a:endParaRPr>
          </a:p>
          <a:p>
            <a:pPr indent="0" lvl="0" marL="0" rtl="0" algn="l">
              <a:spcBef>
                <a:spcPts val="0"/>
              </a:spcBef>
              <a:spcAft>
                <a:spcPts val="0"/>
              </a:spcAft>
              <a:buNone/>
            </a:pPr>
            <a:r>
              <a:t/>
            </a:r>
            <a:endParaRPr sz="1600">
              <a:solidFill>
                <a:srgbClr val="F5EFFF"/>
              </a:solidFill>
              <a:latin typeface="Play"/>
              <a:ea typeface="Play"/>
              <a:cs typeface="Play"/>
              <a:sym typeface="Play"/>
            </a:endParaRPr>
          </a:p>
        </p:txBody>
      </p:sp>
      <p:sp>
        <p:nvSpPr>
          <p:cNvPr id="281" name="Google Shape;281;p42"/>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282" name="Google Shape;282;p42"/>
          <p:cNvSpPr/>
          <p:nvPr/>
        </p:nvSpPr>
        <p:spPr>
          <a:xfrm>
            <a:off x="220365" y="844780"/>
            <a:ext cx="4731900" cy="13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600" strike="noStrike">
                <a:solidFill>
                  <a:srgbClr val="F72585"/>
                </a:solidFill>
                <a:latin typeface="Arial"/>
                <a:ea typeface="Arial"/>
                <a:cs typeface="Arial"/>
                <a:sym typeface="Arial"/>
              </a:rPr>
              <a:t>A · SAME FIT: CHANGE ONLY IMMUNITY </a:t>
            </a:r>
            <a:endParaRPr b="0" sz="600" strike="noStrike">
              <a:solidFill>
                <a:srgbClr val="F72585"/>
              </a:solidFill>
              <a:latin typeface="Arial"/>
              <a:ea typeface="Arial"/>
              <a:cs typeface="Arial"/>
              <a:sym typeface="Arial"/>
            </a:endParaRPr>
          </a:p>
        </p:txBody>
      </p:sp>
      <p:pic>
        <p:nvPicPr>
          <p:cNvPr descr="/mnt/data/fixed_R0_immunity_vs_observed.png" id="283" name="Google Shape;283;p42"/>
          <p:cNvPicPr preferRelativeResize="0"/>
          <p:nvPr/>
        </p:nvPicPr>
        <p:blipFill rotWithShape="1">
          <a:blip r:embed="rId3">
            <a:alphaModFix/>
          </a:blip>
          <a:srcRect b="0" l="0" r="0" t="0"/>
          <a:stretch/>
        </p:blipFill>
        <p:spPr>
          <a:xfrm>
            <a:off x="412335" y="1009480"/>
            <a:ext cx="4429891" cy="2496151"/>
          </a:xfrm>
          <a:prstGeom prst="rect">
            <a:avLst/>
          </a:prstGeom>
          <a:noFill/>
          <a:ln>
            <a:noFill/>
          </a:ln>
        </p:spPr>
      </p:pic>
      <p:sp>
        <p:nvSpPr>
          <p:cNvPr id="284" name="Google Shape;284;p42"/>
          <p:cNvSpPr/>
          <p:nvPr/>
        </p:nvSpPr>
        <p:spPr>
          <a:xfrm>
            <a:off x="261325" y="3620425"/>
            <a:ext cx="4581000" cy="343800"/>
          </a:xfrm>
          <a:prstGeom prst="roundRect">
            <a:avLst>
              <a:gd fmla="val 10390" name="adj"/>
            </a:avLst>
          </a:prstGeom>
          <a:solidFill>
            <a:srgbClr val="0B0614"/>
          </a:solidFill>
          <a:ln cap="flat" cmpd="sng" w="12700">
            <a:solidFill>
              <a:srgbClr val="26133F"/>
            </a:solidFill>
            <a:prstDash val="solid"/>
            <a:round/>
            <a:headEnd len="sm" w="sm" type="none"/>
            <a:tailEnd len="sm" w="sm" type="none"/>
          </a:ln>
        </p:spPr>
        <p:txBody>
          <a:bodyPr anchorCtr="0" anchor="t" bIns="33750" lIns="67500" spcFirstLastPara="1" rIns="67500" wrap="square" tIns="33750">
            <a:noAutofit/>
          </a:bodyPr>
          <a:lstStyle/>
          <a:p>
            <a:pPr indent="0" lvl="0" marL="0" marR="0" rtl="0" algn="l">
              <a:spcBef>
                <a:spcPts val="0"/>
              </a:spcBef>
              <a:spcAft>
                <a:spcPts val="0"/>
              </a:spcAft>
              <a:buNone/>
            </a:pPr>
            <a:r>
              <a:t/>
            </a:r>
            <a:endParaRPr b="0" sz="1400" strike="noStrike">
              <a:solidFill>
                <a:srgbClr val="FFFFFF"/>
              </a:solidFill>
              <a:latin typeface="Arial"/>
              <a:ea typeface="Arial"/>
              <a:cs typeface="Arial"/>
              <a:sym typeface="Arial"/>
            </a:endParaRPr>
          </a:p>
        </p:txBody>
      </p:sp>
      <p:sp>
        <p:nvSpPr>
          <p:cNvPr id="285" name="Google Shape;285;p42"/>
          <p:cNvSpPr/>
          <p:nvPr/>
        </p:nvSpPr>
        <p:spPr>
          <a:xfrm>
            <a:off x="398565" y="3711370"/>
            <a:ext cx="925500" cy="12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800" strike="noStrike">
                <a:solidFill>
                  <a:srgbClr val="FFB703"/>
                </a:solidFill>
                <a:latin typeface="Play"/>
                <a:ea typeface="Play"/>
                <a:cs typeface="Play"/>
                <a:sym typeface="Play"/>
              </a:rPr>
              <a:t>What this proves</a:t>
            </a:r>
            <a:endParaRPr b="0" sz="800" strike="noStrike">
              <a:solidFill>
                <a:srgbClr val="FFFFFF"/>
              </a:solidFill>
              <a:latin typeface="Arial"/>
              <a:ea typeface="Arial"/>
              <a:cs typeface="Arial"/>
              <a:sym typeface="Arial"/>
            </a:endParaRPr>
          </a:p>
        </p:txBody>
      </p:sp>
      <p:sp>
        <p:nvSpPr>
          <p:cNvPr id="286" name="Google Shape;286;p42"/>
          <p:cNvSpPr/>
          <p:nvPr/>
        </p:nvSpPr>
        <p:spPr>
          <a:xfrm>
            <a:off x="1338165" y="3704620"/>
            <a:ext cx="3497400" cy="19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600" strike="noStrike">
                <a:solidFill>
                  <a:srgbClr val="C9B8E8"/>
                </a:solidFill>
                <a:latin typeface="Arial"/>
                <a:ea typeface="Arial"/>
                <a:cs typeface="Arial"/>
                <a:sym typeface="Arial"/>
              </a:rPr>
              <a:t>With R₀, seed infections and scaling held constant, 30% initial immunity makes the predicted wave much smaller and later.</a:t>
            </a:r>
            <a:endParaRPr b="0" sz="600" strike="noStrike">
              <a:solidFill>
                <a:srgbClr val="FFFFFF"/>
              </a:solidFill>
              <a:latin typeface="Arial"/>
              <a:ea typeface="Arial"/>
              <a:cs typeface="Arial"/>
              <a:sym typeface="Arial"/>
            </a:endParaRPr>
          </a:p>
        </p:txBody>
      </p:sp>
      <p:sp>
        <p:nvSpPr>
          <p:cNvPr id="287" name="Google Shape;287;p42"/>
          <p:cNvSpPr/>
          <p:nvPr/>
        </p:nvSpPr>
        <p:spPr>
          <a:xfrm>
            <a:off x="5212935" y="844780"/>
            <a:ext cx="3634500" cy="13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600" strike="noStrike">
                <a:solidFill>
                  <a:srgbClr val="F72585"/>
                </a:solidFill>
                <a:latin typeface="Arial"/>
                <a:ea typeface="Arial"/>
                <a:cs typeface="Arial"/>
                <a:sym typeface="Arial"/>
              </a:rPr>
              <a:t>B · REFIT: LET R₀ CHANGE</a:t>
            </a:r>
            <a:endParaRPr b="0" sz="600" strike="noStrike">
              <a:solidFill>
                <a:srgbClr val="FFFFFF"/>
              </a:solidFill>
              <a:latin typeface="Arial"/>
              <a:ea typeface="Arial"/>
              <a:cs typeface="Arial"/>
              <a:sym typeface="Arial"/>
            </a:endParaRPr>
          </a:p>
        </p:txBody>
      </p:sp>
      <p:pic>
        <p:nvPicPr>
          <p:cNvPr descr="/mnt/data/fitted_10_vs_30_immunity.png" id="288" name="Google Shape;288;p42"/>
          <p:cNvPicPr preferRelativeResize="0"/>
          <p:nvPr/>
        </p:nvPicPr>
        <p:blipFill rotWithShape="1">
          <a:blip r:embed="rId4">
            <a:alphaModFix/>
          </a:blip>
          <a:srcRect b="0" l="0" r="0" t="0"/>
          <a:stretch/>
        </p:blipFill>
        <p:spPr>
          <a:xfrm>
            <a:off x="5473833" y="985200"/>
            <a:ext cx="2773893" cy="1562851"/>
          </a:xfrm>
          <a:prstGeom prst="rect">
            <a:avLst/>
          </a:prstGeom>
          <a:noFill/>
          <a:ln>
            <a:noFill/>
          </a:ln>
        </p:spPr>
      </p:pic>
      <p:sp>
        <p:nvSpPr>
          <p:cNvPr id="289" name="Google Shape;289;p42"/>
          <p:cNvSpPr/>
          <p:nvPr/>
        </p:nvSpPr>
        <p:spPr>
          <a:xfrm>
            <a:off x="5304250" y="2548050"/>
            <a:ext cx="3839700" cy="246600"/>
          </a:xfrm>
          <a:prstGeom prst="roundRect">
            <a:avLst>
              <a:gd fmla="val 9091" name="adj"/>
            </a:avLst>
          </a:prstGeom>
          <a:solidFill>
            <a:srgbClr val="0B0614"/>
          </a:solidFill>
          <a:ln cap="flat" cmpd="sng" w="12700">
            <a:solidFill>
              <a:srgbClr val="26133F"/>
            </a:solidFill>
            <a:prstDash val="solid"/>
            <a:round/>
            <a:headEnd len="sm" w="sm" type="none"/>
            <a:tailEnd len="sm" w="sm" type="none"/>
          </a:ln>
        </p:spPr>
        <p:txBody>
          <a:bodyPr anchorCtr="0" anchor="t" bIns="33750" lIns="67500" spcFirstLastPara="1" rIns="67500" wrap="square" tIns="33750">
            <a:noAutofit/>
          </a:bodyPr>
          <a:lstStyle/>
          <a:p>
            <a:pPr indent="0" lvl="0" marL="0" marR="0" rtl="0" algn="l">
              <a:spcBef>
                <a:spcPts val="0"/>
              </a:spcBef>
              <a:spcAft>
                <a:spcPts val="0"/>
              </a:spcAft>
              <a:buNone/>
            </a:pPr>
            <a:r>
              <a:t/>
            </a:r>
            <a:endParaRPr b="0" sz="1400" strike="noStrike">
              <a:solidFill>
                <a:srgbClr val="FFFFFF"/>
              </a:solidFill>
              <a:latin typeface="Arial"/>
              <a:ea typeface="Arial"/>
              <a:cs typeface="Arial"/>
              <a:sym typeface="Arial"/>
            </a:endParaRPr>
          </a:p>
        </p:txBody>
      </p:sp>
      <p:sp>
        <p:nvSpPr>
          <p:cNvPr id="290" name="Google Shape;290;p42"/>
          <p:cNvSpPr/>
          <p:nvPr/>
        </p:nvSpPr>
        <p:spPr>
          <a:xfrm>
            <a:off x="5347490" y="2608118"/>
            <a:ext cx="1268400" cy="12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700" strike="noStrike">
                <a:solidFill>
                  <a:srgbClr val="F72585"/>
                </a:solidFill>
                <a:latin typeface="Play"/>
                <a:ea typeface="Play"/>
                <a:cs typeface="Play"/>
                <a:sym typeface="Play"/>
              </a:rPr>
              <a:t>Why the lines overlap</a:t>
            </a:r>
            <a:endParaRPr b="0" sz="700" strike="noStrike">
              <a:solidFill>
                <a:srgbClr val="FFFFFF"/>
              </a:solidFill>
              <a:latin typeface="Arial"/>
              <a:ea typeface="Arial"/>
              <a:cs typeface="Arial"/>
              <a:sym typeface="Arial"/>
            </a:endParaRPr>
          </a:p>
        </p:txBody>
      </p:sp>
      <p:sp>
        <p:nvSpPr>
          <p:cNvPr id="291" name="Google Shape;291;p42"/>
          <p:cNvSpPr/>
          <p:nvPr/>
        </p:nvSpPr>
        <p:spPr>
          <a:xfrm>
            <a:off x="6344700" y="2548175"/>
            <a:ext cx="2799300" cy="246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GB" sz="600" strike="noStrike">
                <a:solidFill>
                  <a:srgbClr val="C9B8E8"/>
                </a:solidFill>
                <a:latin typeface="Arial"/>
                <a:ea typeface="Arial"/>
                <a:cs typeface="Arial"/>
                <a:sym typeface="Arial"/>
              </a:rPr>
              <a:t>When 30% immunity is fixed and the model is refitted, R₀ rises from 2.22 to 2.85. </a:t>
            </a:r>
            <a:endParaRPr b="0" sz="600" strike="noStrike">
              <a:solidFill>
                <a:srgbClr val="FFFFFF"/>
              </a:solidFill>
              <a:latin typeface="Arial"/>
              <a:ea typeface="Arial"/>
              <a:cs typeface="Arial"/>
              <a:sym typeface="Arial"/>
            </a:endParaRPr>
          </a:p>
        </p:txBody>
      </p:sp>
      <p:sp>
        <p:nvSpPr>
          <p:cNvPr id="292" name="Google Shape;292;p42"/>
          <p:cNvSpPr/>
          <p:nvPr/>
        </p:nvSpPr>
        <p:spPr>
          <a:xfrm>
            <a:off x="5239510" y="2829670"/>
            <a:ext cx="3634500" cy="13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600" strike="noStrike">
                <a:solidFill>
                  <a:srgbClr val="8FE3FF"/>
                </a:solidFill>
                <a:latin typeface="Arial"/>
                <a:ea typeface="Arial"/>
                <a:cs typeface="Arial"/>
                <a:sym typeface="Arial"/>
              </a:rPr>
              <a:t>C · INTERVENTION: PROTECTION THRESHOLD</a:t>
            </a:r>
            <a:endParaRPr b="0" sz="600" strike="noStrike">
              <a:solidFill>
                <a:srgbClr val="FFFFFF"/>
              </a:solidFill>
              <a:latin typeface="Arial"/>
              <a:ea typeface="Arial"/>
              <a:cs typeface="Arial"/>
              <a:sym typeface="Arial"/>
            </a:endParaRPr>
          </a:p>
        </p:txBody>
      </p:sp>
      <p:pic>
        <p:nvPicPr>
          <p:cNvPr descr="/mnt/data/vaccination_counterfactual_fitted(2).png" id="293" name="Google Shape;293;p42"/>
          <p:cNvPicPr preferRelativeResize="0"/>
          <p:nvPr/>
        </p:nvPicPr>
        <p:blipFill rotWithShape="1">
          <a:blip r:embed="rId5">
            <a:alphaModFix/>
          </a:blip>
          <a:srcRect b="0" l="0" r="0" t="0"/>
          <a:stretch/>
        </p:blipFill>
        <p:spPr>
          <a:xfrm>
            <a:off x="5473825" y="3002263"/>
            <a:ext cx="2592799" cy="1430902"/>
          </a:xfrm>
          <a:prstGeom prst="rect">
            <a:avLst/>
          </a:prstGeom>
          <a:noFill/>
          <a:ln>
            <a:noFill/>
          </a:ln>
        </p:spPr>
      </p:pic>
      <p:sp>
        <p:nvSpPr>
          <p:cNvPr id="294" name="Google Shape;294;p42"/>
          <p:cNvSpPr/>
          <p:nvPr/>
        </p:nvSpPr>
        <p:spPr>
          <a:xfrm>
            <a:off x="5367225" y="4400350"/>
            <a:ext cx="3098700" cy="246600"/>
          </a:xfrm>
          <a:prstGeom prst="roundRect">
            <a:avLst>
              <a:gd fmla="val 19048" name="adj"/>
            </a:avLst>
          </a:prstGeom>
          <a:solidFill>
            <a:srgbClr val="0B0614"/>
          </a:solidFill>
          <a:ln cap="flat" cmpd="sng" w="12700">
            <a:solidFill>
              <a:srgbClr val="26133F"/>
            </a:solidFill>
            <a:prstDash val="solid"/>
            <a:round/>
            <a:headEnd len="sm" w="sm" type="none"/>
            <a:tailEnd len="sm" w="sm" type="none"/>
          </a:ln>
        </p:spPr>
        <p:txBody>
          <a:bodyPr anchorCtr="0" anchor="t" bIns="33750" lIns="67500" spcFirstLastPara="1" rIns="67500" wrap="square" tIns="33750">
            <a:noAutofit/>
          </a:bodyPr>
          <a:lstStyle/>
          <a:p>
            <a:pPr indent="0" lvl="0" marL="0" marR="0" rtl="0" algn="l">
              <a:spcBef>
                <a:spcPts val="0"/>
              </a:spcBef>
              <a:spcAft>
                <a:spcPts val="0"/>
              </a:spcAft>
              <a:buNone/>
            </a:pPr>
            <a:r>
              <a:t/>
            </a:r>
            <a:endParaRPr b="0" sz="1400" strike="noStrike">
              <a:solidFill>
                <a:srgbClr val="FFFFFF"/>
              </a:solidFill>
              <a:latin typeface="Arial"/>
              <a:ea typeface="Arial"/>
              <a:cs typeface="Arial"/>
              <a:sym typeface="Arial"/>
            </a:endParaRPr>
          </a:p>
        </p:txBody>
      </p:sp>
      <p:sp>
        <p:nvSpPr>
          <p:cNvPr id="295" name="Google Shape;295;p42"/>
          <p:cNvSpPr/>
          <p:nvPr/>
        </p:nvSpPr>
        <p:spPr>
          <a:xfrm>
            <a:off x="5411990" y="4468940"/>
            <a:ext cx="3236700" cy="12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GB" sz="600" strike="noStrike">
                <a:solidFill>
                  <a:srgbClr val="F5EFFF"/>
                </a:solidFill>
                <a:latin typeface="Arial"/>
                <a:ea typeface="Arial"/>
                <a:cs typeface="Arial"/>
                <a:sym typeface="Arial"/>
              </a:rPr>
              <a:t>With fitted R₀ ≈ 2.22, the simplified threshold is ~55% total pre-outbreak protection.</a:t>
            </a:r>
            <a:endParaRPr b="0" sz="600" strike="noStrike">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3"/>
          <p:cNvSpPr txBox="1"/>
          <p:nvPr>
            <p:ph type="title"/>
          </p:nvPr>
        </p:nvSpPr>
        <p:spPr>
          <a:xfrm>
            <a:off x="270000" y="254700"/>
            <a:ext cx="8799000" cy="3849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500"/>
              <a:t>Modelling the impact of the MenC vaccination programme</a:t>
            </a:r>
            <a:endParaRPr sz="2500"/>
          </a:p>
        </p:txBody>
      </p:sp>
      <p:sp>
        <p:nvSpPr>
          <p:cNvPr id="301" name="Google Shape;301;p43"/>
          <p:cNvSpPr txBox="1"/>
          <p:nvPr>
            <p:ph idx="4294967295" type="body"/>
          </p:nvPr>
        </p:nvSpPr>
        <p:spPr>
          <a:xfrm>
            <a:off x="311700" y="1152475"/>
            <a:ext cx="8520600" cy="4926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GB" sz="2000"/>
              <a:t>Neisseria meningitidis - serogroup C outbreak, England 1998-2008</a:t>
            </a:r>
            <a:endParaRPr sz="2000"/>
          </a:p>
        </p:txBody>
      </p:sp>
      <p:sp>
        <p:nvSpPr>
          <p:cNvPr id="302" name="Google Shape;302;p43"/>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303" name="Google Shape;303;p43"/>
          <p:cNvSpPr txBox="1"/>
          <p:nvPr>
            <p:ph idx="4294967295" type="body"/>
          </p:nvPr>
        </p:nvSpPr>
        <p:spPr>
          <a:xfrm>
            <a:off x="324750" y="1469350"/>
            <a:ext cx="8689500" cy="8466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GB" sz="2000">
                <a:solidFill>
                  <a:schemeClr val="dk1"/>
                </a:solidFill>
              </a:rPr>
              <a:t>SVCIR model: Susceptible, Vaccinated, Carrier, Invasive disease, Recovered</a:t>
            </a:r>
            <a:endParaRPr sz="2000"/>
          </a:p>
        </p:txBody>
      </p:sp>
      <p:grpSp>
        <p:nvGrpSpPr>
          <p:cNvPr id="304" name="Google Shape;304;p43"/>
          <p:cNvGrpSpPr/>
          <p:nvPr/>
        </p:nvGrpSpPr>
        <p:grpSpPr>
          <a:xfrm>
            <a:off x="737049" y="2226500"/>
            <a:ext cx="3996125" cy="2216307"/>
            <a:chOff x="2231025" y="2084368"/>
            <a:chExt cx="3996125" cy="2216307"/>
          </a:xfrm>
        </p:grpSpPr>
        <p:cxnSp>
          <p:nvCxnSpPr>
            <p:cNvPr id="305" name="Google Shape;305;p43"/>
            <p:cNvCxnSpPr>
              <a:stCxn id="306" idx="2"/>
              <a:endCxn id="307" idx="0"/>
            </p:cNvCxnSpPr>
            <p:nvPr/>
          </p:nvCxnSpPr>
          <p:spPr>
            <a:xfrm>
              <a:off x="2704725" y="3076050"/>
              <a:ext cx="0" cy="378000"/>
            </a:xfrm>
            <a:prstGeom prst="straightConnector1">
              <a:avLst/>
            </a:prstGeom>
            <a:noFill/>
            <a:ln cap="flat" cmpd="sng" w="9525">
              <a:solidFill>
                <a:schemeClr val="dk2"/>
              </a:solidFill>
              <a:prstDash val="solid"/>
              <a:round/>
              <a:headEnd len="med" w="med" type="none"/>
              <a:tailEnd len="med" w="med" type="triangle"/>
            </a:ln>
          </p:spPr>
        </p:cxnSp>
        <p:grpSp>
          <p:nvGrpSpPr>
            <p:cNvPr id="308" name="Google Shape;308;p43"/>
            <p:cNvGrpSpPr/>
            <p:nvPr/>
          </p:nvGrpSpPr>
          <p:grpSpPr>
            <a:xfrm>
              <a:off x="2231025" y="2084368"/>
              <a:ext cx="3996125" cy="2216307"/>
              <a:chOff x="4593225" y="2123906"/>
              <a:chExt cx="3996125" cy="2216307"/>
            </a:xfrm>
          </p:grpSpPr>
          <p:cxnSp>
            <p:nvCxnSpPr>
              <p:cNvPr id="309" name="Google Shape;309;p43"/>
              <p:cNvCxnSpPr>
                <a:stCxn id="310" idx="2"/>
                <a:endCxn id="311" idx="0"/>
              </p:cNvCxnSpPr>
              <p:nvPr/>
            </p:nvCxnSpPr>
            <p:spPr>
              <a:xfrm>
                <a:off x="6591288" y="3115588"/>
                <a:ext cx="0" cy="378000"/>
              </a:xfrm>
              <a:prstGeom prst="straightConnector1">
                <a:avLst/>
              </a:prstGeom>
              <a:noFill/>
              <a:ln cap="flat" cmpd="sng" w="9525">
                <a:solidFill>
                  <a:schemeClr val="dk2"/>
                </a:solidFill>
                <a:prstDash val="solid"/>
                <a:round/>
                <a:headEnd len="med" w="med" type="none"/>
                <a:tailEnd len="med" w="med" type="triangle"/>
              </a:ln>
            </p:spPr>
          </p:cxnSp>
          <p:grpSp>
            <p:nvGrpSpPr>
              <p:cNvPr id="312" name="Google Shape;312;p43"/>
              <p:cNvGrpSpPr/>
              <p:nvPr/>
            </p:nvGrpSpPr>
            <p:grpSpPr>
              <a:xfrm>
                <a:off x="4593225" y="2123906"/>
                <a:ext cx="3996125" cy="2216307"/>
                <a:chOff x="2535825" y="2084368"/>
                <a:chExt cx="3996125" cy="2216307"/>
              </a:xfrm>
            </p:grpSpPr>
            <p:grpSp>
              <p:nvGrpSpPr>
                <p:cNvPr id="313" name="Google Shape;313;p43"/>
                <p:cNvGrpSpPr/>
                <p:nvPr/>
              </p:nvGrpSpPr>
              <p:grpSpPr>
                <a:xfrm>
                  <a:off x="2535825" y="2084368"/>
                  <a:ext cx="3996125" cy="2216307"/>
                  <a:chOff x="2535825" y="2084368"/>
                  <a:chExt cx="3996125" cy="2216307"/>
                </a:xfrm>
              </p:grpSpPr>
              <p:grpSp>
                <p:nvGrpSpPr>
                  <p:cNvPr id="314" name="Google Shape;314;p43"/>
                  <p:cNvGrpSpPr/>
                  <p:nvPr/>
                </p:nvGrpSpPr>
                <p:grpSpPr>
                  <a:xfrm>
                    <a:off x="2535825" y="2229450"/>
                    <a:ext cx="3996125" cy="2071225"/>
                    <a:chOff x="707400" y="2259075"/>
                    <a:chExt cx="3996125" cy="2071225"/>
                  </a:xfrm>
                </p:grpSpPr>
                <p:grpSp>
                  <p:nvGrpSpPr>
                    <p:cNvPr id="315" name="Google Shape;315;p43"/>
                    <p:cNvGrpSpPr/>
                    <p:nvPr/>
                  </p:nvGrpSpPr>
                  <p:grpSpPr>
                    <a:xfrm>
                      <a:off x="2231775" y="3483700"/>
                      <a:ext cx="947400" cy="846600"/>
                      <a:chOff x="2185000" y="3483700"/>
                      <a:chExt cx="947400" cy="846600"/>
                    </a:xfrm>
                  </p:grpSpPr>
                  <p:sp>
                    <p:nvSpPr>
                      <p:cNvPr id="311" name="Google Shape;311;p43"/>
                      <p:cNvSpPr/>
                      <p:nvPr/>
                    </p:nvSpPr>
                    <p:spPr>
                      <a:xfrm>
                        <a:off x="2185000" y="3483700"/>
                        <a:ext cx="947400" cy="846600"/>
                      </a:xfrm>
                      <a:prstGeom prst="roundRect">
                        <a:avLst>
                          <a:gd fmla="val 16667" name="adj"/>
                        </a:avLst>
                      </a:prstGeom>
                      <a:solidFill>
                        <a:srgbClr val="D55E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43"/>
                      <p:cNvSpPr txBox="1"/>
                      <p:nvPr/>
                    </p:nvSpPr>
                    <p:spPr>
                      <a:xfrm>
                        <a:off x="2522143" y="3596110"/>
                        <a:ext cx="358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900">
                            <a:solidFill>
                              <a:schemeClr val="lt1"/>
                            </a:solidFill>
                          </a:rPr>
                          <a:t>I</a:t>
                        </a:r>
                        <a:endParaRPr sz="2900">
                          <a:solidFill>
                            <a:schemeClr val="lt1"/>
                          </a:solidFill>
                        </a:endParaRPr>
                      </a:p>
                    </p:txBody>
                  </p:sp>
                </p:grpSp>
                <p:grpSp>
                  <p:nvGrpSpPr>
                    <p:cNvPr id="317" name="Google Shape;317;p43"/>
                    <p:cNvGrpSpPr/>
                    <p:nvPr/>
                  </p:nvGrpSpPr>
                  <p:grpSpPr>
                    <a:xfrm>
                      <a:off x="707400" y="2259075"/>
                      <a:ext cx="3996125" cy="2071225"/>
                      <a:chOff x="707400" y="2259075"/>
                      <a:chExt cx="3996125" cy="2071225"/>
                    </a:xfrm>
                  </p:grpSpPr>
                  <p:grpSp>
                    <p:nvGrpSpPr>
                      <p:cNvPr id="318" name="Google Shape;318;p43"/>
                      <p:cNvGrpSpPr/>
                      <p:nvPr/>
                    </p:nvGrpSpPr>
                    <p:grpSpPr>
                      <a:xfrm>
                        <a:off x="707400" y="3483700"/>
                        <a:ext cx="947400" cy="846600"/>
                        <a:chOff x="919425" y="3483700"/>
                        <a:chExt cx="947400" cy="846600"/>
                      </a:xfrm>
                    </p:grpSpPr>
                    <p:sp>
                      <p:nvSpPr>
                        <p:cNvPr id="307" name="Google Shape;307;p43"/>
                        <p:cNvSpPr/>
                        <p:nvPr/>
                      </p:nvSpPr>
                      <p:spPr>
                        <a:xfrm>
                          <a:off x="919425" y="3483700"/>
                          <a:ext cx="947400" cy="846600"/>
                        </a:xfrm>
                        <a:prstGeom prst="roundRect">
                          <a:avLst>
                            <a:gd fmla="val 16667" name="adj"/>
                          </a:avLst>
                        </a:prstGeom>
                        <a:solidFill>
                          <a:srgbClr val="009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43"/>
                        <p:cNvSpPr txBox="1"/>
                        <p:nvPr/>
                      </p:nvSpPr>
                      <p:spPr>
                        <a:xfrm>
                          <a:off x="1181099" y="3585925"/>
                          <a:ext cx="358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900">
                              <a:solidFill>
                                <a:schemeClr val="lt1"/>
                              </a:solidFill>
                            </a:rPr>
                            <a:t>V</a:t>
                          </a:r>
                          <a:endParaRPr sz="2900">
                            <a:solidFill>
                              <a:schemeClr val="lt1"/>
                            </a:solidFill>
                          </a:endParaRPr>
                        </a:p>
                      </p:txBody>
                    </p:sp>
                  </p:grpSp>
                  <p:grpSp>
                    <p:nvGrpSpPr>
                      <p:cNvPr id="320" name="Google Shape;320;p43"/>
                      <p:cNvGrpSpPr/>
                      <p:nvPr/>
                    </p:nvGrpSpPr>
                    <p:grpSpPr>
                      <a:xfrm>
                        <a:off x="707400" y="2259075"/>
                        <a:ext cx="3996125" cy="846600"/>
                        <a:chOff x="707400" y="2259075"/>
                        <a:chExt cx="3996125" cy="846600"/>
                      </a:xfrm>
                    </p:grpSpPr>
                    <p:grpSp>
                      <p:nvGrpSpPr>
                        <p:cNvPr id="321" name="Google Shape;321;p43"/>
                        <p:cNvGrpSpPr/>
                        <p:nvPr/>
                      </p:nvGrpSpPr>
                      <p:grpSpPr>
                        <a:xfrm>
                          <a:off x="3756125" y="2259075"/>
                          <a:ext cx="947400" cy="846600"/>
                          <a:chOff x="3450575" y="2411850"/>
                          <a:chExt cx="947400" cy="846600"/>
                        </a:xfrm>
                      </p:grpSpPr>
                      <p:sp>
                        <p:nvSpPr>
                          <p:cNvPr id="322" name="Google Shape;322;p43"/>
                          <p:cNvSpPr/>
                          <p:nvPr/>
                        </p:nvSpPr>
                        <p:spPr>
                          <a:xfrm>
                            <a:off x="3450575" y="2411850"/>
                            <a:ext cx="947400" cy="846600"/>
                          </a:xfrm>
                          <a:prstGeom prst="roundRect">
                            <a:avLst>
                              <a:gd fmla="val 16667" name="adj"/>
                            </a:avLst>
                          </a:prstGeom>
                          <a:solidFill>
                            <a:srgbClr val="CC79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43"/>
                          <p:cNvSpPr txBox="1"/>
                          <p:nvPr/>
                        </p:nvSpPr>
                        <p:spPr>
                          <a:xfrm>
                            <a:off x="3716399" y="2537725"/>
                            <a:ext cx="358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900">
                                <a:solidFill>
                                  <a:schemeClr val="lt1"/>
                                </a:solidFill>
                              </a:rPr>
                              <a:t>R</a:t>
                            </a:r>
                            <a:endParaRPr sz="2900">
                              <a:solidFill>
                                <a:schemeClr val="lt1"/>
                              </a:solidFill>
                            </a:endParaRPr>
                          </a:p>
                        </p:txBody>
                      </p:sp>
                    </p:grpSp>
                    <p:grpSp>
                      <p:nvGrpSpPr>
                        <p:cNvPr id="324" name="Google Shape;324;p43"/>
                        <p:cNvGrpSpPr/>
                        <p:nvPr/>
                      </p:nvGrpSpPr>
                      <p:grpSpPr>
                        <a:xfrm>
                          <a:off x="707400" y="2259075"/>
                          <a:ext cx="2471763" cy="846600"/>
                          <a:chOff x="707400" y="2259075"/>
                          <a:chExt cx="2471763" cy="846600"/>
                        </a:xfrm>
                      </p:grpSpPr>
                      <p:grpSp>
                        <p:nvGrpSpPr>
                          <p:cNvPr id="325" name="Google Shape;325;p43"/>
                          <p:cNvGrpSpPr/>
                          <p:nvPr/>
                        </p:nvGrpSpPr>
                        <p:grpSpPr>
                          <a:xfrm>
                            <a:off x="707400" y="2259075"/>
                            <a:ext cx="947400" cy="846600"/>
                            <a:chOff x="919425" y="2411850"/>
                            <a:chExt cx="947400" cy="846600"/>
                          </a:xfrm>
                        </p:grpSpPr>
                        <p:sp>
                          <p:nvSpPr>
                            <p:cNvPr id="306" name="Google Shape;306;p43"/>
                            <p:cNvSpPr/>
                            <p:nvPr/>
                          </p:nvSpPr>
                          <p:spPr>
                            <a:xfrm>
                              <a:off x="919425" y="2411850"/>
                              <a:ext cx="947400" cy="846600"/>
                            </a:xfrm>
                            <a:prstGeom prst="roundRect">
                              <a:avLst>
                                <a:gd fmla="val 16667" name="adj"/>
                              </a:avLst>
                            </a:prstGeom>
                            <a:solidFill>
                              <a:srgbClr val="0072B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43"/>
                            <p:cNvSpPr txBox="1"/>
                            <p:nvPr/>
                          </p:nvSpPr>
                          <p:spPr>
                            <a:xfrm>
                              <a:off x="1181099" y="2537725"/>
                              <a:ext cx="358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900">
                                  <a:solidFill>
                                    <a:schemeClr val="lt1"/>
                                  </a:solidFill>
                                </a:rPr>
                                <a:t>S</a:t>
                              </a:r>
                              <a:endParaRPr sz="2900">
                                <a:solidFill>
                                  <a:schemeClr val="lt1"/>
                                </a:solidFill>
                              </a:endParaRPr>
                            </a:p>
                          </p:txBody>
                        </p:sp>
                      </p:grpSp>
                      <p:grpSp>
                        <p:nvGrpSpPr>
                          <p:cNvPr id="327" name="Google Shape;327;p43"/>
                          <p:cNvGrpSpPr/>
                          <p:nvPr/>
                        </p:nvGrpSpPr>
                        <p:grpSpPr>
                          <a:xfrm>
                            <a:off x="2231763" y="2259075"/>
                            <a:ext cx="947400" cy="846600"/>
                            <a:chOff x="2185000" y="2411850"/>
                            <a:chExt cx="947400" cy="846600"/>
                          </a:xfrm>
                        </p:grpSpPr>
                        <p:sp>
                          <p:nvSpPr>
                            <p:cNvPr id="310" name="Google Shape;310;p43"/>
                            <p:cNvSpPr/>
                            <p:nvPr/>
                          </p:nvSpPr>
                          <p:spPr>
                            <a:xfrm>
                              <a:off x="2185000" y="2411850"/>
                              <a:ext cx="947400" cy="846600"/>
                            </a:xfrm>
                            <a:prstGeom prst="roundRect">
                              <a:avLst>
                                <a:gd fmla="val 16667" name="adj"/>
                              </a:avLst>
                            </a:prstGeom>
                            <a:solidFill>
                              <a:srgbClr val="E69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43"/>
                            <p:cNvSpPr txBox="1"/>
                            <p:nvPr/>
                          </p:nvSpPr>
                          <p:spPr>
                            <a:xfrm>
                              <a:off x="2448756" y="2527552"/>
                              <a:ext cx="358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900">
                                  <a:solidFill>
                                    <a:schemeClr val="lt1"/>
                                  </a:solidFill>
                                </a:rPr>
                                <a:t>C</a:t>
                              </a:r>
                              <a:endParaRPr sz="2900">
                                <a:solidFill>
                                  <a:schemeClr val="lt1"/>
                                </a:solidFill>
                              </a:endParaRPr>
                            </a:p>
                          </p:txBody>
                        </p:sp>
                      </p:grpSp>
                    </p:grpSp>
                  </p:grpSp>
                </p:grpSp>
              </p:grpSp>
              <p:cxnSp>
                <p:nvCxnSpPr>
                  <p:cNvPr id="329" name="Google Shape;329;p43"/>
                  <p:cNvCxnSpPr>
                    <a:stCxn id="306" idx="3"/>
                    <a:endCxn id="310" idx="1"/>
                  </p:cNvCxnSpPr>
                  <p:nvPr/>
                </p:nvCxnSpPr>
                <p:spPr>
                  <a:xfrm>
                    <a:off x="3483225" y="2652750"/>
                    <a:ext cx="576900" cy="0"/>
                  </a:xfrm>
                  <a:prstGeom prst="straightConnector1">
                    <a:avLst/>
                  </a:prstGeom>
                  <a:noFill/>
                  <a:ln cap="flat" cmpd="sng" w="9525">
                    <a:solidFill>
                      <a:schemeClr val="dk2"/>
                    </a:solidFill>
                    <a:prstDash val="solid"/>
                    <a:round/>
                    <a:headEnd len="med" w="med" type="none"/>
                    <a:tailEnd len="med" w="med" type="triangle"/>
                  </a:ln>
                </p:spPr>
              </p:cxnSp>
              <p:cxnSp>
                <p:nvCxnSpPr>
                  <p:cNvPr id="330" name="Google Shape;330;p43"/>
                  <p:cNvCxnSpPr>
                    <a:stCxn id="310" idx="3"/>
                    <a:endCxn id="322" idx="1"/>
                  </p:cNvCxnSpPr>
                  <p:nvPr/>
                </p:nvCxnSpPr>
                <p:spPr>
                  <a:xfrm>
                    <a:off x="5007588" y="2652750"/>
                    <a:ext cx="576900" cy="0"/>
                  </a:xfrm>
                  <a:prstGeom prst="straightConnector1">
                    <a:avLst/>
                  </a:prstGeom>
                  <a:noFill/>
                  <a:ln cap="flat" cmpd="sng" w="9525">
                    <a:solidFill>
                      <a:schemeClr val="dk2"/>
                    </a:solidFill>
                    <a:prstDash val="solid"/>
                    <a:round/>
                    <a:headEnd len="med" w="med" type="none"/>
                    <a:tailEnd len="med" w="med" type="triangle"/>
                  </a:ln>
                </p:spPr>
              </p:cxnSp>
              <p:sp>
                <p:nvSpPr>
                  <p:cNvPr id="331" name="Google Shape;331;p43"/>
                  <p:cNvSpPr txBox="1"/>
                  <p:nvPr/>
                </p:nvSpPr>
                <p:spPr>
                  <a:xfrm>
                    <a:off x="3468112" y="2084368"/>
                    <a:ext cx="685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rPr>
                      <a:t>𝜆</a:t>
                    </a:r>
                    <a:r>
                      <a:rPr i="1" lang="en-GB" sz="2200">
                        <a:solidFill>
                          <a:schemeClr val="dk1"/>
                        </a:solidFill>
                      </a:rPr>
                      <a:t>S</a:t>
                    </a:r>
                    <a:r>
                      <a:rPr baseline="-25000" i="1" lang="en-GB" sz="2200">
                        <a:solidFill>
                          <a:schemeClr val="dk1"/>
                        </a:solidFill>
                      </a:rPr>
                      <a:t>t</a:t>
                    </a:r>
                    <a:endParaRPr baseline="-25000" i="1" sz="2200">
                      <a:solidFill>
                        <a:srgbClr val="003E72"/>
                      </a:solidFill>
                    </a:endParaRPr>
                  </a:p>
                </p:txBody>
              </p:sp>
              <p:sp>
                <p:nvSpPr>
                  <p:cNvPr id="332" name="Google Shape;332;p43"/>
                  <p:cNvSpPr txBox="1"/>
                  <p:nvPr/>
                </p:nvSpPr>
                <p:spPr>
                  <a:xfrm>
                    <a:off x="3009525" y="2980248"/>
                    <a:ext cx="685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rPr>
                      <a:t>𝜓</a:t>
                    </a:r>
                    <a:r>
                      <a:rPr i="1" lang="en-GB" sz="2200">
                        <a:solidFill>
                          <a:schemeClr val="dk1"/>
                        </a:solidFill>
                      </a:rPr>
                      <a:t>S</a:t>
                    </a:r>
                    <a:r>
                      <a:rPr baseline="-25000" i="1" lang="en-GB" sz="2200">
                        <a:solidFill>
                          <a:schemeClr val="dk1"/>
                        </a:solidFill>
                      </a:rPr>
                      <a:t>t</a:t>
                    </a:r>
                    <a:endParaRPr baseline="-25000" i="1" sz="2200">
                      <a:solidFill>
                        <a:srgbClr val="003E72"/>
                      </a:solidFill>
                    </a:endParaRPr>
                  </a:p>
                </p:txBody>
              </p:sp>
              <p:sp>
                <p:nvSpPr>
                  <p:cNvPr id="333" name="Google Shape;333;p43"/>
                  <p:cNvSpPr txBox="1"/>
                  <p:nvPr/>
                </p:nvSpPr>
                <p:spPr>
                  <a:xfrm>
                    <a:off x="4610100" y="2971100"/>
                    <a:ext cx="10641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rPr>
                      <a:t>𝛼</a:t>
                    </a:r>
                    <a:r>
                      <a:rPr i="1" lang="en-GB" sz="2200">
                        <a:solidFill>
                          <a:schemeClr val="dk1"/>
                        </a:solidFill>
                      </a:rPr>
                      <a:t>C</a:t>
                    </a:r>
                    <a:r>
                      <a:rPr baseline="-25000" i="1" lang="en-GB" sz="2200">
                        <a:solidFill>
                          <a:schemeClr val="dk1"/>
                        </a:solidFill>
                      </a:rPr>
                      <a:t>t </a:t>
                    </a:r>
                    <a:endParaRPr baseline="-25000" i="1" sz="2200">
                      <a:solidFill>
                        <a:srgbClr val="003E72"/>
                      </a:solidFill>
                    </a:endParaRPr>
                  </a:p>
                </p:txBody>
              </p:sp>
              <p:sp>
                <p:nvSpPr>
                  <p:cNvPr id="334" name="Google Shape;334;p43"/>
                  <p:cNvSpPr txBox="1"/>
                  <p:nvPr/>
                </p:nvSpPr>
                <p:spPr>
                  <a:xfrm>
                    <a:off x="4972337" y="2122268"/>
                    <a:ext cx="6858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rPr>
                      <a:t>𝛾</a:t>
                    </a:r>
                    <a:r>
                      <a:rPr i="1" lang="en-GB" sz="2200">
                        <a:solidFill>
                          <a:schemeClr val="dk1"/>
                        </a:solidFill>
                      </a:rPr>
                      <a:t>C</a:t>
                    </a:r>
                    <a:r>
                      <a:rPr baseline="-25000" i="1" lang="en-GB" sz="2200">
                        <a:solidFill>
                          <a:schemeClr val="dk1"/>
                        </a:solidFill>
                      </a:rPr>
                      <a:t>t</a:t>
                    </a:r>
                    <a:endParaRPr baseline="-25000" i="1" sz="2200">
                      <a:solidFill>
                        <a:srgbClr val="003E72"/>
                      </a:solidFill>
                    </a:endParaRPr>
                  </a:p>
                </p:txBody>
              </p:sp>
            </p:grpSp>
            <p:sp>
              <p:nvSpPr>
                <p:cNvPr id="335" name="Google Shape;335;p43"/>
                <p:cNvSpPr txBox="1"/>
                <p:nvPr/>
              </p:nvSpPr>
              <p:spPr>
                <a:xfrm>
                  <a:off x="5541950" y="3384775"/>
                  <a:ext cx="5727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solidFill>
                        <a:schemeClr val="dk1"/>
                      </a:solidFill>
                    </a:rPr>
                    <a:t>𝛿</a:t>
                  </a:r>
                  <a:r>
                    <a:rPr i="1" lang="en-GB" sz="2200">
                      <a:solidFill>
                        <a:schemeClr val="dk1"/>
                      </a:solidFill>
                    </a:rPr>
                    <a:t>I</a:t>
                  </a:r>
                  <a:r>
                    <a:rPr baseline="-25000" i="1" lang="en-GB" sz="2200">
                      <a:solidFill>
                        <a:schemeClr val="dk1"/>
                      </a:solidFill>
                    </a:rPr>
                    <a:t>t </a:t>
                  </a:r>
                  <a:endParaRPr baseline="-25000" i="1" sz="2200">
                    <a:solidFill>
                      <a:srgbClr val="003E72"/>
                    </a:solidFill>
                  </a:endParaRPr>
                </a:p>
              </p:txBody>
            </p:sp>
          </p:grpSp>
          <p:cxnSp>
            <p:nvCxnSpPr>
              <p:cNvPr id="336" name="Google Shape;336;p43"/>
              <p:cNvCxnSpPr>
                <a:stCxn id="311" idx="3"/>
                <a:endCxn id="322" idx="2"/>
              </p:cNvCxnSpPr>
              <p:nvPr/>
            </p:nvCxnSpPr>
            <p:spPr>
              <a:xfrm flipH="1" rot="10800000">
                <a:off x="7065000" y="3115613"/>
                <a:ext cx="1050600" cy="801300"/>
              </a:xfrm>
              <a:prstGeom prst="straightConnector1">
                <a:avLst/>
              </a:prstGeom>
              <a:noFill/>
              <a:ln cap="flat" cmpd="sng" w="9525">
                <a:solidFill>
                  <a:schemeClr val="dk2"/>
                </a:solidFill>
                <a:prstDash val="solid"/>
                <a:round/>
                <a:headEnd len="med" w="med" type="none"/>
                <a:tailEnd len="med" w="med" type="triangle"/>
              </a:ln>
            </p:spPr>
          </p:cxnSp>
        </p:grpSp>
      </p:grpSp>
      <p:pic>
        <p:nvPicPr>
          <p:cNvPr id="337" name="Google Shape;337;p43" title="a08494a9-4536-4382-9b75-7658a85b0a39.png"/>
          <p:cNvPicPr preferRelativeResize="0"/>
          <p:nvPr/>
        </p:nvPicPr>
        <p:blipFill>
          <a:blip r:embed="rId3">
            <a:alphaModFix/>
          </a:blip>
          <a:stretch>
            <a:fillRect/>
          </a:stretch>
        </p:blipFill>
        <p:spPr>
          <a:xfrm>
            <a:off x="5021925" y="1979100"/>
            <a:ext cx="3406451" cy="2593725"/>
          </a:xfrm>
          <a:prstGeom prst="rect">
            <a:avLst/>
          </a:prstGeom>
          <a:noFill/>
          <a:ln>
            <a:noFill/>
          </a:ln>
        </p:spPr>
      </p:pic>
      <p:sp>
        <p:nvSpPr>
          <p:cNvPr id="338" name="Google Shape;338;p43"/>
          <p:cNvSpPr txBox="1"/>
          <p:nvPr/>
        </p:nvSpPr>
        <p:spPr>
          <a:xfrm>
            <a:off x="3949800" y="4716087"/>
            <a:ext cx="1244400" cy="2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lt1"/>
                </a:solidFill>
              </a:rPr>
              <a:t>Sara Althaqafi</a:t>
            </a:r>
            <a:endParaRPr sz="12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type="title"/>
          </p:nvPr>
        </p:nvSpPr>
        <p:spPr>
          <a:xfrm>
            <a:off x="270000" y="254700"/>
            <a:ext cx="8745300" cy="785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500">
                <a:solidFill>
                  <a:schemeClr val="lt1"/>
                </a:solidFill>
              </a:rPr>
              <a:t>Modelling the impact of the MenC vaccination programme</a:t>
            </a:r>
            <a:endParaRPr sz="2500">
              <a:solidFill>
                <a:schemeClr val="lt1"/>
              </a:solidFill>
            </a:endParaRPr>
          </a:p>
          <a:p>
            <a:pPr indent="0" lvl="0" marL="0" rtl="0" algn="l">
              <a:spcBef>
                <a:spcPts val="0"/>
              </a:spcBef>
              <a:spcAft>
                <a:spcPts val="0"/>
              </a:spcAft>
              <a:buNone/>
            </a:pPr>
            <a:r>
              <a:t/>
            </a:r>
            <a:endParaRPr/>
          </a:p>
        </p:txBody>
      </p:sp>
      <p:sp>
        <p:nvSpPr>
          <p:cNvPr id="344" name="Google Shape;344;p44"/>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345" name="Google Shape;345;p44" title="Rplot01.png"/>
          <p:cNvPicPr preferRelativeResize="0"/>
          <p:nvPr/>
        </p:nvPicPr>
        <p:blipFill>
          <a:blip r:embed="rId3">
            <a:alphaModFix/>
          </a:blip>
          <a:stretch>
            <a:fillRect/>
          </a:stretch>
        </p:blipFill>
        <p:spPr>
          <a:xfrm>
            <a:off x="343386" y="1085350"/>
            <a:ext cx="4060641" cy="3321081"/>
          </a:xfrm>
          <a:prstGeom prst="rect">
            <a:avLst/>
          </a:prstGeom>
          <a:noFill/>
          <a:ln>
            <a:noFill/>
          </a:ln>
        </p:spPr>
      </p:pic>
      <p:sp>
        <p:nvSpPr>
          <p:cNvPr id="346" name="Google Shape;346;p44"/>
          <p:cNvSpPr txBox="1"/>
          <p:nvPr/>
        </p:nvSpPr>
        <p:spPr>
          <a:xfrm>
            <a:off x="7353300" y="4341375"/>
            <a:ext cx="1616700" cy="2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u="sng">
                <a:solidFill>
                  <a:schemeClr val="hlink"/>
                </a:solidFill>
                <a:hlinkClick r:id="rId4"/>
              </a:rPr>
              <a:t>References</a:t>
            </a:r>
            <a:r>
              <a:rPr lang="en-GB" sz="800" u="sng">
                <a:solidFill>
                  <a:schemeClr val="hlink"/>
                </a:solidFill>
                <a:hlinkClick r:id="rId5"/>
              </a:rPr>
              <a:t> and Appendix</a:t>
            </a:r>
            <a:endParaRPr sz="800">
              <a:solidFill>
                <a:srgbClr val="003E72"/>
              </a:solidFill>
            </a:endParaRPr>
          </a:p>
        </p:txBody>
      </p:sp>
      <p:pic>
        <p:nvPicPr>
          <p:cNvPr id="347" name="Google Shape;347;p44" title="c7e8bf64-14fa-4398-a8c0-94683938964e.png"/>
          <p:cNvPicPr preferRelativeResize="0"/>
          <p:nvPr/>
        </p:nvPicPr>
        <p:blipFill>
          <a:blip r:embed="rId6">
            <a:alphaModFix/>
          </a:blip>
          <a:stretch>
            <a:fillRect/>
          </a:stretch>
        </p:blipFill>
        <p:spPr>
          <a:xfrm>
            <a:off x="4533896" y="1085363"/>
            <a:ext cx="3891705" cy="3321074"/>
          </a:xfrm>
          <a:prstGeom prst="rect">
            <a:avLst/>
          </a:prstGeom>
          <a:noFill/>
          <a:ln>
            <a:noFill/>
          </a:ln>
        </p:spPr>
      </p:pic>
      <p:sp>
        <p:nvSpPr>
          <p:cNvPr id="348" name="Google Shape;348;p44"/>
          <p:cNvSpPr txBox="1"/>
          <p:nvPr/>
        </p:nvSpPr>
        <p:spPr>
          <a:xfrm>
            <a:off x="3949800" y="4716087"/>
            <a:ext cx="1244400" cy="2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lt1"/>
                </a:solidFill>
              </a:rPr>
              <a:t>Sara Althaqafi</a:t>
            </a:r>
            <a:endParaRPr sz="12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270000" y="188247"/>
            <a:ext cx="8604000" cy="6156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000"/>
              <a:t>Mada: Ho</a:t>
            </a:r>
            <a:r>
              <a:rPr lang="en-GB" sz="2000"/>
              <a:t>w Hypothetical Vaccination Could Reshapes the 1918 Lonaconing Flu Outbreak </a:t>
            </a:r>
            <a:endParaRPr sz="2300"/>
          </a:p>
        </p:txBody>
      </p:sp>
      <p:sp>
        <p:nvSpPr>
          <p:cNvPr id="354" name="Google Shape;354;p45"/>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grpSp>
        <p:nvGrpSpPr>
          <p:cNvPr id="355" name="Google Shape;355;p45"/>
          <p:cNvGrpSpPr/>
          <p:nvPr/>
        </p:nvGrpSpPr>
        <p:grpSpPr>
          <a:xfrm>
            <a:off x="3607135" y="1283859"/>
            <a:ext cx="1958627" cy="2063707"/>
            <a:chOff x="5632317" y="1189775"/>
            <a:chExt cx="3305700" cy="3483050"/>
          </a:xfrm>
        </p:grpSpPr>
        <p:sp>
          <p:nvSpPr>
            <p:cNvPr id="356" name="Google Shape;356;p45"/>
            <p:cNvSpPr/>
            <p:nvPr/>
          </p:nvSpPr>
          <p:spPr>
            <a:xfrm>
              <a:off x="5632317" y="1189775"/>
              <a:ext cx="3305700" cy="669000"/>
            </a:xfrm>
            <a:prstGeom prst="chevron">
              <a:avLst>
                <a:gd fmla="val 50000" name="adj"/>
              </a:avLst>
            </a:prstGeom>
            <a:solidFill>
              <a:srgbClr val="68ACE5"/>
            </a:solidFill>
            <a:ln>
              <a:noFill/>
            </a:ln>
          </p:spPr>
          <p:txBody>
            <a:bodyPr anchorCtr="0" anchor="ctr" bIns="54175" lIns="54175" spcFirstLastPara="1" rIns="54175" wrap="square" tIns="54175">
              <a:noAutofit/>
            </a:bodyPr>
            <a:lstStyle/>
            <a:p>
              <a:pPr indent="0" lvl="0" marL="0" rtl="0" algn="ctr">
                <a:spcBef>
                  <a:spcPts val="0"/>
                </a:spcBef>
                <a:spcAft>
                  <a:spcPts val="0"/>
                </a:spcAft>
                <a:buNone/>
              </a:pPr>
              <a:r>
                <a:rPr lang="en-GB" sz="1000">
                  <a:solidFill>
                    <a:srgbClr val="FFFFFF"/>
                  </a:solidFill>
                </a:rPr>
                <a:t>Stimulate</a:t>
              </a:r>
              <a:r>
                <a:rPr lang="en-GB" sz="1000">
                  <a:solidFill>
                    <a:srgbClr val="FFFFFF"/>
                  </a:solidFill>
                </a:rPr>
                <a:t> hypothetical model for vaccination </a:t>
              </a:r>
              <a:endParaRPr sz="1000">
                <a:solidFill>
                  <a:srgbClr val="FFFFFF"/>
                </a:solidFill>
              </a:endParaRPr>
            </a:p>
          </p:txBody>
        </p:sp>
        <p:sp>
          <p:nvSpPr>
            <p:cNvPr id="357" name="Google Shape;357;p45"/>
            <p:cNvSpPr txBox="1"/>
            <p:nvPr/>
          </p:nvSpPr>
          <p:spPr>
            <a:xfrm>
              <a:off x="6167063" y="2057125"/>
              <a:ext cx="2236200" cy="2615700"/>
            </a:xfrm>
            <a:prstGeom prst="rect">
              <a:avLst/>
            </a:prstGeom>
            <a:noFill/>
            <a:ln>
              <a:noFill/>
            </a:ln>
          </p:spPr>
          <p:txBody>
            <a:bodyPr anchorCtr="0" anchor="t" bIns="54175" lIns="54175" spcFirstLastPara="1" rIns="54175" wrap="square" tIns="54175">
              <a:noAutofit/>
            </a:bodyPr>
            <a:lstStyle/>
            <a:p>
              <a:pPr indent="0" lvl="0" marL="0" rtl="0" algn="ctr">
                <a:lnSpc>
                  <a:spcPct val="115000"/>
                </a:lnSpc>
                <a:spcBef>
                  <a:spcPts val="0"/>
                </a:spcBef>
                <a:spcAft>
                  <a:spcPts val="0"/>
                </a:spcAft>
                <a:buNone/>
              </a:pPr>
              <a:r>
                <a:t/>
              </a:r>
              <a:endParaRPr sz="1000"/>
            </a:p>
          </p:txBody>
        </p:sp>
      </p:grpSp>
      <p:grpSp>
        <p:nvGrpSpPr>
          <p:cNvPr id="358" name="Google Shape;358;p45"/>
          <p:cNvGrpSpPr/>
          <p:nvPr/>
        </p:nvGrpSpPr>
        <p:grpSpPr>
          <a:xfrm>
            <a:off x="269988" y="1283986"/>
            <a:ext cx="2101538" cy="2063580"/>
            <a:chOff x="0" y="1189989"/>
            <a:chExt cx="3546900" cy="3482836"/>
          </a:xfrm>
        </p:grpSpPr>
        <p:sp>
          <p:nvSpPr>
            <p:cNvPr id="359" name="Google Shape;359;p45"/>
            <p:cNvSpPr/>
            <p:nvPr/>
          </p:nvSpPr>
          <p:spPr>
            <a:xfrm>
              <a:off x="0" y="1189989"/>
              <a:ext cx="3546900" cy="669000"/>
            </a:xfrm>
            <a:prstGeom prst="homePlate">
              <a:avLst>
                <a:gd fmla="val 50000" name="adj"/>
              </a:avLst>
            </a:prstGeom>
            <a:solidFill>
              <a:schemeClr val="dk2"/>
            </a:solidFill>
            <a:ln>
              <a:noFill/>
            </a:ln>
          </p:spPr>
          <p:txBody>
            <a:bodyPr anchorCtr="0" anchor="ctr" bIns="54175" lIns="54175" spcFirstLastPara="1" rIns="54175" wrap="square" tIns="54175">
              <a:noAutofit/>
            </a:bodyPr>
            <a:lstStyle/>
            <a:p>
              <a:pPr indent="0" lvl="0" marL="0" rtl="0" algn="ctr">
                <a:spcBef>
                  <a:spcPts val="0"/>
                </a:spcBef>
                <a:spcAft>
                  <a:spcPts val="0"/>
                </a:spcAft>
                <a:buNone/>
              </a:pPr>
              <a:r>
                <a:rPr lang="en-GB" sz="1000">
                  <a:solidFill>
                    <a:srgbClr val="FFFFFF"/>
                  </a:solidFill>
                </a:rPr>
                <a:t>Explore</a:t>
              </a:r>
              <a:r>
                <a:rPr lang="en-GB" sz="1000">
                  <a:solidFill>
                    <a:srgbClr val="FFFFFF"/>
                  </a:solidFill>
                </a:rPr>
                <a:t> the data </a:t>
              </a:r>
              <a:endParaRPr sz="1000">
                <a:solidFill>
                  <a:srgbClr val="FFFFFF"/>
                </a:solidFill>
              </a:endParaRPr>
            </a:p>
          </p:txBody>
        </p:sp>
        <p:sp>
          <p:nvSpPr>
            <p:cNvPr id="360" name="Google Shape;360;p45"/>
            <p:cNvSpPr txBox="1"/>
            <p:nvPr/>
          </p:nvSpPr>
          <p:spPr>
            <a:xfrm>
              <a:off x="655361" y="2057125"/>
              <a:ext cx="2236200" cy="2615700"/>
            </a:xfrm>
            <a:prstGeom prst="rect">
              <a:avLst/>
            </a:prstGeom>
            <a:noFill/>
            <a:ln>
              <a:noFill/>
            </a:ln>
          </p:spPr>
          <p:txBody>
            <a:bodyPr anchorCtr="0" anchor="t" bIns="54175" lIns="54175" spcFirstLastPara="1" rIns="54175" wrap="square" tIns="54175">
              <a:noAutofit/>
            </a:bodyPr>
            <a:lstStyle/>
            <a:p>
              <a:pPr indent="0" lvl="0" marL="0" rtl="0" algn="ctr">
                <a:lnSpc>
                  <a:spcPct val="115000"/>
                </a:lnSpc>
                <a:spcBef>
                  <a:spcPts val="0"/>
                </a:spcBef>
                <a:spcAft>
                  <a:spcPts val="0"/>
                </a:spcAft>
                <a:buNone/>
              </a:pPr>
              <a:r>
                <a:t/>
              </a:r>
              <a:endParaRPr sz="1000"/>
            </a:p>
          </p:txBody>
        </p:sp>
      </p:grpSp>
      <p:grpSp>
        <p:nvGrpSpPr>
          <p:cNvPr id="361" name="Google Shape;361;p45"/>
          <p:cNvGrpSpPr/>
          <p:nvPr/>
        </p:nvGrpSpPr>
        <p:grpSpPr>
          <a:xfrm>
            <a:off x="2014428" y="1283859"/>
            <a:ext cx="1958627" cy="2063707"/>
            <a:chOff x="2944204" y="1189775"/>
            <a:chExt cx="3305700" cy="3483050"/>
          </a:xfrm>
        </p:grpSpPr>
        <p:sp>
          <p:nvSpPr>
            <p:cNvPr id="362" name="Google Shape;362;p45"/>
            <p:cNvSpPr/>
            <p:nvPr/>
          </p:nvSpPr>
          <p:spPr>
            <a:xfrm>
              <a:off x="2944204" y="1189775"/>
              <a:ext cx="3305700" cy="669000"/>
            </a:xfrm>
            <a:prstGeom prst="chevron">
              <a:avLst>
                <a:gd fmla="val 50000" name="adj"/>
              </a:avLst>
            </a:prstGeom>
            <a:solidFill>
              <a:srgbClr val="0072CF"/>
            </a:solidFill>
            <a:ln>
              <a:noFill/>
            </a:ln>
          </p:spPr>
          <p:txBody>
            <a:bodyPr anchorCtr="0" anchor="ctr" bIns="54175" lIns="54175" spcFirstLastPara="1" rIns="54175" wrap="square" tIns="54175">
              <a:noAutofit/>
            </a:bodyPr>
            <a:lstStyle/>
            <a:p>
              <a:pPr indent="0" lvl="0" marL="0" rtl="0" algn="ctr">
                <a:spcBef>
                  <a:spcPts val="0"/>
                </a:spcBef>
                <a:spcAft>
                  <a:spcPts val="0"/>
                </a:spcAft>
                <a:buNone/>
              </a:pPr>
              <a:r>
                <a:rPr lang="en-GB" sz="1000">
                  <a:solidFill>
                    <a:schemeClr val="lt1"/>
                  </a:solidFill>
                </a:rPr>
                <a:t>Build and optimize the model </a:t>
              </a:r>
              <a:endParaRPr sz="1000">
                <a:solidFill>
                  <a:srgbClr val="FFFFFF"/>
                </a:solidFill>
              </a:endParaRPr>
            </a:p>
          </p:txBody>
        </p:sp>
        <p:sp>
          <p:nvSpPr>
            <p:cNvPr id="363" name="Google Shape;363;p45"/>
            <p:cNvSpPr txBox="1"/>
            <p:nvPr/>
          </p:nvSpPr>
          <p:spPr>
            <a:xfrm>
              <a:off x="3478949" y="2057125"/>
              <a:ext cx="2236200" cy="2615700"/>
            </a:xfrm>
            <a:prstGeom prst="rect">
              <a:avLst/>
            </a:prstGeom>
            <a:noFill/>
            <a:ln>
              <a:noFill/>
            </a:ln>
          </p:spPr>
          <p:txBody>
            <a:bodyPr anchorCtr="0" anchor="t" bIns="54175" lIns="54175" spcFirstLastPara="1" rIns="54175" wrap="square" tIns="54175">
              <a:noAutofit/>
            </a:bodyPr>
            <a:lstStyle/>
            <a:p>
              <a:pPr indent="0" lvl="0" marL="0" rtl="0" algn="ctr">
                <a:lnSpc>
                  <a:spcPct val="115000"/>
                </a:lnSpc>
                <a:spcBef>
                  <a:spcPts val="0"/>
                </a:spcBef>
                <a:spcAft>
                  <a:spcPts val="0"/>
                </a:spcAft>
                <a:buNone/>
              </a:pPr>
              <a:r>
                <a:t/>
              </a:r>
              <a:endParaRPr sz="1000"/>
            </a:p>
          </p:txBody>
        </p:sp>
      </p:grpSp>
      <p:pic>
        <p:nvPicPr>
          <p:cNvPr id="364" name="Google Shape;364;p45"/>
          <p:cNvPicPr preferRelativeResize="0"/>
          <p:nvPr/>
        </p:nvPicPr>
        <p:blipFill>
          <a:blip r:embed="rId3">
            <a:alphaModFix/>
          </a:blip>
          <a:stretch>
            <a:fillRect/>
          </a:stretch>
        </p:blipFill>
        <p:spPr>
          <a:xfrm>
            <a:off x="389164" y="1831974"/>
            <a:ext cx="4792436" cy="2663826"/>
          </a:xfrm>
          <a:prstGeom prst="rect">
            <a:avLst/>
          </a:prstGeom>
          <a:noFill/>
          <a:ln>
            <a:noFill/>
          </a:ln>
        </p:spPr>
      </p:pic>
      <p:sp>
        <p:nvSpPr>
          <p:cNvPr id="365" name="Google Shape;365;p45"/>
          <p:cNvSpPr txBox="1"/>
          <p:nvPr/>
        </p:nvSpPr>
        <p:spPr>
          <a:xfrm>
            <a:off x="141061" y="4393921"/>
            <a:ext cx="8382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800">
                <a:solidFill>
                  <a:schemeClr val="dk1"/>
                </a:solidFill>
              </a:rPr>
              <a:t>Nishiura H. Early efforts in modeling the incubation period of infectious diseases with an acute course of illness. </a:t>
            </a:r>
            <a:r>
              <a:rPr i="1" lang="en-GB" sz="800">
                <a:solidFill>
                  <a:schemeClr val="dk1"/>
                </a:solidFill>
              </a:rPr>
              <a:t>PLoS One</a:t>
            </a:r>
            <a:r>
              <a:rPr lang="en-GB" sz="800">
                <a:solidFill>
                  <a:schemeClr val="dk1"/>
                </a:solidFill>
              </a:rPr>
              <a:t>. 2008;3(1):e1498. doi:10.1371/journal.pone.0001498.  </a:t>
            </a:r>
            <a:endParaRPr sz="800">
              <a:solidFill>
                <a:schemeClr val="dk1"/>
              </a:solidFill>
            </a:endParaRPr>
          </a:p>
        </p:txBody>
      </p:sp>
      <p:sp>
        <p:nvSpPr>
          <p:cNvPr id="366" name="Google Shape;366;p45"/>
          <p:cNvSpPr txBox="1"/>
          <p:nvPr/>
        </p:nvSpPr>
        <p:spPr>
          <a:xfrm>
            <a:off x="5398550" y="1695900"/>
            <a:ext cx="3433800" cy="2859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400"/>
              </a:spcBef>
              <a:spcAft>
                <a:spcPts val="0"/>
              </a:spcAft>
              <a:buNone/>
            </a:pPr>
            <a:r>
              <a:rPr b="1" lang="en-GB" sz="1200">
                <a:solidFill>
                  <a:schemeClr val="dk2"/>
                </a:solidFill>
              </a:rPr>
              <a:t>Methods</a:t>
            </a:r>
            <a:endParaRPr b="1" sz="1200">
              <a:solidFill>
                <a:schemeClr val="dk2"/>
              </a:solidFill>
            </a:endParaRPr>
          </a:p>
          <a:p>
            <a:pPr indent="-304800" lvl="0" marL="457200" rtl="0" algn="just">
              <a:lnSpc>
                <a:spcPct val="115000"/>
              </a:lnSpc>
              <a:spcBef>
                <a:spcPts val="1200"/>
              </a:spcBef>
              <a:spcAft>
                <a:spcPts val="0"/>
              </a:spcAft>
              <a:buClr>
                <a:schemeClr val="dk1"/>
              </a:buClr>
              <a:buSzPts val="1200"/>
              <a:buChar char="●"/>
            </a:pPr>
            <a:r>
              <a:rPr lang="en-GB" sz="1200">
                <a:solidFill>
                  <a:schemeClr val="dk1"/>
                </a:solidFill>
              </a:rPr>
              <a:t>Selected Lonaconing as the case study because it had the highest infection rate</a:t>
            </a:r>
            <a:endParaRPr sz="1200">
              <a:solidFill>
                <a:schemeClr val="dk1"/>
              </a:solidFill>
            </a:endParaRPr>
          </a:p>
          <a:p>
            <a:pPr indent="-304800" lvl="0" marL="457200" rtl="0" algn="just">
              <a:lnSpc>
                <a:spcPct val="115000"/>
              </a:lnSpc>
              <a:spcBef>
                <a:spcPts val="0"/>
              </a:spcBef>
              <a:spcAft>
                <a:spcPts val="0"/>
              </a:spcAft>
              <a:buClr>
                <a:schemeClr val="dk2"/>
              </a:buClr>
              <a:buSzPts val="1200"/>
              <a:buChar char="●"/>
            </a:pPr>
            <a:r>
              <a:rPr lang="en-GB" sz="1200">
                <a:solidFill>
                  <a:schemeClr val="dk2"/>
                </a:solidFill>
              </a:rPr>
              <a:t>Applied an SEIR model to simulate the outbreak.</a:t>
            </a:r>
            <a:endParaRPr sz="1200">
              <a:solidFill>
                <a:schemeClr val="dk2"/>
              </a:solidFill>
            </a:endParaRPr>
          </a:p>
          <a:p>
            <a:pPr indent="-304800" lvl="0" marL="457200" rtl="0" algn="just">
              <a:lnSpc>
                <a:spcPct val="115000"/>
              </a:lnSpc>
              <a:spcBef>
                <a:spcPts val="0"/>
              </a:spcBef>
              <a:spcAft>
                <a:spcPts val="0"/>
              </a:spcAft>
              <a:buClr>
                <a:schemeClr val="dk2"/>
              </a:buClr>
              <a:buSzPts val="1200"/>
              <a:buChar char="●"/>
            </a:pPr>
            <a:r>
              <a:rPr lang="en-GB" sz="1200">
                <a:solidFill>
                  <a:schemeClr val="dk2"/>
                </a:solidFill>
              </a:rPr>
              <a:t>Model parameters (R₀= 2.5, </a:t>
            </a:r>
            <a:r>
              <a:rPr lang="en-GB" sz="1200">
                <a:solidFill>
                  <a:schemeClr val="dk2"/>
                </a:solidFill>
              </a:rPr>
              <a:t>incubation</a:t>
            </a:r>
            <a:r>
              <a:rPr lang="en-GB" sz="1200">
                <a:solidFill>
                  <a:schemeClr val="dk2"/>
                </a:solidFill>
              </a:rPr>
              <a:t>  </a:t>
            </a:r>
            <a:r>
              <a:rPr lang="en-GB" sz="1200">
                <a:solidFill>
                  <a:schemeClr val="dk2"/>
                </a:solidFill>
              </a:rPr>
              <a:t>period= 1.9 days</a:t>
            </a:r>
            <a:r>
              <a:rPr lang="en-GB" sz="1200">
                <a:solidFill>
                  <a:schemeClr val="dk2"/>
                </a:solidFill>
              </a:rPr>
              <a:t>, and infectious period = 1.4 days) were obtained from the literature.</a:t>
            </a:r>
            <a:endParaRPr sz="1200">
              <a:solidFill>
                <a:schemeClr val="dk2"/>
              </a:solidFill>
            </a:endParaRPr>
          </a:p>
          <a:p>
            <a:pPr indent="-304800" lvl="0" marL="457200" rtl="0" algn="just">
              <a:lnSpc>
                <a:spcPct val="115000"/>
              </a:lnSpc>
              <a:spcBef>
                <a:spcPts val="0"/>
              </a:spcBef>
              <a:spcAft>
                <a:spcPts val="0"/>
              </a:spcAft>
              <a:buClr>
                <a:schemeClr val="dk2"/>
              </a:buClr>
              <a:buSzPts val="1200"/>
              <a:buChar char="●"/>
            </a:pPr>
            <a:r>
              <a:rPr lang="en-GB" sz="1200">
                <a:solidFill>
                  <a:schemeClr val="dk2"/>
                </a:solidFill>
              </a:rPr>
              <a:t>Used R’s optim() function to estimate the transmission rate (β) by fitting the model to the observed case data.</a:t>
            </a:r>
            <a:endParaRPr sz="12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6"/>
          <p:cNvSpPr txBox="1"/>
          <p:nvPr>
            <p:ph type="title"/>
          </p:nvPr>
        </p:nvSpPr>
        <p:spPr>
          <a:xfrm>
            <a:off x="270000" y="188247"/>
            <a:ext cx="8604000" cy="6156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000"/>
              <a:t>Mada: </a:t>
            </a:r>
            <a:r>
              <a:rPr lang="en-GB" sz="2000"/>
              <a:t>How Hypothetical Vaccination Could Reshapes the 1918 Lonaconing Flu Outbreak </a:t>
            </a:r>
            <a:endParaRPr sz="2300"/>
          </a:p>
        </p:txBody>
      </p:sp>
      <p:sp>
        <p:nvSpPr>
          <p:cNvPr id="372" name="Google Shape;372;p46"/>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373" name="Google Shape;373;p46"/>
          <p:cNvPicPr preferRelativeResize="0"/>
          <p:nvPr/>
        </p:nvPicPr>
        <p:blipFill>
          <a:blip r:embed="rId3">
            <a:alphaModFix/>
          </a:blip>
          <a:stretch>
            <a:fillRect/>
          </a:stretch>
        </p:blipFill>
        <p:spPr>
          <a:xfrm>
            <a:off x="152400" y="1143000"/>
            <a:ext cx="5638800" cy="3429000"/>
          </a:xfrm>
          <a:prstGeom prst="rect">
            <a:avLst/>
          </a:prstGeom>
          <a:noFill/>
          <a:ln>
            <a:noFill/>
          </a:ln>
        </p:spPr>
      </p:pic>
      <p:sp>
        <p:nvSpPr>
          <p:cNvPr id="374" name="Google Shape;374;p46"/>
          <p:cNvSpPr txBox="1"/>
          <p:nvPr/>
        </p:nvSpPr>
        <p:spPr>
          <a:xfrm>
            <a:off x="5562600" y="1695900"/>
            <a:ext cx="3352800" cy="2757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400"/>
              </a:spcBef>
              <a:spcAft>
                <a:spcPts val="0"/>
              </a:spcAft>
              <a:buNone/>
            </a:pPr>
            <a:r>
              <a:rPr b="1" lang="en-GB" sz="1200">
                <a:solidFill>
                  <a:schemeClr val="dk2"/>
                </a:solidFill>
              </a:rPr>
              <a:t>Results </a:t>
            </a:r>
            <a:endParaRPr b="1" sz="1200">
              <a:solidFill>
                <a:schemeClr val="dk1"/>
              </a:solidFill>
            </a:endParaRPr>
          </a:p>
          <a:p>
            <a:pPr indent="-304800" lvl="0" marL="457200" rtl="0" algn="just">
              <a:lnSpc>
                <a:spcPct val="115000"/>
              </a:lnSpc>
              <a:spcBef>
                <a:spcPts val="400"/>
              </a:spcBef>
              <a:spcAft>
                <a:spcPts val="0"/>
              </a:spcAft>
              <a:buClr>
                <a:schemeClr val="dk1"/>
              </a:buClr>
              <a:buSzPts val="1200"/>
              <a:buChar char="●"/>
            </a:pPr>
            <a:r>
              <a:rPr lang="en-GB" sz="1200">
                <a:solidFill>
                  <a:schemeClr val="dk1"/>
                </a:solidFill>
              </a:rPr>
              <a:t>Literature-based parameters alone underestimated the outbreak's peak, but after calibrating β with optim, the model closely matched Lonaconing real data.</a:t>
            </a:r>
            <a:endParaRPr sz="1200">
              <a:solidFill>
                <a:schemeClr val="dk1"/>
              </a:solidFill>
            </a:endParaRPr>
          </a:p>
          <a:p>
            <a:pPr indent="-304800" lvl="0" marL="457200" rtl="0" algn="just">
              <a:lnSpc>
                <a:spcPct val="115000"/>
              </a:lnSpc>
              <a:spcBef>
                <a:spcPts val="0"/>
              </a:spcBef>
              <a:spcAft>
                <a:spcPts val="0"/>
              </a:spcAft>
              <a:buClr>
                <a:schemeClr val="dk1"/>
              </a:buClr>
              <a:buSzPts val="1200"/>
              <a:buChar char="●"/>
            </a:pPr>
            <a:r>
              <a:rPr lang="en-GB" sz="1200">
                <a:solidFill>
                  <a:schemeClr val="dk1"/>
                </a:solidFill>
              </a:rPr>
              <a:t>At 20% vaccine coverage, the outbreak decrease but still occurred.</a:t>
            </a:r>
            <a:endParaRPr sz="1200">
              <a:solidFill>
                <a:schemeClr val="dk1"/>
              </a:solidFill>
            </a:endParaRPr>
          </a:p>
          <a:p>
            <a:pPr indent="-304800" lvl="0" marL="457200" rtl="0" algn="just">
              <a:lnSpc>
                <a:spcPct val="115000"/>
              </a:lnSpc>
              <a:spcBef>
                <a:spcPts val="0"/>
              </a:spcBef>
              <a:spcAft>
                <a:spcPts val="0"/>
              </a:spcAft>
              <a:buClr>
                <a:schemeClr val="dk1"/>
              </a:buClr>
              <a:buSzPts val="1200"/>
              <a:buChar char="●"/>
            </a:pPr>
            <a:r>
              <a:rPr lang="en-GB" sz="1200">
                <a:solidFill>
                  <a:schemeClr val="dk1"/>
                </a:solidFill>
              </a:rPr>
              <a:t>At 50% coverage, total immunity crossed the herd immunity threshold (~45%), which would have prevented the outbreak almost entirely.</a:t>
            </a:r>
            <a:endParaRPr sz="1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7"/>
          <p:cNvSpPr txBox="1"/>
          <p:nvPr>
            <p:ph type="title"/>
          </p:nvPr>
        </p:nvSpPr>
        <p:spPr>
          <a:xfrm>
            <a:off x="270000" y="363100"/>
            <a:ext cx="8604000" cy="27699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1800"/>
              <a:t>Ryan: </a:t>
            </a:r>
            <a:r>
              <a:rPr lang="en-GB" sz="1800"/>
              <a:t>Comparative SEIR Modeling of Measles: UK &amp; Saudi Arabia</a:t>
            </a:r>
            <a:endParaRPr b="1" sz="1800"/>
          </a:p>
        </p:txBody>
      </p:sp>
      <p:sp>
        <p:nvSpPr>
          <p:cNvPr id="380" name="Google Shape;380;p47"/>
          <p:cNvSpPr txBox="1"/>
          <p:nvPr/>
        </p:nvSpPr>
        <p:spPr>
          <a:xfrm>
            <a:off x="256032" y="1093283"/>
            <a:ext cx="3246000" cy="25353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b="1" lang="en-GB" sz="1300">
                <a:solidFill>
                  <a:srgbClr val="B95211"/>
                </a:solidFill>
                <a:latin typeface="Calibri"/>
                <a:ea typeface="Calibri"/>
                <a:cs typeface="Calibri"/>
                <a:sym typeface="Calibri"/>
              </a:rPr>
              <a:t>How sensitive are measles outbreaks to small differences in vaccination coverage?</a:t>
            </a:r>
            <a:endParaRPr sz="1300"/>
          </a:p>
          <a:p>
            <a:pPr indent="0" lvl="0" marL="0" marR="0" rtl="0" algn="l">
              <a:lnSpc>
                <a:spcPct val="105000"/>
              </a:lnSpc>
              <a:spcBef>
                <a:spcPts val="200"/>
              </a:spcBef>
              <a:spcAft>
                <a:spcPts val="0"/>
              </a:spcAft>
              <a:buNone/>
            </a:pPr>
            <a:r>
              <a:rPr b="1" i="0" lang="en-GB" sz="1050" u="none" cap="none" strike="noStrike">
                <a:solidFill>
                  <a:srgbClr val="2CA02C"/>
                </a:solidFill>
                <a:latin typeface="Calibri"/>
                <a:ea typeface="Calibri"/>
                <a:cs typeface="Calibri"/>
                <a:sym typeface="Calibri"/>
              </a:rPr>
              <a:t>WHAT I DID</a:t>
            </a:r>
            <a:endParaRPr/>
          </a:p>
          <a:p>
            <a:pPr indent="0" lvl="0" marL="0" marR="0" rtl="0" algn="l">
              <a:lnSpc>
                <a:spcPct val="105000"/>
              </a:lnSpc>
              <a:spcBef>
                <a:spcPts val="200"/>
              </a:spcBef>
              <a:spcAft>
                <a:spcPts val="0"/>
              </a:spcAft>
              <a:buNone/>
            </a:pPr>
            <a:r>
              <a:rPr b="0" i="0" lang="en-GB" sz="1150" u="none" cap="none" strike="noStrike">
                <a:solidFill>
                  <a:srgbClr val="1A2233"/>
                </a:solidFill>
                <a:latin typeface="Calibri"/>
                <a:ea typeface="Calibri"/>
                <a:cs typeface="Calibri"/>
                <a:sym typeface="Calibri"/>
              </a:rPr>
              <a:t>Built an SEIR model with births/deaths and a vaccinated compartment for each country, seeded one case, and simulated 50 years. UK 89% immune (R₀ 15); Saudi Arabia 98% immune (R₀ 13).</a:t>
            </a:r>
            <a:endParaRPr/>
          </a:p>
          <a:p>
            <a:pPr indent="0" lvl="0" marL="0" marR="0" rtl="0" algn="l">
              <a:lnSpc>
                <a:spcPct val="105000"/>
              </a:lnSpc>
              <a:spcBef>
                <a:spcPts val="1000"/>
              </a:spcBef>
              <a:spcAft>
                <a:spcPts val="0"/>
              </a:spcAft>
              <a:buNone/>
            </a:pPr>
            <a:r>
              <a:rPr b="1" i="0" lang="en-GB" sz="1050" u="none" cap="none" strike="noStrike">
                <a:solidFill>
                  <a:srgbClr val="2CA02C"/>
                </a:solidFill>
                <a:latin typeface="Calibri"/>
                <a:ea typeface="Calibri"/>
                <a:cs typeface="Calibri"/>
                <a:sym typeface="Calibri"/>
              </a:rPr>
              <a:t>RESULT</a:t>
            </a:r>
            <a:endParaRPr/>
          </a:p>
          <a:p>
            <a:pPr indent="0" lvl="0" marL="0" marR="0" rtl="0" algn="l">
              <a:lnSpc>
                <a:spcPct val="105000"/>
              </a:lnSpc>
              <a:spcBef>
                <a:spcPts val="200"/>
              </a:spcBef>
              <a:spcAft>
                <a:spcPts val="0"/>
              </a:spcAft>
              <a:buNone/>
            </a:pPr>
            <a:r>
              <a:rPr b="1" i="0" lang="en-GB" sz="1150" u="none" cap="none" strike="noStrike">
                <a:solidFill>
                  <a:srgbClr val="1A2233"/>
                </a:solidFill>
                <a:latin typeface="Calibri"/>
                <a:ea typeface="Calibri"/>
                <a:cs typeface="Calibri"/>
                <a:sym typeface="Calibri"/>
              </a:rPr>
              <a:t>Immunity below the ~93% herd threshold is decisive. </a:t>
            </a:r>
            <a:r>
              <a:rPr b="0" i="0" lang="en-GB" sz="1150" u="none" cap="none" strike="noStrike">
                <a:solidFill>
                  <a:srgbClr val="1A2233"/>
                </a:solidFill>
                <a:latin typeface="Calibri"/>
                <a:ea typeface="Calibri"/>
                <a:cs typeface="Calibri"/>
                <a:sym typeface="Calibri"/>
              </a:rPr>
              <a:t>At 89% the UK erupts to ~10,000 cases/day, then recurring waves. At 98% Saudi Arabia's introduction fizzles out.</a:t>
            </a:r>
            <a:endParaRPr/>
          </a:p>
        </p:txBody>
      </p:sp>
      <p:pic>
        <p:nvPicPr>
          <p:cNvPr descr="figure1_big.png" id="381" name="Google Shape;381;p47"/>
          <p:cNvPicPr preferRelativeResize="0"/>
          <p:nvPr/>
        </p:nvPicPr>
        <p:blipFill rotWithShape="1">
          <a:blip r:embed="rId3">
            <a:alphaModFix/>
          </a:blip>
          <a:srcRect b="0" l="0" r="0" t="0"/>
          <a:stretch/>
        </p:blipFill>
        <p:spPr>
          <a:xfrm>
            <a:off x="3611880" y="994413"/>
            <a:ext cx="5349240" cy="3094005"/>
          </a:xfrm>
          <a:prstGeom prst="rect">
            <a:avLst/>
          </a:prstGeom>
          <a:noFill/>
          <a:ln>
            <a:noFill/>
          </a:ln>
        </p:spPr>
      </p:pic>
      <p:sp>
        <p:nvSpPr>
          <p:cNvPr id="382" name="Google Shape;382;p47"/>
          <p:cNvSpPr txBox="1"/>
          <p:nvPr/>
        </p:nvSpPr>
        <p:spPr>
          <a:xfrm>
            <a:off x="256032" y="3611880"/>
            <a:ext cx="324612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950" u="none" cap="none" strike="noStrike">
                <a:solidFill>
                  <a:srgbClr val="9E2A2B"/>
                </a:solidFill>
                <a:latin typeface="Calibri"/>
                <a:ea typeface="Calibri"/>
                <a:cs typeface="Calibri"/>
                <a:sym typeface="Calibri"/>
              </a:rPr>
              <a:t>Now real: </a:t>
            </a:r>
            <a:r>
              <a:rPr b="0" i="0" lang="en-GB" sz="950" u="none" cap="none" strike="noStrike">
                <a:solidFill>
                  <a:srgbClr val="1A2233"/>
                </a:solidFill>
                <a:latin typeface="Calibri"/>
                <a:ea typeface="Calibri"/>
                <a:cs typeface="Calibri"/>
                <a:sym typeface="Calibri"/>
              </a:rPr>
              <a:t>UK lost WHO measles elimination status in 2026; MMR uptake ~89% — the modeled scenario.</a:t>
            </a:r>
            <a:endParaRPr/>
          </a:p>
        </p:txBody>
      </p:sp>
      <p:sp>
        <p:nvSpPr>
          <p:cNvPr id="383" name="Google Shape;383;p47"/>
          <p:cNvSpPr txBox="1"/>
          <p:nvPr/>
        </p:nvSpPr>
        <p:spPr>
          <a:xfrm>
            <a:off x="256032" y="4114800"/>
            <a:ext cx="864108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750" u="none" cap="none" strike="noStrike">
                <a:solidFill>
                  <a:srgbClr val="003E72"/>
                </a:solidFill>
                <a:latin typeface="Arial"/>
                <a:ea typeface="Arial"/>
                <a:cs typeface="Arial"/>
                <a:sym typeface="Arial"/>
              </a:rPr>
              <a:t>Parameters:  </a:t>
            </a:r>
            <a:r>
              <a:rPr b="1" i="0" lang="en-GB" sz="750" u="none" cap="none" strike="noStrike">
                <a:solidFill>
                  <a:schemeClr val="dk1"/>
                </a:solidFill>
                <a:latin typeface="Arial"/>
                <a:ea typeface="Arial"/>
                <a:cs typeface="Arial"/>
                <a:sym typeface="Arial"/>
              </a:rPr>
              <a:t>σ</a:t>
            </a:r>
            <a:r>
              <a:rPr b="0" i="0" lang="en-GB" sz="750" u="none" cap="none" strike="noStrike">
                <a:solidFill>
                  <a:srgbClr val="5B6472"/>
                </a:solidFill>
                <a:latin typeface="Arial"/>
                <a:ea typeface="Arial"/>
                <a:cs typeface="Arial"/>
                <a:sym typeface="Arial"/>
              </a:rPr>
              <a:t>=1/8 d (latent), </a:t>
            </a:r>
            <a:r>
              <a:rPr b="1" i="0" lang="en-GB" sz="750" u="none" cap="none" strike="noStrike">
                <a:solidFill>
                  <a:schemeClr val="dk1"/>
                </a:solidFill>
                <a:latin typeface="Arial"/>
                <a:ea typeface="Arial"/>
                <a:cs typeface="Arial"/>
                <a:sym typeface="Arial"/>
              </a:rPr>
              <a:t>γ</a:t>
            </a:r>
            <a:r>
              <a:rPr b="0" i="0" lang="en-GB" sz="750" u="none" cap="none" strike="noStrike">
                <a:solidFill>
                  <a:srgbClr val="5B6472"/>
                </a:solidFill>
                <a:latin typeface="Arial"/>
                <a:ea typeface="Arial"/>
                <a:cs typeface="Arial"/>
                <a:sym typeface="Arial"/>
              </a:rPr>
              <a:t>=1/5 d (infectious), </a:t>
            </a:r>
            <a:r>
              <a:rPr b="1" i="0" lang="en-GB" sz="750" u="none" cap="none" strike="noStrike">
                <a:solidFill>
                  <a:schemeClr val="dk1"/>
                </a:solidFill>
                <a:latin typeface="Arial"/>
                <a:ea typeface="Arial"/>
                <a:cs typeface="Arial"/>
                <a:sym typeface="Arial"/>
              </a:rPr>
              <a:t>R₀</a:t>
            </a:r>
            <a:r>
              <a:rPr b="0" i="0" lang="en-GB" sz="750" u="none" cap="none" strike="noStrike">
                <a:solidFill>
                  <a:srgbClr val="5B6472"/>
                </a:solidFill>
                <a:latin typeface="Arial"/>
                <a:ea typeface="Arial"/>
                <a:cs typeface="Arial"/>
                <a:sym typeface="Arial"/>
              </a:rPr>
              <a:t>=15 UK/13 SA,  </a:t>
            </a:r>
            <a:r>
              <a:rPr b="1" i="0" lang="en-GB" sz="750" u="none" cap="none" strike="noStrike">
                <a:solidFill>
                  <a:schemeClr val="dk1"/>
                </a:solidFill>
                <a:latin typeface="Arial"/>
                <a:ea typeface="Arial"/>
                <a:cs typeface="Arial"/>
                <a:sym typeface="Arial"/>
              </a:rPr>
              <a:t>β</a:t>
            </a:r>
            <a:r>
              <a:rPr b="0" i="0" lang="en-GB" sz="750" u="none" cap="none" strike="noStrike">
                <a:solidFill>
                  <a:srgbClr val="5B6472"/>
                </a:solidFill>
                <a:latin typeface="Arial"/>
                <a:ea typeface="Arial"/>
                <a:cs typeface="Arial"/>
                <a:sym typeface="Arial"/>
              </a:rPr>
              <a:t>=R₀(σ+μ)(γ+μ)/σ ≈ 3.0 UK / 2.6 SA,  </a:t>
            </a:r>
            <a:r>
              <a:rPr b="1" i="0" lang="en-GB" sz="750" u="none" cap="none" strike="noStrike">
                <a:solidFill>
                  <a:schemeClr val="dk1"/>
                </a:solidFill>
                <a:latin typeface="Arial"/>
                <a:ea typeface="Arial"/>
                <a:cs typeface="Arial"/>
                <a:sym typeface="Arial"/>
              </a:rPr>
              <a:t>μ</a:t>
            </a:r>
            <a:r>
              <a:rPr b="0" i="0" lang="en-GB" sz="750" u="none" cap="none" strike="noStrike">
                <a:solidFill>
                  <a:srgbClr val="5B6472"/>
                </a:solidFill>
                <a:latin typeface="Arial"/>
                <a:ea typeface="Arial"/>
                <a:cs typeface="Arial"/>
                <a:sym typeface="Arial"/>
              </a:rPr>
              <a:t>=1/82 yr ≈ 3.3×10⁻⁵ UK / 1/76 yr ≈ 3.6×10⁻⁵ SA, </a:t>
            </a:r>
            <a:r>
              <a:rPr b="1" i="0" lang="en-GB" sz="750" u="none" cap="none" strike="noStrike">
                <a:solidFill>
                  <a:schemeClr val="dk1"/>
                </a:solidFill>
                <a:latin typeface="Arial"/>
                <a:ea typeface="Arial"/>
                <a:cs typeface="Arial"/>
                <a:sym typeface="Arial"/>
              </a:rPr>
              <a:t> ψ</a:t>
            </a:r>
            <a:r>
              <a:rPr b="0" i="0" lang="en-GB" sz="750" u="none" cap="none" strike="noStrike">
                <a:solidFill>
                  <a:srgbClr val="5B6472"/>
                </a:solidFill>
                <a:latin typeface="Arial"/>
                <a:ea typeface="Arial"/>
                <a:cs typeface="Arial"/>
                <a:sym typeface="Arial"/>
              </a:rPr>
              <a:t>=1×10⁻⁵ baseline (0.2% d⁻¹ in campaign),  </a:t>
            </a:r>
            <a:r>
              <a:rPr b="1" i="0" lang="en-GB" sz="750" u="none" cap="none" strike="noStrike">
                <a:solidFill>
                  <a:schemeClr val="dk1"/>
                </a:solidFill>
                <a:latin typeface="Arial"/>
                <a:ea typeface="Arial"/>
                <a:cs typeface="Arial"/>
                <a:sym typeface="Arial"/>
              </a:rPr>
              <a:t>ρ</a:t>
            </a:r>
            <a:r>
              <a:rPr b="0" i="0" lang="en-GB" sz="750" u="none" cap="none" strike="noStrike">
                <a:solidFill>
                  <a:srgbClr val="5B6472"/>
                </a:solidFill>
                <a:latin typeface="Arial"/>
                <a:ea typeface="Arial"/>
                <a:cs typeface="Arial"/>
                <a:sym typeface="Arial"/>
              </a:rPr>
              <a:t>=0.15 reporting, </a:t>
            </a:r>
            <a:r>
              <a:rPr b="1" i="0" lang="en-GB" sz="750" u="none" cap="none" strike="noStrike">
                <a:solidFill>
                  <a:schemeClr val="dk1"/>
                </a:solidFill>
                <a:latin typeface="Arial"/>
                <a:ea typeface="Arial"/>
                <a:cs typeface="Arial"/>
                <a:sym typeface="Arial"/>
              </a:rPr>
              <a:t>N</a:t>
            </a:r>
            <a:r>
              <a:rPr b="0" i="0" lang="en-GB" sz="750" u="none" cap="none" strike="noStrike">
                <a:solidFill>
                  <a:srgbClr val="5B6472"/>
                </a:solidFill>
                <a:latin typeface="Arial"/>
                <a:ea typeface="Arial"/>
                <a:cs typeface="Arial"/>
                <a:sym typeface="Arial"/>
              </a:rPr>
              <a:t>= 66,805,830 UK / 30,906,342 SA Population.</a:t>
            </a:r>
            <a:endParaRPr b="0" i="0" sz="750" u="none" cap="none" strike="noStrike">
              <a:solidFill>
                <a:srgbClr val="5B6472"/>
              </a:solidFill>
              <a:latin typeface="Arial"/>
              <a:ea typeface="Arial"/>
              <a:cs typeface="Arial"/>
              <a:sym typeface="Arial"/>
            </a:endParaRPr>
          </a:p>
          <a:p>
            <a:pPr indent="0" lvl="0" marL="0" marR="0" rtl="0" algn="l">
              <a:lnSpc>
                <a:spcPct val="100000"/>
              </a:lnSpc>
              <a:spcBef>
                <a:spcPts val="0"/>
              </a:spcBef>
              <a:spcAft>
                <a:spcPts val="0"/>
              </a:spcAft>
              <a:buNone/>
            </a:pPr>
            <a:r>
              <a:rPr b="1" i="0" lang="en-GB" sz="700" u="none" cap="none" strike="noStrike">
                <a:solidFill>
                  <a:srgbClr val="003E72"/>
                </a:solidFill>
                <a:latin typeface="Arial"/>
                <a:ea typeface="Arial"/>
                <a:cs typeface="Arial"/>
                <a:sym typeface="Arial"/>
              </a:rPr>
              <a:t>Sources:  </a:t>
            </a:r>
            <a:r>
              <a:rPr b="0" i="0" lang="en-GB" sz="700" u="sng" cap="none" strike="noStrike">
                <a:solidFill>
                  <a:schemeClr val="hlink"/>
                </a:solidFill>
                <a:latin typeface="Arial"/>
                <a:ea typeface="Arial"/>
                <a:cs typeface="Arial"/>
                <a:sym typeface="Arial"/>
                <a:hlinkClick r:id="rId4"/>
              </a:rPr>
              <a:t>Guerra et al., R₀ of measles: a systematic review, Lancet Infect Dis 2017;17:e420–28</a:t>
            </a:r>
            <a:r>
              <a:rPr b="0" i="0" lang="en-GB" sz="700" u="none" cap="none" strike="noStrike">
                <a:solidFill>
                  <a:srgbClr val="5B6472"/>
                </a:solidFill>
                <a:latin typeface="Arial"/>
                <a:ea typeface="Arial"/>
                <a:cs typeface="Arial"/>
                <a:sym typeface="Arial"/>
              </a:rPr>
              <a:t>   ·   </a:t>
            </a:r>
            <a:r>
              <a:rPr b="0" i="0" lang="en-GB" sz="700" u="sng" cap="none" strike="noStrike">
                <a:solidFill>
                  <a:schemeClr val="hlink"/>
                </a:solidFill>
                <a:latin typeface="Arial"/>
                <a:ea typeface="Arial"/>
                <a:cs typeface="Arial"/>
                <a:sym typeface="Arial"/>
                <a:hlinkClick r:id="rId5"/>
              </a:rPr>
              <a:t>WHO/UNICEF measles vaccination coverage (WIISE), GBR &amp; SAU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8"/>
          <p:cNvSpPr txBox="1"/>
          <p:nvPr>
            <p:ph type="title"/>
          </p:nvPr>
        </p:nvSpPr>
        <p:spPr>
          <a:xfrm>
            <a:off x="270000" y="363100"/>
            <a:ext cx="8604000" cy="27699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1800"/>
              <a:t>Ryan: </a:t>
            </a:r>
            <a:r>
              <a:rPr lang="en-GB" sz="1800"/>
              <a:t>Comparative SEIR Modeling of Measles: UK &amp; Saudi Arabia</a:t>
            </a:r>
            <a:endParaRPr b="1" sz="1800"/>
          </a:p>
        </p:txBody>
      </p:sp>
      <p:sp>
        <p:nvSpPr>
          <p:cNvPr id="389" name="Google Shape;389;p48"/>
          <p:cNvSpPr txBox="1"/>
          <p:nvPr/>
        </p:nvSpPr>
        <p:spPr>
          <a:xfrm>
            <a:off x="256032" y="1194674"/>
            <a:ext cx="3246120" cy="2754152"/>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b="1" i="0" lang="en-GB" sz="1400" u="none" cap="none" strike="noStrike">
                <a:solidFill>
                  <a:srgbClr val="B95211"/>
                </a:solidFill>
                <a:latin typeface="Calibri"/>
                <a:ea typeface="Calibri"/>
                <a:cs typeface="Calibri"/>
                <a:sym typeface="Calibri"/>
              </a:rPr>
              <a:t>Can a below-threshold country still stop measles by vaccinating fast?</a:t>
            </a:r>
            <a:endParaRPr b="1" i="0" sz="1400" u="none" cap="none" strike="noStrike">
              <a:solidFill>
                <a:srgbClr val="2CA02C"/>
              </a:solidFill>
              <a:latin typeface="Calibri"/>
              <a:ea typeface="Calibri"/>
              <a:cs typeface="Calibri"/>
              <a:sym typeface="Calibri"/>
            </a:endParaRPr>
          </a:p>
          <a:p>
            <a:pPr indent="0" lvl="0" marL="0" marR="0" rtl="0" algn="l">
              <a:lnSpc>
                <a:spcPct val="105000"/>
              </a:lnSpc>
              <a:spcBef>
                <a:spcPts val="200"/>
              </a:spcBef>
              <a:spcAft>
                <a:spcPts val="0"/>
              </a:spcAft>
              <a:buNone/>
            </a:pPr>
            <a:r>
              <a:rPr b="1" i="0" lang="en-GB" sz="1050" u="none" cap="none" strike="noStrike">
                <a:solidFill>
                  <a:srgbClr val="2CA02C"/>
                </a:solidFill>
                <a:latin typeface="Calibri"/>
                <a:ea typeface="Calibri"/>
                <a:cs typeface="Calibri"/>
                <a:sym typeface="Calibri"/>
              </a:rPr>
              <a:t>WHAT I DID</a:t>
            </a:r>
            <a:endParaRPr/>
          </a:p>
          <a:p>
            <a:pPr indent="0" lvl="0" marL="0" marR="0" rtl="0" algn="l">
              <a:lnSpc>
                <a:spcPct val="105000"/>
              </a:lnSpc>
              <a:spcBef>
                <a:spcPts val="200"/>
              </a:spcBef>
              <a:spcAft>
                <a:spcPts val="0"/>
              </a:spcAft>
              <a:buNone/>
            </a:pPr>
            <a:r>
              <a:rPr b="0" i="0" lang="en-GB" sz="1150" u="none" cap="none" strike="noStrike">
                <a:solidFill>
                  <a:srgbClr val="1A2233"/>
                </a:solidFill>
                <a:latin typeface="Calibri"/>
                <a:ea typeface="Calibri"/>
                <a:cs typeface="Calibri"/>
                <a:sym typeface="Calibri"/>
              </a:rPr>
              <a:t>Started Saudi Arabia at only 85% immunity — below the herd threshold — then switched on an aggressive rolling campaign (0.2% of susceptibles/day) and tracked cases vs population immunity.</a:t>
            </a:r>
            <a:endParaRPr/>
          </a:p>
          <a:p>
            <a:pPr indent="0" lvl="0" marL="0" marR="0" rtl="0" algn="l">
              <a:lnSpc>
                <a:spcPct val="105000"/>
              </a:lnSpc>
              <a:spcBef>
                <a:spcPts val="1000"/>
              </a:spcBef>
              <a:spcAft>
                <a:spcPts val="0"/>
              </a:spcAft>
              <a:buNone/>
            </a:pPr>
            <a:r>
              <a:rPr b="1" i="0" lang="en-GB" sz="1050" u="none" cap="none" strike="noStrike">
                <a:solidFill>
                  <a:srgbClr val="2CA02C"/>
                </a:solidFill>
                <a:latin typeface="Calibri"/>
                <a:ea typeface="Calibri"/>
                <a:cs typeface="Calibri"/>
                <a:sym typeface="Calibri"/>
              </a:rPr>
              <a:t>RESULT</a:t>
            </a:r>
            <a:endParaRPr/>
          </a:p>
          <a:p>
            <a:pPr indent="0" lvl="0" marL="0" marR="0" rtl="0" algn="l">
              <a:lnSpc>
                <a:spcPct val="105000"/>
              </a:lnSpc>
              <a:spcBef>
                <a:spcPts val="200"/>
              </a:spcBef>
              <a:spcAft>
                <a:spcPts val="0"/>
              </a:spcAft>
              <a:buNone/>
            </a:pPr>
            <a:r>
              <a:rPr b="1" i="0" lang="en-GB" sz="1150" u="none" cap="none" strike="noStrike">
                <a:solidFill>
                  <a:srgbClr val="1A2233"/>
                </a:solidFill>
                <a:latin typeface="Calibri"/>
                <a:ea typeface="Calibri"/>
                <a:cs typeface="Calibri"/>
                <a:sym typeface="Calibri"/>
              </a:rPr>
              <a:t>One outbreak still happens </a:t>
            </a:r>
            <a:r>
              <a:rPr b="0" i="0" lang="en-GB" sz="1150" u="none" cap="none" strike="noStrike">
                <a:solidFill>
                  <a:srgbClr val="1A2233"/>
                </a:solidFill>
                <a:latin typeface="Calibri"/>
                <a:ea typeface="Calibri"/>
                <a:cs typeface="Calibri"/>
                <a:sym typeface="Calibri"/>
              </a:rPr>
              <a:t>(peak ~480 cases/day near year 1), but the campaign pushes immunity past the 92.3% threshold within a year — driving cases back to zero, no second wave.</a:t>
            </a:r>
            <a:endParaRPr/>
          </a:p>
        </p:txBody>
      </p:sp>
      <p:pic>
        <p:nvPicPr>
          <p:cNvPr descr="figure2_big.png" id="390" name="Google Shape;390;p48"/>
          <p:cNvPicPr preferRelativeResize="0"/>
          <p:nvPr/>
        </p:nvPicPr>
        <p:blipFill rotWithShape="1">
          <a:blip r:embed="rId3">
            <a:alphaModFix/>
          </a:blip>
          <a:srcRect b="0" l="0" r="0" t="0"/>
          <a:stretch/>
        </p:blipFill>
        <p:spPr>
          <a:xfrm>
            <a:off x="3611880" y="1028690"/>
            <a:ext cx="5349241" cy="2996463"/>
          </a:xfrm>
          <a:prstGeom prst="rect">
            <a:avLst/>
          </a:prstGeom>
          <a:noFill/>
          <a:ln>
            <a:noFill/>
          </a:ln>
        </p:spPr>
      </p:pic>
      <p:sp>
        <p:nvSpPr>
          <p:cNvPr id="391" name="Google Shape;391;p48"/>
          <p:cNvSpPr txBox="1"/>
          <p:nvPr/>
        </p:nvSpPr>
        <p:spPr>
          <a:xfrm>
            <a:off x="256032" y="4114800"/>
            <a:ext cx="864108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750" u="none" cap="none" strike="noStrike">
                <a:solidFill>
                  <a:srgbClr val="003E72"/>
                </a:solidFill>
                <a:latin typeface="Arial"/>
                <a:ea typeface="Arial"/>
                <a:cs typeface="Arial"/>
                <a:sym typeface="Arial"/>
              </a:rPr>
              <a:t>Parameters:  </a:t>
            </a:r>
            <a:r>
              <a:rPr b="1" i="0" lang="en-GB" sz="750" u="none" cap="none" strike="noStrike">
                <a:solidFill>
                  <a:schemeClr val="dk1"/>
                </a:solidFill>
                <a:latin typeface="Arial"/>
                <a:ea typeface="Arial"/>
                <a:cs typeface="Arial"/>
                <a:sym typeface="Arial"/>
              </a:rPr>
              <a:t>σ</a:t>
            </a:r>
            <a:r>
              <a:rPr b="0" i="0" lang="en-GB" sz="750" u="none" cap="none" strike="noStrike">
                <a:solidFill>
                  <a:srgbClr val="5B6472"/>
                </a:solidFill>
                <a:latin typeface="Arial"/>
                <a:ea typeface="Arial"/>
                <a:cs typeface="Arial"/>
                <a:sym typeface="Arial"/>
              </a:rPr>
              <a:t>=1/8 d (latent), </a:t>
            </a:r>
            <a:r>
              <a:rPr b="1" i="0" lang="en-GB" sz="750" u="none" cap="none" strike="noStrike">
                <a:solidFill>
                  <a:schemeClr val="dk1"/>
                </a:solidFill>
                <a:latin typeface="Arial"/>
                <a:ea typeface="Arial"/>
                <a:cs typeface="Arial"/>
                <a:sym typeface="Arial"/>
              </a:rPr>
              <a:t>γ</a:t>
            </a:r>
            <a:r>
              <a:rPr b="0" i="0" lang="en-GB" sz="750" u="none" cap="none" strike="noStrike">
                <a:solidFill>
                  <a:srgbClr val="5B6472"/>
                </a:solidFill>
                <a:latin typeface="Arial"/>
                <a:ea typeface="Arial"/>
                <a:cs typeface="Arial"/>
                <a:sym typeface="Arial"/>
              </a:rPr>
              <a:t>=1/5 d (infectious), </a:t>
            </a:r>
            <a:r>
              <a:rPr b="1" i="0" lang="en-GB" sz="750" u="none" cap="none" strike="noStrike">
                <a:solidFill>
                  <a:schemeClr val="dk1"/>
                </a:solidFill>
                <a:latin typeface="Arial"/>
                <a:ea typeface="Arial"/>
                <a:cs typeface="Arial"/>
                <a:sym typeface="Arial"/>
              </a:rPr>
              <a:t>R₀</a:t>
            </a:r>
            <a:r>
              <a:rPr b="0" i="0" lang="en-GB" sz="750" u="none" cap="none" strike="noStrike">
                <a:solidFill>
                  <a:srgbClr val="5B6472"/>
                </a:solidFill>
                <a:latin typeface="Arial"/>
                <a:ea typeface="Arial"/>
                <a:cs typeface="Arial"/>
                <a:sym typeface="Arial"/>
              </a:rPr>
              <a:t>=15 UK/13 SA,  </a:t>
            </a:r>
            <a:r>
              <a:rPr b="1" i="0" lang="en-GB" sz="750" u="none" cap="none" strike="noStrike">
                <a:solidFill>
                  <a:schemeClr val="dk1"/>
                </a:solidFill>
                <a:latin typeface="Arial"/>
                <a:ea typeface="Arial"/>
                <a:cs typeface="Arial"/>
                <a:sym typeface="Arial"/>
              </a:rPr>
              <a:t>β</a:t>
            </a:r>
            <a:r>
              <a:rPr b="0" i="0" lang="en-GB" sz="750" u="none" cap="none" strike="noStrike">
                <a:solidFill>
                  <a:srgbClr val="5B6472"/>
                </a:solidFill>
                <a:latin typeface="Arial"/>
                <a:ea typeface="Arial"/>
                <a:cs typeface="Arial"/>
                <a:sym typeface="Arial"/>
              </a:rPr>
              <a:t>=R₀(σ+μ)(γ+μ)/σ ≈ 3.0 UK / 2.6 SA,  </a:t>
            </a:r>
            <a:r>
              <a:rPr b="1" i="0" lang="en-GB" sz="750" u="none" cap="none" strike="noStrike">
                <a:solidFill>
                  <a:schemeClr val="dk1"/>
                </a:solidFill>
                <a:latin typeface="Arial"/>
                <a:ea typeface="Arial"/>
                <a:cs typeface="Arial"/>
                <a:sym typeface="Arial"/>
              </a:rPr>
              <a:t>μ</a:t>
            </a:r>
            <a:r>
              <a:rPr b="0" i="0" lang="en-GB" sz="750" u="none" cap="none" strike="noStrike">
                <a:solidFill>
                  <a:srgbClr val="5B6472"/>
                </a:solidFill>
                <a:latin typeface="Arial"/>
                <a:ea typeface="Arial"/>
                <a:cs typeface="Arial"/>
                <a:sym typeface="Arial"/>
              </a:rPr>
              <a:t>=1/82 yr ≈ 3.3×10⁻⁵ UK / 1/76 yr ≈ 3.6×10⁻⁵ SA, </a:t>
            </a:r>
            <a:r>
              <a:rPr b="1" i="0" lang="en-GB" sz="750" u="none" cap="none" strike="noStrike">
                <a:solidFill>
                  <a:schemeClr val="dk1"/>
                </a:solidFill>
                <a:latin typeface="Arial"/>
                <a:ea typeface="Arial"/>
                <a:cs typeface="Arial"/>
                <a:sym typeface="Arial"/>
              </a:rPr>
              <a:t> ψ</a:t>
            </a:r>
            <a:r>
              <a:rPr b="0" i="0" lang="en-GB" sz="750" u="none" cap="none" strike="noStrike">
                <a:solidFill>
                  <a:srgbClr val="5B6472"/>
                </a:solidFill>
                <a:latin typeface="Arial"/>
                <a:ea typeface="Arial"/>
                <a:cs typeface="Arial"/>
                <a:sym typeface="Arial"/>
              </a:rPr>
              <a:t>=1×10⁻⁵ baseline (0.2% d⁻¹ in campaign),  </a:t>
            </a:r>
            <a:r>
              <a:rPr b="1" i="0" lang="en-GB" sz="750" u="none" cap="none" strike="noStrike">
                <a:solidFill>
                  <a:schemeClr val="dk1"/>
                </a:solidFill>
                <a:latin typeface="Arial"/>
                <a:ea typeface="Arial"/>
                <a:cs typeface="Arial"/>
                <a:sym typeface="Arial"/>
              </a:rPr>
              <a:t>ρ</a:t>
            </a:r>
            <a:r>
              <a:rPr b="0" i="0" lang="en-GB" sz="750" u="none" cap="none" strike="noStrike">
                <a:solidFill>
                  <a:srgbClr val="5B6472"/>
                </a:solidFill>
                <a:latin typeface="Arial"/>
                <a:ea typeface="Arial"/>
                <a:cs typeface="Arial"/>
                <a:sym typeface="Arial"/>
              </a:rPr>
              <a:t>=0.15 reporting, </a:t>
            </a:r>
            <a:r>
              <a:rPr b="1" i="0" lang="en-GB" sz="750" u="none" cap="none" strike="noStrike">
                <a:solidFill>
                  <a:schemeClr val="dk1"/>
                </a:solidFill>
                <a:latin typeface="Arial"/>
                <a:ea typeface="Arial"/>
                <a:cs typeface="Arial"/>
                <a:sym typeface="Arial"/>
              </a:rPr>
              <a:t>N</a:t>
            </a:r>
            <a:r>
              <a:rPr b="0" i="0" lang="en-GB" sz="750" u="none" cap="none" strike="noStrike">
                <a:solidFill>
                  <a:srgbClr val="5B6472"/>
                </a:solidFill>
                <a:latin typeface="Arial"/>
                <a:ea typeface="Arial"/>
                <a:cs typeface="Arial"/>
                <a:sym typeface="Arial"/>
              </a:rPr>
              <a:t>= 66,805,830 UK / 30,906,342 SA Population.</a:t>
            </a:r>
            <a:endParaRPr b="0" i="0" sz="750" u="none" cap="none" strike="noStrike">
              <a:solidFill>
                <a:srgbClr val="5B6472"/>
              </a:solidFill>
              <a:latin typeface="Arial"/>
              <a:ea typeface="Arial"/>
              <a:cs typeface="Arial"/>
              <a:sym typeface="Arial"/>
            </a:endParaRPr>
          </a:p>
          <a:p>
            <a:pPr indent="0" lvl="0" marL="0" marR="0" rtl="0" algn="l">
              <a:lnSpc>
                <a:spcPct val="100000"/>
              </a:lnSpc>
              <a:spcBef>
                <a:spcPts val="0"/>
              </a:spcBef>
              <a:spcAft>
                <a:spcPts val="0"/>
              </a:spcAft>
              <a:buNone/>
            </a:pPr>
            <a:r>
              <a:rPr b="1" i="0" lang="en-GB" sz="700" u="none" cap="none" strike="noStrike">
                <a:solidFill>
                  <a:srgbClr val="003E72"/>
                </a:solidFill>
                <a:latin typeface="Arial"/>
                <a:ea typeface="Arial"/>
                <a:cs typeface="Arial"/>
                <a:sym typeface="Arial"/>
              </a:rPr>
              <a:t>Sources:  </a:t>
            </a:r>
            <a:r>
              <a:rPr b="0" i="0" lang="en-GB" sz="700" u="sng" cap="none" strike="noStrike">
                <a:solidFill>
                  <a:schemeClr val="hlink"/>
                </a:solidFill>
                <a:latin typeface="Arial"/>
                <a:ea typeface="Arial"/>
                <a:cs typeface="Arial"/>
                <a:sym typeface="Arial"/>
                <a:hlinkClick r:id="rId4"/>
              </a:rPr>
              <a:t>Guerra et al., R₀ of measles: a systematic review, Lancet Infect Dis 2017;17:e420–28</a:t>
            </a:r>
            <a:r>
              <a:rPr b="0" i="0" lang="en-GB" sz="700" u="none" cap="none" strike="noStrike">
                <a:solidFill>
                  <a:srgbClr val="5B6472"/>
                </a:solidFill>
                <a:latin typeface="Arial"/>
                <a:ea typeface="Arial"/>
                <a:cs typeface="Arial"/>
                <a:sym typeface="Arial"/>
              </a:rPr>
              <a:t>   ·   </a:t>
            </a:r>
            <a:r>
              <a:rPr b="0" i="0" lang="en-GB" sz="700" u="sng" cap="none" strike="noStrike">
                <a:solidFill>
                  <a:schemeClr val="hlink"/>
                </a:solidFill>
                <a:latin typeface="Arial"/>
                <a:ea typeface="Arial"/>
                <a:cs typeface="Arial"/>
                <a:sym typeface="Arial"/>
                <a:hlinkClick r:id="rId5"/>
              </a:rPr>
              <a:t>WHO/UNICEF measles vaccination coverage (WIISE), GBR &amp; SAU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9"/>
          <p:cNvSpPr txBox="1"/>
          <p:nvPr>
            <p:ph type="title"/>
          </p:nvPr>
        </p:nvSpPr>
        <p:spPr>
          <a:xfrm>
            <a:off x="270000" y="254700"/>
            <a:ext cx="8604000" cy="400200"/>
          </a:xfrm>
          <a:prstGeom prst="rect">
            <a:avLst/>
          </a:prstGeom>
        </p:spPr>
        <p:txBody>
          <a:bodyPr anchorCtr="0" anchor="ctr" bIns="0" lIns="0" spcFirstLastPara="1" rIns="0" wrap="square" tIns="0">
            <a:normAutofit/>
          </a:bodyPr>
          <a:lstStyle/>
          <a:p>
            <a:pPr indent="0" lvl="0" marL="0" rtl="0" algn="l">
              <a:lnSpc>
                <a:spcPct val="115000"/>
              </a:lnSpc>
              <a:spcBef>
                <a:spcPts val="0"/>
              </a:spcBef>
              <a:spcAft>
                <a:spcPts val="1200"/>
              </a:spcAft>
              <a:buClr>
                <a:schemeClr val="dk1"/>
              </a:buClr>
              <a:buSzPts val="1100"/>
              <a:buFont typeface="Arial"/>
              <a:buNone/>
            </a:pPr>
            <a:r>
              <a:rPr lang="en-GB" sz="2500">
                <a:solidFill>
                  <a:schemeClr val="lt1"/>
                </a:solidFill>
              </a:rPr>
              <a:t>Under-reporting and the fragility of R₀</a:t>
            </a:r>
            <a:endParaRPr sz="3600">
              <a:solidFill>
                <a:schemeClr val="lt1"/>
              </a:solidFill>
            </a:endParaRPr>
          </a:p>
        </p:txBody>
      </p:sp>
      <p:sp>
        <p:nvSpPr>
          <p:cNvPr id="397" name="Google Shape;397;p49"/>
          <p:cNvSpPr txBox="1"/>
          <p:nvPr>
            <p:ph idx="4294967295" type="body"/>
          </p:nvPr>
        </p:nvSpPr>
        <p:spPr>
          <a:xfrm>
            <a:off x="0" y="1942263"/>
            <a:ext cx="4699800" cy="22377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0"/>
              </a:spcBef>
              <a:spcAft>
                <a:spcPts val="0"/>
              </a:spcAft>
              <a:buClr>
                <a:schemeClr val="dk1"/>
              </a:buClr>
              <a:buSzPts val="1400"/>
              <a:buChar char="-"/>
            </a:pPr>
            <a:r>
              <a:rPr lang="en-GB" sz="1400">
                <a:solidFill>
                  <a:schemeClr val="dk1"/>
                </a:solidFill>
              </a:rPr>
              <a:t>Single epidemic wave, ~1,093 reported cases in a population of 1,840</a:t>
            </a:r>
            <a:endParaRPr sz="1400">
              <a:solidFill>
                <a:schemeClr val="dk1"/>
              </a:solidFill>
            </a:endParaRPr>
          </a:p>
          <a:p>
            <a:pPr indent="0" lvl="0" marL="0" rtl="0" algn="l">
              <a:lnSpc>
                <a:spcPct val="95000"/>
              </a:lnSpc>
              <a:spcBef>
                <a:spcPts val="0"/>
              </a:spcBef>
              <a:spcAft>
                <a:spcPts val="0"/>
              </a:spcAft>
              <a:buNone/>
            </a:pPr>
            <a:r>
              <a:t/>
            </a:r>
            <a:endParaRPr sz="1400">
              <a:solidFill>
                <a:schemeClr val="dk1"/>
              </a:solidFill>
            </a:endParaRPr>
          </a:p>
          <a:p>
            <a:pPr indent="-317500" lvl="0" marL="457200" rtl="0" algn="l">
              <a:lnSpc>
                <a:spcPct val="95000"/>
              </a:lnSpc>
              <a:spcBef>
                <a:spcPts val="0"/>
              </a:spcBef>
              <a:spcAft>
                <a:spcPts val="0"/>
              </a:spcAft>
              <a:buClr>
                <a:schemeClr val="dk1"/>
              </a:buClr>
              <a:buSzPts val="1400"/>
              <a:buChar char="-"/>
            </a:pPr>
            <a:r>
              <a:rPr b="1" lang="en-GB" sz="1400">
                <a:solidFill>
                  <a:schemeClr val="dk1"/>
                </a:solidFill>
              </a:rPr>
              <a:t>SEIR</a:t>
            </a:r>
            <a:r>
              <a:rPr lang="en-GB" sz="1400">
                <a:solidFill>
                  <a:schemeClr val="dk1"/>
                </a:solidFill>
              </a:rPr>
              <a:t> model + </a:t>
            </a:r>
            <a:r>
              <a:rPr b="1" lang="en-GB" sz="1400">
                <a:solidFill>
                  <a:schemeClr val="dk1"/>
                </a:solidFill>
              </a:rPr>
              <a:t>reporting fraction ρ</a:t>
            </a:r>
            <a:r>
              <a:rPr lang="en-GB" sz="1400">
                <a:solidFill>
                  <a:schemeClr val="dk1"/>
                </a:solidFill>
              </a:rPr>
              <a:t> → predicts </a:t>
            </a:r>
            <a:r>
              <a:rPr i="1" lang="en-GB" sz="1400">
                <a:solidFill>
                  <a:schemeClr val="dk1"/>
                </a:solidFill>
              </a:rPr>
              <a:t>reported</a:t>
            </a:r>
            <a:r>
              <a:rPr lang="en-GB" sz="1400">
                <a:solidFill>
                  <a:schemeClr val="dk1"/>
                </a:solidFill>
              </a:rPr>
              <a:t> incidence</a:t>
            </a:r>
            <a:endParaRPr sz="1400">
              <a:solidFill>
                <a:schemeClr val="dk1"/>
              </a:solidFill>
            </a:endParaRPr>
          </a:p>
          <a:p>
            <a:pPr indent="0" lvl="0" marL="0" rtl="0" algn="l">
              <a:lnSpc>
                <a:spcPct val="95000"/>
              </a:lnSpc>
              <a:spcBef>
                <a:spcPts val="0"/>
              </a:spcBef>
              <a:spcAft>
                <a:spcPts val="0"/>
              </a:spcAft>
              <a:buNone/>
            </a:pPr>
            <a:r>
              <a:t/>
            </a:r>
            <a:endParaRPr sz="1400">
              <a:solidFill>
                <a:schemeClr val="dk1"/>
              </a:solidFill>
            </a:endParaRPr>
          </a:p>
          <a:p>
            <a:pPr indent="-317500" lvl="0" marL="457200" rtl="0" algn="l">
              <a:lnSpc>
                <a:spcPct val="95000"/>
              </a:lnSpc>
              <a:spcBef>
                <a:spcPts val="0"/>
              </a:spcBef>
              <a:spcAft>
                <a:spcPts val="0"/>
              </a:spcAft>
              <a:buClr>
                <a:schemeClr val="dk1"/>
              </a:buClr>
              <a:buSzPts val="1400"/>
              <a:buChar char="-"/>
            </a:pPr>
            <a:r>
              <a:rPr lang="en-GB" sz="1400">
                <a:solidFill>
                  <a:schemeClr val="dk1"/>
                </a:solidFill>
              </a:rPr>
              <a:t>Fixed: 1/</a:t>
            </a:r>
            <a:r>
              <a:rPr b="1" lang="en-GB" sz="1400">
                <a:solidFill>
                  <a:schemeClr val="dk1"/>
                </a:solidFill>
              </a:rPr>
              <a:t>σ</a:t>
            </a:r>
            <a:r>
              <a:rPr lang="en-GB" sz="1400">
                <a:solidFill>
                  <a:schemeClr val="dk1"/>
                </a:solidFill>
              </a:rPr>
              <a:t> = 2 days, 1/</a:t>
            </a:r>
            <a:r>
              <a:rPr b="1" lang="en-GB" sz="1400">
                <a:solidFill>
                  <a:schemeClr val="dk1"/>
                </a:solidFill>
              </a:rPr>
              <a:t>γ</a:t>
            </a:r>
            <a:r>
              <a:rPr lang="en-GB" sz="1400">
                <a:solidFill>
                  <a:schemeClr val="dk1"/>
                </a:solidFill>
              </a:rPr>
              <a:t> = 7 days (γ = 0.14)</a:t>
            </a:r>
            <a:endParaRPr sz="1400">
              <a:solidFill>
                <a:schemeClr val="dk1"/>
              </a:solidFill>
            </a:endParaRPr>
          </a:p>
          <a:p>
            <a:pPr indent="0" lvl="0" marL="0" rtl="0" algn="l">
              <a:lnSpc>
                <a:spcPct val="95000"/>
              </a:lnSpc>
              <a:spcBef>
                <a:spcPts val="0"/>
              </a:spcBef>
              <a:spcAft>
                <a:spcPts val="0"/>
              </a:spcAft>
              <a:buNone/>
            </a:pPr>
            <a:r>
              <a:t/>
            </a:r>
            <a:endParaRPr sz="1400">
              <a:solidFill>
                <a:schemeClr val="dk1"/>
              </a:solidFill>
            </a:endParaRPr>
          </a:p>
          <a:p>
            <a:pPr indent="-317500" lvl="0" marL="457200" rtl="0" algn="l">
              <a:lnSpc>
                <a:spcPct val="95000"/>
              </a:lnSpc>
              <a:spcBef>
                <a:spcPts val="0"/>
              </a:spcBef>
              <a:spcAft>
                <a:spcPts val="0"/>
              </a:spcAft>
              <a:buSzPts val="1400"/>
              <a:buChar char="-"/>
            </a:pPr>
            <a:r>
              <a:rPr lang="en-GB" sz="1400">
                <a:solidFill>
                  <a:schemeClr val="dk1"/>
                </a:solidFill>
              </a:rPr>
              <a:t>Estimated by </a:t>
            </a:r>
            <a:r>
              <a:rPr lang="en-GB" sz="1400">
                <a:solidFill>
                  <a:srgbClr val="188038"/>
                </a:solidFill>
                <a:latin typeface="Roboto Mono"/>
                <a:ea typeface="Roboto Mono"/>
                <a:cs typeface="Roboto Mono"/>
                <a:sym typeface="Roboto Mono"/>
              </a:rPr>
              <a:t>optim()</a:t>
            </a:r>
            <a:r>
              <a:rPr lang="en-GB" sz="1400">
                <a:solidFill>
                  <a:schemeClr val="dk1"/>
                </a:solidFill>
              </a:rPr>
              <a:t>: </a:t>
            </a:r>
            <a:r>
              <a:rPr b="1" lang="en-GB" sz="1400">
                <a:solidFill>
                  <a:schemeClr val="dk1"/>
                </a:solidFill>
              </a:rPr>
              <a:t>β = 0.560</a:t>
            </a:r>
            <a:r>
              <a:rPr lang="en-GB" sz="1400">
                <a:solidFill>
                  <a:schemeClr val="dk1"/>
                </a:solidFill>
              </a:rPr>
              <a:t>, </a:t>
            </a:r>
            <a:r>
              <a:rPr b="1" lang="en-GB" sz="1400">
                <a:solidFill>
                  <a:schemeClr val="dk1"/>
                </a:solidFill>
              </a:rPr>
              <a:t>ρ = 0.67</a:t>
            </a:r>
            <a:endParaRPr b="1" sz="1400">
              <a:solidFill>
                <a:schemeClr val="dk1"/>
              </a:solidFill>
            </a:endParaRPr>
          </a:p>
          <a:p>
            <a:pPr indent="0" lvl="0" marL="0" rtl="0" algn="l">
              <a:lnSpc>
                <a:spcPct val="95000"/>
              </a:lnSpc>
              <a:spcBef>
                <a:spcPts val="0"/>
              </a:spcBef>
              <a:spcAft>
                <a:spcPts val="0"/>
              </a:spcAft>
              <a:buNone/>
            </a:pPr>
            <a:r>
              <a:t/>
            </a:r>
            <a:endParaRPr b="1" sz="1463">
              <a:solidFill>
                <a:schemeClr val="dk1"/>
              </a:solidFill>
            </a:endParaRPr>
          </a:p>
        </p:txBody>
      </p:sp>
      <p:sp>
        <p:nvSpPr>
          <p:cNvPr id="398" name="Google Shape;398;p49"/>
          <p:cNvSpPr txBox="1"/>
          <p:nvPr>
            <p:ph idx="12" type="sldNum"/>
          </p:nvPr>
        </p:nvSpPr>
        <p:spPr>
          <a:xfrm>
            <a:off x="8301300" y="4819050"/>
            <a:ext cx="572700" cy="153900"/>
          </a:xfrm>
          <a:prstGeom prst="rect">
            <a:avLst/>
          </a:prstGeom>
        </p:spPr>
        <p:txBody>
          <a:bodyPr anchorCtr="0" anchor="ctr" bIns="0" lIns="0" spcFirstLastPara="1" rIns="0" wrap="square" tIns="0">
            <a:norm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399" name="Google Shape;399;p49" title="THEEEEEDD.png"/>
          <p:cNvPicPr preferRelativeResize="0"/>
          <p:nvPr/>
        </p:nvPicPr>
        <p:blipFill>
          <a:blip r:embed="rId3">
            <a:alphaModFix/>
          </a:blip>
          <a:stretch>
            <a:fillRect/>
          </a:stretch>
        </p:blipFill>
        <p:spPr>
          <a:xfrm>
            <a:off x="4699850" y="1041325"/>
            <a:ext cx="3800401" cy="3509134"/>
          </a:xfrm>
          <a:prstGeom prst="rect">
            <a:avLst/>
          </a:prstGeom>
          <a:noFill/>
          <a:ln>
            <a:noFill/>
          </a:ln>
        </p:spPr>
      </p:pic>
      <p:sp>
        <p:nvSpPr>
          <p:cNvPr id="400" name="Google Shape;400;p49"/>
          <p:cNvSpPr txBox="1"/>
          <p:nvPr/>
        </p:nvSpPr>
        <p:spPr>
          <a:xfrm>
            <a:off x="3181800" y="4618200"/>
            <a:ext cx="2780400" cy="55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lt1"/>
                </a:solidFill>
              </a:rPr>
              <a:t>Hanyn A. Alturki</a:t>
            </a:r>
            <a:endParaRPr b="1" sz="1800">
              <a:solidFill>
                <a:schemeClr val="lt1"/>
              </a:solidFill>
            </a:endParaRPr>
          </a:p>
        </p:txBody>
      </p:sp>
      <p:sp>
        <p:nvSpPr>
          <p:cNvPr id="401" name="Google Shape;401;p49"/>
          <p:cNvSpPr txBox="1"/>
          <p:nvPr/>
        </p:nvSpPr>
        <p:spPr>
          <a:xfrm>
            <a:off x="370025" y="1244075"/>
            <a:ext cx="3664800" cy="35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1"/>
                </a:solidFill>
                <a:latin typeface="Verdana"/>
                <a:ea typeface="Verdana"/>
                <a:cs typeface="Verdana"/>
                <a:sym typeface="Verdana"/>
              </a:rPr>
              <a:t>Lonaconing</a:t>
            </a:r>
            <a:r>
              <a:rPr lang="en-GB">
                <a:solidFill>
                  <a:schemeClr val="dk1"/>
                </a:solidFill>
                <a:latin typeface="Verdana"/>
                <a:ea typeface="Verdana"/>
                <a:cs typeface="Verdana"/>
                <a:sym typeface="Verdana"/>
              </a:rPr>
              <a:t> - Maryland</a:t>
            </a:r>
            <a:endParaRPr>
              <a:solidFill>
                <a:schemeClr val="dk2"/>
              </a:solidFill>
            </a:endParaRPr>
          </a:p>
        </p:txBody>
      </p:sp>
      <p:sp>
        <p:nvSpPr>
          <p:cNvPr id="402" name="Google Shape;402;p49"/>
          <p:cNvSpPr txBox="1"/>
          <p:nvPr/>
        </p:nvSpPr>
        <p:spPr>
          <a:xfrm>
            <a:off x="169950" y="4244438"/>
            <a:ext cx="4359900" cy="30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700">
                <a:solidFill>
                  <a:schemeClr val="dk2"/>
                </a:solidFill>
              </a:rPr>
              <a:t>Jilani TN, Jamil RT, Nguyen AD, et al. H1N1 Influenza. [Updated 2024 Mar 4]. In: StatPearls [Internet]. Clinicaltrials.eu. (n.d.). </a:t>
            </a:r>
            <a:r>
              <a:rPr i="1" lang="en-GB" sz="700">
                <a:solidFill>
                  <a:schemeClr val="dk2"/>
                </a:solidFill>
              </a:rPr>
              <a:t>H1N1 influenza – Life with disease</a:t>
            </a:r>
            <a:r>
              <a:rPr lang="en-GB" sz="700">
                <a:solidFill>
                  <a:schemeClr val="dk2"/>
                </a:solidFill>
              </a:rPr>
              <a:t>. Retrieved July 16, 2026.</a:t>
            </a:r>
            <a:endParaRPr sz="700" u="sng">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0"/>
          <p:cNvSpPr txBox="1"/>
          <p:nvPr>
            <p:ph idx="4294967295" type="body"/>
          </p:nvPr>
        </p:nvSpPr>
        <p:spPr>
          <a:xfrm>
            <a:off x="-182725" y="1300525"/>
            <a:ext cx="5076900" cy="555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sz="1200">
                <a:solidFill>
                  <a:schemeClr val="dk1"/>
                </a:solidFill>
              </a:rPr>
              <a:t>Two ways to get R₀: </a:t>
            </a:r>
            <a:r>
              <a:rPr b="1" lang="en-GB" sz="1200">
                <a:solidFill>
                  <a:schemeClr val="dk1"/>
                </a:solidFill>
              </a:rPr>
              <a:t>mechanistic</a:t>
            </a:r>
            <a:r>
              <a:rPr lang="en-GB" sz="1200">
                <a:solidFill>
                  <a:schemeClr val="dk1"/>
                </a:solidFill>
              </a:rPr>
              <a:t> (β/γ) vs </a:t>
            </a:r>
            <a:r>
              <a:rPr b="1" lang="en-GB" sz="1200">
                <a:solidFill>
                  <a:schemeClr val="dk1"/>
                </a:solidFill>
              </a:rPr>
              <a:t>final size</a:t>
            </a:r>
            <a:r>
              <a:rPr lang="en-GB" sz="1200">
                <a:solidFill>
                  <a:schemeClr val="dk1"/>
                </a:solidFill>
              </a:rPr>
              <a:t> (−log(1−r)/r)</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408" name="Google Shape;408;p50"/>
          <p:cNvSpPr txBox="1"/>
          <p:nvPr>
            <p:ph idx="12" type="sldNum"/>
          </p:nvPr>
        </p:nvSpPr>
        <p:spPr>
          <a:xfrm>
            <a:off x="8301300" y="4819050"/>
            <a:ext cx="572700" cy="153900"/>
          </a:xfrm>
          <a:prstGeom prst="rect">
            <a:avLst/>
          </a:prstGeom>
        </p:spPr>
        <p:txBody>
          <a:bodyPr anchorCtr="0" anchor="ctr" bIns="0" lIns="0" spcFirstLastPara="1" rIns="0" wrap="square" tIns="0">
            <a:norm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409" name="Google Shape;409;p50"/>
          <p:cNvSpPr txBox="1"/>
          <p:nvPr>
            <p:ph type="title"/>
          </p:nvPr>
        </p:nvSpPr>
        <p:spPr>
          <a:xfrm>
            <a:off x="270000" y="254700"/>
            <a:ext cx="8604000" cy="400200"/>
          </a:xfrm>
          <a:prstGeom prst="rect">
            <a:avLst/>
          </a:prstGeom>
        </p:spPr>
        <p:txBody>
          <a:bodyPr anchorCtr="0" anchor="ctr" bIns="0" lIns="0" spcFirstLastPara="1" rIns="0" wrap="square" tIns="0">
            <a:normAutofit/>
          </a:bodyPr>
          <a:lstStyle/>
          <a:p>
            <a:pPr indent="0" lvl="0" marL="0" rtl="0" algn="l">
              <a:lnSpc>
                <a:spcPct val="115000"/>
              </a:lnSpc>
              <a:spcBef>
                <a:spcPts val="0"/>
              </a:spcBef>
              <a:spcAft>
                <a:spcPts val="1200"/>
              </a:spcAft>
              <a:buNone/>
            </a:pPr>
            <a:r>
              <a:rPr lang="en-GB" sz="2500">
                <a:solidFill>
                  <a:schemeClr val="lt1"/>
                </a:solidFill>
              </a:rPr>
              <a:t>Under-reporting and the fragility of R₀</a:t>
            </a:r>
            <a:endParaRPr sz="3600">
              <a:solidFill>
                <a:schemeClr val="lt1"/>
              </a:solidFill>
            </a:endParaRPr>
          </a:p>
        </p:txBody>
      </p:sp>
      <p:graphicFrame>
        <p:nvGraphicFramePr>
          <p:cNvPr id="410" name="Google Shape;410;p50"/>
          <p:cNvGraphicFramePr/>
          <p:nvPr/>
        </p:nvGraphicFramePr>
        <p:xfrm>
          <a:off x="339625" y="1677875"/>
          <a:ext cx="3000000" cy="3000000"/>
        </p:xfrm>
        <a:graphic>
          <a:graphicData uri="http://schemas.openxmlformats.org/drawingml/2006/table">
            <a:tbl>
              <a:tblPr>
                <a:noFill/>
                <a:tableStyleId>{1A0A0717-11D6-420C-A9E2-7DCD7FBBD6B6}</a:tableStyleId>
              </a:tblPr>
              <a:tblGrid>
                <a:gridCol w="1484475"/>
                <a:gridCol w="1484475"/>
                <a:gridCol w="1484475"/>
              </a:tblGrid>
              <a:tr h="558400">
                <a:tc>
                  <a:txBody>
                    <a:bodyPr/>
                    <a:lstStyle/>
                    <a:p>
                      <a:pPr indent="0" lvl="0" marL="0" rtl="0" algn="ctr">
                        <a:spcBef>
                          <a:spcPts val="0"/>
                        </a:spcBef>
                        <a:spcAft>
                          <a:spcPts val="0"/>
                        </a:spcAft>
                        <a:buNone/>
                      </a:pPr>
                      <a:r>
                        <a:rPr b="1" lang="en-GB" sz="1300">
                          <a:solidFill>
                            <a:schemeClr val="dk1"/>
                          </a:solidFill>
                        </a:rPr>
                        <a:t>Method</a:t>
                      </a:r>
                      <a:endParaRPr b="1" sz="1300"/>
                    </a:p>
                  </a:txBody>
                  <a:tcPr marT="91425" marB="91425" marR="91425" marL="91425"/>
                </a:tc>
                <a:tc>
                  <a:txBody>
                    <a:bodyPr/>
                    <a:lstStyle/>
                    <a:p>
                      <a:pPr indent="0" lvl="0" marL="0" rtl="0" algn="ctr">
                        <a:spcBef>
                          <a:spcPts val="0"/>
                        </a:spcBef>
                        <a:spcAft>
                          <a:spcPts val="0"/>
                        </a:spcAft>
                        <a:buNone/>
                      </a:pPr>
                      <a:r>
                        <a:rPr b="1" lang="en-GB" sz="1300">
                          <a:solidFill>
                            <a:schemeClr val="dk1"/>
                          </a:solidFill>
                        </a:rPr>
                        <a:t>R₀</a:t>
                      </a:r>
                      <a:endParaRPr b="1" sz="1300"/>
                    </a:p>
                  </a:txBody>
                  <a:tcPr marT="91425" marB="91425" marR="91425" marL="91425"/>
                </a:tc>
                <a:tc>
                  <a:txBody>
                    <a:bodyPr/>
                    <a:lstStyle/>
                    <a:p>
                      <a:pPr indent="0" lvl="0" marL="0" rtl="0" algn="ctr">
                        <a:spcBef>
                          <a:spcPts val="0"/>
                        </a:spcBef>
                        <a:spcAft>
                          <a:spcPts val="0"/>
                        </a:spcAft>
                        <a:buNone/>
                      </a:pPr>
                      <a:r>
                        <a:rPr b="1" lang="en-GB" sz="1300">
                          <a:solidFill>
                            <a:schemeClr val="dk1"/>
                          </a:solidFill>
                        </a:rPr>
                        <a:t>Herd immunity threshold</a:t>
                      </a:r>
                      <a:endParaRPr b="1" sz="1300"/>
                    </a:p>
                  </a:txBody>
                  <a:tcPr marT="91425" marB="91425" marR="91425" marL="91425"/>
                </a:tc>
              </a:tr>
              <a:tr h="558400">
                <a:tc>
                  <a:txBody>
                    <a:bodyPr/>
                    <a:lstStyle/>
                    <a:p>
                      <a:pPr indent="0" lvl="0" marL="0" rtl="0" algn="ctr">
                        <a:spcBef>
                          <a:spcPts val="0"/>
                        </a:spcBef>
                        <a:spcAft>
                          <a:spcPts val="0"/>
                        </a:spcAft>
                        <a:buNone/>
                      </a:pPr>
                      <a:r>
                        <a:rPr lang="en-GB" sz="1300">
                          <a:solidFill>
                            <a:schemeClr val="dk1"/>
                          </a:solidFill>
                        </a:rPr>
                        <a:t>Final size, reported cases</a:t>
                      </a:r>
                      <a:endParaRPr sz="1300"/>
                    </a:p>
                  </a:txBody>
                  <a:tcPr marT="91425" marB="91425" marR="91425" marL="91425"/>
                </a:tc>
                <a:tc>
                  <a:txBody>
                    <a:bodyPr/>
                    <a:lstStyle/>
                    <a:p>
                      <a:pPr indent="0" lvl="0" marL="0" rtl="0" algn="ctr">
                        <a:spcBef>
                          <a:spcPts val="0"/>
                        </a:spcBef>
                        <a:spcAft>
                          <a:spcPts val="0"/>
                        </a:spcAft>
                        <a:buNone/>
                      </a:pPr>
                      <a:r>
                        <a:rPr lang="en-GB" sz="1300">
                          <a:solidFill>
                            <a:schemeClr val="dk1"/>
                          </a:solidFill>
                        </a:rPr>
                        <a:t>1.52</a:t>
                      </a:r>
                      <a:endParaRPr sz="1300"/>
                    </a:p>
                  </a:txBody>
                  <a:tcPr marT="91425" marB="91425" marR="91425" marL="91425"/>
                </a:tc>
                <a:tc>
                  <a:txBody>
                    <a:bodyPr/>
                    <a:lstStyle/>
                    <a:p>
                      <a:pPr indent="0" lvl="0" marL="0" rtl="0" algn="ctr">
                        <a:spcBef>
                          <a:spcPts val="0"/>
                        </a:spcBef>
                        <a:spcAft>
                          <a:spcPts val="0"/>
                        </a:spcAft>
                        <a:buNone/>
                      </a:pPr>
                      <a:r>
                        <a:rPr lang="en-GB" sz="1300">
                          <a:solidFill>
                            <a:schemeClr val="dk1"/>
                          </a:solidFill>
                        </a:rPr>
                        <a:t>34%</a:t>
                      </a:r>
                      <a:endParaRPr sz="1300"/>
                    </a:p>
                  </a:txBody>
                  <a:tcPr marT="91425" marB="91425" marR="91425" marL="91425"/>
                </a:tc>
              </a:tr>
              <a:tr h="558400">
                <a:tc>
                  <a:txBody>
                    <a:bodyPr/>
                    <a:lstStyle/>
                    <a:p>
                      <a:pPr indent="0" lvl="0" marL="0" rtl="0" algn="ctr">
                        <a:spcBef>
                          <a:spcPts val="0"/>
                        </a:spcBef>
                        <a:spcAft>
                          <a:spcPts val="0"/>
                        </a:spcAft>
                        <a:buNone/>
                      </a:pPr>
                      <a:r>
                        <a:rPr lang="en-GB" sz="1300">
                          <a:solidFill>
                            <a:schemeClr val="dk1"/>
                          </a:solidFill>
                        </a:rPr>
                        <a:t>Final size, corrected for ρ</a:t>
                      </a:r>
                      <a:endParaRPr sz="1300"/>
                    </a:p>
                  </a:txBody>
                  <a:tcPr marT="91425" marB="91425" marR="91425" marL="91425"/>
                </a:tc>
                <a:tc>
                  <a:txBody>
                    <a:bodyPr/>
                    <a:lstStyle/>
                    <a:p>
                      <a:pPr indent="0" lvl="0" marL="0" rtl="0" algn="ctr">
                        <a:spcBef>
                          <a:spcPts val="0"/>
                        </a:spcBef>
                        <a:spcAft>
                          <a:spcPts val="0"/>
                        </a:spcAft>
                        <a:buNone/>
                      </a:pPr>
                      <a:r>
                        <a:rPr lang="en-GB" sz="1300">
                          <a:solidFill>
                            <a:schemeClr val="dk1"/>
                          </a:solidFill>
                        </a:rPr>
                        <a:t>2.46</a:t>
                      </a:r>
                      <a:endParaRPr sz="1300"/>
                    </a:p>
                  </a:txBody>
                  <a:tcPr marT="91425" marB="91425" marR="91425" marL="91425"/>
                </a:tc>
                <a:tc>
                  <a:txBody>
                    <a:bodyPr/>
                    <a:lstStyle/>
                    <a:p>
                      <a:pPr indent="0" lvl="0" marL="0" rtl="0" algn="ctr">
                        <a:spcBef>
                          <a:spcPts val="0"/>
                        </a:spcBef>
                        <a:spcAft>
                          <a:spcPts val="0"/>
                        </a:spcAft>
                        <a:buNone/>
                      </a:pPr>
                      <a:r>
                        <a:rPr lang="en-GB" sz="1300">
                          <a:solidFill>
                            <a:schemeClr val="dk1"/>
                          </a:solidFill>
                        </a:rPr>
                        <a:t>59%</a:t>
                      </a:r>
                      <a:endParaRPr sz="1300"/>
                    </a:p>
                  </a:txBody>
                  <a:tcPr marT="91425" marB="91425" marR="91425" marL="91425"/>
                </a:tc>
              </a:tr>
              <a:tr h="372250">
                <a:tc>
                  <a:txBody>
                    <a:bodyPr/>
                    <a:lstStyle/>
                    <a:p>
                      <a:pPr indent="0" lvl="0" marL="0" rtl="0" algn="ctr">
                        <a:spcBef>
                          <a:spcPts val="0"/>
                        </a:spcBef>
                        <a:spcAft>
                          <a:spcPts val="0"/>
                        </a:spcAft>
                        <a:buNone/>
                      </a:pPr>
                      <a:r>
                        <a:rPr lang="en-GB" sz="1300">
                          <a:solidFill>
                            <a:schemeClr val="dk1"/>
                          </a:solidFill>
                        </a:rPr>
                        <a:t>SEIR fit (β/γ)</a:t>
                      </a:r>
                      <a:endParaRPr sz="1300"/>
                    </a:p>
                  </a:txBody>
                  <a:tcPr marT="91425" marB="91425" marR="91425" marL="91425"/>
                </a:tc>
                <a:tc>
                  <a:txBody>
                    <a:bodyPr/>
                    <a:lstStyle/>
                    <a:p>
                      <a:pPr indent="0" lvl="0" marL="0" rtl="0" algn="ctr">
                        <a:spcBef>
                          <a:spcPts val="0"/>
                        </a:spcBef>
                        <a:spcAft>
                          <a:spcPts val="0"/>
                        </a:spcAft>
                        <a:buNone/>
                      </a:pPr>
                      <a:r>
                        <a:rPr lang="en-GB" sz="1300">
                          <a:solidFill>
                            <a:schemeClr val="dk1"/>
                          </a:solidFill>
                        </a:rPr>
                        <a:t>4.00</a:t>
                      </a:r>
                      <a:endParaRPr sz="1300"/>
                    </a:p>
                  </a:txBody>
                  <a:tcPr marT="91425" marB="91425" marR="91425" marL="91425"/>
                </a:tc>
                <a:tc>
                  <a:txBody>
                    <a:bodyPr/>
                    <a:lstStyle/>
                    <a:p>
                      <a:pPr indent="0" lvl="0" marL="0" rtl="0" algn="ctr">
                        <a:spcBef>
                          <a:spcPts val="0"/>
                        </a:spcBef>
                        <a:spcAft>
                          <a:spcPts val="0"/>
                        </a:spcAft>
                        <a:buNone/>
                      </a:pPr>
                      <a:r>
                        <a:rPr lang="en-GB" sz="1300">
                          <a:solidFill>
                            <a:schemeClr val="dk1"/>
                          </a:solidFill>
                        </a:rPr>
                        <a:t>75%</a:t>
                      </a:r>
                      <a:endParaRPr sz="1300"/>
                    </a:p>
                  </a:txBody>
                  <a:tcPr marT="91425" marB="91425" marR="91425" marL="91425"/>
                </a:tc>
              </a:tr>
            </a:tbl>
          </a:graphicData>
        </a:graphic>
      </p:graphicFrame>
      <p:sp>
        <p:nvSpPr>
          <p:cNvPr id="411" name="Google Shape;411;p50"/>
          <p:cNvSpPr txBox="1"/>
          <p:nvPr>
            <p:ph idx="4294967295" type="body"/>
          </p:nvPr>
        </p:nvSpPr>
        <p:spPr>
          <a:xfrm>
            <a:off x="4793050" y="1059663"/>
            <a:ext cx="4137300" cy="3483300"/>
          </a:xfrm>
          <a:prstGeom prst="rect">
            <a:avLst/>
          </a:prstGeom>
        </p:spPr>
        <p:txBody>
          <a:bodyPr anchorCtr="0" anchor="t" bIns="91425" lIns="91425" spcFirstLastPara="1" rIns="91425" wrap="square" tIns="91425">
            <a:noAutofit/>
          </a:bodyPr>
          <a:lstStyle/>
          <a:p>
            <a:pPr indent="-332077" lvl="0" marL="457200" rtl="0" algn="l">
              <a:spcBef>
                <a:spcPts val="0"/>
              </a:spcBef>
              <a:spcAft>
                <a:spcPts val="0"/>
              </a:spcAft>
              <a:buClr>
                <a:schemeClr val="dk1"/>
              </a:buClr>
              <a:buSzPts val="1630"/>
              <a:buChar char="-"/>
            </a:pPr>
            <a:r>
              <a:rPr b="1" lang="en-GB" sz="1400">
                <a:solidFill>
                  <a:schemeClr val="dk1"/>
                </a:solidFill>
              </a:rPr>
              <a:t>Missing a third of cases: R₀ goes from 1.52 to 2.46</a:t>
            </a:r>
            <a:r>
              <a:rPr lang="en-GB" sz="1400">
                <a:solidFill>
                  <a:schemeClr val="dk1"/>
                </a:solidFill>
              </a:rPr>
              <a:t> (+62%). Herd immunity threshold: 34% → 59%.</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332077" lvl="0" marL="457200" rtl="0" algn="l">
              <a:spcBef>
                <a:spcPts val="0"/>
              </a:spcBef>
              <a:spcAft>
                <a:spcPts val="0"/>
              </a:spcAft>
              <a:buClr>
                <a:schemeClr val="dk1"/>
              </a:buClr>
              <a:buSzPts val="1630"/>
              <a:buChar char="-"/>
            </a:pPr>
            <a:r>
              <a:rPr b="1" lang="en-GB" sz="1400">
                <a:solidFill>
                  <a:schemeClr val="dk1"/>
                </a:solidFill>
              </a:rPr>
              <a:t>But 2.46 is still not 4.00.</a:t>
            </a:r>
            <a:r>
              <a:rPr lang="en-GB" sz="1400">
                <a:solidFill>
                  <a:schemeClr val="dk1"/>
                </a:solidFill>
              </a:rPr>
              <a:t> To reach 4.00, ρ would need to be 0.61 — only 6 points below my 0.67. </a:t>
            </a:r>
            <a:r>
              <a:rPr b="1" lang="en-GB" sz="1400">
                <a:solidFill>
                  <a:schemeClr val="dk1"/>
                </a:solidFill>
              </a:rPr>
              <a:t>A tiny change in ρ closes the whole gap.</a:t>
            </a:r>
            <a:endParaRPr b="1" sz="1400">
              <a:solidFill>
                <a:schemeClr val="dk1"/>
              </a:solidFill>
            </a:endParaRPr>
          </a:p>
          <a:p>
            <a:pPr indent="0" lvl="0" marL="0" rtl="0" algn="l">
              <a:spcBef>
                <a:spcPts val="0"/>
              </a:spcBef>
              <a:spcAft>
                <a:spcPts val="0"/>
              </a:spcAft>
              <a:buNone/>
            </a:pPr>
            <a:r>
              <a:t/>
            </a:r>
            <a:endParaRPr b="1" sz="1400">
              <a:solidFill>
                <a:schemeClr val="dk1"/>
              </a:solidFill>
            </a:endParaRPr>
          </a:p>
          <a:p>
            <a:pPr indent="-332077" lvl="0" marL="457200" rtl="0" algn="l">
              <a:spcBef>
                <a:spcPts val="0"/>
              </a:spcBef>
              <a:spcAft>
                <a:spcPts val="0"/>
              </a:spcAft>
              <a:buClr>
                <a:schemeClr val="dk1"/>
              </a:buClr>
              <a:buSzPts val="1630"/>
              <a:buChar char="-"/>
            </a:pPr>
            <a:r>
              <a:rPr b="1" lang="en-GB" sz="1400">
                <a:solidFill>
                  <a:schemeClr val="dk1"/>
                </a:solidFill>
              </a:rPr>
              <a:t>The formula is unstable when nearly everyone is infected.</a:t>
            </a:r>
            <a:r>
              <a:rPr lang="en-GB" sz="1400">
                <a:solidFill>
                  <a:schemeClr val="dk1"/>
                </a:solidFill>
              </a:rPr>
              <a:t> Here the corrected attack rate is already 89% — so close to 100% that it cannot tell R₀ = 2.5 from R₀ = 4.</a:t>
            </a:r>
            <a:endParaRPr b="1" sz="1630">
              <a:solidFill>
                <a:schemeClr val="dk1"/>
              </a:solidFill>
            </a:endParaRPr>
          </a:p>
          <a:p>
            <a:pPr indent="0" lvl="0" marL="0" rtl="0" algn="l">
              <a:spcBef>
                <a:spcPts val="0"/>
              </a:spcBef>
              <a:spcAft>
                <a:spcPts val="0"/>
              </a:spcAft>
              <a:buSzPts val="275"/>
              <a:buNone/>
            </a:pPr>
            <a:r>
              <a:t/>
            </a:r>
            <a:endParaRPr sz="431">
              <a:solidFill>
                <a:schemeClr val="dk1"/>
              </a:solidFill>
            </a:endParaRPr>
          </a:p>
        </p:txBody>
      </p:sp>
      <p:sp>
        <p:nvSpPr>
          <p:cNvPr id="412" name="Google Shape;412;p50"/>
          <p:cNvSpPr txBox="1"/>
          <p:nvPr/>
        </p:nvSpPr>
        <p:spPr>
          <a:xfrm>
            <a:off x="3181800" y="4618200"/>
            <a:ext cx="2780400" cy="55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lt1"/>
                </a:solidFill>
              </a:rPr>
              <a:t>Hanyn A. Alturki</a:t>
            </a:r>
            <a:endParaRPr b="1" sz="1800">
              <a:solidFill>
                <a:schemeClr val="lt1"/>
              </a:solidFill>
            </a:endParaRPr>
          </a:p>
        </p:txBody>
      </p:sp>
      <p:sp>
        <p:nvSpPr>
          <p:cNvPr id="413" name="Google Shape;413;p50"/>
          <p:cNvSpPr txBox="1"/>
          <p:nvPr/>
        </p:nvSpPr>
        <p:spPr>
          <a:xfrm>
            <a:off x="423125" y="3796050"/>
            <a:ext cx="4286400" cy="55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β and ρ fitted jointly to the same data — sensitivity analysis, not independent validation.</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1"/>
          <p:cNvSpPr txBox="1"/>
          <p:nvPr>
            <p:ph type="title"/>
          </p:nvPr>
        </p:nvSpPr>
        <p:spPr>
          <a:xfrm>
            <a:off x="222100" y="242900"/>
            <a:ext cx="9144000" cy="811200"/>
          </a:xfrm>
          <a:prstGeom prst="rect">
            <a:avLst/>
          </a:prstGeom>
        </p:spPr>
        <p:txBody>
          <a:bodyPr anchorCtr="0" anchor="ctr" bIns="0" lIns="0" spcFirstLastPara="1" rIns="0" wrap="square" tIns="0">
            <a:spAutoFit/>
          </a:bodyPr>
          <a:lstStyle/>
          <a:p>
            <a:pPr indent="0" lvl="0" marL="0" rtl="0" algn="l">
              <a:lnSpc>
                <a:spcPct val="115000"/>
              </a:lnSpc>
              <a:spcBef>
                <a:spcPts val="1200"/>
              </a:spcBef>
              <a:spcAft>
                <a:spcPts val="0"/>
              </a:spcAft>
              <a:buNone/>
            </a:pPr>
            <a:r>
              <a:rPr lang="en-GB" sz="1800">
                <a:solidFill>
                  <a:schemeClr val="lt1"/>
                </a:solidFill>
              </a:rPr>
              <a:t>Decoding the Baltimore 1918 Influenza Pandemic: A SEIR Modelling Approach</a:t>
            </a:r>
            <a:endParaRPr sz="1800">
              <a:solidFill>
                <a:schemeClr val="lt1"/>
              </a:solidFill>
            </a:endParaRPr>
          </a:p>
          <a:p>
            <a:pPr indent="0" lvl="0" marL="0" rtl="0" algn="l">
              <a:spcBef>
                <a:spcPts val="1200"/>
              </a:spcBef>
              <a:spcAft>
                <a:spcPts val="0"/>
              </a:spcAft>
              <a:buNone/>
            </a:pPr>
            <a:r>
              <a:t/>
            </a:r>
            <a:endParaRPr sz="2200"/>
          </a:p>
        </p:txBody>
      </p:sp>
      <p:sp>
        <p:nvSpPr>
          <p:cNvPr id="419" name="Google Shape;419;p51"/>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420" name="Google Shape;420;p51"/>
          <p:cNvSpPr txBox="1"/>
          <p:nvPr/>
        </p:nvSpPr>
        <p:spPr>
          <a:xfrm>
            <a:off x="3349200" y="4597500"/>
            <a:ext cx="24456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lt1"/>
                </a:solidFill>
              </a:rPr>
              <a:t>Turky</a:t>
            </a:r>
            <a:r>
              <a:rPr lang="en-GB" sz="2200">
                <a:solidFill>
                  <a:schemeClr val="lt1"/>
                </a:solidFill>
              </a:rPr>
              <a:t> AlSulaiman</a:t>
            </a:r>
            <a:endParaRPr sz="2200">
              <a:solidFill>
                <a:schemeClr val="lt1"/>
              </a:solidFill>
            </a:endParaRPr>
          </a:p>
        </p:txBody>
      </p:sp>
      <p:pic>
        <p:nvPicPr>
          <p:cNvPr id="421" name="Google Shape;421;p51" title="29334557-187F-485F-8840-2AB2AAA64266.png"/>
          <p:cNvPicPr preferRelativeResize="0"/>
          <p:nvPr/>
        </p:nvPicPr>
        <p:blipFill>
          <a:blip r:embed="rId3">
            <a:alphaModFix/>
          </a:blip>
          <a:stretch>
            <a:fillRect/>
          </a:stretch>
        </p:blipFill>
        <p:spPr>
          <a:xfrm>
            <a:off x="0" y="985200"/>
            <a:ext cx="6187801" cy="3663900"/>
          </a:xfrm>
          <a:prstGeom prst="rect">
            <a:avLst/>
          </a:prstGeom>
          <a:noFill/>
          <a:ln>
            <a:noFill/>
          </a:ln>
        </p:spPr>
      </p:pic>
      <p:sp>
        <p:nvSpPr>
          <p:cNvPr id="422" name="Google Shape;422;p51"/>
          <p:cNvSpPr txBox="1"/>
          <p:nvPr/>
        </p:nvSpPr>
        <p:spPr>
          <a:xfrm>
            <a:off x="6187800" y="1013850"/>
            <a:ext cx="2956200" cy="3531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None/>
            </a:pPr>
            <a:r>
              <a:rPr b="1" lang="en-GB" sz="1500"/>
              <a:t>Methodology</a:t>
            </a:r>
            <a:endParaRPr b="1" sz="1500"/>
          </a:p>
          <a:p>
            <a:pPr indent="-304800" lvl="0" marL="457200" rtl="0" algn="l">
              <a:lnSpc>
                <a:spcPct val="115000"/>
              </a:lnSpc>
              <a:spcBef>
                <a:spcPts val="1200"/>
              </a:spcBef>
              <a:spcAft>
                <a:spcPts val="0"/>
              </a:spcAft>
              <a:buSzPts val="1200"/>
              <a:buChar char="●"/>
            </a:pPr>
            <a:r>
              <a:rPr b="1" lang="en-GB" sz="1200"/>
              <a:t>SEIR model was applied</a:t>
            </a:r>
            <a:r>
              <a:rPr lang="en-GB" sz="1200"/>
              <a:t> to capture influenza’s latent period.</a:t>
            </a:r>
            <a:endParaRPr sz="1200"/>
          </a:p>
          <a:p>
            <a:pPr indent="0" lvl="0" marL="0" rtl="0" algn="l">
              <a:lnSpc>
                <a:spcPct val="115000"/>
              </a:lnSpc>
              <a:spcBef>
                <a:spcPts val="1200"/>
              </a:spcBef>
              <a:spcAft>
                <a:spcPts val="0"/>
              </a:spcAft>
              <a:buNone/>
            </a:pPr>
            <a:r>
              <a:t/>
            </a:r>
            <a:endParaRPr sz="200"/>
          </a:p>
          <a:p>
            <a:pPr indent="-304800" lvl="0" marL="457200" rtl="0" algn="l">
              <a:lnSpc>
                <a:spcPct val="115000"/>
              </a:lnSpc>
              <a:spcBef>
                <a:spcPts val="1200"/>
              </a:spcBef>
              <a:spcAft>
                <a:spcPts val="0"/>
              </a:spcAft>
              <a:buSzPts val="1200"/>
              <a:buChar char="●"/>
            </a:pPr>
            <a:r>
              <a:rPr b="1" lang="en-GB" sz="1200"/>
              <a:t>Historical outbreak data were used</a:t>
            </a:r>
            <a:r>
              <a:rPr lang="en-GB" sz="1200"/>
              <a:t> to drive model simulations.</a:t>
            </a:r>
            <a:endParaRPr sz="1200"/>
          </a:p>
          <a:p>
            <a:pPr indent="0" lvl="0" marL="0" rtl="0" algn="l">
              <a:lnSpc>
                <a:spcPct val="115000"/>
              </a:lnSpc>
              <a:spcBef>
                <a:spcPts val="1200"/>
              </a:spcBef>
              <a:spcAft>
                <a:spcPts val="0"/>
              </a:spcAft>
              <a:buNone/>
            </a:pPr>
            <a:r>
              <a:t/>
            </a:r>
            <a:endParaRPr sz="200"/>
          </a:p>
          <a:p>
            <a:pPr indent="-304800" lvl="0" marL="457200" rtl="0" algn="l">
              <a:lnSpc>
                <a:spcPct val="115000"/>
              </a:lnSpc>
              <a:spcBef>
                <a:spcPts val="1200"/>
              </a:spcBef>
              <a:spcAft>
                <a:spcPts val="0"/>
              </a:spcAft>
              <a:buSzPts val="1200"/>
              <a:buChar char="●"/>
            </a:pPr>
            <a:r>
              <a:rPr b="1" lang="en-GB" sz="1200"/>
              <a:t>Model optimization was performed</a:t>
            </a:r>
            <a:r>
              <a:rPr lang="en-GB" sz="1200"/>
              <a:t> to improve model fit.</a:t>
            </a:r>
            <a:endParaRPr sz="1200"/>
          </a:p>
          <a:p>
            <a:pPr indent="0" lvl="0" marL="457200" rtl="0" algn="l">
              <a:lnSpc>
                <a:spcPct val="115000"/>
              </a:lnSpc>
              <a:spcBef>
                <a:spcPts val="1200"/>
              </a:spcBef>
              <a:spcAft>
                <a:spcPts val="0"/>
              </a:spcAft>
              <a:buNone/>
            </a:pPr>
            <a:r>
              <a:t/>
            </a:r>
            <a:endParaRPr sz="200"/>
          </a:p>
          <a:p>
            <a:pPr indent="-304800" lvl="0" marL="457200" rtl="0" algn="l">
              <a:lnSpc>
                <a:spcPct val="115000"/>
              </a:lnSpc>
              <a:spcBef>
                <a:spcPts val="1200"/>
              </a:spcBef>
              <a:spcAft>
                <a:spcPts val="0"/>
              </a:spcAft>
              <a:buSzPts val="1200"/>
              <a:buChar char="●"/>
            </a:pPr>
            <a:r>
              <a:rPr b="1" lang="en-GB" sz="1200"/>
              <a:t>Vaccination scenarios were explored</a:t>
            </a:r>
            <a:r>
              <a:rPr lang="en-GB" sz="1200"/>
              <a:t> to assess potential intervention strategies.</a:t>
            </a:r>
            <a:endParaRPr sz="1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2"/>
          <p:cNvSpPr txBox="1"/>
          <p:nvPr>
            <p:ph type="title"/>
          </p:nvPr>
        </p:nvSpPr>
        <p:spPr>
          <a:xfrm>
            <a:off x="270000" y="254700"/>
            <a:ext cx="8984400" cy="872700"/>
          </a:xfrm>
          <a:prstGeom prst="rect">
            <a:avLst/>
          </a:prstGeom>
        </p:spPr>
        <p:txBody>
          <a:bodyPr anchorCtr="0" anchor="ctr" bIns="0" lIns="0" spcFirstLastPara="1" rIns="0" wrap="square" tIns="0">
            <a:spAutoFit/>
          </a:bodyPr>
          <a:lstStyle/>
          <a:p>
            <a:pPr indent="0" lvl="0" marL="0" rtl="0" algn="l">
              <a:lnSpc>
                <a:spcPct val="115000"/>
              </a:lnSpc>
              <a:spcBef>
                <a:spcPts val="1200"/>
              </a:spcBef>
              <a:spcAft>
                <a:spcPts val="0"/>
              </a:spcAft>
              <a:buNone/>
            </a:pPr>
            <a:r>
              <a:rPr lang="en-GB" sz="1800">
                <a:solidFill>
                  <a:schemeClr val="lt1"/>
                </a:solidFill>
              </a:rPr>
              <a:t>Decoding the Baltimore 1918 Influenza Pandemic: A SEIR Modelling Approach</a:t>
            </a:r>
            <a:endParaRPr sz="1800">
              <a:solidFill>
                <a:schemeClr val="lt1"/>
              </a:solidFill>
            </a:endParaRPr>
          </a:p>
          <a:p>
            <a:pPr indent="0" lvl="0" marL="0" rtl="0" algn="l">
              <a:spcBef>
                <a:spcPts val="1200"/>
              </a:spcBef>
              <a:spcAft>
                <a:spcPts val="0"/>
              </a:spcAft>
              <a:buNone/>
            </a:pPr>
            <a:r>
              <a:t/>
            </a:r>
            <a:endParaRPr/>
          </a:p>
        </p:txBody>
      </p:sp>
      <p:sp>
        <p:nvSpPr>
          <p:cNvPr id="428" name="Google Shape;428;p52"/>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429" name="Google Shape;429;p52"/>
          <p:cNvSpPr txBox="1"/>
          <p:nvPr/>
        </p:nvSpPr>
        <p:spPr>
          <a:xfrm>
            <a:off x="3349200" y="4597500"/>
            <a:ext cx="24456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lt1"/>
                </a:solidFill>
              </a:rPr>
              <a:t>Turky AlSulaiman</a:t>
            </a:r>
            <a:endParaRPr sz="2200">
              <a:solidFill>
                <a:schemeClr val="lt1"/>
              </a:solidFill>
            </a:endParaRPr>
          </a:p>
        </p:txBody>
      </p:sp>
      <p:pic>
        <p:nvPicPr>
          <p:cNvPr id="430" name="Google Shape;430;p52" title="seir_baltimore_basic_model_720.png"/>
          <p:cNvPicPr preferRelativeResize="0"/>
          <p:nvPr/>
        </p:nvPicPr>
        <p:blipFill>
          <a:blip r:embed="rId3">
            <a:alphaModFix/>
          </a:blip>
          <a:stretch>
            <a:fillRect/>
          </a:stretch>
        </p:blipFill>
        <p:spPr>
          <a:xfrm>
            <a:off x="0" y="985200"/>
            <a:ext cx="3162299" cy="2480900"/>
          </a:xfrm>
          <a:prstGeom prst="rect">
            <a:avLst/>
          </a:prstGeom>
          <a:noFill/>
          <a:ln>
            <a:noFill/>
          </a:ln>
        </p:spPr>
      </p:pic>
      <p:pic>
        <p:nvPicPr>
          <p:cNvPr id="431" name="Google Shape;431;p52" title="seir_baltimore_optimised_model_720.png"/>
          <p:cNvPicPr preferRelativeResize="0"/>
          <p:nvPr/>
        </p:nvPicPr>
        <p:blipFill>
          <a:blip r:embed="rId4">
            <a:alphaModFix/>
          </a:blip>
          <a:stretch>
            <a:fillRect/>
          </a:stretch>
        </p:blipFill>
        <p:spPr>
          <a:xfrm>
            <a:off x="3162300" y="985200"/>
            <a:ext cx="3039176" cy="2574000"/>
          </a:xfrm>
          <a:prstGeom prst="rect">
            <a:avLst/>
          </a:prstGeom>
          <a:noFill/>
          <a:ln>
            <a:noFill/>
          </a:ln>
        </p:spPr>
      </p:pic>
      <p:sp>
        <p:nvSpPr>
          <p:cNvPr id="432" name="Google Shape;432;p52"/>
          <p:cNvSpPr txBox="1"/>
          <p:nvPr/>
        </p:nvSpPr>
        <p:spPr>
          <a:xfrm>
            <a:off x="0" y="3466100"/>
            <a:ext cx="3162300" cy="823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200"/>
              </a:spcBef>
              <a:spcAft>
                <a:spcPts val="0"/>
              </a:spcAft>
              <a:buNone/>
            </a:pPr>
            <a:r>
              <a:rPr b="1" lang="en-GB" sz="1000"/>
              <a:t>Parameters:</a:t>
            </a:r>
            <a:r>
              <a:rPr lang="en-GB" sz="1000"/>
              <a:t> β = 1.00 | Immunity = 15%</a:t>
            </a:r>
            <a:endParaRPr b="1" sz="1000">
              <a:solidFill>
                <a:srgbClr val="090514"/>
              </a:solidFill>
            </a:endParaRPr>
          </a:p>
          <a:p>
            <a:pPr indent="-292100" lvl="0" marL="457200" rtl="0" algn="l">
              <a:lnSpc>
                <a:spcPct val="115000"/>
              </a:lnSpc>
              <a:spcBef>
                <a:spcPts val="1200"/>
              </a:spcBef>
              <a:spcAft>
                <a:spcPts val="0"/>
              </a:spcAft>
              <a:buClr>
                <a:srgbClr val="090514"/>
              </a:buClr>
              <a:buSzPts val="1000"/>
              <a:buChar char="●"/>
            </a:pPr>
            <a:r>
              <a:rPr b="1" lang="en-GB" sz="1000">
                <a:solidFill>
                  <a:srgbClr val="090514"/>
                </a:solidFill>
              </a:rPr>
              <a:t>Early, sharp epidemic peak.</a:t>
            </a:r>
            <a:endParaRPr b="1" sz="1000">
              <a:solidFill>
                <a:srgbClr val="090514"/>
              </a:solidFill>
            </a:endParaRPr>
          </a:p>
          <a:p>
            <a:pPr indent="-292100" lvl="0" marL="457200" rtl="0" algn="l">
              <a:lnSpc>
                <a:spcPct val="115000"/>
              </a:lnSpc>
              <a:spcBef>
                <a:spcPts val="0"/>
              </a:spcBef>
              <a:spcAft>
                <a:spcPts val="0"/>
              </a:spcAft>
              <a:buClr>
                <a:srgbClr val="090514"/>
              </a:buClr>
              <a:buSzPts val="1000"/>
              <a:buChar char="●"/>
            </a:pPr>
            <a:r>
              <a:rPr b="1" lang="en-GB" sz="1000">
                <a:solidFill>
                  <a:srgbClr val="090514"/>
                </a:solidFill>
              </a:rPr>
              <a:t>Poor agreement with observed data.</a:t>
            </a:r>
            <a:endParaRPr b="1" sz="1000">
              <a:solidFill>
                <a:srgbClr val="090514"/>
              </a:solidFill>
            </a:endParaRPr>
          </a:p>
        </p:txBody>
      </p:sp>
      <p:sp>
        <p:nvSpPr>
          <p:cNvPr id="433" name="Google Shape;433;p52"/>
          <p:cNvSpPr txBox="1"/>
          <p:nvPr/>
        </p:nvSpPr>
        <p:spPr>
          <a:xfrm>
            <a:off x="6201475" y="3466100"/>
            <a:ext cx="2988300" cy="11544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200"/>
              </a:spcBef>
              <a:spcAft>
                <a:spcPts val="0"/>
              </a:spcAft>
              <a:buNone/>
            </a:pPr>
            <a:r>
              <a:rPr b="1" lang="en-GB" sz="1000"/>
              <a:t>Parameters:</a:t>
            </a:r>
            <a:r>
              <a:rPr lang="en-GB" sz="1000"/>
              <a:t> β = 1.559 | Immunity = 60%</a:t>
            </a:r>
            <a:endParaRPr b="1" sz="1000">
              <a:solidFill>
                <a:srgbClr val="090514"/>
              </a:solidFill>
            </a:endParaRPr>
          </a:p>
          <a:p>
            <a:pPr indent="-292100" lvl="0" marL="457200" rtl="0" algn="l">
              <a:lnSpc>
                <a:spcPct val="115000"/>
              </a:lnSpc>
              <a:spcBef>
                <a:spcPts val="1200"/>
              </a:spcBef>
              <a:spcAft>
                <a:spcPts val="0"/>
              </a:spcAft>
              <a:buClr>
                <a:srgbClr val="090514"/>
              </a:buClr>
              <a:buSzPts val="1000"/>
              <a:buChar char="●"/>
            </a:pPr>
            <a:r>
              <a:rPr b="1" lang="en-GB" sz="1000">
                <a:solidFill>
                  <a:srgbClr val="090514"/>
                </a:solidFill>
              </a:rPr>
              <a:t>Reduced epidemic size.</a:t>
            </a:r>
            <a:endParaRPr b="1" sz="1000">
              <a:solidFill>
                <a:srgbClr val="090514"/>
              </a:solidFill>
            </a:endParaRPr>
          </a:p>
          <a:p>
            <a:pPr indent="-292100" lvl="0" marL="457200" rtl="0" algn="l">
              <a:lnSpc>
                <a:spcPct val="115000"/>
              </a:lnSpc>
              <a:spcBef>
                <a:spcPts val="0"/>
              </a:spcBef>
              <a:spcAft>
                <a:spcPts val="0"/>
              </a:spcAft>
              <a:buClr>
                <a:srgbClr val="090514"/>
              </a:buClr>
              <a:buSzPts val="1000"/>
              <a:buChar char="●"/>
            </a:pPr>
            <a:r>
              <a:rPr b="1" lang="en-GB" sz="1000">
                <a:solidFill>
                  <a:srgbClr val="090514"/>
                </a:solidFill>
              </a:rPr>
              <a:t>Illustrates the effect of vaccination.</a:t>
            </a:r>
            <a:endParaRPr b="1" sz="1000">
              <a:solidFill>
                <a:srgbClr val="090514"/>
              </a:solidFill>
            </a:endParaRPr>
          </a:p>
          <a:p>
            <a:pPr indent="0" lvl="0" marL="0" rtl="0" algn="l">
              <a:spcBef>
                <a:spcPts val="1200"/>
              </a:spcBef>
              <a:spcAft>
                <a:spcPts val="0"/>
              </a:spcAft>
              <a:buNone/>
            </a:pPr>
            <a:r>
              <a:t/>
            </a:r>
            <a:endParaRPr b="1" sz="1000">
              <a:solidFill>
                <a:srgbClr val="090514"/>
              </a:solidFill>
            </a:endParaRPr>
          </a:p>
        </p:txBody>
      </p:sp>
      <p:sp>
        <p:nvSpPr>
          <p:cNvPr id="434" name="Google Shape;434;p52"/>
          <p:cNvSpPr txBox="1"/>
          <p:nvPr/>
        </p:nvSpPr>
        <p:spPr>
          <a:xfrm>
            <a:off x="2998725" y="3466100"/>
            <a:ext cx="3366300" cy="14853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200"/>
              </a:spcBef>
              <a:spcAft>
                <a:spcPts val="0"/>
              </a:spcAft>
              <a:buNone/>
            </a:pPr>
            <a:r>
              <a:rPr b="1" lang="en-GB" sz="1000"/>
              <a:t>Parameters:</a:t>
            </a:r>
            <a:r>
              <a:rPr lang="en-GB" sz="1000"/>
              <a:t> β = 0.766 | Immunity = 15%</a:t>
            </a:r>
            <a:endParaRPr b="1" sz="1000">
              <a:solidFill>
                <a:srgbClr val="090514"/>
              </a:solidFill>
            </a:endParaRPr>
          </a:p>
          <a:p>
            <a:pPr indent="-292100" lvl="0" marL="457200" rtl="0" algn="l">
              <a:lnSpc>
                <a:spcPct val="115000"/>
              </a:lnSpc>
              <a:spcBef>
                <a:spcPts val="1200"/>
              </a:spcBef>
              <a:spcAft>
                <a:spcPts val="0"/>
              </a:spcAft>
              <a:buClr>
                <a:srgbClr val="090514"/>
              </a:buClr>
              <a:buSzPts val="1000"/>
              <a:buChar char="●"/>
            </a:pPr>
            <a:r>
              <a:rPr b="1" lang="en-GB" sz="1000">
                <a:solidFill>
                  <a:srgbClr val="090514"/>
                </a:solidFill>
              </a:rPr>
              <a:t>Improved fit after model optimization.</a:t>
            </a:r>
            <a:endParaRPr b="1" sz="1000">
              <a:solidFill>
                <a:srgbClr val="090514"/>
              </a:solidFill>
            </a:endParaRPr>
          </a:p>
          <a:p>
            <a:pPr indent="-292100" lvl="0" marL="457200" rtl="0" algn="l">
              <a:lnSpc>
                <a:spcPct val="115000"/>
              </a:lnSpc>
              <a:spcBef>
                <a:spcPts val="0"/>
              </a:spcBef>
              <a:spcAft>
                <a:spcPts val="0"/>
              </a:spcAft>
              <a:buClr>
                <a:srgbClr val="090514"/>
              </a:buClr>
              <a:buSzPts val="1000"/>
              <a:buChar char="●"/>
            </a:pPr>
            <a:r>
              <a:rPr b="1" lang="en-GB" sz="1000">
                <a:solidFill>
                  <a:srgbClr val="090514"/>
                </a:solidFill>
              </a:rPr>
              <a:t>Better matched the observed epidemic.</a:t>
            </a:r>
            <a:endParaRPr b="1" sz="1000">
              <a:solidFill>
                <a:srgbClr val="090514"/>
              </a:solidFill>
            </a:endParaRPr>
          </a:p>
          <a:p>
            <a:pPr indent="0" lvl="0" marL="457200" rtl="0" algn="l">
              <a:lnSpc>
                <a:spcPct val="115000"/>
              </a:lnSpc>
              <a:spcBef>
                <a:spcPts val="1200"/>
              </a:spcBef>
              <a:spcAft>
                <a:spcPts val="0"/>
              </a:spcAft>
              <a:buNone/>
            </a:pPr>
            <a:r>
              <a:t/>
            </a:r>
            <a:endParaRPr b="1" sz="1000">
              <a:solidFill>
                <a:srgbClr val="090514"/>
              </a:solidFill>
            </a:endParaRPr>
          </a:p>
          <a:p>
            <a:pPr indent="0" lvl="0" marL="0" rtl="0" algn="l">
              <a:spcBef>
                <a:spcPts val="1200"/>
              </a:spcBef>
              <a:spcAft>
                <a:spcPts val="0"/>
              </a:spcAft>
              <a:buNone/>
            </a:pPr>
            <a:r>
              <a:t/>
            </a:r>
            <a:endParaRPr sz="1000">
              <a:solidFill>
                <a:srgbClr val="090514"/>
              </a:solidFill>
            </a:endParaRPr>
          </a:p>
        </p:txBody>
      </p:sp>
      <p:pic>
        <p:nvPicPr>
          <p:cNvPr id="435" name="Google Shape;435;p52" title="SEIR_Baltimore_optimised_model.png"/>
          <p:cNvPicPr preferRelativeResize="0"/>
          <p:nvPr/>
        </p:nvPicPr>
        <p:blipFill>
          <a:blip r:embed="rId5">
            <a:alphaModFix/>
          </a:blip>
          <a:stretch>
            <a:fillRect/>
          </a:stretch>
        </p:blipFill>
        <p:spPr>
          <a:xfrm>
            <a:off x="5981700" y="985200"/>
            <a:ext cx="3162301" cy="2574002"/>
          </a:xfrm>
          <a:prstGeom prst="rect">
            <a:avLst/>
          </a:prstGeom>
          <a:noFill/>
          <a:ln>
            <a:noFill/>
          </a:ln>
        </p:spPr>
      </p:pic>
      <p:sp>
        <p:nvSpPr>
          <p:cNvPr id="436" name="Google Shape;436;p52"/>
          <p:cNvSpPr txBox="1"/>
          <p:nvPr/>
        </p:nvSpPr>
        <p:spPr>
          <a:xfrm>
            <a:off x="-38100" y="4244225"/>
            <a:ext cx="9144000" cy="1900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b="1" lang="en-GB" sz="1000"/>
              <a:t>Reporting probability (ρ):</a:t>
            </a:r>
            <a:r>
              <a:rPr lang="en-GB" sz="1000"/>
              <a:t> 0.5, </a:t>
            </a:r>
            <a:r>
              <a:rPr b="1" lang="en-GB" sz="1100"/>
              <a:t>Latent rate (σ):</a:t>
            </a:r>
            <a:r>
              <a:rPr lang="en-GB" sz="1100"/>
              <a:t> 1 day , </a:t>
            </a:r>
            <a:r>
              <a:rPr b="1" lang="en-GB" sz="1100"/>
              <a:t>Recovery rate (γ):</a:t>
            </a:r>
            <a:r>
              <a:rPr lang="en-GB" sz="1100"/>
              <a:t> 3 days, </a:t>
            </a:r>
            <a:r>
              <a:rPr b="1" lang="en-GB" sz="1100"/>
              <a:t>Initial exposed (E₀):</a:t>
            </a:r>
            <a:r>
              <a:rPr lang="en-GB" sz="1100"/>
              <a:t> 0, </a:t>
            </a:r>
            <a:r>
              <a:rPr b="1" lang="en-GB" sz="1100"/>
              <a:t>Initial infectious (I₀):</a:t>
            </a:r>
            <a:r>
              <a:rPr lang="en-GB" sz="1100"/>
              <a:t> 3</a:t>
            </a:r>
            <a:endParaRPr sz="1100"/>
          </a:p>
          <a:p>
            <a:pPr indent="0" lvl="0" marL="45720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000"/>
          </a:p>
          <a:p>
            <a:pPr indent="0" lvl="0" marL="0" rtl="0" algn="l">
              <a:spcBef>
                <a:spcPts val="1200"/>
              </a:spcBef>
              <a:spcAft>
                <a:spcPts val="0"/>
              </a:spcAft>
              <a:buNone/>
            </a:pPr>
            <a:r>
              <a:t/>
            </a:r>
            <a:endParaRPr sz="2200">
              <a:solidFill>
                <a:srgbClr val="003E7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3"/>
          <p:cNvSpPr txBox="1"/>
          <p:nvPr>
            <p:ph type="title"/>
          </p:nvPr>
        </p:nvSpPr>
        <p:spPr>
          <a:xfrm>
            <a:off x="308100" y="139000"/>
            <a:ext cx="8604000" cy="1015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i="1" lang="en-GB" sz="2000">
                <a:solidFill>
                  <a:schemeClr val="lt1"/>
                </a:solidFill>
              </a:rPr>
              <a:t>How well can a standard SEIR model explain Baltimore's 1918 influenza outbreak, and what would a vaccine have changed?</a:t>
            </a:r>
            <a:endParaRPr i="1" sz="2000">
              <a:solidFill>
                <a:schemeClr val="lt1"/>
              </a:solidFill>
            </a:endParaRPr>
          </a:p>
          <a:p>
            <a:pPr indent="0" lvl="0" marL="0" rtl="0" algn="l">
              <a:spcBef>
                <a:spcPts val="0"/>
              </a:spcBef>
              <a:spcAft>
                <a:spcPts val="0"/>
              </a:spcAft>
              <a:buNone/>
            </a:pPr>
            <a:r>
              <a:t/>
            </a:r>
            <a:endParaRPr/>
          </a:p>
        </p:txBody>
      </p:sp>
      <p:sp>
        <p:nvSpPr>
          <p:cNvPr id="442" name="Google Shape;442;p53"/>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443" name="Google Shape;443;p53"/>
          <p:cNvSpPr txBox="1"/>
          <p:nvPr>
            <p:ph type="title"/>
          </p:nvPr>
        </p:nvSpPr>
        <p:spPr>
          <a:xfrm>
            <a:off x="0" y="4743775"/>
            <a:ext cx="8604000" cy="7080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i="1" lang="en-GB" sz="2000">
                <a:solidFill>
                  <a:schemeClr val="lt1"/>
                </a:solidFill>
              </a:rPr>
              <a:t>Dalia Almasud</a:t>
            </a:r>
            <a:endParaRPr i="1" sz="2000">
              <a:solidFill>
                <a:schemeClr val="lt1"/>
              </a:solidFill>
            </a:endParaRPr>
          </a:p>
          <a:p>
            <a:pPr indent="0" lvl="0" marL="0" rtl="0" algn="ctr">
              <a:spcBef>
                <a:spcPts val="0"/>
              </a:spcBef>
              <a:spcAft>
                <a:spcPts val="0"/>
              </a:spcAft>
              <a:buNone/>
            </a:pPr>
            <a:r>
              <a:t/>
            </a:r>
            <a:endParaRPr/>
          </a:p>
        </p:txBody>
      </p:sp>
      <p:sp>
        <p:nvSpPr>
          <p:cNvPr id="444" name="Google Shape;444;p53"/>
          <p:cNvSpPr txBox="1"/>
          <p:nvPr/>
        </p:nvSpPr>
        <p:spPr>
          <a:xfrm>
            <a:off x="128100" y="578675"/>
            <a:ext cx="5853600" cy="442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200">
              <a:solidFill>
                <a:srgbClr val="003E72"/>
              </a:solidFill>
            </a:endParaRPr>
          </a:p>
          <a:p>
            <a:pPr indent="-304800" lvl="0" marL="457200" rtl="0" algn="l">
              <a:lnSpc>
                <a:spcPct val="115000"/>
              </a:lnSpc>
              <a:spcBef>
                <a:spcPts val="1200"/>
              </a:spcBef>
              <a:spcAft>
                <a:spcPts val="0"/>
              </a:spcAft>
              <a:buClr>
                <a:srgbClr val="003E72"/>
              </a:buClr>
              <a:buSzPts val="1200"/>
              <a:buChar char="●"/>
            </a:pPr>
            <a:r>
              <a:rPr b="1" lang="en-GB" sz="1200">
                <a:solidFill>
                  <a:srgbClr val="003E72"/>
                </a:solidFill>
              </a:rPr>
              <a:t>What i did</a:t>
            </a:r>
            <a:r>
              <a:rPr lang="en-GB" sz="1200">
                <a:solidFill>
                  <a:srgbClr val="003E72"/>
                </a:solidFill>
              </a:rPr>
              <a:t>:</a:t>
            </a:r>
            <a:br>
              <a:rPr lang="en-GB" sz="1200">
                <a:solidFill>
                  <a:srgbClr val="003E72"/>
                </a:solidFill>
              </a:rPr>
            </a:br>
            <a:endParaRPr sz="1200">
              <a:solidFill>
                <a:srgbClr val="003E72"/>
              </a:solidFill>
            </a:endParaRPr>
          </a:p>
          <a:p>
            <a:pPr indent="0" lvl="0" marL="0" rtl="0" algn="l">
              <a:lnSpc>
                <a:spcPct val="115000"/>
              </a:lnSpc>
              <a:spcBef>
                <a:spcPts val="1200"/>
              </a:spcBef>
              <a:spcAft>
                <a:spcPts val="0"/>
              </a:spcAft>
              <a:buNone/>
            </a:pPr>
            <a:r>
              <a:t/>
            </a:r>
            <a:endParaRPr sz="1200">
              <a:solidFill>
                <a:srgbClr val="003E72"/>
              </a:solidFill>
            </a:endParaRPr>
          </a:p>
          <a:p>
            <a:pPr indent="0" lvl="0" marL="0" rtl="0" algn="l">
              <a:lnSpc>
                <a:spcPct val="115000"/>
              </a:lnSpc>
              <a:spcBef>
                <a:spcPts val="1200"/>
              </a:spcBef>
              <a:spcAft>
                <a:spcPts val="0"/>
              </a:spcAft>
              <a:buNone/>
            </a:pPr>
            <a:r>
              <a:t/>
            </a:r>
            <a:endParaRPr sz="1200">
              <a:solidFill>
                <a:srgbClr val="003E72"/>
              </a:solidFill>
            </a:endParaRPr>
          </a:p>
          <a:p>
            <a:pPr indent="0" lvl="0" marL="0" rtl="0" algn="l">
              <a:lnSpc>
                <a:spcPct val="115000"/>
              </a:lnSpc>
              <a:spcBef>
                <a:spcPts val="1200"/>
              </a:spcBef>
              <a:spcAft>
                <a:spcPts val="0"/>
              </a:spcAft>
              <a:buNone/>
            </a:pPr>
            <a:r>
              <a:t/>
            </a:r>
            <a:endParaRPr sz="1200">
              <a:solidFill>
                <a:srgbClr val="003E72"/>
              </a:solidFill>
            </a:endParaRPr>
          </a:p>
          <a:p>
            <a:pPr indent="0" lvl="0" marL="0" rtl="0" algn="l">
              <a:lnSpc>
                <a:spcPct val="115000"/>
              </a:lnSpc>
              <a:spcBef>
                <a:spcPts val="1200"/>
              </a:spcBef>
              <a:spcAft>
                <a:spcPts val="0"/>
              </a:spcAft>
              <a:buNone/>
            </a:pPr>
            <a:r>
              <a:t/>
            </a:r>
            <a:endParaRPr sz="1200">
              <a:solidFill>
                <a:srgbClr val="003E72"/>
              </a:solidFill>
            </a:endParaRPr>
          </a:p>
          <a:p>
            <a:pPr indent="-304800" lvl="0" marL="457200" rtl="0" algn="l">
              <a:lnSpc>
                <a:spcPct val="115000"/>
              </a:lnSpc>
              <a:spcBef>
                <a:spcPts val="1200"/>
              </a:spcBef>
              <a:spcAft>
                <a:spcPts val="0"/>
              </a:spcAft>
              <a:buClr>
                <a:srgbClr val="003E72"/>
              </a:buClr>
              <a:buSzPts val="1200"/>
              <a:buChar char="●"/>
            </a:pPr>
            <a:r>
              <a:rPr b="1" lang="en-GB" sz="1200">
                <a:solidFill>
                  <a:srgbClr val="003E72"/>
                </a:solidFill>
              </a:rPr>
              <a:t>Results</a:t>
            </a:r>
            <a:r>
              <a:rPr lang="en-GB" sz="1200">
                <a:solidFill>
                  <a:srgbClr val="003E72"/>
                </a:solidFill>
              </a:rPr>
              <a:t> </a:t>
            </a:r>
            <a:br>
              <a:rPr lang="en-GB" sz="1200">
                <a:solidFill>
                  <a:srgbClr val="003E72"/>
                </a:solidFill>
              </a:rPr>
            </a:br>
            <a:r>
              <a:rPr lang="en-GB" sz="1200">
                <a:solidFill>
                  <a:srgbClr val="003E72"/>
                </a:solidFill>
              </a:rPr>
              <a:t> • Literature-average parameters (R0≈2) failed to match the outbreak's timing; the best fit within realistic bounds required R0≈3.5, along with a 1-day incubation period, 2-day infectious period, and ~49.7% initial immunity; all pushed to the edge of what's plausible for influenza</a:t>
            </a:r>
            <a:endParaRPr sz="1200">
              <a:solidFill>
                <a:srgbClr val="003E72"/>
              </a:solidFill>
            </a:endParaRPr>
          </a:p>
          <a:p>
            <a:pPr indent="0" lvl="0" marL="457200" rtl="0" algn="l">
              <a:lnSpc>
                <a:spcPct val="115000"/>
              </a:lnSpc>
              <a:spcBef>
                <a:spcPts val="1200"/>
              </a:spcBef>
              <a:spcAft>
                <a:spcPts val="1200"/>
              </a:spcAft>
              <a:buNone/>
            </a:pPr>
            <a:r>
              <a:rPr lang="en-GB" sz="1200">
                <a:solidFill>
                  <a:srgbClr val="003E72"/>
                </a:solidFill>
              </a:rPr>
              <a:t>• Under this fitted epidemic, an idealized day-0 vaccination campaign would have averted about 80% of cases. HIT was 71.4%. </a:t>
            </a:r>
            <a:br>
              <a:rPr lang="en-GB" sz="1200">
                <a:solidFill>
                  <a:srgbClr val="003E72"/>
                </a:solidFill>
              </a:rPr>
            </a:br>
            <a:endParaRPr sz="1200">
              <a:solidFill>
                <a:srgbClr val="003E72"/>
              </a:solidFill>
            </a:endParaRPr>
          </a:p>
        </p:txBody>
      </p:sp>
      <p:pic>
        <p:nvPicPr>
          <p:cNvPr id="445" name="Google Shape;445;p53"/>
          <p:cNvPicPr preferRelativeResize="0"/>
          <p:nvPr/>
        </p:nvPicPr>
        <p:blipFill>
          <a:blip r:embed="rId3">
            <a:alphaModFix/>
          </a:blip>
          <a:stretch>
            <a:fillRect/>
          </a:stretch>
        </p:blipFill>
        <p:spPr>
          <a:xfrm>
            <a:off x="6142475" y="1123275"/>
            <a:ext cx="2548849" cy="1737399"/>
          </a:xfrm>
          <a:prstGeom prst="rect">
            <a:avLst/>
          </a:prstGeom>
          <a:noFill/>
          <a:ln>
            <a:noFill/>
          </a:ln>
        </p:spPr>
      </p:pic>
      <p:pic>
        <p:nvPicPr>
          <p:cNvPr id="446" name="Google Shape;446;p53"/>
          <p:cNvPicPr preferRelativeResize="0"/>
          <p:nvPr/>
        </p:nvPicPr>
        <p:blipFill>
          <a:blip r:embed="rId4">
            <a:alphaModFix/>
          </a:blip>
          <a:stretch>
            <a:fillRect/>
          </a:stretch>
        </p:blipFill>
        <p:spPr>
          <a:xfrm>
            <a:off x="6346900" y="2948051"/>
            <a:ext cx="2385126" cy="1625823"/>
          </a:xfrm>
          <a:prstGeom prst="rect">
            <a:avLst/>
          </a:prstGeom>
          <a:noFill/>
          <a:ln>
            <a:noFill/>
          </a:ln>
        </p:spPr>
      </p:pic>
      <p:pic>
        <p:nvPicPr>
          <p:cNvPr id="447" name="Google Shape;447;p53"/>
          <p:cNvPicPr preferRelativeResize="0"/>
          <p:nvPr/>
        </p:nvPicPr>
        <p:blipFill>
          <a:blip r:embed="rId5">
            <a:alphaModFix/>
          </a:blip>
          <a:stretch>
            <a:fillRect/>
          </a:stretch>
        </p:blipFill>
        <p:spPr>
          <a:xfrm>
            <a:off x="1430255" y="1244075"/>
            <a:ext cx="3938118" cy="17374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4"/>
          <p:cNvSpPr txBox="1"/>
          <p:nvPr>
            <p:ph type="title"/>
          </p:nvPr>
        </p:nvSpPr>
        <p:spPr>
          <a:xfrm>
            <a:off x="308100" y="139000"/>
            <a:ext cx="8604000" cy="1015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i="1" lang="en-GB" sz="2000">
                <a:solidFill>
                  <a:schemeClr val="lt1"/>
                </a:solidFill>
              </a:rPr>
              <a:t>How well can a standard SEIR model explain Baltimore's 1918 influenza outbreak, and what would a vaccine have changed?</a:t>
            </a:r>
            <a:endParaRPr i="1" sz="2000">
              <a:solidFill>
                <a:schemeClr val="lt1"/>
              </a:solidFill>
            </a:endParaRPr>
          </a:p>
          <a:p>
            <a:pPr indent="0" lvl="0" marL="0" rtl="0" algn="l">
              <a:spcBef>
                <a:spcPts val="0"/>
              </a:spcBef>
              <a:spcAft>
                <a:spcPts val="0"/>
              </a:spcAft>
              <a:buNone/>
            </a:pPr>
            <a:r>
              <a:t/>
            </a:r>
            <a:endParaRPr/>
          </a:p>
        </p:txBody>
      </p:sp>
      <p:sp>
        <p:nvSpPr>
          <p:cNvPr id="453" name="Google Shape;453;p54"/>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454" name="Google Shape;454;p54"/>
          <p:cNvSpPr txBox="1"/>
          <p:nvPr>
            <p:ph type="title"/>
          </p:nvPr>
        </p:nvSpPr>
        <p:spPr>
          <a:xfrm>
            <a:off x="0" y="4743775"/>
            <a:ext cx="8604000" cy="7080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i="1" lang="en-GB" sz="2000">
                <a:solidFill>
                  <a:schemeClr val="lt1"/>
                </a:solidFill>
              </a:rPr>
              <a:t>Dalia Almasud</a:t>
            </a:r>
            <a:endParaRPr i="1" sz="2000">
              <a:solidFill>
                <a:schemeClr val="lt1"/>
              </a:solidFill>
            </a:endParaRPr>
          </a:p>
          <a:p>
            <a:pPr indent="0" lvl="0" marL="0" rtl="0" algn="ctr">
              <a:spcBef>
                <a:spcPts val="0"/>
              </a:spcBef>
              <a:spcAft>
                <a:spcPts val="0"/>
              </a:spcAft>
              <a:buNone/>
            </a:pPr>
            <a:r>
              <a:t/>
            </a:r>
            <a:endParaRPr/>
          </a:p>
        </p:txBody>
      </p:sp>
      <p:sp>
        <p:nvSpPr>
          <p:cNvPr id="455" name="Google Shape;455;p54"/>
          <p:cNvSpPr txBox="1"/>
          <p:nvPr/>
        </p:nvSpPr>
        <p:spPr>
          <a:xfrm>
            <a:off x="420725" y="1324950"/>
            <a:ext cx="5605500" cy="3013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003E72"/>
              </a:buClr>
              <a:buSzPts val="1200"/>
              <a:buChar char="●"/>
            </a:pPr>
            <a:r>
              <a:rPr b="1" lang="en-GB" sz="1200">
                <a:solidFill>
                  <a:srgbClr val="003E72"/>
                </a:solidFill>
              </a:rPr>
              <a:t>Difficulties:</a:t>
            </a:r>
            <a:r>
              <a:rPr lang="en-GB" sz="1200">
                <a:solidFill>
                  <a:srgbClr val="003E72"/>
                </a:solidFill>
              </a:rPr>
              <a:t> </a:t>
            </a:r>
            <a:r>
              <a:rPr lang="en-GB" sz="1200">
                <a:solidFill>
                  <a:srgbClr val="003E72"/>
                </a:solidFill>
              </a:rPr>
              <a:t>estimating the reporting fraction. In an earlier attempt, when I let R0 search freely without a realistic cap, the reporting fraction kept climbing to 100%, the maximum possible, which isn't a real answer. Once I capped R0 to a realistic range in my final model, the reporting fraction settled at a sensible value, 61.4%. This showed me that R0 and the reporting fraction were pulling against each other, and putting realistic limits on R0 fixed the problem. </a:t>
            </a:r>
            <a:endParaRPr sz="1200">
              <a:solidFill>
                <a:srgbClr val="003E72"/>
              </a:solidFill>
            </a:endParaRPr>
          </a:p>
          <a:p>
            <a:pPr indent="0" lvl="0" marL="457200" rtl="0" algn="l">
              <a:lnSpc>
                <a:spcPct val="115000"/>
              </a:lnSpc>
              <a:spcBef>
                <a:spcPts val="1200"/>
              </a:spcBef>
              <a:spcAft>
                <a:spcPts val="0"/>
              </a:spcAft>
              <a:buNone/>
            </a:pPr>
            <a:r>
              <a:rPr lang="en-GB" sz="1200">
                <a:solidFill>
                  <a:srgbClr val="003E72"/>
                </a:solidFill>
              </a:rPr>
              <a:t>Also, my ears were blocked this week and I couldn't hear things clearly :)  (good news, i went for a clean up yesterday and now i’m alright :D) </a:t>
            </a:r>
            <a:endParaRPr sz="1200">
              <a:solidFill>
                <a:srgbClr val="003E72"/>
              </a:solidFill>
            </a:endParaRPr>
          </a:p>
          <a:p>
            <a:pPr indent="-304800" lvl="0" marL="457200" rtl="0" algn="l">
              <a:lnSpc>
                <a:spcPct val="115000"/>
              </a:lnSpc>
              <a:spcBef>
                <a:spcPts val="1200"/>
              </a:spcBef>
              <a:spcAft>
                <a:spcPts val="0"/>
              </a:spcAft>
              <a:buClr>
                <a:srgbClr val="003E72"/>
              </a:buClr>
              <a:buSzPts val="1200"/>
              <a:buChar char="●"/>
            </a:pPr>
            <a:r>
              <a:rPr b="1" lang="en-GB" sz="1200">
                <a:solidFill>
                  <a:srgbClr val="003E72"/>
                </a:solidFill>
              </a:rPr>
              <a:t>Next step:</a:t>
            </a:r>
            <a:r>
              <a:rPr lang="en-GB" sz="1200">
                <a:solidFill>
                  <a:srgbClr val="003E72"/>
                </a:solidFill>
              </a:rPr>
              <a:t> Use age-stratified data (Table VI/VII) to test whether concentrating immunity in older cohorts fits without needing such an extreme R0</a:t>
            </a:r>
            <a:endParaRPr sz="1200">
              <a:solidFill>
                <a:srgbClr val="003E72"/>
              </a:solidFill>
            </a:endParaRPr>
          </a:p>
        </p:txBody>
      </p:sp>
      <p:pic>
        <p:nvPicPr>
          <p:cNvPr id="456" name="Google Shape;456;p54"/>
          <p:cNvPicPr preferRelativeResize="0"/>
          <p:nvPr/>
        </p:nvPicPr>
        <p:blipFill>
          <a:blip r:embed="rId3">
            <a:alphaModFix/>
          </a:blip>
          <a:stretch>
            <a:fillRect/>
          </a:stretch>
        </p:blipFill>
        <p:spPr>
          <a:xfrm>
            <a:off x="5932500" y="1297900"/>
            <a:ext cx="3007976" cy="25998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5"/>
          <p:cNvSpPr txBox="1"/>
          <p:nvPr>
            <p:ph type="title"/>
          </p:nvPr>
        </p:nvSpPr>
        <p:spPr>
          <a:xfrm>
            <a:off x="231900" y="199675"/>
            <a:ext cx="8604000" cy="523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700">
                <a:solidFill>
                  <a:srgbClr val="FFFFFF"/>
                </a:solidFill>
              </a:rPr>
              <a:t>How would reducing influenza transmission have altered the 1918 Baltimore epidemic?</a:t>
            </a:r>
            <a:endParaRPr sz="3100"/>
          </a:p>
        </p:txBody>
      </p:sp>
      <p:sp>
        <p:nvSpPr>
          <p:cNvPr id="462" name="Google Shape;462;p55"/>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463" name="Google Shape;463;p55" title="ChatGPT Image Jul 17, 2026 at 12_34_30 AM.png"/>
          <p:cNvPicPr preferRelativeResize="0"/>
          <p:nvPr/>
        </p:nvPicPr>
        <p:blipFill>
          <a:blip r:embed="rId3">
            <a:alphaModFix/>
          </a:blip>
          <a:stretch>
            <a:fillRect/>
          </a:stretch>
        </p:blipFill>
        <p:spPr>
          <a:xfrm>
            <a:off x="0" y="939725"/>
            <a:ext cx="9220198" cy="3804950"/>
          </a:xfrm>
          <a:prstGeom prst="rect">
            <a:avLst/>
          </a:prstGeom>
          <a:noFill/>
          <a:ln>
            <a:noFill/>
          </a:ln>
        </p:spPr>
      </p:pic>
      <p:sp>
        <p:nvSpPr>
          <p:cNvPr id="464" name="Google Shape;464;p55"/>
          <p:cNvSpPr txBox="1"/>
          <p:nvPr/>
        </p:nvSpPr>
        <p:spPr>
          <a:xfrm flipH="1">
            <a:off x="1450650" y="4649100"/>
            <a:ext cx="3025500" cy="844500"/>
          </a:xfrm>
          <a:prstGeom prst="rect">
            <a:avLst/>
          </a:prstGeom>
          <a:solidFill>
            <a:srgbClr val="333333">
              <a:alpha val="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solidFill>
                  <a:schemeClr val="lt1"/>
                </a:solidFill>
              </a:rPr>
              <a:t>Lames Baraji</a:t>
            </a:r>
            <a:endParaRPr i="1" sz="20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6"/>
          <p:cNvSpPr txBox="1"/>
          <p:nvPr>
            <p:ph type="title"/>
          </p:nvPr>
        </p:nvSpPr>
        <p:spPr>
          <a:xfrm>
            <a:off x="231900" y="144675"/>
            <a:ext cx="8604000" cy="9234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700">
                <a:solidFill>
                  <a:srgbClr val="FFFFFF"/>
                </a:solidFill>
              </a:rPr>
              <a:t>How would reducing influenza transmission have altered the 1918 Baltimore epidemic?</a:t>
            </a:r>
            <a:endParaRPr sz="3100">
              <a:solidFill>
                <a:schemeClr val="lt1"/>
              </a:solidFill>
            </a:endParaRPr>
          </a:p>
          <a:p>
            <a:pPr indent="0" lvl="0" marL="0" rtl="0" algn="l">
              <a:spcBef>
                <a:spcPts val="0"/>
              </a:spcBef>
              <a:spcAft>
                <a:spcPts val="0"/>
              </a:spcAft>
              <a:buNone/>
            </a:pPr>
            <a:r>
              <a:t/>
            </a:r>
            <a:endParaRPr/>
          </a:p>
        </p:txBody>
      </p:sp>
      <p:sp>
        <p:nvSpPr>
          <p:cNvPr id="470" name="Google Shape;470;p56"/>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471" name="Google Shape;471;p56" title="ChatGPT Image Jul 17, 2026 at 12_45_16 AM.png"/>
          <p:cNvPicPr preferRelativeResize="0"/>
          <p:nvPr/>
        </p:nvPicPr>
        <p:blipFill>
          <a:blip r:embed="rId3">
            <a:alphaModFix/>
          </a:blip>
          <a:stretch>
            <a:fillRect/>
          </a:stretch>
        </p:blipFill>
        <p:spPr>
          <a:xfrm>
            <a:off x="0" y="975375"/>
            <a:ext cx="9144001" cy="3770601"/>
          </a:xfrm>
          <a:prstGeom prst="rect">
            <a:avLst/>
          </a:prstGeom>
          <a:noFill/>
          <a:ln>
            <a:noFill/>
          </a:ln>
        </p:spPr>
      </p:pic>
      <p:sp>
        <p:nvSpPr>
          <p:cNvPr id="472" name="Google Shape;472;p56"/>
          <p:cNvSpPr txBox="1"/>
          <p:nvPr/>
        </p:nvSpPr>
        <p:spPr>
          <a:xfrm>
            <a:off x="1518950" y="4649100"/>
            <a:ext cx="2585400" cy="1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solidFill>
                  <a:schemeClr val="lt1"/>
                </a:solidFill>
              </a:rPr>
              <a:t>Lames Baraji</a:t>
            </a:r>
            <a:endParaRPr i="1" sz="2000">
              <a:solidFill>
                <a:schemeClr val="lt1"/>
              </a:solidFill>
            </a:endParaRPr>
          </a:p>
          <a:p>
            <a:pPr indent="0" lvl="0" marL="0" rtl="0" algn="l">
              <a:spcBef>
                <a:spcPts val="0"/>
              </a:spcBef>
              <a:spcAft>
                <a:spcPts val="0"/>
              </a:spcAft>
              <a:buNone/>
            </a:pPr>
            <a:r>
              <a:t/>
            </a:r>
            <a:endParaRPr sz="2000">
              <a:solidFill>
                <a:srgbClr val="003E7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7"/>
          <p:cNvSpPr txBox="1"/>
          <p:nvPr>
            <p:ph type="title"/>
          </p:nvPr>
        </p:nvSpPr>
        <p:spPr>
          <a:xfrm>
            <a:off x="329500" y="69775"/>
            <a:ext cx="8604000" cy="479700"/>
          </a:xfrm>
          <a:prstGeom prst="rect">
            <a:avLst/>
          </a:prstGeom>
        </p:spPr>
        <p:txBody>
          <a:bodyPr anchorCtr="0" anchor="ctr" bIns="0" lIns="0" spcFirstLastPara="1" rIns="0" wrap="square" tIns="0">
            <a:spAutoFit/>
          </a:bodyPr>
          <a:lstStyle/>
          <a:p>
            <a:pPr indent="0" lvl="0" marL="0" rtl="0" algn="l">
              <a:lnSpc>
                <a:spcPct val="115000"/>
              </a:lnSpc>
              <a:spcBef>
                <a:spcPts val="1400"/>
              </a:spcBef>
              <a:spcAft>
                <a:spcPts val="0"/>
              </a:spcAft>
              <a:buNone/>
            </a:pPr>
            <a:r>
              <a:t/>
            </a:r>
            <a:endParaRPr i="1" sz="1500">
              <a:solidFill>
                <a:schemeClr val="lt1"/>
              </a:solidFill>
            </a:endParaRPr>
          </a:p>
          <a:p>
            <a:pPr indent="0" lvl="0" marL="0" rtl="0" algn="l">
              <a:spcBef>
                <a:spcPts val="1400"/>
              </a:spcBef>
              <a:spcAft>
                <a:spcPts val="0"/>
              </a:spcAft>
              <a:buNone/>
            </a:pPr>
            <a:r>
              <a:t/>
            </a:r>
            <a:endParaRPr i="1" sz="200">
              <a:solidFill>
                <a:schemeClr val="lt1"/>
              </a:solidFill>
            </a:endParaRPr>
          </a:p>
        </p:txBody>
      </p:sp>
      <p:sp>
        <p:nvSpPr>
          <p:cNvPr id="478" name="Google Shape;478;p57"/>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479" name="Google Shape;479;p57"/>
          <p:cNvSpPr txBox="1"/>
          <p:nvPr/>
        </p:nvSpPr>
        <p:spPr>
          <a:xfrm flipH="1">
            <a:off x="3021150" y="4649100"/>
            <a:ext cx="3025500" cy="844500"/>
          </a:xfrm>
          <a:prstGeom prst="rect">
            <a:avLst/>
          </a:prstGeom>
          <a:solidFill>
            <a:srgbClr val="333333">
              <a:alpha val="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700">
                <a:solidFill>
                  <a:schemeClr val="lt1"/>
                </a:solidFill>
              </a:rPr>
              <a:t>Fadia Ashmawi</a:t>
            </a:r>
            <a:endParaRPr b="1" sz="1700">
              <a:solidFill>
                <a:schemeClr val="lt1"/>
              </a:solidFill>
            </a:endParaRPr>
          </a:p>
        </p:txBody>
      </p:sp>
      <p:sp>
        <p:nvSpPr>
          <p:cNvPr id="480" name="Google Shape;480;p57"/>
          <p:cNvSpPr txBox="1"/>
          <p:nvPr/>
        </p:nvSpPr>
        <p:spPr>
          <a:xfrm>
            <a:off x="152400" y="69775"/>
            <a:ext cx="89154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1400"/>
              </a:spcAft>
              <a:buNone/>
            </a:pPr>
            <a:r>
              <a:rPr b="1" i="1" lang="en-GB" sz="1500">
                <a:solidFill>
                  <a:schemeClr val="lt1"/>
                </a:solidFill>
              </a:rPr>
              <a:t>How well can SIR and SEIR models reproduce the 1918 influenza epidemic across five Maryland localities, and what can they tell us about epidemic dynamics and hypothetical vaccination?</a:t>
            </a:r>
            <a:endParaRPr/>
          </a:p>
        </p:txBody>
      </p:sp>
      <p:sp>
        <p:nvSpPr>
          <p:cNvPr id="481" name="Google Shape;481;p57"/>
          <p:cNvSpPr txBox="1"/>
          <p:nvPr/>
        </p:nvSpPr>
        <p:spPr>
          <a:xfrm>
            <a:off x="245250" y="1166425"/>
            <a:ext cx="8577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1400"/>
              </a:spcAft>
              <a:buNone/>
            </a:pPr>
            <a:r>
              <a:t/>
            </a:r>
            <a:endParaRPr u="sng">
              <a:solidFill>
                <a:schemeClr val="accent3"/>
              </a:solidFill>
            </a:endParaRPr>
          </a:p>
        </p:txBody>
      </p:sp>
      <p:pic>
        <p:nvPicPr>
          <p:cNvPr id="482" name="Google Shape;482;p57"/>
          <p:cNvPicPr preferRelativeResize="0"/>
          <p:nvPr/>
        </p:nvPicPr>
        <p:blipFill rotWithShape="1">
          <a:blip r:embed="rId3">
            <a:alphaModFix/>
          </a:blip>
          <a:srcRect b="22300" l="0" r="0" t="17995"/>
          <a:stretch/>
        </p:blipFill>
        <p:spPr>
          <a:xfrm>
            <a:off x="210666" y="2512167"/>
            <a:ext cx="4897011" cy="1104150"/>
          </a:xfrm>
          <a:prstGeom prst="rect">
            <a:avLst/>
          </a:prstGeom>
          <a:noFill/>
          <a:ln>
            <a:noFill/>
          </a:ln>
        </p:spPr>
      </p:pic>
      <p:sp>
        <p:nvSpPr>
          <p:cNvPr id="483" name="Google Shape;483;p57"/>
          <p:cNvSpPr txBox="1"/>
          <p:nvPr/>
        </p:nvSpPr>
        <p:spPr>
          <a:xfrm>
            <a:off x="5117250" y="2609850"/>
            <a:ext cx="494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4" name="Google Shape;484;p57"/>
          <p:cNvSpPr txBox="1"/>
          <p:nvPr/>
        </p:nvSpPr>
        <p:spPr>
          <a:xfrm>
            <a:off x="162300" y="9424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1200" u="sng">
                <a:solidFill>
                  <a:srgbClr val="CC0000"/>
                </a:solidFill>
              </a:rPr>
              <a:t>Objectives:</a:t>
            </a:r>
            <a:endParaRPr b="1" i="1" sz="1200" u="sng">
              <a:solidFill>
                <a:srgbClr val="CC0000"/>
              </a:solidFill>
            </a:endParaRPr>
          </a:p>
          <a:p>
            <a:pPr indent="0" lvl="0" marL="0" rtl="0" algn="l">
              <a:spcBef>
                <a:spcPts val="0"/>
              </a:spcBef>
              <a:spcAft>
                <a:spcPts val="0"/>
              </a:spcAft>
              <a:buNone/>
            </a:pPr>
            <a:r>
              <a:t/>
            </a:r>
            <a:endParaRPr sz="1200"/>
          </a:p>
        </p:txBody>
      </p:sp>
      <p:sp>
        <p:nvSpPr>
          <p:cNvPr id="485" name="Google Shape;485;p57"/>
          <p:cNvSpPr txBox="1"/>
          <p:nvPr/>
        </p:nvSpPr>
        <p:spPr>
          <a:xfrm>
            <a:off x="210675" y="1251225"/>
            <a:ext cx="5246100" cy="104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000"/>
              <a:t>1)   </a:t>
            </a:r>
            <a:r>
              <a:rPr lang="en-GB" sz="1000"/>
              <a:t>Which compartmental structure SIR or SEIR</a:t>
            </a:r>
            <a:r>
              <a:rPr lang="en-GB" sz="1000"/>
              <a:t> </a:t>
            </a:r>
            <a:r>
              <a:rPr lang="en-GB" sz="1000"/>
              <a:t> best explains the observed epidemics?</a:t>
            </a:r>
            <a:endParaRPr sz="1000"/>
          </a:p>
          <a:p>
            <a:pPr indent="0" lvl="0" marL="0" rtl="0" algn="l">
              <a:lnSpc>
                <a:spcPct val="115000"/>
              </a:lnSpc>
              <a:spcBef>
                <a:spcPts val="0"/>
              </a:spcBef>
              <a:spcAft>
                <a:spcPts val="0"/>
              </a:spcAft>
              <a:buNone/>
            </a:pPr>
            <a:r>
              <a:rPr lang="en-GB" sz="1000"/>
              <a:t>2)   What transmission parameters (β, γ, σ, R₀) does the data itself support?</a:t>
            </a:r>
            <a:endParaRPr sz="1000"/>
          </a:p>
          <a:p>
            <a:pPr indent="0" lvl="0" marL="0" rtl="0" algn="l">
              <a:lnSpc>
                <a:spcPct val="115000"/>
              </a:lnSpc>
              <a:spcBef>
                <a:spcPts val="0"/>
              </a:spcBef>
              <a:spcAft>
                <a:spcPts val="0"/>
              </a:spcAft>
              <a:buNone/>
            </a:pPr>
            <a:r>
              <a:rPr lang="en-GB" sz="1000"/>
              <a:t>3)   Do the fitted models show any systematic lack of fit?</a:t>
            </a:r>
            <a:endParaRPr sz="1000"/>
          </a:p>
          <a:p>
            <a:pPr indent="0" lvl="0" marL="0" rtl="0" algn="l">
              <a:lnSpc>
                <a:spcPct val="115000"/>
              </a:lnSpc>
              <a:spcBef>
                <a:spcPts val="0"/>
              </a:spcBef>
              <a:spcAft>
                <a:spcPts val="0"/>
              </a:spcAft>
              <a:buNone/>
            </a:pPr>
            <a:r>
              <a:rPr lang="en-GB" sz="1000"/>
              <a:t>4)   How did epidemic dynamics differ across five localities of very different size?</a:t>
            </a:r>
            <a:endParaRPr sz="1000"/>
          </a:p>
          <a:p>
            <a:pPr indent="0" lvl="0" marL="0" rtl="0" algn="l">
              <a:lnSpc>
                <a:spcPct val="115000"/>
              </a:lnSpc>
              <a:spcBef>
                <a:spcPts val="0"/>
              </a:spcBef>
              <a:spcAft>
                <a:spcPts val="0"/>
              </a:spcAft>
              <a:buNone/>
            </a:pPr>
            <a:r>
              <a:rPr lang="en-GB" sz="1000"/>
              <a:t>5)   What vaccination coverage would have been needed to stop each outbreak?</a:t>
            </a:r>
            <a:endParaRPr sz="1000"/>
          </a:p>
        </p:txBody>
      </p:sp>
      <p:sp>
        <p:nvSpPr>
          <p:cNvPr id="486" name="Google Shape;486;p57"/>
          <p:cNvSpPr txBox="1"/>
          <p:nvPr/>
        </p:nvSpPr>
        <p:spPr>
          <a:xfrm>
            <a:off x="162300" y="2206317"/>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1200" u="sng">
                <a:solidFill>
                  <a:srgbClr val="CC0000"/>
                </a:solidFill>
              </a:rPr>
              <a:t>Methodology:</a:t>
            </a:r>
            <a:endParaRPr b="1" i="1" u="sng">
              <a:solidFill>
                <a:srgbClr val="CC0000"/>
              </a:solidFill>
            </a:endParaRPr>
          </a:p>
        </p:txBody>
      </p:sp>
      <p:pic>
        <p:nvPicPr>
          <p:cNvPr id="487" name="Google Shape;487;p57" title="02_observed_epidemic_curves.png"/>
          <p:cNvPicPr preferRelativeResize="0"/>
          <p:nvPr/>
        </p:nvPicPr>
        <p:blipFill>
          <a:blip r:embed="rId4">
            <a:alphaModFix/>
          </a:blip>
          <a:stretch>
            <a:fillRect/>
          </a:stretch>
        </p:blipFill>
        <p:spPr>
          <a:xfrm>
            <a:off x="5521399" y="1076200"/>
            <a:ext cx="3579848" cy="2784520"/>
          </a:xfrm>
          <a:prstGeom prst="rect">
            <a:avLst/>
          </a:prstGeom>
          <a:noFill/>
          <a:ln>
            <a:noFill/>
          </a:ln>
        </p:spPr>
      </p:pic>
      <p:cxnSp>
        <p:nvCxnSpPr>
          <p:cNvPr id="488" name="Google Shape;488;p57"/>
          <p:cNvCxnSpPr/>
          <p:nvPr/>
        </p:nvCxnSpPr>
        <p:spPr>
          <a:xfrm>
            <a:off x="5499200" y="1076188"/>
            <a:ext cx="22200" cy="3450900"/>
          </a:xfrm>
          <a:prstGeom prst="straightConnector1">
            <a:avLst/>
          </a:prstGeom>
          <a:noFill/>
          <a:ln cap="flat" cmpd="sng" w="9525">
            <a:solidFill>
              <a:schemeClr val="dk2"/>
            </a:solidFill>
            <a:prstDash val="solid"/>
            <a:round/>
            <a:headEnd len="med" w="med" type="none"/>
            <a:tailEnd len="med" w="med" type="none"/>
          </a:ln>
        </p:spPr>
      </p:cxnSp>
      <p:sp>
        <p:nvSpPr>
          <p:cNvPr id="489" name="Google Shape;489;p57"/>
          <p:cNvSpPr txBox="1"/>
          <p:nvPr/>
        </p:nvSpPr>
        <p:spPr>
          <a:xfrm>
            <a:off x="5626026" y="3829150"/>
            <a:ext cx="3412500" cy="13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800"/>
              <a:t>Figure: </a:t>
            </a:r>
            <a:r>
              <a:rPr lang="en-GB" sz="800"/>
              <a:t> Daily influenza incidence in five Maryland localities during the 1918 pandemic. Baltimore experienced the largest outbreak, while the remaining localities showed smaller epidemics with similar temporal patterns.</a:t>
            </a:r>
            <a:endParaRPr sz="800"/>
          </a:p>
          <a:p>
            <a:pPr indent="0" lvl="0" marL="0" rtl="0" algn="l">
              <a:lnSpc>
                <a:spcPct val="115000"/>
              </a:lnSpc>
              <a:spcBef>
                <a:spcPts val="1400"/>
              </a:spcBef>
              <a:spcAft>
                <a:spcPts val="0"/>
              </a:spcAft>
              <a:buNone/>
            </a:pPr>
            <a:r>
              <a:t/>
            </a:r>
            <a:endParaRPr b="1" sz="800"/>
          </a:p>
          <a:p>
            <a:pPr indent="0" lvl="0" marL="0" rtl="0" algn="l">
              <a:lnSpc>
                <a:spcPct val="115000"/>
              </a:lnSpc>
              <a:spcBef>
                <a:spcPts val="1400"/>
              </a:spcBef>
              <a:spcAft>
                <a:spcPts val="1400"/>
              </a:spcAft>
              <a:buNone/>
            </a:pPr>
            <a:r>
              <a:t/>
            </a:r>
            <a:endParaRPr b="1" sz="800"/>
          </a:p>
        </p:txBody>
      </p:sp>
      <p:sp>
        <p:nvSpPr>
          <p:cNvPr id="490" name="Google Shape;490;p57"/>
          <p:cNvSpPr txBox="1"/>
          <p:nvPr/>
        </p:nvSpPr>
        <p:spPr>
          <a:xfrm>
            <a:off x="210675" y="3552184"/>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GB" sz="1200" u="sng">
                <a:solidFill>
                  <a:srgbClr val="CC0000"/>
                </a:solidFill>
              </a:rPr>
              <a:t>Models</a:t>
            </a:r>
            <a:r>
              <a:rPr b="1" i="1" lang="en-GB" sz="1200" u="sng">
                <a:solidFill>
                  <a:srgbClr val="CC0000"/>
                </a:solidFill>
              </a:rPr>
              <a:t>:</a:t>
            </a:r>
            <a:endParaRPr/>
          </a:p>
        </p:txBody>
      </p:sp>
      <p:pic>
        <p:nvPicPr>
          <p:cNvPr id="491" name="Google Shape;491;p57" title="Screenshot 2026-07-17 at 10.21.55 AM.png"/>
          <p:cNvPicPr preferRelativeResize="0"/>
          <p:nvPr/>
        </p:nvPicPr>
        <p:blipFill>
          <a:blip r:embed="rId5">
            <a:alphaModFix/>
          </a:blip>
          <a:stretch>
            <a:fillRect/>
          </a:stretch>
        </p:blipFill>
        <p:spPr>
          <a:xfrm>
            <a:off x="465800" y="3866534"/>
            <a:ext cx="4499005" cy="68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8"/>
          <p:cNvSpPr txBox="1"/>
          <p:nvPr>
            <p:ph type="title"/>
          </p:nvPr>
        </p:nvSpPr>
        <p:spPr>
          <a:xfrm>
            <a:off x="270000" y="148350"/>
            <a:ext cx="8874000" cy="1110900"/>
          </a:xfrm>
          <a:prstGeom prst="rect">
            <a:avLst/>
          </a:prstGeom>
        </p:spPr>
        <p:txBody>
          <a:bodyPr anchorCtr="0" anchor="ctr" bIns="0" lIns="0" spcFirstLastPara="1" rIns="0" wrap="square" tIns="0">
            <a:spAutoFit/>
          </a:bodyPr>
          <a:lstStyle/>
          <a:p>
            <a:pPr indent="0" lvl="0" marL="0" rtl="0" algn="l">
              <a:lnSpc>
                <a:spcPct val="115000"/>
              </a:lnSpc>
              <a:spcBef>
                <a:spcPts val="1400"/>
              </a:spcBef>
              <a:spcAft>
                <a:spcPts val="0"/>
              </a:spcAft>
              <a:buNone/>
            </a:pPr>
            <a:r>
              <a:rPr i="1" lang="en-GB" sz="1500">
                <a:solidFill>
                  <a:schemeClr val="lt1"/>
                </a:solidFill>
              </a:rPr>
              <a:t>How well can SIR and SEIR models reproduce the 1918 influenza epidemic across five Maryland localities, and what can they tell us about epidemic dynamics and hypothetical vaccination?</a:t>
            </a:r>
            <a:endParaRPr b="0" sz="1400">
              <a:solidFill>
                <a:srgbClr val="000000"/>
              </a:solidFill>
            </a:endParaRPr>
          </a:p>
          <a:p>
            <a:pPr indent="0" lvl="0" marL="0" rtl="0" algn="l">
              <a:spcBef>
                <a:spcPts val="1400"/>
              </a:spcBef>
              <a:spcAft>
                <a:spcPts val="0"/>
              </a:spcAft>
              <a:buNone/>
            </a:pPr>
            <a:r>
              <a:t/>
            </a:r>
            <a:endParaRPr/>
          </a:p>
        </p:txBody>
      </p:sp>
      <p:sp>
        <p:nvSpPr>
          <p:cNvPr id="497" name="Google Shape;497;p58"/>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498" name="Google Shape;498;p58"/>
          <p:cNvPicPr preferRelativeResize="0"/>
          <p:nvPr/>
        </p:nvPicPr>
        <p:blipFill>
          <a:blip r:embed="rId3">
            <a:alphaModFix/>
          </a:blip>
          <a:stretch>
            <a:fillRect/>
          </a:stretch>
        </p:blipFill>
        <p:spPr>
          <a:xfrm>
            <a:off x="3599950" y="1013200"/>
            <a:ext cx="2724577" cy="2300999"/>
          </a:xfrm>
          <a:prstGeom prst="rect">
            <a:avLst/>
          </a:prstGeom>
          <a:noFill/>
          <a:ln>
            <a:noFill/>
          </a:ln>
        </p:spPr>
      </p:pic>
      <p:pic>
        <p:nvPicPr>
          <p:cNvPr id="499" name="Google Shape;499;p58"/>
          <p:cNvPicPr preferRelativeResize="0"/>
          <p:nvPr/>
        </p:nvPicPr>
        <p:blipFill>
          <a:blip r:embed="rId4">
            <a:alphaModFix/>
          </a:blip>
          <a:stretch>
            <a:fillRect/>
          </a:stretch>
        </p:blipFill>
        <p:spPr>
          <a:xfrm>
            <a:off x="6358775" y="985200"/>
            <a:ext cx="2785224" cy="2300999"/>
          </a:xfrm>
          <a:prstGeom prst="rect">
            <a:avLst/>
          </a:prstGeom>
          <a:noFill/>
          <a:ln>
            <a:noFill/>
          </a:ln>
        </p:spPr>
      </p:pic>
      <p:sp>
        <p:nvSpPr>
          <p:cNvPr id="500" name="Google Shape;500;p58"/>
          <p:cNvSpPr txBox="1"/>
          <p:nvPr/>
        </p:nvSpPr>
        <p:spPr>
          <a:xfrm flipH="1">
            <a:off x="3021150" y="4649100"/>
            <a:ext cx="3025500" cy="844500"/>
          </a:xfrm>
          <a:prstGeom prst="rect">
            <a:avLst/>
          </a:prstGeom>
          <a:solidFill>
            <a:srgbClr val="333333">
              <a:alpha val="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700">
                <a:solidFill>
                  <a:schemeClr val="lt1"/>
                </a:solidFill>
              </a:rPr>
              <a:t>Fadia Ashmawi</a:t>
            </a:r>
            <a:endParaRPr b="1" sz="1700">
              <a:solidFill>
                <a:schemeClr val="lt1"/>
              </a:solidFill>
            </a:endParaRPr>
          </a:p>
        </p:txBody>
      </p:sp>
      <p:pic>
        <p:nvPicPr>
          <p:cNvPr id="501" name="Google Shape;501;p58"/>
          <p:cNvPicPr preferRelativeResize="0"/>
          <p:nvPr/>
        </p:nvPicPr>
        <p:blipFill>
          <a:blip r:embed="rId5">
            <a:alphaModFix/>
          </a:blip>
          <a:stretch>
            <a:fillRect/>
          </a:stretch>
        </p:blipFill>
        <p:spPr>
          <a:xfrm>
            <a:off x="3718975" y="3314200"/>
            <a:ext cx="5318523" cy="1164051"/>
          </a:xfrm>
          <a:prstGeom prst="rect">
            <a:avLst/>
          </a:prstGeom>
          <a:noFill/>
          <a:ln>
            <a:noFill/>
          </a:ln>
        </p:spPr>
      </p:pic>
      <p:sp>
        <p:nvSpPr>
          <p:cNvPr id="502" name="Google Shape;502;p58"/>
          <p:cNvSpPr txBox="1"/>
          <p:nvPr/>
        </p:nvSpPr>
        <p:spPr>
          <a:xfrm>
            <a:off x="103450" y="1981125"/>
            <a:ext cx="3496500" cy="23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u="sng"/>
              <a:t>What I did:</a:t>
            </a:r>
            <a:r>
              <a:rPr lang="en-GB" sz="1100"/>
              <a:t> Fit both SIR and SEIR by maximum likelihood to all five localities and compared them by log-likelihood and AIC.</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b="1" lang="en-GB" sz="1100" u="sng"/>
              <a:t>Results:</a:t>
            </a:r>
            <a:r>
              <a:rPr lang="en-GB" sz="1100"/>
              <a:t> Both models recovered nearly identical R₀ (≤0.03 apart) and matched the timing/scale of each outbreak, but SIR had both higher log-likelihood </a:t>
            </a:r>
            <a:r>
              <a:rPr i="1" lang="en-GB" sz="1100"/>
              <a:t>and</a:t>
            </a:r>
            <a:r>
              <a:rPr lang="en-GB" sz="1100"/>
              <a:t> lower AIC everywhere (ΔAIC 33.6–391.2) — since SEIR nests SIR, a worse likelihood despite more flexibility points to optimizer non-convergence rather than latent structure being unhelpful.</a:t>
            </a:r>
            <a:endParaRPr sz="1100"/>
          </a:p>
        </p:txBody>
      </p:sp>
      <p:cxnSp>
        <p:nvCxnSpPr>
          <p:cNvPr id="503" name="Google Shape;503;p58"/>
          <p:cNvCxnSpPr/>
          <p:nvPr/>
        </p:nvCxnSpPr>
        <p:spPr>
          <a:xfrm>
            <a:off x="3577750" y="1092438"/>
            <a:ext cx="22200" cy="34509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p58"/>
          <p:cNvSpPr txBox="1"/>
          <p:nvPr/>
        </p:nvSpPr>
        <p:spPr>
          <a:xfrm>
            <a:off x="44625" y="1209675"/>
            <a:ext cx="3692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u="sng">
                <a:solidFill>
                  <a:srgbClr val="CC0000"/>
                </a:solidFill>
              </a:rPr>
              <a:t>How well can SIR and SEIR models reproduce the 1918 influenza epidemics across five Maryland localities?</a:t>
            </a:r>
            <a:endParaRPr b="1" sz="1200" u="sng">
              <a:solidFill>
                <a:srgbClr val="CC0000"/>
              </a:solidFill>
            </a:endParaRPr>
          </a:p>
        </p:txBody>
      </p:sp>
      <p:sp>
        <p:nvSpPr>
          <p:cNvPr id="505" name="Google Shape;505;p58"/>
          <p:cNvSpPr txBox="1"/>
          <p:nvPr/>
        </p:nvSpPr>
        <p:spPr>
          <a:xfrm>
            <a:off x="2723550" y="148350"/>
            <a:ext cx="39441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1400"/>
              </a:spcAft>
              <a:buNone/>
            </a:pPr>
            <a:r>
              <a:t/>
            </a:r>
            <a:endParaRPr sz="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9"/>
          <p:cNvSpPr txBox="1"/>
          <p:nvPr>
            <p:ph type="title"/>
          </p:nvPr>
        </p:nvSpPr>
        <p:spPr>
          <a:xfrm>
            <a:off x="187350" y="191425"/>
            <a:ext cx="8845500" cy="496500"/>
          </a:xfrm>
          <a:prstGeom prst="rect">
            <a:avLst/>
          </a:prstGeom>
        </p:spPr>
        <p:txBody>
          <a:bodyPr anchorCtr="0" anchor="ctr" bIns="0" lIns="0" spcFirstLastPara="1" rIns="0" wrap="square" tIns="0">
            <a:spAutoFit/>
          </a:bodyPr>
          <a:lstStyle/>
          <a:p>
            <a:pPr indent="0" lvl="0" marL="0" rtl="0" algn="l">
              <a:lnSpc>
                <a:spcPct val="115000"/>
              </a:lnSpc>
              <a:spcBef>
                <a:spcPts val="1400"/>
              </a:spcBef>
              <a:spcAft>
                <a:spcPts val="1400"/>
              </a:spcAft>
              <a:buNone/>
            </a:pPr>
            <a:r>
              <a:rPr i="1" lang="en-GB" sz="1500">
                <a:solidFill>
                  <a:schemeClr val="lt1"/>
                </a:solidFill>
              </a:rPr>
              <a:t>How well can SIR and SEIR models reproduce the 1918 influenza epidemic across five Maryland localities, and what can they tell us about epidemic dynamics and hypothetical vaccination?</a:t>
            </a:r>
            <a:endParaRPr i="1" sz="3900">
              <a:solidFill>
                <a:schemeClr val="lt1"/>
              </a:solidFill>
            </a:endParaRPr>
          </a:p>
        </p:txBody>
      </p:sp>
      <p:sp>
        <p:nvSpPr>
          <p:cNvPr id="511" name="Google Shape;511;p59"/>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512" name="Google Shape;512;p59"/>
          <p:cNvSpPr txBox="1"/>
          <p:nvPr/>
        </p:nvSpPr>
        <p:spPr>
          <a:xfrm flipH="1">
            <a:off x="3021150" y="4649100"/>
            <a:ext cx="3025500" cy="844500"/>
          </a:xfrm>
          <a:prstGeom prst="rect">
            <a:avLst/>
          </a:prstGeom>
          <a:solidFill>
            <a:srgbClr val="333333">
              <a:alpha val="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700">
                <a:solidFill>
                  <a:schemeClr val="lt1"/>
                </a:solidFill>
              </a:rPr>
              <a:t>Fadia Ashmawi</a:t>
            </a:r>
            <a:endParaRPr b="1" sz="1700">
              <a:solidFill>
                <a:schemeClr val="lt1"/>
              </a:solidFill>
            </a:endParaRPr>
          </a:p>
        </p:txBody>
      </p:sp>
      <p:sp>
        <p:nvSpPr>
          <p:cNvPr id="513" name="Google Shape;513;p59"/>
          <p:cNvSpPr txBox="1"/>
          <p:nvPr/>
        </p:nvSpPr>
        <p:spPr>
          <a:xfrm>
            <a:off x="270000" y="1084250"/>
            <a:ext cx="50259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1400"/>
              </a:spcAft>
              <a:buNone/>
            </a:pPr>
            <a:r>
              <a:rPr b="1" lang="en-GB" sz="1200" u="sng">
                <a:solidFill>
                  <a:srgbClr val="CC0000"/>
                </a:solidFill>
              </a:rPr>
              <a:t>How would increasing vaccination coverage have altered the 1918 influenza epidemics across five Maryland localities?</a:t>
            </a:r>
            <a:endParaRPr b="1" sz="1200" u="sng">
              <a:solidFill>
                <a:srgbClr val="CC0000"/>
              </a:solidFill>
            </a:endParaRPr>
          </a:p>
        </p:txBody>
      </p:sp>
      <p:pic>
        <p:nvPicPr>
          <p:cNvPr id="514" name="Google Shape;514;p59" title="10_vaccination_reduction.png"/>
          <p:cNvPicPr preferRelativeResize="0"/>
          <p:nvPr/>
        </p:nvPicPr>
        <p:blipFill>
          <a:blip r:embed="rId3">
            <a:alphaModFix/>
          </a:blip>
          <a:stretch>
            <a:fillRect/>
          </a:stretch>
        </p:blipFill>
        <p:spPr>
          <a:xfrm>
            <a:off x="5360375" y="1020750"/>
            <a:ext cx="3708375" cy="3295529"/>
          </a:xfrm>
          <a:prstGeom prst="rect">
            <a:avLst/>
          </a:prstGeom>
          <a:noFill/>
          <a:ln>
            <a:noFill/>
          </a:ln>
        </p:spPr>
      </p:pic>
      <p:sp>
        <p:nvSpPr>
          <p:cNvPr id="515" name="Google Shape;515;p59"/>
          <p:cNvSpPr txBox="1"/>
          <p:nvPr/>
        </p:nvSpPr>
        <p:spPr>
          <a:xfrm>
            <a:off x="5777100" y="4216725"/>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800"/>
              <a:t>Figure:</a:t>
            </a:r>
            <a:r>
              <a:rPr lang="en-GB" sz="900"/>
              <a:t> the </a:t>
            </a:r>
            <a:r>
              <a:rPr i="1" lang="en-GB" sz="800"/>
              <a:t>"Predicted Reduction in Influenza Cases with Vaccination"</a:t>
            </a:r>
            <a:r>
              <a:rPr lang="en-GB" sz="900"/>
              <a:t> bar chart (all 5 towns, 10–</a:t>
            </a:r>
            <a:r>
              <a:rPr lang="en-GB" sz="900"/>
              <a:t>60</a:t>
            </a:r>
            <a:r>
              <a:rPr lang="en-GB" sz="900"/>
              <a:t>% coverage).</a:t>
            </a:r>
            <a:endParaRPr sz="1100"/>
          </a:p>
        </p:txBody>
      </p:sp>
      <p:sp>
        <p:nvSpPr>
          <p:cNvPr id="516" name="Google Shape;516;p59"/>
          <p:cNvSpPr txBox="1"/>
          <p:nvPr/>
        </p:nvSpPr>
        <p:spPr>
          <a:xfrm>
            <a:off x="308100" y="1596400"/>
            <a:ext cx="4833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u="sng"/>
              <a:t>What I did:</a:t>
            </a:r>
            <a:r>
              <a:rPr lang="en-GB" sz="1200"/>
              <a:t> Using each town's fitted R₀, simulated the epidemic under 10–60% pre-existing vaccine immunity and calculated the resulting reduction in total cases relative to the unvaccinated fit.</a:t>
            </a:r>
            <a:endParaRPr/>
          </a:p>
        </p:txBody>
      </p:sp>
      <p:sp>
        <p:nvSpPr>
          <p:cNvPr id="517" name="Google Shape;517;p59"/>
          <p:cNvSpPr txBox="1"/>
          <p:nvPr/>
        </p:nvSpPr>
        <p:spPr>
          <a:xfrm>
            <a:off x="287400" y="3243775"/>
            <a:ext cx="4833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u="sng"/>
              <a:t>Results:</a:t>
            </a:r>
            <a:r>
              <a:rPr lang="en-GB" sz="1200"/>
              <a:t> The coverage needed to essentially eliminate each outbreak matched the classical herd-immunity threshold, 1 − 1/R₀ — the clinically actionable number.</a:t>
            </a:r>
            <a:endParaRPr/>
          </a:p>
        </p:txBody>
      </p:sp>
      <p:pic>
        <p:nvPicPr>
          <p:cNvPr id="518" name="Google Shape;518;p59" title="Screenshot 2026-07-17 at 8.13.23 AM.png"/>
          <p:cNvPicPr preferRelativeResize="0"/>
          <p:nvPr/>
        </p:nvPicPr>
        <p:blipFill>
          <a:blip r:embed="rId4">
            <a:alphaModFix/>
          </a:blip>
          <a:stretch>
            <a:fillRect/>
          </a:stretch>
        </p:blipFill>
        <p:spPr>
          <a:xfrm>
            <a:off x="350800" y="2385650"/>
            <a:ext cx="4791200" cy="807775"/>
          </a:xfrm>
          <a:prstGeom prst="rect">
            <a:avLst/>
          </a:prstGeom>
          <a:noFill/>
          <a:ln>
            <a:noFill/>
          </a:ln>
        </p:spPr>
      </p:pic>
      <p:sp>
        <p:nvSpPr>
          <p:cNvPr id="519" name="Google Shape;519;p59"/>
          <p:cNvSpPr txBox="1"/>
          <p:nvPr/>
        </p:nvSpPr>
        <p:spPr>
          <a:xfrm>
            <a:off x="287400" y="3982663"/>
            <a:ext cx="4878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1400"/>
              </a:spcAft>
              <a:buNone/>
            </a:pPr>
            <a:r>
              <a:rPr i="1" lang="en-GB" sz="1200" u="sng"/>
              <a:t>Additional figures, tables, and supplementary analyses are available through the Google Drive link: </a:t>
            </a:r>
            <a:r>
              <a:rPr i="1" lang="en-GB" sz="1200" u="sng">
                <a:solidFill>
                  <a:schemeClr val="accent4"/>
                </a:solidFill>
                <a:hlinkClick r:id="rId5">
                  <a:extLst>
                    <a:ext uri="{A12FA001-AC4F-418D-AE19-62706E023703}">
                      <ahyp:hlinkClr val="tx"/>
                    </a:ext>
                  </a:extLst>
                </a:hlinkClick>
              </a:rPr>
              <a:t>Findings (Figures/Tables)</a:t>
            </a:r>
            <a:endParaRPr i="1" sz="1200" u="sng"/>
          </a:p>
        </p:txBody>
      </p:sp>
      <p:cxnSp>
        <p:nvCxnSpPr>
          <p:cNvPr id="520" name="Google Shape;520;p59"/>
          <p:cNvCxnSpPr/>
          <p:nvPr/>
        </p:nvCxnSpPr>
        <p:spPr>
          <a:xfrm>
            <a:off x="5284800" y="1113463"/>
            <a:ext cx="22200" cy="3450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0"/>
          <p:cNvSpPr txBox="1"/>
          <p:nvPr>
            <p:ph type="title"/>
          </p:nvPr>
        </p:nvSpPr>
        <p:spPr>
          <a:xfrm>
            <a:off x="270000" y="292069"/>
            <a:ext cx="860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800">
                <a:solidFill>
                  <a:srgbClr val="FFFFFF"/>
                </a:solidFill>
              </a:rPr>
              <a:t>How much does the choice of model change our epidemiological conclusions?</a:t>
            </a:r>
            <a:endParaRPr sz="1800"/>
          </a:p>
        </p:txBody>
      </p:sp>
      <p:sp>
        <p:nvSpPr>
          <p:cNvPr id="526" name="Google Shape;526;p60"/>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527" name="Google Shape;527;p60"/>
          <p:cNvSpPr txBox="1"/>
          <p:nvPr>
            <p:ph type="title"/>
          </p:nvPr>
        </p:nvSpPr>
        <p:spPr>
          <a:xfrm>
            <a:off x="1523275" y="4757394"/>
            <a:ext cx="86040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600"/>
              <a:t>Lena Alghamdi</a:t>
            </a:r>
            <a:endParaRPr sz="1600"/>
          </a:p>
        </p:txBody>
      </p:sp>
      <p:pic>
        <p:nvPicPr>
          <p:cNvPr id="528" name="Google Shape;528;p60"/>
          <p:cNvPicPr preferRelativeResize="0"/>
          <p:nvPr/>
        </p:nvPicPr>
        <p:blipFill>
          <a:blip r:embed="rId3">
            <a:alphaModFix/>
          </a:blip>
          <a:stretch>
            <a:fillRect/>
          </a:stretch>
        </p:blipFill>
        <p:spPr>
          <a:xfrm>
            <a:off x="95250" y="1102145"/>
            <a:ext cx="8953499" cy="350079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1"/>
          <p:cNvSpPr txBox="1"/>
          <p:nvPr>
            <p:ph type="title"/>
          </p:nvPr>
        </p:nvSpPr>
        <p:spPr>
          <a:xfrm>
            <a:off x="270000" y="292069"/>
            <a:ext cx="860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800">
                <a:solidFill>
                  <a:srgbClr val="FFFFFF"/>
                </a:solidFill>
              </a:rPr>
              <a:t>How much does the choice of model change our epidemiological conclusions?</a:t>
            </a:r>
            <a:endParaRPr sz="1800"/>
          </a:p>
        </p:txBody>
      </p:sp>
      <p:sp>
        <p:nvSpPr>
          <p:cNvPr id="534" name="Google Shape;534;p61"/>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535" name="Google Shape;535;p61"/>
          <p:cNvSpPr txBox="1"/>
          <p:nvPr>
            <p:ph type="title"/>
          </p:nvPr>
        </p:nvSpPr>
        <p:spPr>
          <a:xfrm>
            <a:off x="1523275" y="4757394"/>
            <a:ext cx="86040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600"/>
              <a:t>Lena Alghamdi</a:t>
            </a:r>
            <a:endParaRPr sz="1600"/>
          </a:p>
        </p:txBody>
      </p:sp>
      <p:pic>
        <p:nvPicPr>
          <p:cNvPr id="536" name="Google Shape;536;p61"/>
          <p:cNvPicPr preferRelativeResize="0"/>
          <p:nvPr/>
        </p:nvPicPr>
        <p:blipFill>
          <a:blip r:embed="rId3">
            <a:alphaModFix/>
          </a:blip>
          <a:stretch>
            <a:fillRect/>
          </a:stretch>
        </p:blipFill>
        <p:spPr>
          <a:xfrm>
            <a:off x="56238" y="1484925"/>
            <a:ext cx="9031526" cy="275150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2"/>
          <p:cNvSpPr txBox="1"/>
          <p:nvPr>
            <p:ph type="title"/>
          </p:nvPr>
        </p:nvSpPr>
        <p:spPr>
          <a:xfrm>
            <a:off x="270000" y="254700"/>
            <a:ext cx="8604000" cy="860400"/>
          </a:xfrm>
          <a:prstGeom prst="rect">
            <a:avLst/>
          </a:prstGeom>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GB">
                <a:solidFill>
                  <a:schemeClr val="lt1"/>
                </a:solidFill>
              </a:rPr>
              <a:t>Modelling the 1918 Influenza Pandemic ~ Yasir</a:t>
            </a:r>
            <a:endParaRPr>
              <a:solidFill>
                <a:schemeClr val="lt1"/>
              </a:solidFill>
            </a:endParaRPr>
          </a:p>
          <a:p>
            <a:pPr indent="0" lvl="0" marL="0" rtl="0" algn="l">
              <a:spcBef>
                <a:spcPts val="0"/>
              </a:spcBef>
              <a:spcAft>
                <a:spcPts val="0"/>
              </a:spcAft>
              <a:buNone/>
            </a:pPr>
            <a:r>
              <a:t/>
            </a:r>
            <a:endParaRPr/>
          </a:p>
        </p:txBody>
      </p:sp>
      <p:sp>
        <p:nvSpPr>
          <p:cNvPr id="542" name="Google Shape;542;p62"/>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543" name="Google Shape;543;p62"/>
          <p:cNvPicPr preferRelativeResize="0"/>
          <p:nvPr/>
        </p:nvPicPr>
        <p:blipFill>
          <a:blip r:embed="rId3">
            <a:alphaModFix/>
          </a:blip>
          <a:stretch>
            <a:fillRect/>
          </a:stretch>
        </p:blipFill>
        <p:spPr>
          <a:xfrm>
            <a:off x="4394562" y="1189987"/>
            <a:ext cx="4545876" cy="3341375"/>
          </a:xfrm>
          <a:prstGeom prst="rect">
            <a:avLst/>
          </a:prstGeom>
          <a:noFill/>
          <a:ln>
            <a:noFill/>
          </a:ln>
        </p:spPr>
      </p:pic>
      <p:pic>
        <p:nvPicPr>
          <p:cNvPr id="544" name="Google Shape;544;p62"/>
          <p:cNvPicPr preferRelativeResize="0"/>
          <p:nvPr/>
        </p:nvPicPr>
        <p:blipFill>
          <a:blip r:embed="rId4">
            <a:alphaModFix/>
          </a:blip>
          <a:stretch>
            <a:fillRect/>
          </a:stretch>
        </p:blipFill>
        <p:spPr>
          <a:xfrm>
            <a:off x="152400" y="1094750"/>
            <a:ext cx="4089762" cy="3531841"/>
          </a:xfrm>
          <a:prstGeom prst="rect">
            <a:avLst/>
          </a:prstGeom>
          <a:noFill/>
          <a:ln>
            <a:noFill/>
          </a:ln>
        </p:spPr>
      </p:pic>
      <p:pic>
        <p:nvPicPr>
          <p:cNvPr id="545" name="Google Shape;545;p62"/>
          <p:cNvPicPr preferRelativeResize="0"/>
          <p:nvPr/>
        </p:nvPicPr>
        <p:blipFill>
          <a:blip r:embed="rId5">
            <a:alphaModFix/>
          </a:blip>
          <a:stretch>
            <a:fillRect/>
          </a:stretch>
        </p:blipFill>
        <p:spPr>
          <a:xfrm>
            <a:off x="4570713" y="4336050"/>
            <a:ext cx="2821976" cy="313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3"/>
          <p:cNvSpPr txBox="1"/>
          <p:nvPr>
            <p:ph type="title"/>
          </p:nvPr>
        </p:nvSpPr>
        <p:spPr>
          <a:xfrm>
            <a:off x="270000" y="254700"/>
            <a:ext cx="8604000" cy="966600"/>
          </a:xfrm>
          <a:prstGeom prst="rect">
            <a:avLst/>
          </a:prstGeom>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GB" sz="3200">
                <a:solidFill>
                  <a:srgbClr val="FFFFFF"/>
                </a:solidFill>
              </a:rPr>
              <a:t>Could a vaccine have stopped it?</a:t>
            </a:r>
            <a:endParaRPr sz="3200">
              <a:solidFill>
                <a:srgbClr val="FFFFFF"/>
              </a:solidFill>
            </a:endParaRPr>
          </a:p>
          <a:p>
            <a:pPr indent="0" lvl="0" marL="0" rtl="0" algn="l">
              <a:spcBef>
                <a:spcPts val="0"/>
              </a:spcBef>
              <a:spcAft>
                <a:spcPts val="0"/>
              </a:spcAft>
              <a:buNone/>
            </a:pPr>
            <a:r>
              <a:t/>
            </a:r>
            <a:endParaRPr/>
          </a:p>
        </p:txBody>
      </p:sp>
      <p:sp>
        <p:nvSpPr>
          <p:cNvPr id="551" name="Google Shape;551;p63"/>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552" name="Google Shape;552;p63"/>
          <p:cNvPicPr preferRelativeResize="0"/>
          <p:nvPr/>
        </p:nvPicPr>
        <p:blipFill>
          <a:blip r:embed="rId3">
            <a:alphaModFix/>
          </a:blip>
          <a:stretch>
            <a:fillRect/>
          </a:stretch>
        </p:blipFill>
        <p:spPr>
          <a:xfrm>
            <a:off x="3848100" y="1888649"/>
            <a:ext cx="5193901" cy="2824950"/>
          </a:xfrm>
          <a:prstGeom prst="rect">
            <a:avLst/>
          </a:prstGeom>
          <a:noFill/>
          <a:ln>
            <a:noFill/>
          </a:ln>
        </p:spPr>
      </p:pic>
      <p:sp>
        <p:nvSpPr>
          <p:cNvPr id="553" name="Google Shape;553;p63"/>
          <p:cNvSpPr txBox="1"/>
          <p:nvPr/>
        </p:nvSpPr>
        <p:spPr>
          <a:xfrm>
            <a:off x="186600" y="922050"/>
            <a:ext cx="8770800" cy="96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500"/>
              <a:t>Herd-immunity threshold  ~ </a:t>
            </a:r>
            <a:r>
              <a:rPr b="1" lang="en-GB" sz="1500">
                <a:latin typeface="Calibri"/>
                <a:ea typeface="Calibri"/>
                <a:cs typeface="Calibri"/>
                <a:sym typeface="Calibri"/>
              </a:rPr>
              <a:t>pᴄ = 1 − 1/R₀</a:t>
            </a:r>
            <a:endParaRPr b="1" sz="1500">
              <a:latin typeface="Calibri"/>
              <a:ea typeface="Calibri"/>
              <a:cs typeface="Calibri"/>
              <a:sym typeface="Calibri"/>
            </a:endParaRPr>
          </a:p>
          <a:p>
            <a:pPr indent="0" lvl="0" marL="0" rtl="0" algn="l">
              <a:lnSpc>
                <a:spcPct val="112000"/>
              </a:lnSpc>
              <a:spcBef>
                <a:spcPts val="0"/>
              </a:spcBef>
              <a:spcAft>
                <a:spcPts val="0"/>
              </a:spcAft>
              <a:buNone/>
            </a:pPr>
            <a:r>
              <a:rPr lang="en-GB" sz="1250">
                <a:latin typeface="Calibri"/>
                <a:ea typeface="Calibri"/>
                <a:cs typeface="Calibri"/>
                <a:sym typeface="Calibri"/>
              </a:rPr>
              <a:t>With R₀ ≈ 3.83, about 74% of people must be immune. Since ~22% already were, a vaccine would only need to reach the remaining gap — roughly 52 points more.</a:t>
            </a:r>
            <a:endParaRPr sz="1250">
              <a:latin typeface="Calibri"/>
              <a:ea typeface="Calibri"/>
              <a:cs typeface="Calibri"/>
              <a:sym typeface="Calibri"/>
            </a:endParaRPr>
          </a:p>
          <a:p>
            <a:pPr indent="0" lvl="0" marL="0" rtl="0" algn="l">
              <a:spcBef>
                <a:spcPts val="0"/>
              </a:spcBef>
              <a:spcAft>
                <a:spcPts val="0"/>
              </a:spcAft>
              <a:buNone/>
            </a:pPr>
            <a:r>
              <a:t/>
            </a:r>
            <a:endParaRPr sz="2200"/>
          </a:p>
        </p:txBody>
      </p:sp>
      <p:sp>
        <p:nvSpPr>
          <p:cNvPr id="554" name="Google Shape;554;p63"/>
          <p:cNvSpPr/>
          <p:nvPr/>
        </p:nvSpPr>
        <p:spPr>
          <a:xfrm>
            <a:off x="134400" y="1825425"/>
            <a:ext cx="3465000" cy="8169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63"/>
          <p:cNvSpPr/>
          <p:nvPr/>
        </p:nvSpPr>
        <p:spPr>
          <a:xfrm>
            <a:off x="134400" y="2817463"/>
            <a:ext cx="3465000" cy="8169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63"/>
          <p:cNvSpPr/>
          <p:nvPr/>
        </p:nvSpPr>
        <p:spPr>
          <a:xfrm>
            <a:off x="134400" y="3764075"/>
            <a:ext cx="3465000" cy="8169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63"/>
          <p:cNvSpPr txBox="1"/>
          <p:nvPr/>
        </p:nvSpPr>
        <p:spPr>
          <a:xfrm>
            <a:off x="270000" y="1926325"/>
            <a:ext cx="1008600" cy="58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3000">
                <a:solidFill>
                  <a:srgbClr val="2A9D8F"/>
                </a:solidFill>
              </a:rPr>
              <a:t>22%</a:t>
            </a:r>
            <a:endParaRPr b="1" sz="3000">
              <a:solidFill>
                <a:srgbClr val="2A9D8F"/>
              </a:solidFill>
            </a:endParaRPr>
          </a:p>
          <a:p>
            <a:pPr indent="0" lvl="0" marL="0" rtl="0" algn="l">
              <a:spcBef>
                <a:spcPts val="0"/>
              </a:spcBef>
              <a:spcAft>
                <a:spcPts val="0"/>
              </a:spcAft>
              <a:buNone/>
            </a:pPr>
            <a:r>
              <a:t/>
            </a:r>
            <a:endParaRPr sz="2200">
              <a:solidFill>
                <a:srgbClr val="003E72"/>
              </a:solidFill>
            </a:endParaRPr>
          </a:p>
        </p:txBody>
      </p:sp>
      <p:sp>
        <p:nvSpPr>
          <p:cNvPr id="558" name="Google Shape;558;p63"/>
          <p:cNvSpPr txBox="1"/>
          <p:nvPr/>
        </p:nvSpPr>
        <p:spPr>
          <a:xfrm>
            <a:off x="270000" y="2910700"/>
            <a:ext cx="1008600" cy="585000"/>
          </a:xfrm>
          <a:prstGeom prst="rect">
            <a:avLst/>
          </a:prstGeom>
          <a:noFill/>
          <a:ln>
            <a:noFill/>
          </a:ln>
        </p:spPr>
        <p:txBody>
          <a:bodyPr anchorCtr="0" anchor="t" bIns="91425" lIns="91425" spcFirstLastPara="1" rIns="0" wrap="square" tIns="91425">
            <a:noAutofit/>
          </a:bodyPr>
          <a:lstStyle/>
          <a:p>
            <a:pPr indent="0" lvl="0" marL="0" rtl="0" algn="l">
              <a:lnSpc>
                <a:spcPct val="115000"/>
              </a:lnSpc>
              <a:spcBef>
                <a:spcPts val="0"/>
              </a:spcBef>
              <a:spcAft>
                <a:spcPts val="0"/>
              </a:spcAft>
              <a:buNone/>
            </a:pPr>
            <a:r>
              <a:rPr b="1" lang="en-GB" sz="3000">
                <a:solidFill>
                  <a:schemeClr val="accent1"/>
                </a:solidFill>
              </a:rPr>
              <a:t>74</a:t>
            </a:r>
            <a:r>
              <a:rPr b="1" lang="en-GB" sz="3000">
                <a:solidFill>
                  <a:schemeClr val="accent1"/>
                </a:solidFill>
              </a:rPr>
              <a:t>%</a:t>
            </a:r>
            <a:endParaRPr b="1" sz="3000">
              <a:solidFill>
                <a:schemeClr val="accent1"/>
              </a:solidFill>
            </a:endParaRPr>
          </a:p>
          <a:p>
            <a:pPr indent="0" lvl="0" marL="0" rtl="0" algn="l">
              <a:spcBef>
                <a:spcPts val="0"/>
              </a:spcBef>
              <a:spcAft>
                <a:spcPts val="0"/>
              </a:spcAft>
              <a:buNone/>
            </a:pPr>
            <a:r>
              <a:t/>
            </a:r>
            <a:endParaRPr sz="2200">
              <a:solidFill>
                <a:srgbClr val="003E72"/>
              </a:solidFill>
            </a:endParaRPr>
          </a:p>
        </p:txBody>
      </p:sp>
      <p:sp>
        <p:nvSpPr>
          <p:cNvPr id="559" name="Google Shape;559;p63"/>
          <p:cNvSpPr txBox="1"/>
          <p:nvPr/>
        </p:nvSpPr>
        <p:spPr>
          <a:xfrm>
            <a:off x="270000" y="3940525"/>
            <a:ext cx="1008600" cy="58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3000">
                <a:solidFill>
                  <a:schemeClr val="accent1"/>
                </a:solidFill>
              </a:rPr>
              <a:t>96</a:t>
            </a:r>
            <a:r>
              <a:rPr b="1" lang="en-GB" sz="3000">
                <a:solidFill>
                  <a:schemeClr val="accent1"/>
                </a:solidFill>
              </a:rPr>
              <a:t>%</a:t>
            </a:r>
            <a:endParaRPr b="1" sz="3000">
              <a:solidFill>
                <a:schemeClr val="accent1"/>
              </a:solidFill>
            </a:endParaRPr>
          </a:p>
          <a:p>
            <a:pPr indent="0" lvl="0" marL="0" rtl="0" algn="l">
              <a:spcBef>
                <a:spcPts val="0"/>
              </a:spcBef>
              <a:spcAft>
                <a:spcPts val="0"/>
              </a:spcAft>
              <a:buNone/>
            </a:pPr>
            <a:r>
              <a:t/>
            </a:r>
            <a:endParaRPr sz="2200">
              <a:solidFill>
                <a:srgbClr val="003E72"/>
              </a:solidFill>
            </a:endParaRPr>
          </a:p>
        </p:txBody>
      </p:sp>
      <p:sp>
        <p:nvSpPr>
          <p:cNvPr id="560" name="Google Shape;560;p63"/>
          <p:cNvSpPr txBox="1"/>
          <p:nvPr/>
        </p:nvSpPr>
        <p:spPr>
          <a:xfrm>
            <a:off x="1230400" y="1916200"/>
            <a:ext cx="2238900" cy="72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200">
                <a:solidFill>
                  <a:srgbClr val="CFE0EC"/>
                </a:solidFill>
                <a:latin typeface="Calibri"/>
                <a:ea typeface="Calibri"/>
                <a:cs typeface="Calibri"/>
                <a:sym typeface="Calibri"/>
              </a:rPr>
              <a:t>already immune before the fall wave (herald wave)</a:t>
            </a:r>
            <a:endParaRPr sz="1200">
              <a:solidFill>
                <a:srgbClr val="CFE0EC"/>
              </a:solidFill>
              <a:latin typeface="Calibri"/>
              <a:ea typeface="Calibri"/>
              <a:cs typeface="Calibri"/>
              <a:sym typeface="Calibri"/>
            </a:endParaRPr>
          </a:p>
          <a:p>
            <a:pPr indent="0" lvl="0" marL="0" rtl="0" algn="l">
              <a:spcBef>
                <a:spcPts val="0"/>
              </a:spcBef>
              <a:spcAft>
                <a:spcPts val="0"/>
              </a:spcAft>
              <a:buNone/>
            </a:pPr>
            <a:r>
              <a:t/>
            </a:r>
            <a:endParaRPr sz="2200">
              <a:solidFill>
                <a:srgbClr val="003E72"/>
              </a:solidFill>
            </a:endParaRPr>
          </a:p>
        </p:txBody>
      </p:sp>
      <p:sp>
        <p:nvSpPr>
          <p:cNvPr id="561" name="Google Shape;561;p63"/>
          <p:cNvSpPr txBox="1"/>
          <p:nvPr/>
        </p:nvSpPr>
        <p:spPr>
          <a:xfrm>
            <a:off x="1230400" y="2840200"/>
            <a:ext cx="2238900" cy="72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200">
                <a:solidFill>
                  <a:srgbClr val="CFE0EC"/>
                </a:solidFill>
                <a:latin typeface="Calibri"/>
                <a:ea typeface="Calibri"/>
                <a:cs typeface="Calibri"/>
                <a:sym typeface="Calibri"/>
              </a:rPr>
              <a:t>must be immune to prevent an outbreak  (perfect vaccine)</a:t>
            </a:r>
            <a:endParaRPr sz="1200">
              <a:solidFill>
                <a:srgbClr val="CFE0EC"/>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rgbClr val="CFE0EC"/>
              </a:solidFill>
              <a:latin typeface="Calibri"/>
              <a:ea typeface="Calibri"/>
              <a:cs typeface="Calibri"/>
              <a:sym typeface="Calibri"/>
            </a:endParaRPr>
          </a:p>
          <a:p>
            <a:pPr indent="0" lvl="0" marL="0" rtl="0" algn="l">
              <a:spcBef>
                <a:spcPts val="0"/>
              </a:spcBef>
              <a:spcAft>
                <a:spcPts val="0"/>
              </a:spcAft>
              <a:buNone/>
            </a:pPr>
            <a:r>
              <a:t/>
            </a:r>
            <a:endParaRPr sz="2200">
              <a:solidFill>
                <a:srgbClr val="003E72"/>
              </a:solidFill>
            </a:endParaRPr>
          </a:p>
        </p:txBody>
      </p:sp>
      <p:sp>
        <p:nvSpPr>
          <p:cNvPr id="562" name="Google Shape;562;p63"/>
          <p:cNvSpPr txBox="1"/>
          <p:nvPr/>
        </p:nvSpPr>
        <p:spPr>
          <a:xfrm>
            <a:off x="1181100" y="3764075"/>
            <a:ext cx="2238900" cy="72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200">
                <a:solidFill>
                  <a:srgbClr val="CFE0EC"/>
                </a:solidFill>
                <a:latin typeface="Calibri"/>
                <a:ea typeface="Calibri"/>
                <a:cs typeface="Calibri"/>
                <a:sym typeface="Calibri"/>
              </a:rPr>
              <a:t>coverage needed if NO initial immunity exist in the population at 70% vaccine efficacy!</a:t>
            </a:r>
            <a:endParaRPr sz="1200">
              <a:solidFill>
                <a:srgbClr val="CFE0EC"/>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rgbClr val="CFE0EC"/>
              </a:solidFill>
              <a:latin typeface="Calibri"/>
              <a:ea typeface="Calibri"/>
              <a:cs typeface="Calibri"/>
              <a:sym typeface="Calibri"/>
            </a:endParaRPr>
          </a:p>
          <a:p>
            <a:pPr indent="0" lvl="0" marL="0" rtl="0" algn="l">
              <a:spcBef>
                <a:spcPts val="0"/>
              </a:spcBef>
              <a:spcAft>
                <a:spcPts val="0"/>
              </a:spcAft>
              <a:buNone/>
            </a:pPr>
            <a:r>
              <a:t/>
            </a:r>
            <a:endParaRPr sz="2200">
              <a:solidFill>
                <a:srgbClr val="003E7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4"/>
          <p:cNvSpPr txBox="1"/>
          <p:nvPr>
            <p:ph type="title"/>
          </p:nvPr>
        </p:nvSpPr>
        <p:spPr>
          <a:xfrm>
            <a:off x="270000" y="254700"/>
            <a:ext cx="8604000" cy="2616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700">
                <a:solidFill>
                  <a:srgbClr val="FFFFFF"/>
                </a:solidFill>
              </a:rPr>
              <a:t>What would a 4-hour daily curfew plus vaccination do to a SARS-CoV-2 outbreak?</a:t>
            </a:r>
            <a:endParaRPr/>
          </a:p>
        </p:txBody>
      </p:sp>
      <p:sp>
        <p:nvSpPr>
          <p:cNvPr id="568" name="Google Shape;568;p64"/>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569" name="Google Shape;569;p64"/>
          <p:cNvSpPr txBox="1"/>
          <p:nvPr/>
        </p:nvSpPr>
        <p:spPr>
          <a:xfrm>
            <a:off x="290700" y="1069950"/>
            <a:ext cx="3000000" cy="3862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600"/>
              </a:spcBef>
              <a:spcAft>
                <a:spcPts val="0"/>
              </a:spcAft>
              <a:buNone/>
            </a:pPr>
            <a:r>
              <a:rPr b="1" lang="en-GB" sz="1100">
                <a:solidFill>
                  <a:srgbClr val="2CA02C"/>
                </a:solidFill>
                <a:latin typeface="Calibri"/>
                <a:ea typeface="Calibri"/>
                <a:cs typeface="Calibri"/>
                <a:sym typeface="Calibri"/>
              </a:rPr>
              <a:t>WHAT I DID</a:t>
            </a:r>
            <a:endParaRPr b="1" sz="1100">
              <a:solidFill>
                <a:srgbClr val="2CA02C"/>
              </a:solidFill>
              <a:latin typeface="Calibri"/>
              <a:ea typeface="Calibri"/>
              <a:cs typeface="Calibri"/>
              <a:sym typeface="Calibri"/>
            </a:endParaRPr>
          </a:p>
          <a:p>
            <a:pPr indent="0" lvl="0" marL="0" rtl="0" algn="l">
              <a:lnSpc>
                <a:spcPct val="125454"/>
              </a:lnSpc>
              <a:spcBef>
                <a:spcPts val="200"/>
              </a:spcBef>
              <a:spcAft>
                <a:spcPts val="0"/>
              </a:spcAft>
              <a:buNone/>
            </a:pPr>
            <a:r>
              <a:rPr lang="en-GB" sz="1150">
                <a:solidFill>
                  <a:srgbClr val="1A2233"/>
                </a:solidFill>
                <a:latin typeface="Calibri"/>
                <a:ea typeface="Calibri"/>
                <a:cs typeface="Calibri"/>
                <a:sym typeface="Calibri"/>
              </a:rPr>
              <a:t>Built a SEIR model for SARS-CoV-2 (R</a:t>
            </a:r>
            <a:r>
              <a:rPr baseline="-25000" lang="en-GB">
                <a:solidFill>
                  <a:srgbClr val="1A2233"/>
                </a:solidFill>
                <a:latin typeface="Calibri"/>
                <a:ea typeface="Calibri"/>
                <a:cs typeface="Calibri"/>
                <a:sym typeface="Calibri"/>
              </a:rPr>
              <a:t>0</a:t>
            </a:r>
            <a:r>
              <a:rPr lang="en-GB" sz="1150">
                <a:solidFill>
                  <a:srgbClr val="1A2233"/>
                </a:solidFill>
                <a:latin typeface="Calibri"/>
                <a:ea typeface="Calibri"/>
                <a:cs typeface="Calibri"/>
                <a:sym typeface="Calibri"/>
              </a:rPr>
              <a:t>=3, N=1,000,000) from literature parameters, then compared three scenarios: no intervention, vaccination alone (0.1% of the population per day), and vaccination combined with a 4-hour daily curfew (16.7% cut in transmission).</a:t>
            </a:r>
            <a:endParaRPr sz="1150">
              <a:solidFill>
                <a:srgbClr val="1A2233"/>
              </a:solidFill>
              <a:latin typeface="Calibri"/>
              <a:ea typeface="Calibri"/>
              <a:cs typeface="Calibri"/>
              <a:sym typeface="Calibri"/>
            </a:endParaRPr>
          </a:p>
          <a:p>
            <a:pPr indent="0" lvl="0" marL="0" rtl="0" algn="l">
              <a:lnSpc>
                <a:spcPct val="120000"/>
              </a:lnSpc>
              <a:spcBef>
                <a:spcPts val="900"/>
              </a:spcBef>
              <a:spcAft>
                <a:spcPts val="0"/>
              </a:spcAft>
              <a:buNone/>
            </a:pPr>
            <a:r>
              <a:rPr b="1" lang="en-GB" sz="1100">
                <a:solidFill>
                  <a:srgbClr val="9E2A2B"/>
                </a:solidFill>
                <a:latin typeface="Calibri"/>
                <a:ea typeface="Calibri"/>
                <a:cs typeface="Calibri"/>
                <a:sym typeface="Calibri"/>
              </a:rPr>
              <a:t>RESULT</a:t>
            </a:r>
            <a:endParaRPr b="1" sz="1100">
              <a:solidFill>
                <a:srgbClr val="9E2A2B"/>
              </a:solidFill>
              <a:latin typeface="Calibri"/>
              <a:ea typeface="Calibri"/>
              <a:cs typeface="Calibri"/>
              <a:sym typeface="Calibri"/>
            </a:endParaRPr>
          </a:p>
          <a:p>
            <a:pPr indent="0" lvl="0" marL="0" rtl="0" algn="l">
              <a:lnSpc>
                <a:spcPct val="125454"/>
              </a:lnSpc>
              <a:spcBef>
                <a:spcPts val="200"/>
              </a:spcBef>
              <a:spcAft>
                <a:spcPts val="0"/>
              </a:spcAft>
              <a:buNone/>
            </a:pPr>
            <a:r>
              <a:rPr lang="en-GB" sz="1150">
                <a:solidFill>
                  <a:srgbClr val="1A2233"/>
                </a:solidFill>
                <a:latin typeface="Calibri"/>
                <a:ea typeface="Calibri"/>
                <a:cs typeface="Calibri"/>
                <a:sym typeface="Calibri"/>
              </a:rPr>
              <a:t>Vaccination alone modestly reduced and delayed the peak (~19% lower). Adding a 4-hour curfew was far more effective, cutting the peak by ~43% and delaying it by over a month (day 104 to day 136) — mobility restriction did more work than vaccination alone.</a:t>
            </a:r>
            <a:endParaRPr sz="1150">
              <a:solidFill>
                <a:srgbClr val="1A2233"/>
              </a:solidFill>
              <a:latin typeface="Calibri"/>
              <a:ea typeface="Calibri"/>
              <a:cs typeface="Calibri"/>
              <a:sym typeface="Calibri"/>
            </a:endParaRPr>
          </a:p>
          <a:p>
            <a:pPr indent="0" lvl="0" marL="0" rtl="0" algn="l">
              <a:spcBef>
                <a:spcPts val="0"/>
              </a:spcBef>
              <a:spcAft>
                <a:spcPts val="0"/>
              </a:spcAft>
              <a:buNone/>
            </a:pPr>
            <a:r>
              <a:t/>
            </a:r>
            <a:endParaRPr b="1" sz="1100">
              <a:solidFill>
                <a:srgbClr val="2CA02C"/>
              </a:solidFill>
              <a:latin typeface="Calibri"/>
              <a:ea typeface="Calibri"/>
              <a:cs typeface="Calibri"/>
              <a:sym typeface="Calibri"/>
            </a:endParaRPr>
          </a:p>
        </p:txBody>
      </p:sp>
      <p:pic>
        <p:nvPicPr>
          <p:cNvPr id="570" name="Google Shape;570;p64"/>
          <p:cNvPicPr preferRelativeResize="0"/>
          <p:nvPr/>
        </p:nvPicPr>
        <p:blipFill>
          <a:blip r:embed="rId3">
            <a:alphaModFix/>
          </a:blip>
          <a:stretch>
            <a:fillRect/>
          </a:stretch>
        </p:blipFill>
        <p:spPr>
          <a:xfrm>
            <a:off x="3386250" y="1203838"/>
            <a:ext cx="5548499" cy="2927664"/>
          </a:xfrm>
          <a:prstGeom prst="rect">
            <a:avLst/>
          </a:prstGeom>
          <a:noFill/>
          <a:ln>
            <a:noFill/>
          </a:ln>
        </p:spPr>
      </p:pic>
      <p:sp>
        <p:nvSpPr>
          <p:cNvPr id="571" name="Google Shape;571;p64"/>
          <p:cNvSpPr txBox="1"/>
          <p:nvPr/>
        </p:nvSpPr>
        <p:spPr>
          <a:xfrm>
            <a:off x="3386250" y="4649100"/>
            <a:ext cx="2038200" cy="46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i="1" lang="en-GB" sz="1800">
                <a:solidFill>
                  <a:srgbClr val="F2F2F2"/>
                </a:solidFill>
                <a:latin typeface="Calibri"/>
                <a:ea typeface="Calibri"/>
                <a:cs typeface="Calibri"/>
                <a:sym typeface="Calibri"/>
              </a:rPr>
              <a:t>Haitham Alahmadi</a:t>
            </a:r>
            <a:endParaRPr i="1" sz="1800">
              <a:solidFill>
                <a:srgbClr val="F2F2F2"/>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5"/>
          <p:cNvSpPr txBox="1"/>
          <p:nvPr>
            <p:ph type="title"/>
          </p:nvPr>
        </p:nvSpPr>
        <p:spPr>
          <a:xfrm>
            <a:off x="270000" y="133975"/>
            <a:ext cx="8604000" cy="615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lang="en-GB" sz="2000"/>
              <a:t>Does the 2011 Lahore dengue epidemic's timing require seasonal (monsoon) vector forcing?</a:t>
            </a:r>
            <a:endParaRPr sz="2000"/>
          </a:p>
        </p:txBody>
      </p:sp>
      <p:sp>
        <p:nvSpPr>
          <p:cNvPr id="577" name="Google Shape;577;p65"/>
          <p:cNvSpPr txBox="1"/>
          <p:nvPr/>
        </p:nvSpPr>
        <p:spPr>
          <a:xfrm>
            <a:off x="387157" y="985838"/>
            <a:ext cx="3108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a:solidFill>
                  <a:srgbClr val="08519C"/>
                </a:solidFill>
              </a:rPr>
              <a:t>METHOD</a:t>
            </a:r>
            <a:endParaRPr/>
          </a:p>
        </p:txBody>
      </p:sp>
      <p:sp>
        <p:nvSpPr>
          <p:cNvPr id="578" name="Google Shape;578;p65"/>
          <p:cNvSpPr txBox="1"/>
          <p:nvPr/>
        </p:nvSpPr>
        <p:spPr>
          <a:xfrm>
            <a:off x="124200" y="1293638"/>
            <a:ext cx="3891300" cy="1374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i="0" lang="en-GB" sz="1200" u="none" cap="none" strike="noStrike">
                <a:solidFill>
                  <a:srgbClr val="222222"/>
                </a:solidFill>
              </a:rPr>
              <a:t>• </a:t>
            </a:r>
            <a:r>
              <a:rPr lang="en-GB" sz="1200">
                <a:solidFill>
                  <a:srgbClr val="222222"/>
                </a:solidFill>
              </a:rPr>
              <a:t>Built a host-vector SEIR (human) x SEI (mosquito) model in R (deSolve).</a:t>
            </a:r>
            <a:endParaRPr sz="1200"/>
          </a:p>
          <a:p>
            <a:pPr indent="0" lvl="0" marL="0" marR="0" rtl="0" algn="l">
              <a:lnSpc>
                <a:spcPct val="115000"/>
              </a:lnSpc>
              <a:spcBef>
                <a:spcPts val="0"/>
              </a:spcBef>
              <a:spcAft>
                <a:spcPts val="0"/>
              </a:spcAft>
              <a:buNone/>
            </a:pPr>
            <a:r>
              <a:rPr i="0" lang="en-GB" sz="1200" u="none" cap="none" strike="noStrike">
                <a:solidFill>
                  <a:srgbClr val="222222"/>
                </a:solidFill>
              </a:rPr>
              <a:t>• Mosquito density seasonally forced (monsoon); run vs an unforced constant-vector control.</a:t>
            </a:r>
            <a:endParaRPr sz="1200"/>
          </a:p>
          <a:p>
            <a:pPr indent="0" lvl="0" marL="0" marR="0" rtl="0" algn="l">
              <a:lnSpc>
                <a:spcPct val="115000"/>
              </a:lnSpc>
              <a:spcBef>
                <a:spcPts val="0"/>
              </a:spcBef>
              <a:spcAft>
                <a:spcPts val="0"/>
              </a:spcAft>
              <a:buNone/>
            </a:pPr>
            <a:r>
              <a:rPr lang="en-GB">
                <a:solidFill>
                  <a:srgbClr val="222222"/>
                </a:solidFill>
              </a:rPr>
              <a:t>• </a:t>
            </a:r>
            <a:r>
              <a:rPr i="0" lang="en-GB" sz="1200" u="none" cap="none" strike="noStrike">
                <a:solidFill>
                  <a:srgbClr val="222222"/>
                </a:solidFill>
              </a:rPr>
              <a:t>Parameters fixed from literature; compared to monthly incidence digitised from Ahmad et al. (2016)</a:t>
            </a:r>
            <a:r>
              <a:rPr lang="en-GB" sz="1200">
                <a:solidFill>
                  <a:srgbClr val="222222"/>
                </a:solidFill>
              </a:rPr>
              <a:t>.</a:t>
            </a:r>
            <a:endParaRPr sz="1200">
              <a:solidFill>
                <a:srgbClr val="222222"/>
              </a:solidFill>
            </a:endParaRPr>
          </a:p>
        </p:txBody>
      </p:sp>
      <p:sp>
        <p:nvSpPr>
          <p:cNvPr id="579" name="Google Shape;579;p65"/>
          <p:cNvSpPr txBox="1"/>
          <p:nvPr/>
        </p:nvSpPr>
        <p:spPr>
          <a:xfrm>
            <a:off x="312457" y="2706780"/>
            <a:ext cx="3108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a:solidFill>
                  <a:srgbClr val="08519C"/>
                </a:solidFill>
              </a:rPr>
              <a:t>RESULT &amp; CONCLUSION</a:t>
            </a:r>
            <a:endParaRPr b="1"/>
          </a:p>
        </p:txBody>
      </p:sp>
      <p:pic>
        <p:nvPicPr>
          <p:cNvPr descr="fig1_sci.png" id="580" name="Google Shape;580;p65"/>
          <p:cNvPicPr preferRelativeResize="0"/>
          <p:nvPr/>
        </p:nvPicPr>
        <p:blipFill rotWithShape="1">
          <a:blip r:embed="rId3">
            <a:alphaModFix/>
          </a:blip>
          <a:srcRect b="0" l="0" r="0" t="0"/>
          <a:stretch/>
        </p:blipFill>
        <p:spPr>
          <a:xfrm>
            <a:off x="3792460" y="1050700"/>
            <a:ext cx="5351540" cy="3053775"/>
          </a:xfrm>
          <a:prstGeom prst="rect">
            <a:avLst/>
          </a:prstGeom>
          <a:noFill/>
          <a:ln>
            <a:noFill/>
          </a:ln>
        </p:spPr>
      </p:pic>
      <p:sp>
        <p:nvSpPr>
          <p:cNvPr id="581" name="Google Shape;581;p65"/>
          <p:cNvSpPr txBox="1"/>
          <p:nvPr/>
        </p:nvSpPr>
        <p:spPr>
          <a:xfrm>
            <a:off x="3870895" y="4104473"/>
            <a:ext cx="5440800" cy="461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1" lang="en-GB" sz="800" u="none" cap="none" strike="noStrike">
                <a:solidFill>
                  <a:srgbClr val="5F6368"/>
                </a:solidFill>
                <a:latin typeface="Arial"/>
                <a:ea typeface="Arial"/>
                <a:cs typeface="Arial"/>
                <a:sym typeface="Arial"/>
              </a:rPr>
              <a:t>Fig. 1  Normalised daily incidence: monsoon-forced SEIR–SEI (solid) vs unforced constant-vector (dashed), with province-wide monthly incidence digitised from the paper's district maps (points; open = duplicated Dec map). Shaded band = monsoon (Jul–Aug). Each series scaled to its own peak.</a:t>
            </a:r>
            <a:endParaRPr/>
          </a:p>
        </p:txBody>
      </p:sp>
      <p:sp>
        <p:nvSpPr>
          <p:cNvPr id="582" name="Google Shape;582;p65"/>
          <p:cNvSpPr txBox="1"/>
          <p:nvPr/>
        </p:nvSpPr>
        <p:spPr>
          <a:xfrm>
            <a:off x="1415350" y="4698150"/>
            <a:ext cx="7272300" cy="5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200" u="none" cap="none" strike="noStrike">
                <a:solidFill>
                  <a:srgbClr val="FFFFFF"/>
                </a:solidFill>
              </a:rPr>
              <a:t>Thikra </a:t>
            </a:r>
            <a:r>
              <a:rPr b="0" i="0" lang="en-GB" sz="900" u="none" cap="none" strike="noStrike">
                <a:solidFill>
                  <a:srgbClr val="FFFFFF"/>
                </a:solidFill>
                <a:latin typeface="Arial"/>
                <a:ea typeface="Arial"/>
                <a:cs typeface="Arial"/>
                <a:sym typeface="Arial"/>
              </a:rPr>
              <a:t> ·  </a:t>
            </a:r>
            <a:r>
              <a:rPr lang="en-GB" sz="850">
                <a:solidFill>
                  <a:schemeClr val="lt1"/>
                </a:solidFill>
                <a:latin typeface="Calibri"/>
                <a:ea typeface="Calibri"/>
                <a:cs typeface="Calibri"/>
                <a:sym typeface="Calibri"/>
              </a:rPr>
              <a:t>Data: Ahmad et al. (2016) IJACSA 7(5) - monthly totals read from the paper's district maps. Parameters: Chan &amp; Johansson (2012); Duong et al. (2015); Andraud et al. (2012); Zahid et al. (2023).</a:t>
            </a:r>
            <a:endParaRPr sz="850">
              <a:solidFill>
                <a:schemeClr val="lt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900">
              <a:solidFill>
                <a:srgbClr val="FFFFFF"/>
              </a:solidFill>
            </a:endParaRPr>
          </a:p>
        </p:txBody>
      </p:sp>
      <p:sp>
        <p:nvSpPr>
          <p:cNvPr id="583" name="Google Shape;583;p65"/>
          <p:cNvSpPr txBox="1"/>
          <p:nvPr/>
        </p:nvSpPr>
        <p:spPr>
          <a:xfrm>
            <a:off x="124200" y="3014575"/>
            <a:ext cx="3746700" cy="1551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lang="en-GB" sz="1200">
                <a:solidFill>
                  <a:srgbClr val="222222"/>
                </a:solidFill>
              </a:rPr>
              <a:t>• Only the monsoon-forced model reproduces the observed timing (quiet spring → autumn epidemic); the unforced model peaks in February.</a:t>
            </a:r>
            <a:endParaRPr sz="1200">
              <a:solidFill>
                <a:srgbClr val="222222"/>
              </a:solidFill>
            </a:endParaRPr>
          </a:p>
          <a:p>
            <a:pPr indent="0" lvl="0" marL="0" rtl="0" algn="l">
              <a:lnSpc>
                <a:spcPct val="115000"/>
              </a:lnSpc>
              <a:spcBef>
                <a:spcPts val="0"/>
              </a:spcBef>
              <a:spcAft>
                <a:spcPts val="0"/>
              </a:spcAft>
              <a:buNone/>
            </a:pPr>
            <a:r>
              <a:rPr lang="en-GB" sz="1200">
                <a:solidFill>
                  <a:srgbClr val="222222"/>
                </a:solidFill>
              </a:rPr>
              <a:t>• So the outbreak's timing is driven by seasonal mosquito dynamics, not transmission alone.</a:t>
            </a:r>
            <a:endParaRPr sz="1200">
              <a:solidFill>
                <a:srgbClr val="222222"/>
              </a:solidFill>
            </a:endParaRPr>
          </a:p>
          <a:p>
            <a:pPr indent="0" lvl="0" marL="0" rtl="0" algn="l">
              <a:lnSpc>
                <a:spcPct val="115000"/>
              </a:lnSpc>
              <a:spcBef>
                <a:spcPts val="0"/>
              </a:spcBef>
              <a:spcAft>
                <a:spcPts val="0"/>
              </a:spcAft>
              <a:buNone/>
            </a:pPr>
            <a:r>
              <a:rPr lang="en-GB" sz="1200">
                <a:solidFill>
                  <a:srgbClr val="222222"/>
                </a:solidFill>
              </a:rPr>
              <a:t>• The forced model still peaks ~1 month late, a limit of the single-patch structure.</a:t>
            </a:r>
            <a:endParaRPr sz="1200">
              <a:solidFill>
                <a:srgbClr val="22222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6"/>
          <p:cNvSpPr txBox="1"/>
          <p:nvPr>
            <p:ph type="title"/>
          </p:nvPr>
        </p:nvSpPr>
        <p:spPr>
          <a:xfrm>
            <a:off x="270000" y="179925"/>
            <a:ext cx="8604000" cy="615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lang="en-GB" sz="2000"/>
              <a:t>Would earlier vector control (adulticiding) have reduced the 2011 epidemic?</a:t>
            </a:r>
            <a:endParaRPr sz="2000"/>
          </a:p>
        </p:txBody>
      </p:sp>
      <p:sp>
        <p:nvSpPr>
          <p:cNvPr id="589" name="Google Shape;589;p66"/>
          <p:cNvSpPr txBox="1"/>
          <p:nvPr/>
        </p:nvSpPr>
        <p:spPr>
          <a:xfrm>
            <a:off x="362044" y="985838"/>
            <a:ext cx="3108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a:solidFill>
                  <a:srgbClr val="08519C"/>
                </a:solidFill>
              </a:rPr>
              <a:t>METHOD</a:t>
            </a:r>
            <a:endParaRPr b="1"/>
          </a:p>
        </p:txBody>
      </p:sp>
      <p:sp>
        <p:nvSpPr>
          <p:cNvPr id="590" name="Google Shape;590;p66"/>
          <p:cNvSpPr txBox="1"/>
          <p:nvPr/>
        </p:nvSpPr>
        <p:spPr>
          <a:xfrm>
            <a:off x="97600" y="1239675"/>
            <a:ext cx="3637800" cy="1303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None/>
            </a:pPr>
            <a:r>
              <a:rPr lang="en-GB" sz="1200">
                <a:solidFill>
                  <a:srgbClr val="222222"/>
                </a:solidFill>
              </a:rPr>
              <a:t>• Using the same model, represented fogging as a doubling of adult mosquito mortality from a chosen start day.</a:t>
            </a:r>
            <a:endParaRPr sz="1200">
              <a:solidFill>
                <a:srgbClr val="222222"/>
              </a:solidFill>
            </a:endParaRPr>
          </a:p>
          <a:p>
            <a:pPr indent="0" lvl="0" marL="0" rtl="0" algn="l">
              <a:lnSpc>
                <a:spcPct val="100000"/>
              </a:lnSpc>
              <a:spcBef>
                <a:spcPts val="800"/>
              </a:spcBef>
              <a:spcAft>
                <a:spcPts val="800"/>
              </a:spcAft>
              <a:buNone/>
            </a:pPr>
            <a:r>
              <a:rPr lang="en-GB" sz="1200">
                <a:solidFill>
                  <a:srgbClr val="222222"/>
                </a:solidFill>
              </a:rPr>
              <a:t>• Compared the actual October 2011 spray start with a one-month-earlier (September) start and with no control.</a:t>
            </a:r>
            <a:endParaRPr sz="1200">
              <a:solidFill>
                <a:srgbClr val="222222"/>
              </a:solidFill>
            </a:endParaRPr>
          </a:p>
        </p:txBody>
      </p:sp>
      <p:sp>
        <p:nvSpPr>
          <p:cNvPr id="591" name="Google Shape;591;p66"/>
          <p:cNvSpPr txBox="1"/>
          <p:nvPr/>
        </p:nvSpPr>
        <p:spPr>
          <a:xfrm>
            <a:off x="312457" y="2542867"/>
            <a:ext cx="3108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GB">
                <a:solidFill>
                  <a:srgbClr val="08519C"/>
                </a:solidFill>
              </a:rPr>
              <a:t>RESULT &amp; CONCLUSION</a:t>
            </a:r>
            <a:endParaRPr b="1"/>
          </a:p>
        </p:txBody>
      </p:sp>
      <p:sp>
        <p:nvSpPr>
          <p:cNvPr id="592" name="Google Shape;592;p66"/>
          <p:cNvSpPr txBox="1"/>
          <p:nvPr/>
        </p:nvSpPr>
        <p:spPr>
          <a:xfrm>
            <a:off x="97600" y="3671025"/>
            <a:ext cx="3637800" cy="88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400"/>
              </a:spcBef>
              <a:spcAft>
                <a:spcPts val="0"/>
              </a:spcAft>
              <a:buNone/>
            </a:pPr>
            <a:r>
              <a:rPr b="0" i="0" lang="en-GB" sz="1200" u="none" cap="none" strike="noStrike">
                <a:solidFill>
                  <a:srgbClr val="222222"/>
                </a:solidFill>
                <a:latin typeface="Arial"/>
                <a:ea typeface="Arial"/>
                <a:cs typeface="Arial"/>
                <a:sym typeface="Arial"/>
              </a:rPr>
              <a:t>• Peak incidence was September but control began October → applied post-peak</a:t>
            </a:r>
            <a:endParaRPr sz="1200"/>
          </a:p>
          <a:p>
            <a:pPr indent="0" lvl="0" marL="0" marR="0" rtl="0" algn="l">
              <a:lnSpc>
                <a:spcPct val="100000"/>
              </a:lnSpc>
              <a:spcBef>
                <a:spcPts val="400"/>
              </a:spcBef>
              <a:spcAft>
                <a:spcPts val="0"/>
              </a:spcAft>
              <a:buNone/>
            </a:pPr>
            <a:r>
              <a:rPr lang="en-GB" sz="1200">
                <a:solidFill>
                  <a:srgbClr val="222222"/>
                </a:solidFill>
              </a:rPr>
              <a:t>• Effect size scales with assumed efficacy; the direction, earlier is better than later, is robust.</a:t>
            </a:r>
            <a:endParaRPr sz="1200"/>
          </a:p>
        </p:txBody>
      </p:sp>
      <p:pic>
        <p:nvPicPr>
          <p:cNvPr descr="fig2_sci.png" id="593" name="Google Shape;593;p66"/>
          <p:cNvPicPr preferRelativeResize="0"/>
          <p:nvPr/>
        </p:nvPicPr>
        <p:blipFill rotWithShape="1">
          <a:blip r:embed="rId3">
            <a:alphaModFix/>
          </a:blip>
          <a:srcRect b="0" l="0" r="0" t="0"/>
          <a:stretch/>
        </p:blipFill>
        <p:spPr>
          <a:xfrm>
            <a:off x="3608600" y="985850"/>
            <a:ext cx="5535401" cy="3156519"/>
          </a:xfrm>
          <a:prstGeom prst="rect">
            <a:avLst/>
          </a:prstGeom>
          <a:noFill/>
          <a:ln>
            <a:noFill/>
          </a:ln>
        </p:spPr>
      </p:pic>
      <p:sp>
        <p:nvSpPr>
          <p:cNvPr id="594" name="Google Shape;594;p66"/>
          <p:cNvSpPr txBox="1"/>
          <p:nvPr/>
        </p:nvSpPr>
        <p:spPr>
          <a:xfrm>
            <a:off x="3870900" y="4189174"/>
            <a:ext cx="5440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800" u="none" cap="none" strike="noStrike">
                <a:solidFill>
                  <a:srgbClr val="5F6368"/>
                </a:solidFill>
                <a:latin typeface="Arial"/>
                <a:ea typeface="Arial"/>
                <a:cs typeface="Arial"/>
                <a:sym typeface="Arial"/>
              </a:rPr>
              <a:t>Fig. 2  Modelled daily incidence (new infections per day) under no control (red), adulticiding from October (orange) and from September (blue). Dotted lines mark spray-start days; fogging = doubling of adult mosquito mortality μM.</a:t>
            </a:r>
            <a:endParaRPr/>
          </a:p>
        </p:txBody>
      </p:sp>
      <p:sp>
        <p:nvSpPr>
          <p:cNvPr id="595" name="Google Shape;595;p66"/>
          <p:cNvSpPr txBox="1"/>
          <p:nvPr/>
        </p:nvSpPr>
        <p:spPr>
          <a:xfrm>
            <a:off x="1376400" y="4738125"/>
            <a:ext cx="7272300" cy="4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200" u="none" cap="none" strike="noStrike">
                <a:solidFill>
                  <a:srgbClr val="FFFFFF"/>
                </a:solidFill>
              </a:rPr>
              <a:t>Thikra </a:t>
            </a:r>
            <a:r>
              <a:rPr b="0" i="0" lang="en-GB" sz="900" u="none" cap="none" strike="noStrike">
                <a:solidFill>
                  <a:srgbClr val="FFFFFF"/>
                </a:solidFill>
                <a:latin typeface="Arial"/>
                <a:ea typeface="Arial"/>
                <a:cs typeface="Arial"/>
                <a:sym typeface="Arial"/>
              </a:rPr>
              <a:t> ·  </a:t>
            </a:r>
            <a:r>
              <a:rPr lang="en-GB" sz="850">
                <a:solidFill>
                  <a:schemeClr val="lt1"/>
                </a:solidFill>
                <a:latin typeface="Calibri"/>
                <a:ea typeface="Calibri"/>
                <a:cs typeface="Calibri"/>
                <a:sym typeface="Calibri"/>
              </a:rPr>
              <a:t>Data: Ahmad et al. (2016) IJACSA 7(5) - monthly totals read from the paper's district maps. Parameters: Chan &amp; Johansson (2012); Duong et al. (2015); Andraud et al. (2012); Zahid et al. (2023).</a:t>
            </a:r>
            <a:endParaRPr sz="850">
              <a:solidFill>
                <a:schemeClr val="lt1"/>
              </a:solidFill>
              <a:latin typeface="Calibri"/>
              <a:ea typeface="Calibri"/>
              <a:cs typeface="Calibri"/>
              <a:sym typeface="Calibri"/>
            </a:endParaRPr>
          </a:p>
        </p:txBody>
      </p:sp>
      <p:pic>
        <p:nvPicPr>
          <p:cNvPr id="596" name="Google Shape;596;p66"/>
          <p:cNvPicPr preferRelativeResize="0"/>
          <p:nvPr/>
        </p:nvPicPr>
        <p:blipFill>
          <a:blip r:embed="rId4">
            <a:alphaModFix/>
          </a:blip>
          <a:stretch>
            <a:fillRect/>
          </a:stretch>
        </p:blipFill>
        <p:spPr>
          <a:xfrm>
            <a:off x="97600" y="2850687"/>
            <a:ext cx="3218976" cy="799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7"/>
          <p:cNvSpPr txBox="1"/>
          <p:nvPr>
            <p:ph type="title"/>
          </p:nvPr>
        </p:nvSpPr>
        <p:spPr>
          <a:xfrm>
            <a:off x="270000" y="108400"/>
            <a:ext cx="8604000" cy="7389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400"/>
              <a:t>How do we model &amp; calibrate the unmitigated 1918 influenza wave in Baltimore? Ahmed Mawlawi</a:t>
            </a:r>
            <a:endParaRPr sz="2400"/>
          </a:p>
        </p:txBody>
      </p:sp>
      <p:sp>
        <p:nvSpPr>
          <p:cNvPr id="602" name="Google Shape;602;p67"/>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603" name="Google Shape;603;p67"/>
          <p:cNvPicPr preferRelativeResize="0"/>
          <p:nvPr/>
        </p:nvPicPr>
        <p:blipFill>
          <a:blip r:embed="rId3">
            <a:alphaModFix/>
          </a:blip>
          <a:stretch>
            <a:fillRect/>
          </a:stretch>
        </p:blipFill>
        <p:spPr>
          <a:xfrm>
            <a:off x="1689900" y="985200"/>
            <a:ext cx="5437614" cy="36587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8"/>
          <p:cNvSpPr txBox="1"/>
          <p:nvPr>
            <p:ph type="title"/>
          </p:nvPr>
        </p:nvSpPr>
        <p:spPr>
          <a:xfrm>
            <a:off x="270000" y="108400"/>
            <a:ext cx="8604000" cy="7389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400"/>
              <a:t>How do we model &amp; calibrate the unmitigated 1918 influenza wave in Baltimore? </a:t>
            </a:r>
            <a:r>
              <a:rPr lang="en-GB" sz="2400"/>
              <a:t>Ahmed Mawlawi</a:t>
            </a:r>
            <a:endParaRPr sz="2400"/>
          </a:p>
        </p:txBody>
      </p:sp>
      <p:sp>
        <p:nvSpPr>
          <p:cNvPr id="609" name="Google Shape;609;p68"/>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610" name="Google Shape;610;p68"/>
          <p:cNvSpPr txBox="1"/>
          <p:nvPr/>
        </p:nvSpPr>
        <p:spPr>
          <a:xfrm>
            <a:off x="-27275" y="1028775"/>
            <a:ext cx="3189600" cy="34731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b="1" lang="en-GB" sz="1200"/>
              <a:t>Analysis</a:t>
            </a:r>
            <a:r>
              <a:rPr lang="en-GB" sz="1200"/>
              <a:t>: Fitted a </a:t>
            </a:r>
            <a:r>
              <a:rPr b="1" lang="en-GB" sz="1200"/>
              <a:t>SEIR ODE model</a:t>
            </a:r>
            <a:r>
              <a:rPr lang="en-GB" sz="1200"/>
              <a:t> with a reporting filter to the 91 days timeline using </a:t>
            </a:r>
            <a:r>
              <a:rPr b="1" lang="en-GB" sz="1200"/>
              <a:t>MLE (</a:t>
            </a:r>
            <a:r>
              <a:rPr b="1" lang="en-GB" sz="1050">
                <a:solidFill>
                  <a:srgbClr val="188038"/>
                </a:solidFill>
                <a:latin typeface="Courier New"/>
                <a:ea typeface="Courier New"/>
                <a:cs typeface="Courier New"/>
                <a:sym typeface="Courier New"/>
              </a:rPr>
              <a:t>optim</a:t>
            </a:r>
            <a:r>
              <a:rPr b="1" lang="en-GB" sz="1200"/>
              <a:t>)</a:t>
            </a:r>
            <a:r>
              <a:rPr lang="en-GB" sz="1200"/>
              <a:t> under </a:t>
            </a:r>
            <a:r>
              <a:rPr lang="en-GB" sz="1200"/>
              <a:t>Poisson</a:t>
            </a:r>
            <a:r>
              <a:rPr lang="en-GB" sz="1200"/>
              <a:t> </a:t>
            </a:r>
            <a:r>
              <a:rPr lang="en-GB" sz="1200"/>
              <a:t>distribution.</a:t>
            </a:r>
            <a:endParaRPr sz="1200"/>
          </a:p>
          <a:p>
            <a:pPr indent="-317500" lvl="0" marL="457200" rtl="0" algn="l">
              <a:lnSpc>
                <a:spcPct val="115000"/>
              </a:lnSpc>
              <a:spcBef>
                <a:spcPts val="0"/>
              </a:spcBef>
              <a:spcAft>
                <a:spcPts val="0"/>
              </a:spcAft>
              <a:buSzPts val="1400"/>
              <a:buChar char="●"/>
            </a:pPr>
            <a:r>
              <a:rPr b="1" lang="en-GB" sz="1200"/>
              <a:t>Conclusions</a:t>
            </a:r>
            <a:r>
              <a:rPr lang="en-GB" sz="1200"/>
              <a:t>: Calibrated parameters revealed a:</a:t>
            </a:r>
            <a:endParaRPr sz="1200"/>
          </a:p>
          <a:p>
            <a:pPr indent="-317500" lvl="1" marL="914400" rtl="0" algn="l">
              <a:lnSpc>
                <a:spcPct val="115000"/>
              </a:lnSpc>
              <a:spcBef>
                <a:spcPts val="0"/>
              </a:spcBef>
              <a:spcAft>
                <a:spcPts val="0"/>
              </a:spcAft>
              <a:buSzPts val="1400"/>
              <a:buChar char="○"/>
            </a:pPr>
            <a:r>
              <a:rPr lang="en-GB" sz="1200"/>
              <a:t>transmission rate </a:t>
            </a:r>
            <a:r>
              <a:rPr b="1" lang="en-GB" sz="1200"/>
              <a:t>~1.04</a:t>
            </a:r>
            <a:r>
              <a:rPr lang="en-GB" sz="1200"/>
              <a:t> </a:t>
            </a:r>
            <a:endParaRPr sz="1200"/>
          </a:p>
          <a:p>
            <a:pPr indent="-317500" lvl="1" marL="914400" rtl="0" algn="l">
              <a:lnSpc>
                <a:spcPct val="115000"/>
              </a:lnSpc>
              <a:spcBef>
                <a:spcPts val="0"/>
              </a:spcBef>
              <a:spcAft>
                <a:spcPts val="0"/>
              </a:spcAft>
              <a:buSzPts val="1400"/>
              <a:buChar char="○"/>
            </a:pPr>
            <a:r>
              <a:rPr lang="en-GB" sz="1200"/>
              <a:t>reporting fraction </a:t>
            </a:r>
            <a:r>
              <a:rPr b="1" lang="en-GB" sz="1200"/>
              <a:t>~25%</a:t>
            </a:r>
            <a:endParaRPr sz="1200"/>
          </a:p>
          <a:p>
            <a:pPr indent="-317500" lvl="1" marL="914400" rtl="0" algn="l">
              <a:lnSpc>
                <a:spcPct val="115000"/>
              </a:lnSpc>
              <a:spcBef>
                <a:spcPts val="0"/>
              </a:spcBef>
              <a:spcAft>
                <a:spcPts val="0"/>
              </a:spcAft>
              <a:buSzPts val="1400"/>
              <a:buChar char="○"/>
            </a:pPr>
            <a:r>
              <a:rPr lang="en-GB" sz="1200"/>
              <a:t>R0 = </a:t>
            </a:r>
            <a:r>
              <a:rPr b="1" lang="en-GB" sz="1200"/>
              <a:t>2.08</a:t>
            </a:r>
            <a:endParaRPr sz="1200"/>
          </a:p>
          <a:p>
            <a:pPr indent="-317500" lvl="0" marL="457200" rtl="0" algn="l">
              <a:lnSpc>
                <a:spcPct val="115000"/>
              </a:lnSpc>
              <a:spcBef>
                <a:spcPts val="0"/>
              </a:spcBef>
              <a:spcAft>
                <a:spcPts val="0"/>
              </a:spcAft>
              <a:buSzPts val="1400"/>
              <a:buChar char="●"/>
            </a:pPr>
            <a:r>
              <a:rPr b="1" lang="en-GB" sz="1200"/>
              <a:t>Insight</a:t>
            </a:r>
            <a:r>
              <a:rPr lang="en-GB" sz="1200"/>
              <a:t>: The smooth Poisson line tracks the outbreak's timing in a good manner but misses extreme peaks, proving real-world surveillance data is </a:t>
            </a:r>
            <a:r>
              <a:rPr b="1" lang="en-GB" sz="1200"/>
              <a:t>overdispersed</a:t>
            </a:r>
            <a:r>
              <a:rPr lang="en-GB" sz="1200"/>
              <a:t>.</a:t>
            </a:r>
            <a:endParaRPr sz="1200"/>
          </a:p>
        </p:txBody>
      </p:sp>
      <p:pic>
        <p:nvPicPr>
          <p:cNvPr id="611" name="Google Shape;611;p68"/>
          <p:cNvPicPr preferRelativeResize="0"/>
          <p:nvPr/>
        </p:nvPicPr>
        <p:blipFill>
          <a:blip r:embed="rId3">
            <a:alphaModFix/>
          </a:blip>
          <a:stretch>
            <a:fillRect/>
          </a:stretch>
        </p:blipFill>
        <p:spPr>
          <a:xfrm>
            <a:off x="3298000" y="999700"/>
            <a:ext cx="5745915" cy="36669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9"/>
          <p:cNvSpPr txBox="1"/>
          <p:nvPr>
            <p:ph type="title"/>
          </p:nvPr>
        </p:nvSpPr>
        <p:spPr>
          <a:xfrm>
            <a:off x="270000" y="108400"/>
            <a:ext cx="8604000" cy="7389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400"/>
              <a:t>What would be the dynamic public health impact if an influenza vaccine had been available in 1918?</a:t>
            </a:r>
            <a:endParaRPr sz="2400"/>
          </a:p>
        </p:txBody>
      </p:sp>
      <p:sp>
        <p:nvSpPr>
          <p:cNvPr id="617" name="Google Shape;617;p69"/>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618" name="Google Shape;618;p69"/>
          <p:cNvSpPr txBox="1"/>
          <p:nvPr/>
        </p:nvSpPr>
        <p:spPr>
          <a:xfrm>
            <a:off x="0" y="999700"/>
            <a:ext cx="3162300" cy="36669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900"/>
              </a:spcBef>
              <a:spcAft>
                <a:spcPts val="0"/>
              </a:spcAft>
              <a:buSzPts val="1200"/>
              <a:buChar char="●"/>
            </a:pPr>
            <a:r>
              <a:rPr b="1" lang="en-GB" sz="1200"/>
              <a:t>Analysis</a:t>
            </a:r>
            <a:r>
              <a:rPr lang="en-GB" sz="1200"/>
              <a:t>: policy simulation by adding constant </a:t>
            </a:r>
            <a:r>
              <a:rPr b="1" lang="en-GB" sz="1200"/>
              <a:t>vaccination rate (ψ = 0.015)</a:t>
            </a:r>
            <a:r>
              <a:rPr lang="en-GB" sz="1200"/>
              <a:t> directly to the calibrated baseline starting on Day 15.</a:t>
            </a:r>
            <a:endParaRPr sz="1200"/>
          </a:p>
          <a:p>
            <a:pPr indent="-304800" lvl="0" marL="457200" rtl="0" algn="l">
              <a:lnSpc>
                <a:spcPct val="115000"/>
              </a:lnSpc>
              <a:spcBef>
                <a:spcPts val="0"/>
              </a:spcBef>
              <a:spcAft>
                <a:spcPts val="0"/>
              </a:spcAft>
              <a:buSzPts val="1200"/>
              <a:buChar char="●"/>
            </a:pPr>
            <a:r>
              <a:rPr b="1" lang="en-GB" sz="1200"/>
              <a:t>Conclusions</a:t>
            </a:r>
            <a:r>
              <a:rPr lang="en-GB" sz="1200"/>
              <a:t>: Deploying the vaccine daily to 1.5% of the remaining susceptible pool flattens the wave, </a:t>
            </a:r>
            <a:r>
              <a:rPr b="1" lang="en-GB" sz="1200"/>
              <a:t>cutting peak reported cases from 480 down to 330</a:t>
            </a:r>
            <a:r>
              <a:rPr lang="en-GB" sz="1200"/>
              <a:t>.</a:t>
            </a:r>
            <a:endParaRPr sz="1200"/>
          </a:p>
          <a:p>
            <a:pPr indent="-304800" lvl="0" marL="457200" rtl="0" algn="l">
              <a:lnSpc>
                <a:spcPct val="115000"/>
              </a:lnSpc>
              <a:spcBef>
                <a:spcPts val="0"/>
              </a:spcBef>
              <a:spcAft>
                <a:spcPts val="0"/>
              </a:spcAft>
              <a:buSzPts val="1200"/>
              <a:buChar char="●"/>
            </a:pPr>
            <a:r>
              <a:rPr b="1" lang="en-GB" sz="1200"/>
              <a:t>Insight</a:t>
            </a:r>
            <a:r>
              <a:rPr lang="en-GB" sz="1200"/>
              <a:t>: Outbreak control is a time-sensitive race between natural pathogen transmission and the operational deployment speed of healthcare infrastructure.</a:t>
            </a:r>
            <a:endParaRPr sz="1200"/>
          </a:p>
          <a:p>
            <a:pPr indent="0" lvl="0" marL="0" rtl="0" algn="l">
              <a:lnSpc>
                <a:spcPct val="115000"/>
              </a:lnSpc>
              <a:spcBef>
                <a:spcPts val="2100"/>
              </a:spcBef>
              <a:spcAft>
                <a:spcPts val="900"/>
              </a:spcAft>
              <a:buNone/>
            </a:pPr>
            <a:r>
              <a:t/>
            </a:r>
            <a:endParaRPr b="1" sz="1200"/>
          </a:p>
        </p:txBody>
      </p:sp>
      <p:pic>
        <p:nvPicPr>
          <p:cNvPr id="619" name="Google Shape;619;p69"/>
          <p:cNvPicPr preferRelativeResize="0"/>
          <p:nvPr/>
        </p:nvPicPr>
        <p:blipFill>
          <a:blip r:embed="rId3">
            <a:alphaModFix/>
          </a:blip>
          <a:stretch>
            <a:fillRect/>
          </a:stretch>
        </p:blipFill>
        <p:spPr>
          <a:xfrm>
            <a:off x="3314700" y="999700"/>
            <a:ext cx="5477688" cy="36669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RIT">
  <a:themeElements>
    <a:clrScheme name="Simple Light">
      <a:dk1>
        <a:srgbClr val="003E72"/>
      </a:dk1>
      <a:lt1>
        <a:srgbClr val="FFFFFF"/>
      </a:lt1>
      <a:dk2>
        <a:srgbClr val="003E72"/>
      </a:dk2>
      <a:lt2>
        <a:srgbClr val="F3F3F3"/>
      </a:lt2>
      <a:accent1>
        <a:srgbClr val="D6083B"/>
      </a:accent1>
      <a:accent2>
        <a:srgbClr val="0072CF"/>
      </a:accent2>
      <a:accent3>
        <a:srgbClr val="EA7125"/>
      </a:accent3>
      <a:accent4>
        <a:srgbClr val="55A51C"/>
      </a:accent4>
      <a:accent5>
        <a:srgbClr val="8F2BBC"/>
      </a:accent5>
      <a:accent6>
        <a:srgbClr val="00B1C1"/>
      </a:accent6>
      <a:hlink>
        <a:srgbClr val="55A5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IT">
  <a:themeElements>
    <a:clrScheme name="Simple Light">
      <a:dk1>
        <a:srgbClr val="003E72"/>
      </a:dk1>
      <a:lt1>
        <a:srgbClr val="FFFFFF"/>
      </a:lt1>
      <a:dk2>
        <a:srgbClr val="003E72"/>
      </a:dk2>
      <a:lt2>
        <a:srgbClr val="F3F3F3"/>
      </a:lt2>
      <a:accent1>
        <a:srgbClr val="D6083B"/>
      </a:accent1>
      <a:accent2>
        <a:srgbClr val="0072CF"/>
      </a:accent2>
      <a:accent3>
        <a:srgbClr val="EA7125"/>
      </a:accent3>
      <a:accent4>
        <a:srgbClr val="55A51C"/>
      </a:accent4>
      <a:accent5>
        <a:srgbClr val="8F2BBC"/>
      </a:accent5>
      <a:accent6>
        <a:srgbClr val="00B1C1"/>
      </a:accent6>
      <a:hlink>
        <a:srgbClr val="55A5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RIT">
  <a:themeElements>
    <a:clrScheme name="Simple Light">
      <a:dk1>
        <a:srgbClr val="003E72"/>
      </a:dk1>
      <a:lt1>
        <a:srgbClr val="FFFFFF"/>
      </a:lt1>
      <a:dk2>
        <a:srgbClr val="003E72"/>
      </a:dk2>
      <a:lt2>
        <a:srgbClr val="F3F3F3"/>
      </a:lt2>
      <a:accent1>
        <a:srgbClr val="D6083B"/>
      </a:accent1>
      <a:accent2>
        <a:srgbClr val="0072CF"/>
      </a:accent2>
      <a:accent3>
        <a:srgbClr val="EA7125"/>
      </a:accent3>
      <a:accent4>
        <a:srgbClr val="55A51C"/>
      </a:accent4>
      <a:accent5>
        <a:srgbClr val="8F2BBC"/>
      </a:accent5>
      <a:accent6>
        <a:srgbClr val="00B1C1"/>
      </a:accent6>
      <a:hlink>
        <a:srgbClr val="55A5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